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problem, not the technology: nobody knows whether they are a W30 or a W32, so they order two and send one back. Everything in this deck exists to remove that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boxes left to right, then point at the amber loop. The loop is the business case: the first recommendation is a good guess, the thousandth is informed by everyone before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asks why six and not one: each of these fails differently and is tested differently. One big prompt that does all six cannot be measured, fixed, or trusted in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on the right is the point: because LangGraph checkpoints to Supabase Postgres, the browser can subscribe to the graph's own state over Realtime. That is what makes a live agent console possible instead of a progress spinner.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settles the question the earlier mockup kept raising. The glass-box console is an operations tool. The customer app is a separate, quiet, simple thing, and the next two slides are the proposal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seven screens once, left to right, top row then bottom. Then say what is missing: none of the machinery from the back office appears here, and that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badge is the slide to linger on: a customer who learns they are a W31 at one brand and a W32 at another has understood the product without any explanation from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the most time on the third box. The post-delivery question is cheap to build and is the only source of the data that makes the whole thing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that this is already built and working as a mockup, and that it is the tool the support and data people will live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back-office screens exist beyond these two: the measurements of a session, the reasoning behind a recommendation, and the learning from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as a promise being kept: the top row is what the customer touches, the bottom row is what has to exist for that to be possible. It also answers six of the how-might-we questions from the experience map: on-device processing, manual entry as an equal option, honesty when a brand's data is thin, sub-scores instead of one number, the verified size passed straight into checkout, and asking whether they kept them rather than assuming accepting means keeping.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questions get asked here. Why not all on Vercel: the 3D fitting libraries exceed a serverless function and need minutes of CPU. Why Supabase is split in two: so deleting a person is one row, and the anonymous training data stays lawful. Why we take the payment: the outcome becomes an event we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row is the project-management point: the computer-vision risk is concentrated in the first three weeks and has a pre-agreed fallback that leaves the agentic layer — the graded part —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the holdout is credibility, not rigour for its own sake: without it the return-rate number is an opinion. And the last two tiles are the ones people forget — a system that never says it is unsure, and a cost per answer nobody has checked, are both ways of quietly failing.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naming the next step: with these five answers, the scaffold is a Next.js repo on Vercel, the Supabase schema with RLS and Realtime, and the Modal app with stub endpoints and a compiling LangGraph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Skip the appendix unless someone asks. It exists so that the answer is in the room when they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asymmetry: blocking checks end the session, coaching signals only change what the agent says next. Mixing the two is how capture flows become frustrating.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point: this is a precondition, not a quality metric. No amount of extra footage repairs it, because the scale factor has no other source. Message quality is scored in Suite C, not left to taste — a clip with the head cropped must produce a re-capture verdict that names the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route came from a teammate's alternative proposal — map a known good fit in one brand onto another brand — which we absorbed rather than adopted whole. It earns its place three times over: it is the graceful degradation for a blocked capture, it is a cross-check when both signals exist, and it is the only input that carries fit preference rather than body geometry. The disagreement case is deliberately left unanswered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accuracy here rather than in the questions. Measurement error consuming a quarter to a half of a size step is exactly why the outcome-learning loop matters — the two halves of the project support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is the weakest part of most agentic projects, so it is the place to be strongest. Note that the judge is itself validated: agreement with human ratings reported as Cohen's kappa on a held-out slice.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in one line: made-up data may generate the inputs, never the answer you then report as a result. SURREAL passes because the measurements come from the geometry itself, not from a model we are trying to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D33"/>
        </a:solidFill>
      </p:bgPr>
    </p:bg>
    <p:spTree>
      <p:nvGrpSpPr>
        <p:cNvPr id="1" name=""/>
        <p:cNvGrpSpPr/>
        <p:nvPr/>
      </p:nvGrpSpPr>
      <p:grpSpPr>
        <a:xfrm>
          <a:off x="0" y="0"/>
          <a:ext cx="0" cy="0"/>
          <a:chOff x="0" y="0"/>
          <a:chExt cx="0" cy="0"/>
        </a:xfrm>
      </p:grpSpPr>
      <p:sp>
        <p:nvSpPr>
          <p:cNvPr id="2" name="Shape 0"/>
          <p:cNvSpPr/>
          <p:nvPr/>
        </p:nvSpPr>
        <p:spPr>
          <a:xfrm>
            <a:off x="502920" y="1335024"/>
            <a:ext cx="0" cy="146304"/>
          </a:xfrm>
          <a:prstGeom prst="line">
            <a:avLst/>
          </a:prstGeom>
          <a:noFill/>
          <a:ln w="12700">
            <a:solidFill>
              <a:srgbClr val="E0A458"/>
            </a:solidFill>
            <a:prstDash val="solid"/>
          </a:ln>
        </p:spPr>
      </p:sp>
      <p:sp>
        <p:nvSpPr>
          <p:cNvPr id="3" name="Shape 1"/>
          <p:cNvSpPr/>
          <p:nvPr/>
        </p:nvSpPr>
        <p:spPr>
          <a:xfrm>
            <a:off x="685800" y="1408176"/>
            <a:ext cx="0" cy="73152"/>
          </a:xfrm>
          <a:prstGeom prst="line">
            <a:avLst/>
          </a:prstGeom>
          <a:noFill/>
          <a:ln w="12700">
            <a:solidFill>
              <a:srgbClr val="6E7699"/>
            </a:solidFill>
            <a:prstDash val="solid"/>
          </a:ln>
        </p:spPr>
      </p:sp>
      <p:sp>
        <p:nvSpPr>
          <p:cNvPr id="4" name="Shape 2"/>
          <p:cNvSpPr/>
          <p:nvPr/>
        </p:nvSpPr>
        <p:spPr>
          <a:xfrm>
            <a:off x="868680" y="1408176"/>
            <a:ext cx="0" cy="73152"/>
          </a:xfrm>
          <a:prstGeom prst="line">
            <a:avLst/>
          </a:prstGeom>
          <a:noFill/>
          <a:ln w="12700">
            <a:solidFill>
              <a:srgbClr val="6E7699"/>
            </a:solidFill>
            <a:prstDash val="solid"/>
          </a:ln>
        </p:spPr>
      </p:sp>
      <p:sp>
        <p:nvSpPr>
          <p:cNvPr id="5" name="Shape 3"/>
          <p:cNvSpPr/>
          <p:nvPr/>
        </p:nvSpPr>
        <p:spPr>
          <a:xfrm>
            <a:off x="1051560" y="1408176"/>
            <a:ext cx="0" cy="73152"/>
          </a:xfrm>
          <a:prstGeom prst="line">
            <a:avLst/>
          </a:prstGeom>
          <a:noFill/>
          <a:ln w="12700">
            <a:solidFill>
              <a:srgbClr val="6E7699"/>
            </a:solidFill>
            <a:prstDash val="solid"/>
          </a:ln>
        </p:spPr>
      </p:sp>
      <p:sp>
        <p:nvSpPr>
          <p:cNvPr id="6" name="Shape 4"/>
          <p:cNvSpPr/>
          <p:nvPr/>
        </p:nvSpPr>
        <p:spPr>
          <a:xfrm>
            <a:off x="1234440" y="1408176"/>
            <a:ext cx="0" cy="73152"/>
          </a:xfrm>
          <a:prstGeom prst="line">
            <a:avLst/>
          </a:prstGeom>
          <a:noFill/>
          <a:ln w="12700">
            <a:solidFill>
              <a:srgbClr val="6E7699"/>
            </a:solidFill>
            <a:prstDash val="solid"/>
          </a:ln>
        </p:spPr>
      </p:sp>
      <p:sp>
        <p:nvSpPr>
          <p:cNvPr id="7" name="Shape 5"/>
          <p:cNvSpPr/>
          <p:nvPr/>
        </p:nvSpPr>
        <p:spPr>
          <a:xfrm>
            <a:off x="1417320" y="1335024"/>
            <a:ext cx="0" cy="146304"/>
          </a:xfrm>
          <a:prstGeom prst="line">
            <a:avLst/>
          </a:prstGeom>
          <a:noFill/>
          <a:ln w="12700">
            <a:solidFill>
              <a:srgbClr val="E0A458"/>
            </a:solidFill>
            <a:prstDash val="solid"/>
          </a:ln>
        </p:spPr>
      </p:sp>
      <p:sp>
        <p:nvSpPr>
          <p:cNvPr id="8" name="Shape 6"/>
          <p:cNvSpPr/>
          <p:nvPr/>
        </p:nvSpPr>
        <p:spPr>
          <a:xfrm>
            <a:off x="1600200" y="1408176"/>
            <a:ext cx="0" cy="73152"/>
          </a:xfrm>
          <a:prstGeom prst="line">
            <a:avLst/>
          </a:prstGeom>
          <a:noFill/>
          <a:ln w="12700">
            <a:solidFill>
              <a:srgbClr val="6E7699"/>
            </a:solidFill>
            <a:prstDash val="solid"/>
          </a:ln>
        </p:spPr>
      </p:sp>
      <p:sp>
        <p:nvSpPr>
          <p:cNvPr id="9" name="Shape 7"/>
          <p:cNvSpPr/>
          <p:nvPr/>
        </p:nvSpPr>
        <p:spPr>
          <a:xfrm>
            <a:off x="1783080" y="1408176"/>
            <a:ext cx="0" cy="73152"/>
          </a:xfrm>
          <a:prstGeom prst="line">
            <a:avLst/>
          </a:prstGeom>
          <a:noFill/>
          <a:ln w="12700">
            <a:solidFill>
              <a:srgbClr val="6E7699"/>
            </a:solidFill>
            <a:prstDash val="solid"/>
          </a:ln>
        </p:spPr>
      </p:sp>
      <p:sp>
        <p:nvSpPr>
          <p:cNvPr id="10" name="Shape 8"/>
          <p:cNvSpPr/>
          <p:nvPr/>
        </p:nvSpPr>
        <p:spPr>
          <a:xfrm>
            <a:off x="1965960" y="1408176"/>
            <a:ext cx="0" cy="73152"/>
          </a:xfrm>
          <a:prstGeom prst="line">
            <a:avLst/>
          </a:prstGeom>
          <a:noFill/>
          <a:ln w="12700">
            <a:solidFill>
              <a:srgbClr val="6E7699"/>
            </a:solidFill>
            <a:prstDash val="solid"/>
          </a:ln>
        </p:spPr>
      </p:sp>
      <p:sp>
        <p:nvSpPr>
          <p:cNvPr id="11" name="Shape 9"/>
          <p:cNvSpPr/>
          <p:nvPr/>
        </p:nvSpPr>
        <p:spPr>
          <a:xfrm>
            <a:off x="2148840" y="1408176"/>
            <a:ext cx="0" cy="73152"/>
          </a:xfrm>
          <a:prstGeom prst="line">
            <a:avLst/>
          </a:prstGeom>
          <a:noFill/>
          <a:ln w="12700">
            <a:solidFill>
              <a:srgbClr val="6E7699"/>
            </a:solidFill>
            <a:prstDash val="solid"/>
          </a:ln>
        </p:spPr>
      </p:sp>
      <p:sp>
        <p:nvSpPr>
          <p:cNvPr id="12" name="Shape 10"/>
          <p:cNvSpPr/>
          <p:nvPr/>
        </p:nvSpPr>
        <p:spPr>
          <a:xfrm>
            <a:off x="2331720" y="1335024"/>
            <a:ext cx="0" cy="146304"/>
          </a:xfrm>
          <a:prstGeom prst="line">
            <a:avLst/>
          </a:prstGeom>
          <a:noFill/>
          <a:ln w="12700">
            <a:solidFill>
              <a:srgbClr val="E0A458"/>
            </a:solidFill>
            <a:prstDash val="solid"/>
          </a:ln>
        </p:spPr>
      </p:sp>
      <p:sp>
        <p:nvSpPr>
          <p:cNvPr id="13" name="Shape 11"/>
          <p:cNvSpPr/>
          <p:nvPr/>
        </p:nvSpPr>
        <p:spPr>
          <a:xfrm>
            <a:off x="2514600" y="1408176"/>
            <a:ext cx="0" cy="73152"/>
          </a:xfrm>
          <a:prstGeom prst="line">
            <a:avLst/>
          </a:prstGeom>
          <a:noFill/>
          <a:ln w="12700">
            <a:solidFill>
              <a:srgbClr val="6E7699"/>
            </a:solidFill>
            <a:prstDash val="solid"/>
          </a:ln>
        </p:spPr>
      </p:sp>
      <p:sp>
        <p:nvSpPr>
          <p:cNvPr id="14" name="Shape 12"/>
          <p:cNvSpPr/>
          <p:nvPr/>
        </p:nvSpPr>
        <p:spPr>
          <a:xfrm>
            <a:off x="2697480" y="1408176"/>
            <a:ext cx="0" cy="73152"/>
          </a:xfrm>
          <a:prstGeom prst="line">
            <a:avLst/>
          </a:prstGeom>
          <a:noFill/>
          <a:ln w="12700">
            <a:solidFill>
              <a:srgbClr val="6E7699"/>
            </a:solidFill>
            <a:prstDash val="solid"/>
          </a:ln>
        </p:spPr>
      </p:sp>
      <p:sp>
        <p:nvSpPr>
          <p:cNvPr id="15" name="Shape 13"/>
          <p:cNvSpPr/>
          <p:nvPr/>
        </p:nvSpPr>
        <p:spPr>
          <a:xfrm>
            <a:off x="2880360" y="1408176"/>
            <a:ext cx="0" cy="73152"/>
          </a:xfrm>
          <a:prstGeom prst="line">
            <a:avLst/>
          </a:prstGeom>
          <a:noFill/>
          <a:ln w="12700">
            <a:solidFill>
              <a:srgbClr val="6E7699"/>
            </a:solidFill>
            <a:prstDash val="solid"/>
          </a:ln>
        </p:spPr>
      </p:sp>
      <p:sp>
        <p:nvSpPr>
          <p:cNvPr id="16" name="Shape 14"/>
          <p:cNvSpPr/>
          <p:nvPr/>
        </p:nvSpPr>
        <p:spPr>
          <a:xfrm>
            <a:off x="3063240" y="1408176"/>
            <a:ext cx="0" cy="73152"/>
          </a:xfrm>
          <a:prstGeom prst="line">
            <a:avLst/>
          </a:prstGeom>
          <a:noFill/>
          <a:ln w="12700">
            <a:solidFill>
              <a:srgbClr val="6E7699"/>
            </a:solidFill>
            <a:prstDash val="solid"/>
          </a:ln>
        </p:spPr>
      </p:sp>
      <p:sp>
        <p:nvSpPr>
          <p:cNvPr id="17" name="Shape 15"/>
          <p:cNvSpPr/>
          <p:nvPr/>
        </p:nvSpPr>
        <p:spPr>
          <a:xfrm>
            <a:off x="3246120" y="1335024"/>
            <a:ext cx="0" cy="146304"/>
          </a:xfrm>
          <a:prstGeom prst="line">
            <a:avLst/>
          </a:prstGeom>
          <a:noFill/>
          <a:ln w="12700">
            <a:solidFill>
              <a:srgbClr val="E0A458"/>
            </a:solidFill>
            <a:prstDash val="solid"/>
          </a:ln>
        </p:spPr>
      </p:sp>
      <p:sp>
        <p:nvSpPr>
          <p:cNvPr id="18" name="Shape 16"/>
          <p:cNvSpPr/>
          <p:nvPr/>
        </p:nvSpPr>
        <p:spPr>
          <a:xfrm>
            <a:off x="3429000" y="1408176"/>
            <a:ext cx="0" cy="73152"/>
          </a:xfrm>
          <a:prstGeom prst="line">
            <a:avLst/>
          </a:prstGeom>
          <a:noFill/>
          <a:ln w="12700">
            <a:solidFill>
              <a:srgbClr val="6E7699"/>
            </a:solidFill>
            <a:prstDash val="solid"/>
          </a:ln>
        </p:spPr>
      </p:sp>
      <p:sp>
        <p:nvSpPr>
          <p:cNvPr id="19" name="Shape 17"/>
          <p:cNvSpPr/>
          <p:nvPr/>
        </p:nvSpPr>
        <p:spPr>
          <a:xfrm>
            <a:off x="3611880" y="1408176"/>
            <a:ext cx="0" cy="73152"/>
          </a:xfrm>
          <a:prstGeom prst="line">
            <a:avLst/>
          </a:prstGeom>
          <a:noFill/>
          <a:ln w="12700">
            <a:solidFill>
              <a:srgbClr val="6E7699"/>
            </a:solidFill>
            <a:prstDash val="solid"/>
          </a:ln>
        </p:spPr>
      </p:sp>
      <p:sp>
        <p:nvSpPr>
          <p:cNvPr id="20" name="Shape 18"/>
          <p:cNvSpPr/>
          <p:nvPr/>
        </p:nvSpPr>
        <p:spPr>
          <a:xfrm>
            <a:off x="3794760" y="1408176"/>
            <a:ext cx="0" cy="73152"/>
          </a:xfrm>
          <a:prstGeom prst="line">
            <a:avLst/>
          </a:prstGeom>
          <a:noFill/>
          <a:ln w="12700">
            <a:solidFill>
              <a:srgbClr val="6E7699"/>
            </a:solidFill>
            <a:prstDash val="solid"/>
          </a:ln>
        </p:spPr>
      </p:sp>
      <p:sp>
        <p:nvSpPr>
          <p:cNvPr id="21" name="Shape 19"/>
          <p:cNvSpPr/>
          <p:nvPr/>
        </p:nvSpPr>
        <p:spPr>
          <a:xfrm>
            <a:off x="3977640" y="1408176"/>
            <a:ext cx="0" cy="73152"/>
          </a:xfrm>
          <a:prstGeom prst="line">
            <a:avLst/>
          </a:prstGeom>
          <a:noFill/>
          <a:ln w="12700">
            <a:solidFill>
              <a:srgbClr val="6E7699"/>
            </a:solidFill>
            <a:prstDash val="solid"/>
          </a:ln>
        </p:spPr>
      </p:sp>
      <p:sp>
        <p:nvSpPr>
          <p:cNvPr id="22" name="Shape 20"/>
          <p:cNvSpPr/>
          <p:nvPr/>
        </p:nvSpPr>
        <p:spPr>
          <a:xfrm>
            <a:off x="4160520" y="1335024"/>
            <a:ext cx="0" cy="146304"/>
          </a:xfrm>
          <a:prstGeom prst="line">
            <a:avLst/>
          </a:prstGeom>
          <a:noFill/>
          <a:ln w="12700">
            <a:solidFill>
              <a:srgbClr val="E0A458"/>
            </a:solidFill>
            <a:prstDash val="solid"/>
          </a:ln>
        </p:spPr>
      </p:sp>
      <p:sp>
        <p:nvSpPr>
          <p:cNvPr id="23" name="Shape 21"/>
          <p:cNvSpPr/>
          <p:nvPr/>
        </p:nvSpPr>
        <p:spPr>
          <a:xfrm>
            <a:off x="4343400" y="1408176"/>
            <a:ext cx="0" cy="73152"/>
          </a:xfrm>
          <a:prstGeom prst="line">
            <a:avLst/>
          </a:prstGeom>
          <a:noFill/>
          <a:ln w="12700">
            <a:solidFill>
              <a:srgbClr val="6E7699"/>
            </a:solidFill>
            <a:prstDash val="solid"/>
          </a:ln>
        </p:spPr>
      </p:sp>
      <p:sp>
        <p:nvSpPr>
          <p:cNvPr id="24" name="Shape 22"/>
          <p:cNvSpPr/>
          <p:nvPr/>
        </p:nvSpPr>
        <p:spPr>
          <a:xfrm>
            <a:off x="4526280" y="1408176"/>
            <a:ext cx="0" cy="73152"/>
          </a:xfrm>
          <a:prstGeom prst="line">
            <a:avLst/>
          </a:prstGeom>
          <a:noFill/>
          <a:ln w="12700">
            <a:solidFill>
              <a:srgbClr val="6E7699"/>
            </a:solidFill>
            <a:prstDash val="solid"/>
          </a:ln>
        </p:spPr>
      </p:sp>
      <p:sp>
        <p:nvSpPr>
          <p:cNvPr id="25" name="Shape 23"/>
          <p:cNvSpPr/>
          <p:nvPr/>
        </p:nvSpPr>
        <p:spPr>
          <a:xfrm>
            <a:off x="4709160" y="1408176"/>
            <a:ext cx="0" cy="73152"/>
          </a:xfrm>
          <a:prstGeom prst="line">
            <a:avLst/>
          </a:prstGeom>
          <a:noFill/>
          <a:ln w="12700">
            <a:solidFill>
              <a:srgbClr val="6E7699"/>
            </a:solidFill>
            <a:prstDash val="solid"/>
          </a:ln>
        </p:spPr>
      </p:sp>
      <p:sp>
        <p:nvSpPr>
          <p:cNvPr id="26" name="Shape 24"/>
          <p:cNvSpPr/>
          <p:nvPr/>
        </p:nvSpPr>
        <p:spPr>
          <a:xfrm>
            <a:off x="4892040" y="1408176"/>
            <a:ext cx="0" cy="73152"/>
          </a:xfrm>
          <a:prstGeom prst="line">
            <a:avLst/>
          </a:prstGeom>
          <a:noFill/>
          <a:ln w="12700">
            <a:solidFill>
              <a:srgbClr val="6E7699"/>
            </a:solidFill>
            <a:prstDash val="solid"/>
          </a:ln>
        </p:spPr>
      </p:sp>
      <p:sp>
        <p:nvSpPr>
          <p:cNvPr id="27" name="Shape 25"/>
          <p:cNvSpPr/>
          <p:nvPr/>
        </p:nvSpPr>
        <p:spPr>
          <a:xfrm>
            <a:off x="5074920" y="1335024"/>
            <a:ext cx="0" cy="146304"/>
          </a:xfrm>
          <a:prstGeom prst="line">
            <a:avLst/>
          </a:prstGeom>
          <a:noFill/>
          <a:ln w="12700">
            <a:solidFill>
              <a:srgbClr val="E0A458"/>
            </a:solidFill>
            <a:prstDash val="solid"/>
          </a:ln>
        </p:spPr>
      </p:sp>
      <p:sp>
        <p:nvSpPr>
          <p:cNvPr id="28" name="Shape 26"/>
          <p:cNvSpPr/>
          <p:nvPr/>
        </p:nvSpPr>
        <p:spPr>
          <a:xfrm>
            <a:off x="5257800" y="1408176"/>
            <a:ext cx="0" cy="73152"/>
          </a:xfrm>
          <a:prstGeom prst="line">
            <a:avLst/>
          </a:prstGeom>
          <a:noFill/>
          <a:ln w="12700">
            <a:solidFill>
              <a:srgbClr val="6E7699"/>
            </a:solidFill>
            <a:prstDash val="solid"/>
          </a:ln>
        </p:spPr>
      </p:sp>
      <p:sp>
        <p:nvSpPr>
          <p:cNvPr id="29" name="Shape 27"/>
          <p:cNvSpPr/>
          <p:nvPr/>
        </p:nvSpPr>
        <p:spPr>
          <a:xfrm>
            <a:off x="5440680" y="1408176"/>
            <a:ext cx="0" cy="73152"/>
          </a:xfrm>
          <a:prstGeom prst="line">
            <a:avLst/>
          </a:prstGeom>
          <a:noFill/>
          <a:ln w="12700">
            <a:solidFill>
              <a:srgbClr val="6E7699"/>
            </a:solidFill>
            <a:prstDash val="solid"/>
          </a:ln>
        </p:spPr>
      </p:sp>
      <p:sp>
        <p:nvSpPr>
          <p:cNvPr id="30" name="Shape 28"/>
          <p:cNvSpPr/>
          <p:nvPr/>
        </p:nvSpPr>
        <p:spPr>
          <a:xfrm>
            <a:off x="5623560" y="1408176"/>
            <a:ext cx="0" cy="73152"/>
          </a:xfrm>
          <a:prstGeom prst="line">
            <a:avLst/>
          </a:prstGeom>
          <a:noFill/>
          <a:ln w="12700">
            <a:solidFill>
              <a:srgbClr val="6E7699"/>
            </a:solidFill>
            <a:prstDash val="solid"/>
          </a:ln>
        </p:spPr>
      </p:sp>
      <p:sp>
        <p:nvSpPr>
          <p:cNvPr id="31" name="Shape 29"/>
          <p:cNvSpPr/>
          <p:nvPr/>
        </p:nvSpPr>
        <p:spPr>
          <a:xfrm>
            <a:off x="5806440" y="1408176"/>
            <a:ext cx="0" cy="73152"/>
          </a:xfrm>
          <a:prstGeom prst="line">
            <a:avLst/>
          </a:prstGeom>
          <a:noFill/>
          <a:ln w="12700">
            <a:solidFill>
              <a:srgbClr val="6E7699"/>
            </a:solidFill>
            <a:prstDash val="solid"/>
          </a:ln>
        </p:spPr>
      </p:sp>
      <p:sp>
        <p:nvSpPr>
          <p:cNvPr id="32" name="Shape 30"/>
          <p:cNvSpPr/>
          <p:nvPr/>
        </p:nvSpPr>
        <p:spPr>
          <a:xfrm>
            <a:off x="5989320" y="1335024"/>
            <a:ext cx="0" cy="146304"/>
          </a:xfrm>
          <a:prstGeom prst="line">
            <a:avLst/>
          </a:prstGeom>
          <a:noFill/>
          <a:ln w="12700">
            <a:solidFill>
              <a:srgbClr val="E0A458"/>
            </a:solidFill>
            <a:prstDash val="solid"/>
          </a:ln>
        </p:spPr>
      </p:sp>
      <p:sp>
        <p:nvSpPr>
          <p:cNvPr id="33" name="Shape 31"/>
          <p:cNvSpPr/>
          <p:nvPr/>
        </p:nvSpPr>
        <p:spPr>
          <a:xfrm>
            <a:off x="6172200" y="1408176"/>
            <a:ext cx="0" cy="73152"/>
          </a:xfrm>
          <a:prstGeom prst="line">
            <a:avLst/>
          </a:prstGeom>
          <a:noFill/>
          <a:ln w="12700">
            <a:solidFill>
              <a:srgbClr val="6E7699"/>
            </a:solidFill>
            <a:prstDash val="solid"/>
          </a:ln>
        </p:spPr>
      </p:sp>
      <p:sp>
        <p:nvSpPr>
          <p:cNvPr id="34" name="Shape 32"/>
          <p:cNvSpPr/>
          <p:nvPr/>
        </p:nvSpPr>
        <p:spPr>
          <a:xfrm>
            <a:off x="6355080" y="1408176"/>
            <a:ext cx="0" cy="73152"/>
          </a:xfrm>
          <a:prstGeom prst="line">
            <a:avLst/>
          </a:prstGeom>
          <a:noFill/>
          <a:ln w="12700">
            <a:solidFill>
              <a:srgbClr val="6E7699"/>
            </a:solidFill>
            <a:prstDash val="solid"/>
          </a:ln>
        </p:spPr>
      </p:sp>
      <p:sp>
        <p:nvSpPr>
          <p:cNvPr id="35" name="Shape 33"/>
          <p:cNvSpPr/>
          <p:nvPr/>
        </p:nvSpPr>
        <p:spPr>
          <a:xfrm>
            <a:off x="6537960" y="1408176"/>
            <a:ext cx="0" cy="73152"/>
          </a:xfrm>
          <a:prstGeom prst="line">
            <a:avLst/>
          </a:prstGeom>
          <a:noFill/>
          <a:ln w="12700">
            <a:solidFill>
              <a:srgbClr val="6E7699"/>
            </a:solidFill>
            <a:prstDash val="solid"/>
          </a:ln>
        </p:spPr>
      </p:sp>
      <p:sp>
        <p:nvSpPr>
          <p:cNvPr id="36" name="Shape 34"/>
          <p:cNvSpPr/>
          <p:nvPr/>
        </p:nvSpPr>
        <p:spPr>
          <a:xfrm>
            <a:off x="6720840" y="1408176"/>
            <a:ext cx="0" cy="73152"/>
          </a:xfrm>
          <a:prstGeom prst="line">
            <a:avLst/>
          </a:prstGeom>
          <a:noFill/>
          <a:ln w="12700">
            <a:solidFill>
              <a:srgbClr val="6E7699"/>
            </a:solidFill>
            <a:prstDash val="solid"/>
          </a:ln>
        </p:spPr>
      </p:sp>
      <p:sp>
        <p:nvSpPr>
          <p:cNvPr id="37" name="Shape 35"/>
          <p:cNvSpPr/>
          <p:nvPr/>
        </p:nvSpPr>
        <p:spPr>
          <a:xfrm>
            <a:off x="6903720" y="1335024"/>
            <a:ext cx="0" cy="146304"/>
          </a:xfrm>
          <a:prstGeom prst="line">
            <a:avLst/>
          </a:prstGeom>
          <a:noFill/>
          <a:ln w="12700">
            <a:solidFill>
              <a:srgbClr val="E0A458"/>
            </a:solidFill>
            <a:prstDash val="solid"/>
          </a:ln>
        </p:spPr>
      </p:sp>
      <p:sp>
        <p:nvSpPr>
          <p:cNvPr id="38" name="Shape 36"/>
          <p:cNvSpPr/>
          <p:nvPr/>
        </p:nvSpPr>
        <p:spPr>
          <a:xfrm>
            <a:off x="7086600" y="1408176"/>
            <a:ext cx="0" cy="73152"/>
          </a:xfrm>
          <a:prstGeom prst="line">
            <a:avLst/>
          </a:prstGeom>
          <a:noFill/>
          <a:ln w="12700">
            <a:solidFill>
              <a:srgbClr val="6E7699"/>
            </a:solidFill>
            <a:prstDash val="solid"/>
          </a:ln>
        </p:spPr>
      </p:sp>
      <p:sp>
        <p:nvSpPr>
          <p:cNvPr id="39" name="Shape 37"/>
          <p:cNvSpPr/>
          <p:nvPr/>
        </p:nvSpPr>
        <p:spPr>
          <a:xfrm>
            <a:off x="7269480" y="1408176"/>
            <a:ext cx="0" cy="73152"/>
          </a:xfrm>
          <a:prstGeom prst="line">
            <a:avLst/>
          </a:prstGeom>
          <a:noFill/>
          <a:ln w="12700">
            <a:solidFill>
              <a:srgbClr val="6E7699"/>
            </a:solidFill>
            <a:prstDash val="solid"/>
          </a:ln>
        </p:spPr>
      </p:sp>
      <p:sp>
        <p:nvSpPr>
          <p:cNvPr id="40" name="Shape 38"/>
          <p:cNvSpPr/>
          <p:nvPr/>
        </p:nvSpPr>
        <p:spPr>
          <a:xfrm>
            <a:off x="7452360" y="1408176"/>
            <a:ext cx="0" cy="73152"/>
          </a:xfrm>
          <a:prstGeom prst="line">
            <a:avLst/>
          </a:prstGeom>
          <a:noFill/>
          <a:ln w="12700">
            <a:solidFill>
              <a:srgbClr val="6E7699"/>
            </a:solidFill>
            <a:prstDash val="solid"/>
          </a:ln>
        </p:spPr>
      </p:sp>
      <p:sp>
        <p:nvSpPr>
          <p:cNvPr id="41" name="Shape 39"/>
          <p:cNvSpPr/>
          <p:nvPr/>
        </p:nvSpPr>
        <p:spPr>
          <a:xfrm>
            <a:off x="7635240" y="1408176"/>
            <a:ext cx="0" cy="73152"/>
          </a:xfrm>
          <a:prstGeom prst="line">
            <a:avLst/>
          </a:prstGeom>
          <a:noFill/>
          <a:ln w="12700">
            <a:solidFill>
              <a:srgbClr val="6E7699"/>
            </a:solidFill>
            <a:prstDash val="solid"/>
          </a:ln>
        </p:spPr>
      </p:sp>
      <p:sp>
        <p:nvSpPr>
          <p:cNvPr id="42" name="Shape 40"/>
          <p:cNvSpPr/>
          <p:nvPr/>
        </p:nvSpPr>
        <p:spPr>
          <a:xfrm>
            <a:off x="7818120" y="1335024"/>
            <a:ext cx="0" cy="146304"/>
          </a:xfrm>
          <a:prstGeom prst="line">
            <a:avLst/>
          </a:prstGeom>
          <a:noFill/>
          <a:ln w="12700">
            <a:solidFill>
              <a:srgbClr val="E0A458"/>
            </a:solidFill>
            <a:prstDash val="solid"/>
          </a:ln>
        </p:spPr>
      </p:sp>
      <p:sp>
        <p:nvSpPr>
          <p:cNvPr id="43" name="Shape 41"/>
          <p:cNvSpPr/>
          <p:nvPr/>
        </p:nvSpPr>
        <p:spPr>
          <a:xfrm>
            <a:off x="8001000" y="1408176"/>
            <a:ext cx="0" cy="73152"/>
          </a:xfrm>
          <a:prstGeom prst="line">
            <a:avLst/>
          </a:prstGeom>
          <a:noFill/>
          <a:ln w="12700">
            <a:solidFill>
              <a:srgbClr val="6E7699"/>
            </a:solidFill>
            <a:prstDash val="solid"/>
          </a:ln>
        </p:spPr>
      </p:sp>
      <p:sp>
        <p:nvSpPr>
          <p:cNvPr id="44" name="Shape 42"/>
          <p:cNvSpPr/>
          <p:nvPr/>
        </p:nvSpPr>
        <p:spPr>
          <a:xfrm>
            <a:off x="8183880" y="1408176"/>
            <a:ext cx="0" cy="73152"/>
          </a:xfrm>
          <a:prstGeom prst="line">
            <a:avLst/>
          </a:prstGeom>
          <a:noFill/>
          <a:ln w="12700">
            <a:solidFill>
              <a:srgbClr val="6E7699"/>
            </a:solidFill>
            <a:prstDash val="solid"/>
          </a:ln>
        </p:spPr>
      </p:sp>
      <p:sp>
        <p:nvSpPr>
          <p:cNvPr id="45" name="Shape 43"/>
          <p:cNvSpPr/>
          <p:nvPr/>
        </p:nvSpPr>
        <p:spPr>
          <a:xfrm>
            <a:off x="8366760" y="1408176"/>
            <a:ext cx="0" cy="73152"/>
          </a:xfrm>
          <a:prstGeom prst="line">
            <a:avLst/>
          </a:prstGeom>
          <a:noFill/>
          <a:ln w="12700">
            <a:solidFill>
              <a:srgbClr val="6E7699"/>
            </a:solidFill>
            <a:prstDash val="solid"/>
          </a:ln>
        </p:spPr>
      </p:sp>
      <p:sp>
        <p:nvSpPr>
          <p:cNvPr id="46" name="Shape 44"/>
          <p:cNvSpPr/>
          <p:nvPr/>
        </p:nvSpPr>
        <p:spPr>
          <a:xfrm>
            <a:off x="8549640" y="1408176"/>
            <a:ext cx="0" cy="73152"/>
          </a:xfrm>
          <a:prstGeom prst="line">
            <a:avLst/>
          </a:prstGeom>
          <a:noFill/>
          <a:ln w="12700">
            <a:solidFill>
              <a:srgbClr val="6E7699"/>
            </a:solidFill>
            <a:prstDash val="solid"/>
          </a:ln>
        </p:spPr>
      </p:sp>
      <p:sp>
        <p:nvSpPr>
          <p:cNvPr id="47" name="Shape 45"/>
          <p:cNvSpPr/>
          <p:nvPr/>
        </p:nvSpPr>
        <p:spPr>
          <a:xfrm>
            <a:off x="8732520" y="1335024"/>
            <a:ext cx="0" cy="146304"/>
          </a:xfrm>
          <a:prstGeom prst="line">
            <a:avLst/>
          </a:prstGeom>
          <a:noFill/>
          <a:ln w="12700">
            <a:solidFill>
              <a:srgbClr val="E0A458"/>
            </a:solidFill>
            <a:prstDash val="solid"/>
          </a:ln>
        </p:spPr>
      </p:sp>
      <p:sp>
        <p:nvSpPr>
          <p:cNvPr id="48" name="Text 46"/>
          <p:cNvSpPr txBox="1"/>
          <p:nvPr/>
        </p:nvSpPr>
        <p:spPr>
          <a:xfrm>
            <a:off x="502920" y="777240"/>
            <a:ext cx="11185855" cy="274320"/>
          </a:xfrm>
          <a:prstGeom prst="rect">
            <a:avLst/>
          </a:prstGeom>
          <a:noFill/>
          <a:ln/>
        </p:spPr>
        <p:txBody>
          <a:bodyPr wrap="square" lIns="0" tIns="0" rIns="0" bIns="0" rtlCol="0" anchor="ctr"/>
          <a:lstStyle/>
          <a:p>
            <a:pPr indent="0" marL="0">
              <a:buNone/>
            </a:pPr>
            <a:r>
              <a:rPr lang="en-US" sz="1100" b="1" spc="240" kern="0" dirty="0">
                <a:solidFill>
                  <a:srgbClr val="E0A458"/>
                </a:solidFill>
                <a:latin typeface="Arial" pitchFamily="34" charset="0"/>
                <a:ea typeface="Arial" pitchFamily="34" charset="-122"/>
                <a:cs typeface="Arial" pitchFamily="34" charset="-120"/>
              </a:rPr>
              <a:t>The right size from one video · September 2026</a:t>
            </a:r>
            <a:endParaRPr lang="en-US" sz="1100" dirty="0"/>
          </a:p>
        </p:txBody>
      </p:sp>
      <p:sp>
        <p:nvSpPr>
          <p:cNvPr id="49" name="Text 47"/>
          <p:cNvSpPr txBox="1"/>
          <p:nvPr/>
        </p:nvSpPr>
        <p:spPr>
          <a:xfrm>
            <a:off x="502920" y="1783080"/>
            <a:ext cx="11185855" cy="960120"/>
          </a:xfrm>
          <a:prstGeom prst="rect">
            <a:avLst/>
          </a:prstGeom>
          <a:noFill/>
          <a:ln/>
        </p:spPr>
        <p:txBody>
          <a:bodyPr wrap="square" lIns="0" tIns="0" rIns="0" bIns="0" rtlCol="0" anchor="ctr"/>
          <a:lstStyle/>
          <a:p>
            <a:pPr indent="0" marL="0">
              <a:buNone/>
            </a:pPr>
            <a:r>
              <a:rPr lang="en-US" sz="4600" b="1" dirty="0">
                <a:solidFill>
                  <a:srgbClr val="F2F3F8"/>
                </a:solidFill>
                <a:latin typeface="Arial" pitchFamily="34" charset="0"/>
                <a:ea typeface="Arial" pitchFamily="34" charset="-122"/>
                <a:cs typeface="Arial" pitchFamily="34" charset="-120"/>
              </a:rPr>
              <a:t>SartorIA</a:t>
            </a:r>
            <a:endParaRPr lang="en-US" sz="4600" dirty="0"/>
          </a:p>
        </p:txBody>
      </p:sp>
      <p:sp>
        <p:nvSpPr>
          <p:cNvPr id="50" name="Text 48"/>
          <p:cNvSpPr txBox="1"/>
          <p:nvPr/>
        </p:nvSpPr>
        <p:spPr>
          <a:xfrm>
            <a:off x="502920" y="2788920"/>
            <a:ext cx="9509760" cy="914400"/>
          </a:xfrm>
          <a:prstGeom prst="rect">
            <a:avLst/>
          </a:prstGeom>
          <a:noFill/>
          <a:ln/>
        </p:spPr>
        <p:txBody>
          <a:bodyPr wrap="square" lIns="0" tIns="0" rIns="0" bIns="0" rtlCol="0" anchor="ctr"/>
          <a:lstStyle/>
          <a:p>
            <a:pPr indent="0" marL="0">
              <a:lnSpc>
                <a:spcPct val="128000"/>
              </a:lnSpc>
              <a:buNone/>
            </a:pPr>
            <a:r>
              <a:rPr lang="en-US" sz="1550" dirty="0">
                <a:solidFill>
                  <a:srgbClr val="9BA1C1"/>
                </a:solidFill>
                <a:latin typeface="Arial" pitchFamily="34" charset="0"/>
                <a:ea typeface="Arial" pitchFamily="34" charset="-122"/>
                <a:cs typeface="Arial" pitchFamily="34" charset="-120"/>
              </a:rPr>
              <a:t>Film ten seconds. Get your leg measurements. Get the right size, from any brand.</a:t>
            </a:r>
            <a:endParaRPr lang="en-US" sz="1550" dirty="0"/>
          </a:p>
          <a:p>
            <a:pPr indent="0" marL="0">
              <a:lnSpc>
                <a:spcPct val="128000"/>
              </a:lnSpc>
              <a:buNone/>
            </a:pPr>
            <a:r>
              <a:rPr lang="en-US" sz="1550" dirty="0">
                <a:solidFill>
                  <a:srgbClr val="9BA1C1"/>
                </a:solidFill>
                <a:latin typeface="Arial" pitchFamily="34" charset="0"/>
                <a:ea typeface="Arial" pitchFamily="34" charset="-122"/>
                <a:cs typeface="Arial" pitchFamily="34" charset="-120"/>
              </a:rPr>
              <a:t>And every time someone tells us how it fitted, the next recommendation gets better.</a:t>
            </a:r>
            <a:endParaRPr lang="en-US" sz="1550" dirty="0"/>
          </a:p>
        </p:txBody>
      </p:sp>
      <p:sp>
        <p:nvSpPr>
          <p:cNvPr id="51" name="Text 49"/>
          <p:cNvSpPr txBox="1"/>
          <p:nvPr/>
        </p:nvSpPr>
        <p:spPr>
          <a:xfrm>
            <a:off x="502920" y="4114800"/>
            <a:ext cx="2468880" cy="658368"/>
          </a:xfrm>
          <a:prstGeom prst="rect">
            <a:avLst/>
          </a:prstGeom>
          <a:noFill/>
          <a:ln/>
        </p:spPr>
        <p:txBody>
          <a:bodyPr wrap="square" lIns="0" tIns="0" rIns="0" bIns="0" rtlCol="0" anchor="b"/>
          <a:lstStyle/>
          <a:p>
            <a:pPr indent="0" marL="0">
              <a:buNone/>
            </a:pPr>
            <a:r>
              <a:rPr lang="en-US" sz="3800" b="1" dirty="0">
                <a:solidFill>
                  <a:srgbClr val="E0A458"/>
                </a:solidFill>
                <a:latin typeface="Arial" pitchFamily="34" charset="0"/>
                <a:ea typeface="Arial" pitchFamily="34" charset="-122"/>
                <a:cs typeface="Arial" pitchFamily="34" charset="-120"/>
              </a:rPr>
              <a:t>10 s</a:t>
            </a:r>
            <a:endParaRPr lang="en-US" sz="3800" dirty="0"/>
          </a:p>
        </p:txBody>
      </p:sp>
      <p:sp>
        <p:nvSpPr>
          <p:cNvPr id="52" name="Text 50"/>
          <p:cNvSpPr txBox="1"/>
          <p:nvPr/>
        </p:nvSpPr>
        <p:spPr>
          <a:xfrm>
            <a:off x="502920" y="4809744"/>
            <a:ext cx="2468880" cy="27432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of filming</a:t>
            </a:r>
            <a:endParaRPr lang="en-US" sz="1150" dirty="0"/>
          </a:p>
        </p:txBody>
      </p:sp>
      <p:sp>
        <p:nvSpPr>
          <p:cNvPr id="53" name="Text 51"/>
          <p:cNvSpPr txBox="1"/>
          <p:nvPr/>
        </p:nvSpPr>
        <p:spPr>
          <a:xfrm>
            <a:off x="3300984" y="4114800"/>
            <a:ext cx="2468880" cy="658368"/>
          </a:xfrm>
          <a:prstGeom prst="rect">
            <a:avLst/>
          </a:prstGeom>
          <a:noFill/>
          <a:ln/>
        </p:spPr>
        <p:txBody>
          <a:bodyPr wrap="square" lIns="0" tIns="0" rIns="0" bIns="0" rtlCol="0" anchor="b"/>
          <a:lstStyle/>
          <a:p>
            <a:pPr indent="0" marL="0">
              <a:buNone/>
            </a:pPr>
            <a:r>
              <a:rPr lang="en-US" sz="3800" b="1" dirty="0">
                <a:solidFill>
                  <a:srgbClr val="E0A458"/>
                </a:solidFill>
                <a:latin typeface="Arial" pitchFamily="34" charset="0"/>
                <a:ea typeface="Arial" pitchFamily="34" charset="-122"/>
                <a:cs typeface="Arial" pitchFamily="34" charset="-120"/>
              </a:rPr>
              <a:t>9</a:t>
            </a:r>
            <a:endParaRPr lang="en-US" sz="3800" dirty="0"/>
          </a:p>
        </p:txBody>
      </p:sp>
      <p:sp>
        <p:nvSpPr>
          <p:cNvPr id="54" name="Text 52"/>
          <p:cNvSpPr txBox="1"/>
          <p:nvPr/>
        </p:nvSpPr>
        <p:spPr>
          <a:xfrm>
            <a:off x="3300984" y="4809744"/>
            <a:ext cx="2468880" cy="27432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measurements</a:t>
            </a:r>
            <a:endParaRPr lang="en-US" sz="1150" dirty="0"/>
          </a:p>
        </p:txBody>
      </p:sp>
      <p:sp>
        <p:nvSpPr>
          <p:cNvPr id="55" name="Text 53"/>
          <p:cNvSpPr txBox="1"/>
          <p:nvPr/>
        </p:nvSpPr>
        <p:spPr>
          <a:xfrm>
            <a:off x="6099048" y="4114800"/>
            <a:ext cx="2468880" cy="658368"/>
          </a:xfrm>
          <a:prstGeom prst="rect">
            <a:avLst/>
          </a:prstGeom>
          <a:noFill/>
          <a:ln/>
        </p:spPr>
        <p:txBody>
          <a:bodyPr wrap="square" lIns="0" tIns="0" rIns="0" bIns="0" rtlCol="0" anchor="b"/>
          <a:lstStyle/>
          <a:p>
            <a:pPr indent="0" marL="0">
              <a:buNone/>
            </a:pPr>
            <a:r>
              <a:rPr lang="en-US" sz="3800" b="1" dirty="0">
                <a:solidFill>
                  <a:srgbClr val="E0A458"/>
                </a:solidFill>
                <a:latin typeface="Arial" pitchFamily="34" charset="0"/>
                <a:ea typeface="Arial" pitchFamily="34" charset="-122"/>
                <a:cs typeface="Arial" pitchFamily="34" charset="-120"/>
              </a:rPr>
              <a:t>6</a:t>
            </a:r>
            <a:endParaRPr lang="en-US" sz="3800" dirty="0"/>
          </a:p>
        </p:txBody>
      </p:sp>
      <p:sp>
        <p:nvSpPr>
          <p:cNvPr id="56" name="Text 54"/>
          <p:cNvSpPr txBox="1"/>
          <p:nvPr/>
        </p:nvSpPr>
        <p:spPr>
          <a:xfrm>
            <a:off x="6099048" y="4809744"/>
            <a:ext cx="2468880" cy="27432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AI agents</a:t>
            </a:r>
            <a:endParaRPr lang="en-US" sz="1150" dirty="0"/>
          </a:p>
        </p:txBody>
      </p:sp>
      <p:sp>
        <p:nvSpPr>
          <p:cNvPr id="57" name="Text 55"/>
          <p:cNvSpPr txBox="1"/>
          <p:nvPr/>
        </p:nvSpPr>
        <p:spPr>
          <a:xfrm>
            <a:off x="8897112" y="4114800"/>
            <a:ext cx="2468880" cy="658368"/>
          </a:xfrm>
          <a:prstGeom prst="rect">
            <a:avLst/>
          </a:prstGeom>
          <a:noFill/>
          <a:ln/>
        </p:spPr>
        <p:txBody>
          <a:bodyPr wrap="square" lIns="0" tIns="0" rIns="0" bIns="0" rtlCol="0" anchor="b"/>
          <a:lstStyle/>
          <a:p>
            <a:pPr indent="0" marL="0">
              <a:buNone/>
            </a:pPr>
            <a:r>
              <a:rPr lang="en-US" sz="3800" b="1" dirty="0">
                <a:solidFill>
                  <a:srgbClr val="E0A458"/>
                </a:solidFill>
                <a:latin typeface="Arial" pitchFamily="34" charset="0"/>
                <a:ea typeface="Arial" pitchFamily="34" charset="-122"/>
                <a:cs typeface="Arial" pitchFamily="34" charset="-120"/>
              </a:rPr>
              <a:t>1</a:t>
            </a:r>
            <a:endParaRPr lang="en-US" sz="3800" dirty="0"/>
          </a:p>
        </p:txBody>
      </p:sp>
      <p:sp>
        <p:nvSpPr>
          <p:cNvPr id="58" name="Text 56"/>
          <p:cNvSpPr txBox="1"/>
          <p:nvPr/>
        </p:nvSpPr>
        <p:spPr>
          <a:xfrm>
            <a:off x="8897112" y="4809744"/>
            <a:ext cx="2468880" cy="27432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number you type</a:t>
            </a:r>
            <a:endParaRPr lang="en-US" sz="1150" dirty="0"/>
          </a:p>
        </p:txBody>
      </p:sp>
      <p:sp>
        <p:nvSpPr>
          <p:cNvPr id="59" name="Text 57"/>
          <p:cNvSpPr txBox="1"/>
          <p:nvPr/>
        </p:nvSpPr>
        <p:spPr>
          <a:xfrm>
            <a:off x="502920" y="5943600"/>
            <a:ext cx="11185855" cy="274320"/>
          </a:xfrm>
          <a:prstGeom prst="rect">
            <a:avLst/>
          </a:prstGeom>
          <a:noFill/>
          <a:ln/>
        </p:spPr>
        <p:txBody>
          <a:bodyPr wrap="square" lIns="0" tIns="0" rIns="0" bIns="0" rtlCol="0" anchor="ctr"/>
          <a:lstStyle/>
          <a:p>
            <a:pPr indent="0" marL="0">
              <a:buNone/>
            </a:pPr>
            <a:r>
              <a:rPr lang="en-US" sz="1200" i="1" dirty="0">
                <a:solidFill>
                  <a:srgbClr val="6E7699"/>
                </a:solidFill>
                <a:latin typeface="Arial" pitchFamily="34" charset="0"/>
                <a:ea typeface="Arial" pitchFamily="34" charset="-122"/>
                <a:cs typeface="Arial" pitchFamily="34" charset="-120"/>
              </a:rPr>
              <a:t>Jeans and trousers first — the category people send back most.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DELIVERABLE 1 · PROCESS FLOW</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Six steps, and only three of them are AI</a:t>
            </a:r>
            <a:endParaRPr lang="en-US" sz="3000" dirty="0"/>
          </a:p>
        </p:txBody>
      </p:sp>
      <p:sp>
        <p:nvSpPr>
          <p:cNvPr id="4" name="Shape 2"/>
          <p:cNvSpPr/>
          <p:nvPr/>
        </p:nvSpPr>
        <p:spPr>
          <a:xfrm>
            <a:off x="502920" y="1737360"/>
            <a:ext cx="1700784" cy="1371600"/>
          </a:xfrm>
          <a:prstGeom prst="roundRect">
            <a:avLst>
              <a:gd name="adj" fmla="val 3333"/>
            </a:avLst>
          </a:prstGeom>
          <a:solidFill>
            <a:srgbClr val="252943"/>
          </a:solidFill>
          <a:ln w="12700">
            <a:solidFill>
              <a:srgbClr val="6E7699"/>
            </a:solidFill>
            <a:prstDash val="solid"/>
          </a:ln>
        </p:spPr>
      </p:sp>
      <p:sp>
        <p:nvSpPr>
          <p:cNvPr id="5" name="Shape 3"/>
          <p:cNvSpPr/>
          <p:nvPr/>
        </p:nvSpPr>
        <p:spPr>
          <a:xfrm>
            <a:off x="630936" y="1865376"/>
            <a:ext cx="310896" cy="310896"/>
          </a:xfrm>
          <a:prstGeom prst="ellipse">
            <a:avLst/>
          </a:prstGeom>
          <a:solidFill>
            <a:srgbClr val="83B4DE"/>
          </a:solidFill>
          <a:ln w="12700">
            <a:solidFill>
              <a:srgbClr val="83B4DE"/>
            </a:solidFill>
            <a:prstDash val="solid"/>
          </a:ln>
        </p:spPr>
      </p:sp>
      <p:sp>
        <p:nvSpPr>
          <p:cNvPr id="6" name="Text 4"/>
          <p:cNvSpPr txBox="1"/>
          <p:nvPr/>
        </p:nvSpPr>
        <p:spPr>
          <a:xfrm>
            <a:off x="630936" y="1865376"/>
            <a:ext cx="310896" cy="310896"/>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1</a:t>
            </a:r>
            <a:endParaRPr lang="en-US" sz="1200" dirty="0"/>
          </a:p>
        </p:txBody>
      </p:sp>
      <p:sp>
        <p:nvSpPr>
          <p:cNvPr id="7" name="Text 5"/>
          <p:cNvSpPr txBox="1"/>
          <p:nvPr/>
        </p:nvSpPr>
        <p:spPr>
          <a:xfrm>
            <a:off x="630936" y="2267712"/>
            <a:ext cx="1444752" cy="310896"/>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The person films</a:t>
            </a:r>
            <a:endParaRPr lang="en-US" sz="1300" dirty="0"/>
          </a:p>
        </p:txBody>
      </p:sp>
      <p:sp>
        <p:nvSpPr>
          <p:cNvPr id="8" name="Text 6"/>
          <p:cNvSpPr txBox="1"/>
          <p:nvPr/>
        </p:nvSpPr>
        <p:spPr>
          <a:xfrm>
            <a:off x="630936" y="2560320"/>
            <a:ext cx="1444752" cy="457200"/>
          </a:xfrm>
          <a:prstGeom prst="rect">
            <a:avLst/>
          </a:prstGeom>
          <a:noFill/>
          <a:ln/>
        </p:spPr>
        <p:txBody>
          <a:bodyPr wrap="square" lIns="0" tIns="0" rIns="0" bIns="0" rtlCol="0" anchor="t"/>
          <a:lstStyle/>
          <a:p>
            <a:pPr indent="0" marL="0">
              <a:lnSpc>
                <a:spcPct val="114000"/>
              </a:lnSpc>
              <a:buNone/>
            </a:pPr>
            <a:r>
              <a:rPr lang="en-US" sz="1050" dirty="0">
                <a:solidFill>
                  <a:srgbClr val="9BA1C1"/>
                </a:solidFill>
                <a:latin typeface="Arial" pitchFamily="34" charset="0"/>
                <a:ea typeface="Arial" pitchFamily="34" charset="-122"/>
                <a:cs typeface="Arial" pitchFamily="34" charset="-120"/>
              </a:rPr>
              <a:t>ten seconds, half a turn</a:t>
            </a:r>
            <a:endParaRPr lang="en-US" sz="1050" dirty="0"/>
          </a:p>
        </p:txBody>
      </p:sp>
      <p:sp>
        <p:nvSpPr>
          <p:cNvPr id="9" name="Shape 7"/>
          <p:cNvSpPr/>
          <p:nvPr/>
        </p:nvSpPr>
        <p:spPr>
          <a:xfrm>
            <a:off x="2231136" y="2423160"/>
            <a:ext cx="137160" cy="0"/>
          </a:xfrm>
          <a:prstGeom prst="line">
            <a:avLst/>
          </a:prstGeom>
          <a:noFill/>
          <a:ln w="15875">
            <a:solidFill>
              <a:srgbClr val="6E7699"/>
            </a:solidFill>
            <a:prstDash val="solid"/>
            <a:tailEnd type="triangle"/>
          </a:ln>
        </p:spPr>
      </p:sp>
      <p:sp>
        <p:nvSpPr>
          <p:cNvPr id="10" name="Shape 8"/>
          <p:cNvSpPr/>
          <p:nvPr/>
        </p:nvSpPr>
        <p:spPr>
          <a:xfrm>
            <a:off x="2395728" y="1737360"/>
            <a:ext cx="1700784" cy="1371600"/>
          </a:xfrm>
          <a:prstGeom prst="roundRect">
            <a:avLst>
              <a:gd name="adj" fmla="val 3333"/>
            </a:avLst>
          </a:prstGeom>
          <a:solidFill>
            <a:srgbClr val="3A3A62"/>
          </a:solidFill>
          <a:ln w="19050">
            <a:solidFill>
              <a:srgbClr val="E0A458"/>
            </a:solidFill>
            <a:prstDash val="solid"/>
          </a:ln>
        </p:spPr>
      </p:sp>
      <p:sp>
        <p:nvSpPr>
          <p:cNvPr id="11" name="Shape 9"/>
          <p:cNvSpPr/>
          <p:nvPr/>
        </p:nvSpPr>
        <p:spPr>
          <a:xfrm>
            <a:off x="2523744" y="1865376"/>
            <a:ext cx="310896" cy="310896"/>
          </a:xfrm>
          <a:prstGeom prst="ellipse">
            <a:avLst/>
          </a:prstGeom>
          <a:solidFill>
            <a:srgbClr val="E0A458"/>
          </a:solidFill>
          <a:ln w="12700">
            <a:solidFill>
              <a:srgbClr val="E0A458"/>
            </a:solidFill>
            <a:prstDash val="solid"/>
          </a:ln>
        </p:spPr>
      </p:sp>
      <p:sp>
        <p:nvSpPr>
          <p:cNvPr id="12" name="Text 10"/>
          <p:cNvSpPr txBox="1"/>
          <p:nvPr/>
        </p:nvSpPr>
        <p:spPr>
          <a:xfrm>
            <a:off x="2523744" y="1865376"/>
            <a:ext cx="310896" cy="310896"/>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2</a:t>
            </a:r>
            <a:endParaRPr lang="en-US" sz="1200" dirty="0"/>
          </a:p>
        </p:txBody>
      </p:sp>
      <p:sp>
        <p:nvSpPr>
          <p:cNvPr id="13" name="Text 11"/>
          <p:cNvSpPr txBox="1"/>
          <p:nvPr/>
        </p:nvSpPr>
        <p:spPr>
          <a:xfrm>
            <a:off x="3621024" y="1865376"/>
            <a:ext cx="365760" cy="310896"/>
          </a:xfrm>
          <a:prstGeom prst="rect">
            <a:avLst/>
          </a:prstGeom>
          <a:noFill/>
          <a:ln/>
        </p:spPr>
        <p:txBody>
          <a:bodyPr wrap="square" lIns="0" tIns="0" rIns="0" bIns="0" rtlCol="0" anchor="ctr"/>
          <a:lstStyle/>
          <a:p>
            <a:pPr algn="r" indent="0" marL="0">
              <a:buNone/>
            </a:pPr>
            <a:r>
              <a:rPr lang="en-US" sz="950" b="1" spc="100" kern="0" dirty="0">
                <a:solidFill>
                  <a:srgbClr val="E0A458"/>
                </a:solidFill>
                <a:latin typeface="Arial" pitchFamily="34" charset="0"/>
                <a:ea typeface="Arial" pitchFamily="34" charset="-122"/>
                <a:cs typeface="Arial" pitchFamily="34" charset="-120"/>
              </a:rPr>
              <a:t>AI</a:t>
            </a:r>
            <a:endParaRPr lang="en-US" sz="950" dirty="0"/>
          </a:p>
        </p:txBody>
      </p:sp>
      <p:sp>
        <p:nvSpPr>
          <p:cNvPr id="14" name="Text 12"/>
          <p:cNvSpPr txBox="1"/>
          <p:nvPr/>
        </p:nvSpPr>
        <p:spPr>
          <a:xfrm>
            <a:off x="2523744" y="2267712"/>
            <a:ext cx="1444752" cy="310896"/>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Read the video</a:t>
            </a:r>
            <a:endParaRPr lang="en-US" sz="1300" dirty="0"/>
          </a:p>
        </p:txBody>
      </p:sp>
      <p:sp>
        <p:nvSpPr>
          <p:cNvPr id="15" name="Text 13"/>
          <p:cNvSpPr txBox="1"/>
          <p:nvPr/>
        </p:nvSpPr>
        <p:spPr>
          <a:xfrm>
            <a:off x="2523744" y="2560320"/>
            <a:ext cx="1444752" cy="457200"/>
          </a:xfrm>
          <a:prstGeom prst="rect">
            <a:avLst/>
          </a:prstGeom>
          <a:noFill/>
          <a:ln/>
        </p:spPr>
        <p:txBody>
          <a:bodyPr wrap="square" lIns="0" tIns="0" rIns="0" bIns="0" rtlCol="0" anchor="t"/>
          <a:lstStyle/>
          <a:p>
            <a:pPr indent="0" marL="0">
              <a:lnSpc>
                <a:spcPct val="114000"/>
              </a:lnSpc>
              <a:buNone/>
            </a:pPr>
            <a:r>
              <a:rPr lang="en-US" sz="1050" dirty="0">
                <a:solidFill>
                  <a:srgbClr val="9BA1C1"/>
                </a:solidFill>
                <a:latin typeface="Arial" pitchFamily="34" charset="0"/>
                <a:ea typeface="Arial" pitchFamily="34" charset="-122"/>
                <a:cs typeface="Arial" pitchFamily="34" charset="-120"/>
              </a:rPr>
              <a:t>a 3D body, then measurements</a:t>
            </a:r>
            <a:endParaRPr lang="en-US" sz="1050" dirty="0"/>
          </a:p>
        </p:txBody>
      </p:sp>
      <p:sp>
        <p:nvSpPr>
          <p:cNvPr id="16" name="Shape 14"/>
          <p:cNvSpPr/>
          <p:nvPr/>
        </p:nvSpPr>
        <p:spPr>
          <a:xfrm>
            <a:off x="4123944" y="2423160"/>
            <a:ext cx="137160" cy="0"/>
          </a:xfrm>
          <a:prstGeom prst="line">
            <a:avLst/>
          </a:prstGeom>
          <a:noFill/>
          <a:ln w="15875">
            <a:solidFill>
              <a:srgbClr val="6E7699"/>
            </a:solidFill>
            <a:prstDash val="solid"/>
            <a:tailEnd type="triangle"/>
          </a:ln>
        </p:spPr>
      </p:sp>
      <p:sp>
        <p:nvSpPr>
          <p:cNvPr id="17" name="Shape 15"/>
          <p:cNvSpPr/>
          <p:nvPr/>
        </p:nvSpPr>
        <p:spPr>
          <a:xfrm>
            <a:off x="4288536" y="1737360"/>
            <a:ext cx="1700784" cy="1371600"/>
          </a:xfrm>
          <a:prstGeom prst="roundRect">
            <a:avLst>
              <a:gd name="adj" fmla="val 3333"/>
            </a:avLst>
          </a:prstGeom>
          <a:solidFill>
            <a:srgbClr val="3A3A62"/>
          </a:solidFill>
          <a:ln w="19050">
            <a:solidFill>
              <a:srgbClr val="E0A458"/>
            </a:solidFill>
            <a:prstDash val="solid"/>
          </a:ln>
        </p:spPr>
      </p:sp>
      <p:sp>
        <p:nvSpPr>
          <p:cNvPr id="18" name="Shape 16"/>
          <p:cNvSpPr/>
          <p:nvPr/>
        </p:nvSpPr>
        <p:spPr>
          <a:xfrm>
            <a:off x="4416552" y="1865376"/>
            <a:ext cx="310896" cy="310896"/>
          </a:xfrm>
          <a:prstGeom prst="ellipse">
            <a:avLst/>
          </a:prstGeom>
          <a:solidFill>
            <a:srgbClr val="E0A458"/>
          </a:solidFill>
          <a:ln w="12700">
            <a:solidFill>
              <a:srgbClr val="E0A458"/>
            </a:solidFill>
            <a:prstDash val="solid"/>
          </a:ln>
        </p:spPr>
      </p:sp>
      <p:sp>
        <p:nvSpPr>
          <p:cNvPr id="19" name="Text 17"/>
          <p:cNvSpPr txBox="1"/>
          <p:nvPr/>
        </p:nvSpPr>
        <p:spPr>
          <a:xfrm>
            <a:off x="4416552" y="1865376"/>
            <a:ext cx="310896" cy="310896"/>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3</a:t>
            </a:r>
            <a:endParaRPr lang="en-US" sz="1200" dirty="0"/>
          </a:p>
        </p:txBody>
      </p:sp>
      <p:sp>
        <p:nvSpPr>
          <p:cNvPr id="20" name="Text 18"/>
          <p:cNvSpPr txBox="1"/>
          <p:nvPr/>
        </p:nvSpPr>
        <p:spPr>
          <a:xfrm>
            <a:off x="5513832" y="1865376"/>
            <a:ext cx="365760" cy="310896"/>
          </a:xfrm>
          <a:prstGeom prst="rect">
            <a:avLst/>
          </a:prstGeom>
          <a:noFill/>
          <a:ln/>
        </p:spPr>
        <p:txBody>
          <a:bodyPr wrap="square" lIns="0" tIns="0" rIns="0" bIns="0" rtlCol="0" anchor="ctr"/>
          <a:lstStyle/>
          <a:p>
            <a:pPr algn="r" indent="0" marL="0">
              <a:buNone/>
            </a:pPr>
            <a:r>
              <a:rPr lang="en-US" sz="950" b="1" spc="100" kern="0" dirty="0">
                <a:solidFill>
                  <a:srgbClr val="E0A458"/>
                </a:solidFill>
                <a:latin typeface="Arial" pitchFamily="34" charset="0"/>
                <a:ea typeface="Arial" pitchFamily="34" charset="-122"/>
                <a:cs typeface="Arial" pitchFamily="34" charset="-120"/>
              </a:rPr>
              <a:t>AI</a:t>
            </a:r>
            <a:endParaRPr lang="en-US" sz="950" dirty="0"/>
          </a:p>
        </p:txBody>
      </p:sp>
      <p:sp>
        <p:nvSpPr>
          <p:cNvPr id="21" name="Text 19"/>
          <p:cNvSpPr txBox="1"/>
          <p:nvPr/>
        </p:nvSpPr>
        <p:spPr>
          <a:xfrm>
            <a:off x="4416552" y="2267712"/>
            <a:ext cx="1444752" cy="310896"/>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Read the brand</a:t>
            </a:r>
            <a:endParaRPr lang="en-US" sz="1300" dirty="0"/>
          </a:p>
        </p:txBody>
      </p:sp>
      <p:sp>
        <p:nvSpPr>
          <p:cNvPr id="22" name="Text 20"/>
          <p:cNvSpPr txBox="1"/>
          <p:nvPr/>
        </p:nvSpPr>
        <p:spPr>
          <a:xfrm>
            <a:off x="4416552" y="2560320"/>
            <a:ext cx="1444752" cy="457200"/>
          </a:xfrm>
          <a:prstGeom prst="rect">
            <a:avLst/>
          </a:prstGeom>
          <a:noFill/>
          <a:ln/>
        </p:spPr>
        <p:txBody>
          <a:bodyPr wrap="square" lIns="0" tIns="0" rIns="0" bIns="0" rtlCol="0" anchor="t"/>
          <a:lstStyle/>
          <a:p>
            <a:pPr indent="0" marL="0">
              <a:lnSpc>
                <a:spcPct val="114000"/>
              </a:lnSpc>
              <a:buNone/>
            </a:pPr>
            <a:r>
              <a:rPr lang="en-US" sz="1050" dirty="0">
                <a:solidFill>
                  <a:srgbClr val="9BA1C1"/>
                </a:solidFill>
                <a:latin typeface="Arial" pitchFamily="34" charset="0"/>
                <a:ea typeface="Arial" pitchFamily="34" charset="-122"/>
                <a:cs typeface="Arial" pitchFamily="34" charset="-120"/>
              </a:rPr>
              <a:t>its size chart, whatever the format</a:t>
            </a:r>
            <a:endParaRPr lang="en-US" sz="1050" dirty="0"/>
          </a:p>
        </p:txBody>
      </p:sp>
      <p:sp>
        <p:nvSpPr>
          <p:cNvPr id="23" name="Shape 21"/>
          <p:cNvSpPr/>
          <p:nvPr/>
        </p:nvSpPr>
        <p:spPr>
          <a:xfrm>
            <a:off x="6016752" y="2423160"/>
            <a:ext cx="137160" cy="0"/>
          </a:xfrm>
          <a:prstGeom prst="line">
            <a:avLst/>
          </a:prstGeom>
          <a:noFill/>
          <a:ln w="15875">
            <a:solidFill>
              <a:srgbClr val="6E7699"/>
            </a:solidFill>
            <a:prstDash val="solid"/>
            <a:tailEnd type="triangle"/>
          </a:ln>
        </p:spPr>
      </p:sp>
      <p:sp>
        <p:nvSpPr>
          <p:cNvPr id="24" name="Shape 22"/>
          <p:cNvSpPr/>
          <p:nvPr/>
        </p:nvSpPr>
        <p:spPr>
          <a:xfrm>
            <a:off x="6181344" y="1737360"/>
            <a:ext cx="1700784" cy="1371600"/>
          </a:xfrm>
          <a:prstGeom prst="roundRect">
            <a:avLst>
              <a:gd name="adj" fmla="val 3333"/>
            </a:avLst>
          </a:prstGeom>
          <a:solidFill>
            <a:srgbClr val="252943"/>
          </a:solidFill>
          <a:ln w="12700">
            <a:solidFill>
              <a:srgbClr val="6E7699"/>
            </a:solidFill>
            <a:prstDash val="solid"/>
          </a:ln>
        </p:spPr>
      </p:sp>
      <p:sp>
        <p:nvSpPr>
          <p:cNvPr id="25" name="Shape 23"/>
          <p:cNvSpPr/>
          <p:nvPr/>
        </p:nvSpPr>
        <p:spPr>
          <a:xfrm>
            <a:off x="6309360" y="1865376"/>
            <a:ext cx="310896" cy="310896"/>
          </a:xfrm>
          <a:prstGeom prst="ellipse">
            <a:avLst/>
          </a:prstGeom>
          <a:solidFill>
            <a:srgbClr val="83B4DE"/>
          </a:solidFill>
          <a:ln w="12700">
            <a:solidFill>
              <a:srgbClr val="83B4DE"/>
            </a:solidFill>
            <a:prstDash val="solid"/>
          </a:ln>
        </p:spPr>
      </p:sp>
      <p:sp>
        <p:nvSpPr>
          <p:cNvPr id="26" name="Text 24"/>
          <p:cNvSpPr txBox="1"/>
          <p:nvPr/>
        </p:nvSpPr>
        <p:spPr>
          <a:xfrm>
            <a:off x="6309360" y="1865376"/>
            <a:ext cx="310896" cy="310896"/>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4</a:t>
            </a:r>
            <a:endParaRPr lang="en-US" sz="1200" dirty="0"/>
          </a:p>
        </p:txBody>
      </p:sp>
      <p:sp>
        <p:nvSpPr>
          <p:cNvPr id="27" name="Text 25"/>
          <p:cNvSpPr txBox="1"/>
          <p:nvPr/>
        </p:nvSpPr>
        <p:spPr>
          <a:xfrm>
            <a:off x="6309360" y="2267712"/>
            <a:ext cx="1444752" cy="310896"/>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Pick the size</a:t>
            </a:r>
            <a:endParaRPr lang="en-US" sz="1300" dirty="0"/>
          </a:p>
        </p:txBody>
      </p:sp>
      <p:sp>
        <p:nvSpPr>
          <p:cNvPr id="28" name="Text 26"/>
          <p:cNvSpPr txBox="1"/>
          <p:nvPr/>
        </p:nvSpPr>
        <p:spPr>
          <a:xfrm>
            <a:off x="6309360" y="2560320"/>
            <a:ext cx="1444752" cy="457200"/>
          </a:xfrm>
          <a:prstGeom prst="rect">
            <a:avLst/>
          </a:prstGeom>
          <a:noFill/>
          <a:ln/>
        </p:spPr>
        <p:txBody>
          <a:bodyPr wrap="square" lIns="0" tIns="0" rIns="0" bIns="0" rtlCol="0" anchor="t"/>
          <a:lstStyle/>
          <a:p>
            <a:pPr indent="0" marL="0">
              <a:lnSpc>
                <a:spcPct val="114000"/>
              </a:lnSpc>
              <a:buNone/>
            </a:pPr>
            <a:r>
              <a:rPr lang="en-US" sz="1050" dirty="0">
                <a:solidFill>
                  <a:srgbClr val="9BA1C1"/>
                </a:solidFill>
                <a:latin typeface="Arial" pitchFamily="34" charset="0"/>
                <a:ea typeface="Arial" pitchFamily="34" charset="-122"/>
                <a:cs typeface="Arial" pitchFamily="34" charset="-120"/>
              </a:rPr>
              <a:t>compare the numbers, choose</a:t>
            </a:r>
            <a:endParaRPr lang="en-US" sz="1050" dirty="0"/>
          </a:p>
        </p:txBody>
      </p:sp>
      <p:sp>
        <p:nvSpPr>
          <p:cNvPr id="29" name="Shape 27"/>
          <p:cNvSpPr/>
          <p:nvPr/>
        </p:nvSpPr>
        <p:spPr>
          <a:xfrm>
            <a:off x="7909560" y="2423160"/>
            <a:ext cx="137160" cy="0"/>
          </a:xfrm>
          <a:prstGeom prst="line">
            <a:avLst/>
          </a:prstGeom>
          <a:noFill/>
          <a:ln w="15875">
            <a:solidFill>
              <a:srgbClr val="6E7699"/>
            </a:solidFill>
            <a:prstDash val="solid"/>
            <a:tailEnd type="triangle"/>
          </a:ln>
        </p:spPr>
      </p:sp>
      <p:sp>
        <p:nvSpPr>
          <p:cNvPr id="30" name="Shape 28"/>
          <p:cNvSpPr/>
          <p:nvPr/>
        </p:nvSpPr>
        <p:spPr>
          <a:xfrm>
            <a:off x="8074152" y="1737360"/>
            <a:ext cx="1700784" cy="1371600"/>
          </a:xfrm>
          <a:prstGeom prst="roundRect">
            <a:avLst>
              <a:gd name="adj" fmla="val 3333"/>
            </a:avLst>
          </a:prstGeom>
          <a:solidFill>
            <a:srgbClr val="252943"/>
          </a:solidFill>
          <a:ln w="12700">
            <a:solidFill>
              <a:srgbClr val="6E7699"/>
            </a:solidFill>
            <a:prstDash val="solid"/>
          </a:ln>
        </p:spPr>
      </p:sp>
      <p:sp>
        <p:nvSpPr>
          <p:cNvPr id="31" name="Shape 29"/>
          <p:cNvSpPr/>
          <p:nvPr/>
        </p:nvSpPr>
        <p:spPr>
          <a:xfrm>
            <a:off x="8202168" y="1865376"/>
            <a:ext cx="310896" cy="310896"/>
          </a:xfrm>
          <a:prstGeom prst="ellipse">
            <a:avLst/>
          </a:prstGeom>
          <a:solidFill>
            <a:srgbClr val="83B4DE"/>
          </a:solidFill>
          <a:ln w="12700">
            <a:solidFill>
              <a:srgbClr val="83B4DE"/>
            </a:solidFill>
            <a:prstDash val="solid"/>
          </a:ln>
        </p:spPr>
      </p:sp>
      <p:sp>
        <p:nvSpPr>
          <p:cNvPr id="32" name="Text 30"/>
          <p:cNvSpPr txBox="1"/>
          <p:nvPr/>
        </p:nvSpPr>
        <p:spPr>
          <a:xfrm>
            <a:off x="8202168" y="1865376"/>
            <a:ext cx="310896" cy="310896"/>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5</a:t>
            </a:r>
            <a:endParaRPr lang="en-US" sz="1200" dirty="0"/>
          </a:p>
        </p:txBody>
      </p:sp>
      <p:sp>
        <p:nvSpPr>
          <p:cNvPr id="33" name="Text 31"/>
          <p:cNvSpPr txBox="1"/>
          <p:nvPr/>
        </p:nvSpPr>
        <p:spPr>
          <a:xfrm>
            <a:off x="8202168" y="2267712"/>
            <a:ext cx="1444752" cy="310896"/>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The person buys</a:t>
            </a:r>
            <a:endParaRPr lang="en-US" sz="1300" dirty="0"/>
          </a:p>
        </p:txBody>
      </p:sp>
      <p:sp>
        <p:nvSpPr>
          <p:cNvPr id="34" name="Text 32"/>
          <p:cNvSpPr txBox="1"/>
          <p:nvPr/>
        </p:nvSpPr>
        <p:spPr>
          <a:xfrm>
            <a:off x="8202168" y="2560320"/>
            <a:ext cx="1444752" cy="457200"/>
          </a:xfrm>
          <a:prstGeom prst="rect">
            <a:avLst/>
          </a:prstGeom>
          <a:noFill/>
          <a:ln/>
        </p:spPr>
        <p:txBody>
          <a:bodyPr wrap="square" lIns="0" tIns="0" rIns="0" bIns="0" rtlCol="0" anchor="t"/>
          <a:lstStyle/>
          <a:p>
            <a:pPr indent="0" marL="0">
              <a:lnSpc>
                <a:spcPct val="114000"/>
              </a:lnSpc>
              <a:buNone/>
            </a:pPr>
            <a:r>
              <a:rPr lang="en-US" sz="1050" dirty="0">
                <a:solidFill>
                  <a:srgbClr val="9BA1C1"/>
                </a:solidFill>
                <a:latin typeface="Arial" pitchFamily="34" charset="0"/>
                <a:ea typeface="Arial" pitchFamily="34" charset="-122"/>
                <a:cs typeface="Arial" pitchFamily="34" charset="-120"/>
              </a:rPr>
              <a:t>on the shop's own site</a:t>
            </a:r>
            <a:endParaRPr lang="en-US" sz="1050" dirty="0"/>
          </a:p>
        </p:txBody>
      </p:sp>
      <p:sp>
        <p:nvSpPr>
          <p:cNvPr id="35" name="Shape 33"/>
          <p:cNvSpPr/>
          <p:nvPr/>
        </p:nvSpPr>
        <p:spPr>
          <a:xfrm>
            <a:off x="9802368" y="2423160"/>
            <a:ext cx="137160" cy="0"/>
          </a:xfrm>
          <a:prstGeom prst="line">
            <a:avLst/>
          </a:prstGeom>
          <a:noFill/>
          <a:ln w="15875">
            <a:solidFill>
              <a:srgbClr val="6E7699"/>
            </a:solidFill>
            <a:prstDash val="solid"/>
            <a:tailEnd type="triangle"/>
          </a:ln>
        </p:spPr>
      </p:sp>
      <p:sp>
        <p:nvSpPr>
          <p:cNvPr id="36" name="Shape 34"/>
          <p:cNvSpPr/>
          <p:nvPr/>
        </p:nvSpPr>
        <p:spPr>
          <a:xfrm>
            <a:off x="9966960" y="1737360"/>
            <a:ext cx="1700784" cy="1371600"/>
          </a:xfrm>
          <a:prstGeom prst="roundRect">
            <a:avLst>
              <a:gd name="adj" fmla="val 3333"/>
            </a:avLst>
          </a:prstGeom>
          <a:solidFill>
            <a:srgbClr val="3A3A62"/>
          </a:solidFill>
          <a:ln w="19050">
            <a:solidFill>
              <a:srgbClr val="E0A458"/>
            </a:solidFill>
            <a:prstDash val="solid"/>
          </a:ln>
        </p:spPr>
      </p:sp>
      <p:sp>
        <p:nvSpPr>
          <p:cNvPr id="37" name="Shape 35"/>
          <p:cNvSpPr/>
          <p:nvPr/>
        </p:nvSpPr>
        <p:spPr>
          <a:xfrm>
            <a:off x="10094976" y="1865376"/>
            <a:ext cx="310896" cy="310896"/>
          </a:xfrm>
          <a:prstGeom prst="ellipse">
            <a:avLst/>
          </a:prstGeom>
          <a:solidFill>
            <a:srgbClr val="E0A458"/>
          </a:solidFill>
          <a:ln w="12700">
            <a:solidFill>
              <a:srgbClr val="E0A458"/>
            </a:solidFill>
            <a:prstDash val="solid"/>
          </a:ln>
        </p:spPr>
      </p:sp>
      <p:sp>
        <p:nvSpPr>
          <p:cNvPr id="38" name="Text 36"/>
          <p:cNvSpPr txBox="1"/>
          <p:nvPr/>
        </p:nvSpPr>
        <p:spPr>
          <a:xfrm>
            <a:off x="10094976" y="1865376"/>
            <a:ext cx="310896" cy="310896"/>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6</a:t>
            </a:r>
            <a:endParaRPr lang="en-US" sz="1200" dirty="0"/>
          </a:p>
        </p:txBody>
      </p:sp>
      <p:sp>
        <p:nvSpPr>
          <p:cNvPr id="39" name="Text 37"/>
          <p:cNvSpPr txBox="1"/>
          <p:nvPr/>
        </p:nvSpPr>
        <p:spPr>
          <a:xfrm>
            <a:off x="11192256" y="1865376"/>
            <a:ext cx="365760" cy="310896"/>
          </a:xfrm>
          <a:prstGeom prst="rect">
            <a:avLst/>
          </a:prstGeom>
          <a:noFill/>
          <a:ln/>
        </p:spPr>
        <p:txBody>
          <a:bodyPr wrap="square" lIns="0" tIns="0" rIns="0" bIns="0" rtlCol="0" anchor="ctr"/>
          <a:lstStyle/>
          <a:p>
            <a:pPr algn="r" indent="0" marL="0">
              <a:buNone/>
            </a:pPr>
            <a:r>
              <a:rPr lang="en-US" sz="950" b="1" spc="100" kern="0" dirty="0">
                <a:solidFill>
                  <a:srgbClr val="E0A458"/>
                </a:solidFill>
                <a:latin typeface="Arial" pitchFamily="34" charset="0"/>
                <a:ea typeface="Arial" pitchFamily="34" charset="-122"/>
                <a:cs typeface="Arial" pitchFamily="34" charset="-120"/>
              </a:rPr>
              <a:t>AI</a:t>
            </a:r>
            <a:endParaRPr lang="en-US" sz="950" dirty="0"/>
          </a:p>
        </p:txBody>
      </p:sp>
      <p:sp>
        <p:nvSpPr>
          <p:cNvPr id="40" name="Text 38"/>
          <p:cNvSpPr txBox="1"/>
          <p:nvPr/>
        </p:nvSpPr>
        <p:spPr>
          <a:xfrm>
            <a:off x="10094976" y="2267712"/>
            <a:ext cx="1444752" cy="310896"/>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Read the reply</a:t>
            </a:r>
            <a:endParaRPr lang="en-US" sz="1300" dirty="0"/>
          </a:p>
        </p:txBody>
      </p:sp>
      <p:sp>
        <p:nvSpPr>
          <p:cNvPr id="41" name="Text 39"/>
          <p:cNvSpPr txBox="1"/>
          <p:nvPr/>
        </p:nvSpPr>
        <p:spPr>
          <a:xfrm>
            <a:off x="10094976" y="2560320"/>
            <a:ext cx="1444752" cy="457200"/>
          </a:xfrm>
          <a:prstGeom prst="rect">
            <a:avLst/>
          </a:prstGeom>
          <a:noFill/>
          <a:ln/>
        </p:spPr>
        <p:txBody>
          <a:bodyPr wrap="square" lIns="0" tIns="0" rIns="0" bIns="0" rtlCol="0" anchor="t"/>
          <a:lstStyle/>
          <a:p>
            <a:pPr indent="0" marL="0">
              <a:lnSpc>
                <a:spcPct val="114000"/>
              </a:lnSpc>
              <a:buNone/>
            </a:pPr>
            <a:r>
              <a:rPr lang="en-US" sz="1050" dirty="0">
                <a:solidFill>
                  <a:srgbClr val="9BA1C1"/>
                </a:solidFill>
                <a:latin typeface="Arial" pitchFamily="34" charset="0"/>
                <a:ea typeface="Arial" pitchFamily="34" charset="-122"/>
                <a:cs typeface="Arial" pitchFamily="34" charset="-120"/>
              </a:rPr>
              <a:t>“tight in the waist” → a number</a:t>
            </a:r>
            <a:endParaRPr lang="en-US" sz="1050" dirty="0"/>
          </a:p>
        </p:txBody>
      </p:sp>
      <p:sp>
        <p:nvSpPr>
          <p:cNvPr id="42" name="Shape 40"/>
          <p:cNvSpPr/>
          <p:nvPr/>
        </p:nvSpPr>
        <p:spPr>
          <a:xfrm>
            <a:off x="10817352" y="3108960"/>
            <a:ext cx="0" cy="566928"/>
          </a:xfrm>
          <a:prstGeom prst="line">
            <a:avLst/>
          </a:prstGeom>
          <a:noFill/>
          <a:ln w="15875">
            <a:solidFill>
              <a:srgbClr val="E0A458"/>
            </a:solidFill>
            <a:prstDash val="solid"/>
          </a:ln>
        </p:spPr>
      </p:sp>
      <p:sp>
        <p:nvSpPr>
          <p:cNvPr id="43" name="Shape 41"/>
          <p:cNvSpPr/>
          <p:nvPr/>
        </p:nvSpPr>
        <p:spPr>
          <a:xfrm>
            <a:off x="7031736" y="3675888"/>
            <a:ext cx="3785616" cy="0"/>
          </a:xfrm>
          <a:prstGeom prst="line">
            <a:avLst/>
          </a:prstGeom>
          <a:noFill/>
          <a:ln w="15875">
            <a:solidFill>
              <a:srgbClr val="E0A458"/>
            </a:solidFill>
            <a:prstDash val="solid"/>
          </a:ln>
        </p:spPr>
      </p:sp>
      <p:sp>
        <p:nvSpPr>
          <p:cNvPr id="44" name="Shape 42"/>
          <p:cNvSpPr/>
          <p:nvPr/>
        </p:nvSpPr>
        <p:spPr>
          <a:xfrm>
            <a:off x="7031736" y="3108960"/>
            <a:ext cx="0" cy="566928"/>
          </a:xfrm>
          <a:prstGeom prst="line">
            <a:avLst/>
          </a:prstGeom>
          <a:noFill/>
          <a:ln w="15875">
            <a:solidFill>
              <a:srgbClr val="E0A458"/>
            </a:solidFill>
            <a:prstDash val="solid"/>
            <a:headEnd type="triangle"/>
          </a:ln>
        </p:spPr>
      </p:sp>
      <p:sp>
        <p:nvSpPr>
          <p:cNvPr id="45" name="Text 43"/>
          <p:cNvSpPr txBox="1"/>
          <p:nvPr/>
        </p:nvSpPr>
        <p:spPr>
          <a:xfrm>
            <a:off x="7214616" y="3712464"/>
            <a:ext cx="4389120" cy="274320"/>
          </a:xfrm>
          <a:prstGeom prst="rect">
            <a:avLst/>
          </a:prstGeom>
          <a:noFill/>
          <a:ln/>
        </p:spPr>
        <p:txBody>
          <a:bodyPr wrap="square" lIns="0" tIns="0" rIns="0" bIns="0" rtlCol="0" anchor="ctr"/>
          <a:lstStyle/>
          <a:p>
            <a:pPr indent="0" marL="0">
              <a:buNone/>
            </a:pPr>
            <a:r>
              <a:rPr lang="en-US" sz="1150" i="1" dirty="0">
                <a:solidFill>
                  <a:srgbClr val="E0A458"/>
                </a:solidFill>
                <a:latin typeface="Arial" pitchFamily="34" charset="0"/>
                <a:ea typeface="Arial" pitchFamily="34" charset="-122"/>
                <a:cs typeface="Arial" pitchFamily="34" charset="-120"/>
              </a:rPr>
              <a:t>every reply makes step 4 better for the next person</a:t>
            </a:r>
            <a:endParaRPr lang="en-US" sz="1150" dirty="0"/>
          </a:p>
        </p:txBody>
      </p:sp>
      <p:sp>
        <p:nvSpPr>
          <p:cNvPr id="46" name="Shape 44"/>
          <p:cNvSpPr/>
          <p:nvPr/>
        </p:nvSpPr>
        <p:spPr>
          <a:xfrm>
            <a:off x="502920" y="4224528"/>
            <a:ext cx="5394960" cy="1371600"/>
          </a:xfrm>
          <a:prstGeom prst="roundRect">
            <a:avLst>
              <a:gd name="adj" fmla="val 4000"/>
            </a:avLst>
          </a:prstGeom>
          <a:solidFill>
            <a:srgbClr val="252943"/>
          </a:solidFill>
          <a:ln w="12700">
            <a:solidFill>
              <a:srgbClr val="252943"/>
            </a:solidFill>
            <a:prstDash val="solid"/>
          </a:ln>
        </p:spPr>
      </p:sp>
      <p:sp>
        <p:nvSpPr>
          <p:cNvPr id="47" name="Shape 45"/>
          <p:cNvSpPr/>
          <p:nvPr/>
        </p:nvSpPr>
        <p:spPr>
          <a:xfrm>
            <a:off x="832104" y="4480560"/>
            <a:ext cx="146304" cy="146304"/>
          </a:xfrm>
          <a:prstGeom prst="ellipse">
            <a:avLst/>
          </a:prstGeom>
          <a:solidFill>
            <a:srgbClr val="E0A458"/>
          </a:solidFill>
          <a:ln w="12700">
            <a:solidFill>
              <a:srgbClr val="E0A458"/>
            </a:solidFill>
            <a:prstDash val="solid"/>
          </a:ln>
        </p:spPr>
      </p:sp>
      <p:sp>
        <p:nvSpPr>
          <p:cNvPr id="48" name="Text 46"/>
          <p:cNvSpPr txBox="1"/>
          <p:nvPr/>
        </p:nvSpPr>
        <p:spPr>
          <a:xfrm>
            <a:off x="1088136" y="4407408"/>
            <a:ext cx="4572000" cy="292608"/>
          </a:xfrm>
          <a:prstGeom prst="rect">
            <a:avLst/>
          </a:prstGeom>
          <a:noFill/>
          <a:ln/>
        </p:spPr>
        <p:txBody>
          <a:bodyPr wrap="square" lIns="0" tIns="0" rIns="0" bIns="0" rtlCol="0" anchor="ctr"/>
          <a:lstStyle/>
          <a:p>
            <a:pPr indent="0" marL="0">
              <a:buNone/>
            </a:pPr>
            <a:r>
              <a:rPr lang="en-US" sz="1500" b="1" dirty="0">
                <a:solidFill>
                  <a:srgbClr val="E0A458"/>
                </a:solidFill>
                <a:latin typeface="Arial" pitchFamily="34" charset="0"/>
                <a:ea typeface="Arial" pitchFamily="34" charset="-122"/>
                <a:cs typeface="Arial" pitchFamily="34" charset="-120"/>
              </a:rPr>
              <a:t>What the AI is for</a:t>
            </a:r>
            <a:endParaRPr lang="en-US" sz="1500" dirty="0"/>
          </a:p>
        </p:txBody>
      </p:sp>
      <p:sp>
        <p:nvSpPr>
          <p:cNvPr id="49" name="Text 47"/>
          <p:cNvSpPr txBox="1"/>
          <p:nvPr/>
        </p:nvSpPr>
        <p:spPr>
          <a:xfrm>
            <a:off x="832104" y="4791456"/>
            <a:ext cx="4754880" cy="713232"/>
          </a:xfrm>
          <a:prstGeom prst="rect">
            <a:avLst/>
          </a:prstGeom>
          <a:noFill/>
          <a:ln/>
        </p:spPr>
        <p:txBody>
          <a:bodyPr wrap="square" lIns="0" tIns="0" rIns="0" bIns="0" rtlCol="0" anchor="t"/>
          <a:lstStyle/>
          <a:p>
            <a:pPr indent="0" marL="0">
              <a:lnSpc>
                <a:spcPct val="120000"/>
              </a:lnSpc>
              <a:buNone/>
            </a:pPr>
            <a:r>
              <a:rPr lang="en-US" sz="1200" dirty="0">
                <a:solidFill>
                  <a:srgbClr val="F2F3F8"/>
                </a:solidFill>
                <a:latin typeface="Arial" pitchFamily="34" charset="0"/>
                <a:ea typeface="Arial" pitchFamily="34" charset="-122"/>
                <a:cs typeface="Arial" pitchFamily="34" charset="-120"/>
              </a:rPr>
              <a:t>Anything messy: a video, a web page in any format, a sentence someone typed. Three of the six steps.</a:t>
            </a:r>
            <a:endParaRPr lang="en-US" sz="1200" dirty="0"/>
          </a:p>
        </p:txBody>
      </p:sp>
      <p:sp>
        <p:nvSpPr>
          <p:cNvPr id="50" name="Shape 48"/>
          <p:cNvSpPr/>
          <p:nvPr/>
        </p:nvSpPr>
        <p:spPr>
          <a:xfrm>
            <a:off x="6281928" y="4224528"/>
            <a:ext cx="5394960" cy="1371600"/>
          </a:xfrm>
          <a:prstGeom prst="roundRect">
            <a:avLst>
              <a:gd name="adj" fmla="val 4000"/>
            </a:avLst>
          </a:prstGeom>
          <a:solidFill>
            <a:srgbClr val="252943"/>
          </a:solidFill>
          <a:ln w="12700">
            <a:solidFill>
              <a:srgbClr val="252943"/>
            </a:solidFill>
            <a:prstDash val="solid"/>
          </a:ln>
        </p:spPr>
      </p:sp>
      <p:sp>
        <p:nvSpPr>
          <p:cNvPr id="51" name="Shape 49"/>
          <p:cNvSpPr/>
          <p:nvPr/>
        </p:nvSpPr>
        <p:spPr>
          <a:xfrm>
            <a:off x="6611112" y="4480560"/>
            <a:ext cx="146304" cy="146304"/>
          </a:xfrm>
          <a:prstGeom prst="ellipse">
            <a:avLst/>
          </a:prstGeom>
          <a:solidFill>
            <a:srgbClr val="83B4DE"/>
          </a:solidFill>
          <a:ln w="12700">
            <a:solidFill>
              <a:srgbClr val="83B4DE"/>
            </a:solidFill>
            <a:prstDash val="solid"/>
          </a:ln>
        </p:spPr>
      </p:sp>
      <p:sp>
        <p:nvSpPr>
          <p:cNvPr id="52" name="Text 50"/>
          <p:cNvSpPr txBox="1"/>
          <p:nvPr/>
        </p:nvSpPr>
        <p:spPr>
          <a:xfrm>
            <a:off x="6867144" y="4407408"/>
            <a:ext cx="4572000" cy="292608"/>
          </a:xfrm>
          <a:prstGeom prst="rect">
            <a:avLst/>
          </a:prstGeom>
          <a:noFill/>
          <a:ln/>
        </p:spPr>
        <p:txBody>
          <a:bodyPr wrap="square" lIns="0" tIns="0" rIns="0" bIns="0" rtlCol="0" anchor="ctr"/>
          <a:lstStyle/>
          <a:p>
            <a:pPr indent="0" marL="0">
              <a:buNone/>
            </a:pPr>
            <a:r>
              <a:rPr lang="en-US" sz="1500" b="1" dirty="0">
                <a:solidFill>
                  <a:srgbClr val="83B4DE"/>
                </a:solidFill>
                <a:latin typeface="Arial" pitchFamily="34" charset="0"/>
                <a:ea typeface="Arial" pitchFamily="34" charset="-122"/>
                <a:cs typeface="Arial" pitchFamily="34" charset="-120"/>
              </a:rPr>
              <a:t>What ordinary code is for</a:t>
            </a:r>
            <a:endParaRPr lang="en-US" sz="1500" dirty="0"/>
          </a:p>
        </p:txBody>
      </p:sp>
      <p:sp>
        <p:nvSpPr>
          <p:cNvPr id="53" name="Text 51"/>
          <p:cNvSpPr txBox="1"/>
          <p:nvPr/>
        </p:nvSpPr>
        <p:spPr>
          <a:xfrm>
            <a:off x="6611112" y="4791456"/>
            <a:ext cx="4754880" cy="713232"/>
          </a:xfrm>
          <a:prstGeom prst="rect">
            <a:avLst/>
          </a:prstGeom>
          <a:noFill/>
          <a:ln/>
        </p:spPr>
        <p:txBody>
          <a:bodyPr wrap="square" lIns="0" tIns="0" rIns="0" bIns="0" rtlCol="0" anchor="t"/>
          <a:lstStyle/>
          <a:p>
            <a:pPr indent="0" marL="0">
              <a:lnSpc>
                <a:spcPct val="120000"/>
              </a:lnSpc>
              <a:buNone/>
            </a:pPr>
            <a:r>
              <a:rPr lang="en-US" sz="1200" dirty="0">
                <a:solidFill>
                  <a:srgbClr val="F2F3F8"/>
                </a:solidFill>
                <a:latin typeface="Arial" pitchFamily="34" charset="0"/>
                <a:ea typeface="Arial" pitchFamily="34" charset="-122"/>
                <a:cs typeface="Arial" pitchFamily="34" charset="-120"/>
              </a:rPr>
              <a:t>The arithmetic that picks the size. Same numbers in, same answer out, every time, and free to run.</a:t>
            </a:r>
            <a:endParaRPr lang="en-US" sz="1200" dirty="0"/>
          </a:p>
        </p:txBody>
      </p:sp>
      <p:sp>
        <p:nvSpPr>
          <p:cNvPr id="54" name="Text 52"/>
          <p:cNvSpPr txBox="1"/>
          <p:nvPr/>
        </p:nvSpPr>
        <p:spPr>
          <a:xfrm>
            <a:off x="502920" y="5852160"/>
            <a:ext cx="11185855" cy="310896"/>
          </a:xfrm>
          <a:prstGeom prst="rect">
            <a:avLst/>
          </a:prstGeom>
          <a:noFill/>
          <a:ln/>
        </p:spPr>
        <p:txBody>
          <a:bodyPr wrap="square" lIns="0" tIns="0" rIns="0" bIns="0" rtlCol="0" anchor="ctr"/>
          <a:lstStyle/>
          <a:p>
            <a:pPr indent="0" marL="0">
              <a:buNone/>
            </a:pPr>
            <a:r>
              <a:rPr lang="en-US" sz="1250" i="1" dirty="0">
                <a:solidFill>
                  <a:srgbClr val="9BA1C1"/>
                </a:solidFill>
                <a:latin typeface="Arial" pitchFamily="34" charset="0"/>
                <a:ea typeface="Arial" pitchFamily="34" charset="-122"/>
                <a:cs typeface="Arial" pitchFamily="34" charset="-120"/>
              </a:rPr>
              <a:t>This feedback loop is the part nobody else has — and letting the AI do the arithmetic would be a bug, not a feature.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THE AGENTS</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Six agents, and what each one is for</a:t>
            </a:r>
            <a:endParaRPr lang="en-US" sz="3000" dirty="0"/>
          </a:p>
        </p:txBody>
      </p:sp>
      <p:sp>
        <p:nvSpPr>
          <p:cNvPr id="4" name="Text 2"/>
          <p:cNvSpPr txBox="1"/>
          <p:nvPr/>
        </p:nvSpPr>
        <p:spPr>
          <a:xfrm>
            <a:off x="502920" y="1042416"/>
            <a:ext cx="11185855" cy="310896"/>
          </a:xfrm>
          <a:prstGeom prst="rect">
            <a:avLst/>
          </a:prstGeom>
          <a:noFill/>
          <a:ln/>
        </p:spPr>
        <p:txBody>
          <a:bodyPr wrap="square" lIns="0" tIns="0" rIns="0" bIns="0" rtlCol="0" anchor="ctr"/>
          <a:lstStyle/>
          <a:p>
            <a:pPr algn="l" indent="0" marL="0">
              <a:buNone/>
            </a:pPr>
            <a:r>
              <a:rPr lang="en-US" sz="1300" dirty="0">
                <a:solidFill>
                  <a:srgbClr val="9BA1C1"/>
                </a:solidFill>
                <a:latin typeface="Arial" pitchFamily="34" charset="0"/>
                <a:ea typeface="Arial" pitchFamily="34" charset="-122"/>
                <a:cs typeface="Arial" pitchFamily="34" charset="-120"/>
              </a:rPr>
              <a:t>An agent is a piece of AI that decides its own next step and can use tools, instead of answering once and stopping.</a:t>
            </a:r>
            <a:endParaRPr lang="en-US" sz="1300" dirty="0"/>
          </a:p>
        </p:txBody>
      </p:sp>
      <p:sp>
        <p:nvSpPr>
          <p:cNvPr id="5" name="Shape 3"/>
          <p:cNvSpPr/>
          <p:nvPr/>
        </p:nvSpPr>
        <p:spPr>
          <a:xfrm>
            <a:off x="502920" y="1755648"/>
            <a:ext cx="5394960" cy="1298448"/>
          </a:xfrm>
          <a:prstGeom prst="roundRect">
            <a:avLst>
              <a:gd name="adj" fmla="val 4225"/>
            </a:avLst>
          </a:prstGeom>
          <a:solidFill>
            <a:srgbClr val="252943"/>
          </a:solidFill>
          <a:ln w="12700">
            <a:solidFill>
              <a:srgbClr val="252943"/>
            </a:solidFill>
            <a:prstDash val="solid"/>
          </a:ln>
        </p:spPr>
      </p:sp>
      <p:sp>
        <p:nvSpPr>
          <p:cNvPr id="6" name="Shape 4"/>
          <p:cNvSpPr/>
          <p:nvPr/>
        </p:nvSpPr>
        <p:spPr>
          <a:xfrm>
            <a:off x="777240" y="1993392"/>
            <a:ext cx="365760" cy="365760"/>
          </a:xfrm>
          <a:prstGeom prst="ellipse">
            <a:avLst/>
          </a:prstGeom>
          <a:solidFill>
            <a:srgbClr val="E0A458"/>
          </a:solidFill>
          <a:ln w="12700">
            <a:solidFill>
              <a:srgbClr val="E0A458"/>
            </a:solidFill>
            <a:prstDash val="solid"/>
          </a:ln>
        </p:spPr>
      </p:sp>
      <p:sp>
        <p:nvSpPr>
          <p:cNvPr id="7" name="Text 5"/>
          <p:cNvSpPr txBox="1"/>
          <p:nvPr/>
        </p:nvSpPr>
        <p:spPr>
          <a:xfrm>
            <a:off x="777240" y="1993392"/>
            <a:ext cx="365760" cy="365760"/>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1</a:t>
            </a:r>
            <a:endParaRPr lang="en-US" sz="1200" dirty="0"/>
          </a:p>
        </p:txBody>
      </p:sp>
      <p:sp>
        <p:nvSpPr>
          <p:cNvPr id="8" name="Text 6"/>
          <p:cNvSpPr txBox="1"/>
          <p:nvPr/>
        </p:nvSpPr>
        <p:spPr>
          <a:xfrm>
            <a:off x="1289304" y="1938528"/>
            <a:ext cx="4389120" cy="310896"/>
          </a:xfrm>
          <a:prstGeom prst="rect">
            <a:avLst/>
          </a:prstGeom>
          <a:noFill/>
          <a:ln/>
        </p:spPr>
        <p:txBody>
          <a:bodyPr wrap="square" lIns="0" tIns="0" rIns="0" bIns="0" rtlCol="0" anchor="ctr"/>
          <a:lstStyle/>
          <a:p>
            <a:pPr indent="0" marL="0">
              <a:buNone/>
            </a:pPr>
            <a:r>
              <a:rPr lang="en-US" sz="1550" b="1" dirty="0">
                <a:solidFill>
                  <a:srgbClr val="E0A458"/>
                </a:solidFill>
                <a:latin typeface="Arial" pitchFamily="34" charset="0"/>
                <a:ea typeface="Arial" pitchFamily="34" charset="-122"/>
                <a:cs typeface="Arial" pitchFamily="34" charset="-120"/>
              </a:rPr>
              <a:t>Filming coach</a:t>
            </a:r>
            <a:endParaRPr lang="en-US" sz="1550" dirty="0"/>
          </a:p>
        </p:txBody>
      </p:sp>
      <p:sp>
        <p:nvSpPr>
          <p:cNvPr id="9" name="Text 7"/>
          <p:cNvSpPr txBox="1"/>
          <p:nvPr/>
        </p:nvSpPr>
        <p:spPr>
          <a:xfrm>
            <a:off x="1289304" y="2267712"/>
            <a:ext cx="4352544" cy="731520"/>
          </a:xfrm>
          <a:prstGeom prst="rect">
            <a:avLst/>
          </a:prstGeom>
          <a:noFill/>
          <a:ln/>
        </p:spPr>
        <p:txBody>
          <a:bodyPr wrap="square" lIns="0" tIns="0" rIns="0" bIns="0" rtlCol="0" anchor="t"/>
          <a:lstStyle/>
          <a:p>
            <a:pPr indent="0" marL="0">
              <a:lnSpc>
                <a:spcPct val="116000"/>
              </a:lnSpc>
              <a:buNone/>
            </a:pPr>
            <a:r>
              <a:rPr lang="en-US" sz="1100" dirty="0">
                <a:solidFill>
                  <a:srgbClr val="9BA1C1"/>
                </a:solidFill>
                <a:latin typeface="Arial" pitchFamily="34" charset="0"/>
                <a:ea typeface="Arial" pitchFamily="34" charset="-122"/>
                <a:cs typeface="Arial" pitchFamily="34" charset="-120"/>
              </a:rPr>
              <a:t>Watches the clip as it comes in and says what to do next — step back, turn further, better light. Decides when there is enough, and when to give up and ask for the measurements by hand.</a:t>
            </a:r>
            <a:endParaRPr lang="en-US" sz="1100" dirty="0"/>
          </a:p>
        </p:txBody>
      </p:sp>
      <p:sp>
        <p:nvSpPr>
          <p:cNvPr id="10" name="Shape 8"/>
          <p:cNvSpPr/>
          <p:nvPr/>
        </p:nvSpPr>
        <p:spPr>
          <a:xfrm>
            <a:off x="6281928" y="1755648"/>
            <a:ext cx="5394960" cy="1298448"/>
          </a:xfrm>
          <a:prstGeom prst="roundRect">
            <a:avLst>
              <a:gd name="adj" fmla="val 4225"/>
            </a:avLst>
          </a:prstGeom>
          <a:solidFill>
            <a:srgbClr val="252943"/>
          </a:solidFill>
          <a:ln w="12700">
            <a:solidFill>
              <a:srgbClr val="252943"/>
            </a:solidFill>
            <a:prstDash val="solid"/>
          </a:ln>
        </p:spPr>
      </p:sp>
      <p:sp>
        <p:nvSpPr>
          <p:cNvPr id="11" name="Shape 9"/>
          <p:cNvSpPr/>
          <p:nvPr/>
        </p:nvSpPr>
        <p:spPr>
          <a:xfrm>
            <a:off x="6556248" y="1993392"/>
            <a:ext cx="365760" cy="365760"/>
          </a:xfrm>
          <a:prstGeom prst="ellipse">
            <a:avLst/>
          </a:prstGeom>
          <a:solidFill>
            <a:srgbClr val="E0A458"/>
          </a:solidFill>
          <a:ln w="12700">
            <a:solidFill>
              <a:srgbClr val="E0A458"/>
            </a:solidFill>
            <a:prstDash val="solid"/>
          </a:ln>
        </p:spPr>
      </p:sp>
      <p:sp>
        <p:nvSpPr>
          <p:cNvPr id="12" name="Text 10"/>
          <p:cNvSpPr txBox="1"/>
          <p:nvPr/>
        </p:nvSpPr>
        <p:spPr>
          <a:xfrm>
            <a:off x="6556248" y="1993392"/>
            <a:ext cx="365760" cy="365760"/>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2</a:t>
            </a:r>
            <a:endParaRPr lang="en-US" sz="1200" dirty="0"/>
          </a:p>
        </p:txBody>
      </p:sp>
      <p:sp>
        <p:nvSpPr>
          <p:cNvPr id="13" name="Text 11"/>
          <p:cNvSpPr txBox="1"/>
          <p:nvPr/>
        </p:nvSpPr>
        <p:spPr>
          <a:xfrm>
            <a:off x="7068312" y="1938528"/>
            <a:ext cx="4389120" cy="310896"/>
          </a:xfrm>
          <a:prstGeom prst="rect">
            <a:avLst/>
          </a:prstGeom>
          <a:noFill/>
          <a:ln/>
        </p:spPr>
        <p:txBody>
          <a:bodyPr wrap="square" lIns="0" tIns="0" rIns="0" bIns="0" rtlCol="0" anchor="ctr"/>
          <a:lstStyle/>
          <a:p>
            <a:pPr indent="0" marL="0">
              <a:buNone/>
            </a:pPr>
            <a:r>
              <a:rPr lang="en-US" sz="1550" b="1" dirty="0">
                <a:solidFill>
                  <a:srgbClr val="E0A458"/>
                </a:solidFill>
                <a:latin typeface="Arial" pitchFamily="34" charset="0"/>
                <a:ea typeface="Arial" pitchFamily="34" charset="-122"/>
                <a:cs typeface="Arial" pitchFamily="34" charset="-120"/>
              </a:rPr>
              <a:t>Sanity check</a:t>
            </a:r>
            <a:endParaRPr lang="en-US" sz="1550" dirty="0"/>
          </a:p>
        </p:txBody>
      </p:sp>
      <p:sp>
        <p:nvSpPr>
          <p:cNvPr id="14" name="Text 12"/>
          <p:cNvSpPr txBox="1"/>
          <p:nvPr/>
        </p:nvSpPr>
        <p:spPr>
          <a:xfrm>
            <a:off x="7068312" y="2267712"/>
            <a:ext cx="4352544" cy="731520"/>
          </a:xfrm>
          <a:prstGeom prst="rect">
            <a:avLst/>
          </a:prstGeom>
          <a:noFill/>
          <a:ln/>
        </p:spPr>
        <p:txBody>
          <a:bodyPr wrap="square" lIns="0" tIns="0" rIns="0" bIns="0" rtlCol="0" anchor="t"/>
          <a:lstStyle/>
          <a:p>
            <a:pPr indent="0" marL="0">
              <a:lnSpc>
                <a:spcPct val="116000"/>
              </a:lnSpc>
              <a:buNone/>
            </a:pPr>
            <a:r>
              <a:rPr lang="en-US" sz="1100" dirty="0">
                <a:solidFill>
                  <a:srgbClr val="9BA1C1"/>
                </a:solidFill>
                <a:latin typeface="Arial" pitchFamily="34" charset="0"/>
                <a:ea typeface="Arial" pitchFamily="34" charset="-122"/>
                <a:cs typeface="Arial" pitchFamily="34" charset="-120"/>
              </a:rPr>
              <a:t>Asks whether the numbers could belong to a real person, together rather than one at a time. A 57 cm thigh is only odd given an 82 cm waist.</a:t>
            </a:r>
            <a:endParaRPr lang="en-US" sz="1100" dirty="0"/>
          </a:p>
        </p:txBody>
      </p:sp>
      <p:sp>
        <p:nvSpPr>
          <p:cNvPr id="15" name="Shape 13"/>
          <p:cNvSpPr/>
          <p:nvPr/>
        </p:nvSpPr>
        <p:spPr>
          <a:xfrm>
            <a:off x="502920" y="3218688"/>
            <a:ext cx="5394960" cy="1298448"/>
          </a:xfrm>
          <a:prstGeom prst="roundRect">
            <a:avLst>
              <a:gd name="adj" fmla="val 4225"/>
            </a:avLst>
          </a:prstGeom>
          <a:solidFill>
            <a:srgbClr val="252943"/>
          </a:solidFill>
          <a:ln w="12700">
            <a:solidFill>
              <a:srgbClr val="252943"/>
            </a:solidFill>
            <a:prstDash val="solid"/>
          </a:ln>
        </p:spPr>
      </p:sp>
      <p:sp>
        <p:nvSpPr>
          <p:cNvPr id="16" name="Shape 14"/>
          <p:cNvSpPr/>
          <p:nvPr/>
        </p:nvSpPr>
        <p:spPr>
          <a:xfrm>
            <a:off x="777240" y="3456432"/>
            <a:ext cx="365760" cy="365760"/>
          </a:xfrm>
          <a:prstGeom prst="ellipse">
            <a:avLst/>
          </a:prstGeom>
          <a:solidFill>
            <a:srgbClr val="E0A458"/>
          </a:solidFill>
          <a:ln w="12700">
            <a:solidFill>
              <a:srgbClr val="E0A458"/>
            </a:solidFill>
            <a:prstDash val="solid"/>
          </a:ln>
        </p:spPr>
      </p:sp>
      <p:sp>
        <p:nvSpPr>
          <p:cNvPr id="17" name="Text 15"/>
          <p:cNvSpPr txBox="1"/>
          <p:nvPr/>
        </p:nvSpPr>
        <p:spPr>
          <a:xfrm>
            <a:off x="777240" y="3456432"/>
            <a:ext cx="365760" cy="365760"/>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3</a:t>
            </a:r>
            <a:endParaRPr lang="en-US" sz="1200" dirty="0"/>
          </a:p>
        </p:txBody>
      </p:sp>
      <p:sp>
        <p:nvSpPr>
          <p:cNvPr id="18" name="Text 16"/>
          <p:cNvSpPr txBox="1"/>
          <p:nvPr/>
        </p:nvSpPr>
        <p:spPr>
          <a:xfrm>
            <a:off x="1289304" y="3401568"/>
            <a:ext cx="4389120" cy="310896"/>
          </a:xfrm>
          <a:prstGeom prst="rect">
            <a:avLst/>
          </a:prstGeom>
          <a:noFill/>
          <a:ln/>
        </p:spPr>
        <p:txBody>
          <a:bodyPr wrap="square" lIns="0" tIns="0" rIns="0" bIns="0" rtlCol="0" anchor="ctr"/>
          <a:lstStyle/>
          <a:p>
            <a:pPr indent="0" marL="0">
              <a:buNone/>
            </a:pPr>
            <a:r>
              <a:rPr lang="en-US" sz="1550" b="1" dirty="0">
                <a:solidFill>
                  <a:srgbClr val="E0A458"/>
                </a:solidFill>
                <a:latin typeface="Arial" pitchFamily="34" charset="0"/>
                <a:ea typeface="Arial" pitchFamily="34" charset="-122"/>
                <a:cs typeface="Arial" pitchFamily="34" charset="-120"/>
              </a:rPr>
              <a:t>Size-chart reader</a:t>
            </a:r>
            <a:endParaRPr lang="en-US" sz="1550" dirty="0"/>
          </a:p>
        </p:txBody>
      </p:sp>
      <p:sp>
        <p:nvSpPr>
          <p:cNvPr id="19" name="Text 17"/>
          <p:cNvSpPr txBox="1"/>
          <p:nvPr/>
        </p:nvSpPr>
        <p:spPr>
          <a:xfrm>
            <a:off x="1289304" y="3730752"/>
            <a:ext cx="4352544" cy="731520"/>
          </a:xfrm>
          <a:prstGeom prst="rect">
            <a:avLst/>
          </a:prstGeom>
          <a:noFill/>
          <a:ln/>
        </p:spPr>
        <p:txBody>
          <a:bodyPr wrap="square" lIns="0" tIns="0" rIns="0" bIns="0" rtlCol="0" anchor="t"/>
          <a:lstStyle/>
          <a:p>
            <a:pPr indent="0" marL="0">
              <a:lnSpc>
                <a:spcPct val="116000"/>
              </a:lnSpc>
              <a:buNone/>
            </a:pPr>
            <a:r>
              <a:rPr lang="en-US" sz="1100" dirty="0">
                <a:solidFill>
                  <a:srgbClr val="9BA1C1"/>
                </a:solidFill>
                <a:latin typeface="Arial" pitchFamily="34" charset="0"/>
                <a:ea typeface="Arial" pitchFamily="34" charset="-122"/>
                <a:cs typeface="Arial" pitchFamily="34" charset="-120"/>
              </a:rPr>
              <a:t>Every brand publishes sizes differently — web pages, PDFs, pictures, inches, centimetres. Turns all of it into one shape, and quotes the page to prove it.</a:t>
            </a:r>
            <a:endParaRPr lang="en-US" sz="1100" dirty="0"/>
          </a:p>
        </p:txBody>
      </p:sp>
      <p:sp>
        <p:nvSpPr>
          <p:cNvPr id="20" name="Shape 18"/>
          <p:cNvSpPr/>
          <p:nvPr/>
        </p:nvSpPr>
        <p:spPr>
          <a:xfrm>
            <a:off x="6281928" y="3218688"/>
            <a:ext cx="5394960" cy="1298448"/>
          </a:xfrm>
          <a:prstGeom prst="roundRect">
            <a:avLst>
              <a:gd name="adj" fmla="val 4225"/>
            </a:avLst>
          </a:prstGeom>
          <a:solidFill>
            <a:srgbClr val="252943"/>
          </a:solidFill>
          <a:ln w="12700">
            <a:solidFill>
              <a:srgbClr val="252943"/>
            </a:solidFill>
            <a:prstDash val="solid"/>
          </a:ln>
        </p:spPr>
      </p:sp>
      <p:sp>
        <p:nvSpPr>
          <p:cNvPr id="21" name="Shape 19"/>
          <p:cNvSpPr/>
          <p:nvPr/>
        </p:nvSpPr>
        <p:spPr>
          <a:xfrm>
            <a:off x="6556248" y="3456432"/>
            <a:ext cx="365760" cy="365760"/>
          </a:xfrm>
          <a:prstGeom prst="ellipse">
            <a:avLst/>
          </a:prstGeom>
          <a:solidFill>
            <a:srgbClr val="E0A458"/>
          </a:solidFill>
          <a:ln w="12700">
            <a:solidFill>
              <a:srgbClr val="E0A458"/>
            </a:solidFill>
            <a:prstDash val="solid"/>
          </a:ln>
        </p:spPr>
      </p:sp>
      <p:sp>
        <p:nvSpPr>
          <p:cNvPr id="22" name="Text 20"/>
          <p:cNvSpPr txBox="1"/>
          <p:nvPr/>
        </p:nvSpPr>
        <p:spPr>
          <a:xfrm>
            <a:off x="6556248" y="3456432"/>
            <a:ext cx="365760" cy="365760"/>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4</a:t>
            </a:r>
            <a:endParaRPr lang="en-US" sz="1200" dirty="0"/>
          </a:p>
        </p:txBody>
      </p:sp>
      <p:sp>
        <p:nvSpPr>
          <p:cNvPr id="23" name="Text 21"/>
          <p:cNvSpPr txBox="1"/>
          <p:nvPr/>
        </p:nvSpPr>
        <p:spPr>
          <a:xfrm>
            <a:off x="7068312" y="3401568"/>
            <a:ext cx="4389120" cy="310896"/>
          </a:xfrm>
          <a:prstGeom prst="rect">
            <a:avLst/>
          </a:prstGeom>
          <a:noFill/>
          <a:ln/>
        </p:spPr>
        <p:txBody>
          <a:bodyPr wrap="square" lIns="0" tIns="0" rIns="0" bIns="0" rtlCol="0" anchor="ctr"/>
          <a:lstStyle/>
          <a:p>
            <a:pPr indent="0" marL="0">
              <a:buNone/>
            </a:pPr>
            <a:r>
              <a:rPr lang="en-US" sz="1550" b="1" dirty="0">
                <a:solidFill>
                  <a:srgbClr val="E0A458"/>
                </a:solidFill>
                <a:latin typeface="Arial" pitchFamily="34" charset="0"/>
                <a:ea typeface="Arial" pitchFamily="34" charset="-122"/>
                <a:cs typeface="Arial" pitchFamily="34" charset="-120"/>
              </a:rPr>
              <a:t>Advisor</a:t>
            </a:r>
            <a:endParaRPr lang="en-US" sz="1550" dirty="0"/>
          </a:p>
        </p:txBody>
      </p:sp>
      <p:sp>
        <p:nvSpPr>
          <p:cNvPr id="24" name="Text 22"/>
          <p:cNvSpPr txBox="1"/>
          <p:nvPr/>
        </p:nvSpPr>
        <p:spPr>
          <a:xfrm>
            <a:off x="7068312" y="3730752"/>
            <a:ext cx="4352544" cy="731520"/>
          </a:xfrm>
          <a:prstGeom prst="rect">
            <a:avLst/>
          </a:prstGeom>
          <a:noFill/>
          <a:ln/>
        </p:spPr>
        <p:txBody>
          <a:bodyPr wrap="square" lIns="0" tIns="0" rIns="0" bIns="0" rtlCol="0" anchor="t"/>
          <a:lstStyle/>
          <a:p>
            <a:pPr indent="0" marL="0">
              <a:lnSpc>
                <a:spcPct val="116000"/>
              </a:lnSpc>
              <a:buNone/>
            </a:pPr>
            <a:r>
              <a:rPr lang="en-US" sz="1100" dirty="0">
                <a:solidFill>
                  <a:srgbClr val="9BA1C1"/>
                </a:solidFill>
                <a:latin typeface="Arial" pitchFamily="34" charset="0"/>
                <a:ea typeface="Arial" pitchFamily="34" charset="-122"/>
                <a:cs typeface="Arial" pitchFamily="34" charset="-120"/>
              </a:rPr>
              <a:t>Writes the sentence the customer reads, and answers follow-up questions. Never picks the size itself — it asks the calculator and explains the answer.</a:t>
            </a:r>
            <a:endParaRPr lang="en-US" sz="1100" dirty="0"/>
          </a:p>
        </p:txBody>
      </p:sp>
      <p:sp>
        <p:nvSpPr>
          <p:cNvPr id="25" name="Shape 23"/>
          <p:cNvSpPr/>
          <p:nvPr/>
        </p:nvSpPr>
        <p:spPr>
          <a:xfrm>
            <a:off x="502920" y="4681728"/>
            <a:ext cx="5394960" cy="1298448"/>
          </a:xfrm>
          <a:prstGeom prst="roundRect">
            <a:avLst>
              <a:gd name="adj" fmla="val 4225"/>
            </a:avLst>
          </a:prstGeom>
          <a:solidFill>
            <a:srgbClr val="252943"/>
          </a:solidFill>
          <a:ln w="12700">
            <a:solidFill>
              <a:srgbClr val="252943"/>
            </a:solidFill>
            <a:prstDash val="solid"/>
          </a:ln>
        </p:spPr>
      </p:sp>
      <p:sp>
        <p:nvSpPr>
          <p:cNvPr id="26" name="Shape 24"/>
          <p:cNvSpPr/>
          <p:nvPr/>
        </p:nvSpPr>
        <p:spPr>
          <a:xfrm>
            <a:off x="777240" y="4919472"/>
            <a:ext cx="365760" cy="365760"/>
          </a:xfrm>
          <a:prstGeom prst="ellipse">
            <a:avLst/>
          </a:prstGeom>
          <a:solidFill>
            <a:srgbClr val="E0A458"/>
          </a:solidFill>
          <a:ln w="12700">
            <a:solidFill>
              <a:srgbClr val="E0A458"/>
            </a:solidFill>
            <a:prstDash val="solid"/>
          </a:ln>
        </p:spPr>
      </p:sp>
      <p:sp>
        <p:nvSpPr>
          <p:cNvPr id="27" name="Text 25"/>
          <p:cNvSpPr txBox="1"/>
          <p:nvPr/>
        </p:nvSpPr>
        <p:spPr>
          <a:xfrm>
            <a:off x="777240" y="4919472"/>
            <a:ext cx="365760" cy="365760"/>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5</a:t>
            </a:r>
            <a:endParaRPr lang="en-US" sz="1200" dirty="0"/>
          </a:p>
        </p:txBody>
      </p:sp>
      <p:sp>
        <p:nvSpPr>
          <p:cNvPr id="28" name="Text 26"/>
          <p:cNvSpPr txBox="1"/>
          <p:nvPr/>
        </p:nvSpPr>
        <p:spPr>
          <a:xfrm>
            <a:off x="1289304" y="4864608"/>
            <a:ext cx="4389120" cy="310896"/>
          </a:xfrm>
          <a:prstGeom prst="rect">
            <a:avLst/>
          </a:prstGeom>
          <a:noFill/>
          <a:ln/>
        </p:spPr>
        <p:txBody>
          <a:bodyPr wrap="square" lIns="0" tIns="0" rIns="0" bIns="0" rtlCol="0" anchor="ctr"/>
          <a:lstStyle/>
          <a:p>
            <a:pPr indent="0" marL="0">
              <a:buNone/>
            </a:pPr>
            <a:r>
              <a:rPr lang="en-US" sz="1550" b="1" dirty="0">
                <a:solidFill>
                  <a:srgbClr val="E0A458"/>
                </a:solidFill>
                <a:latin typeface="Arial" pitchFamily="34" charset="0"/>
                <a:ea typeface="Arial" pitchFamily="34" charset="-122"/>
                <a:cs typeface="Arial" pitchFamily="34" charset="-120"/>
              </a:rPr>
              <a:t>Feedback reader</a:t>
            </a:r>
            <a:endParaRPr lang="en-US" sz="1550" dirty="0"/>
          </a:p>
        </p:txBody>
      </p:sp>
      <p:sp>
        <p:nvSpPr>
          <p:cNvPr id="29" name="Text 27"/>
          <p:cNvSpPr txBox="1"/>
          <p:nvPr/>
        </p:nvSpPr>
        <p:spPr>
          <a:xfrm>
            <a:off x="1289304" y="5193792"/>
            <a:ext cx="4352544" cy="731520"/>
          </a:xfrm>
          <a:prstGeom prst="rect">
            <a:avLst/>
          </a:prstGeom>
          <a:noFill/>
          <a:ln/>
        </p:spPr>
        <p:txBody>
          <a:bodyPr wrap="square" lIns="0" tIns="0" rIns="0" bIns="0" rtlCol="0" anchor="t"/>
          <a:lstStyle/>
          <a:p>
            <a:pPr indent="0" marL="0">
              <a:lnSpc>
                <a:spcPct val="116000"/>
              </a:lnSpc>
              <a:buNone/>
            </a:pPr>
            <a:r>
              <a:rPr lang="en-US" sz="1100" dirty="0">
                <a:solidFill>
                  <a:srgbClr val="9BA1C1"/>
                </a:solidFill>
                <a:latin typeface="Arial" pitchFamily="34" charset="0"/>
                <a:ea typeface="Arial" pitchFamily="34" charset="-122"/>
                <a:cs typeface="Arial" pitchFamily="34" charset="-120"/>
              </a:rPr>
              <a:t>Turns “they were tight in the waist and short in the leg” into two specific, usable findings.</a:t>
            </a:r>
            <a:endParaRPr lang="en-US" sz="1100" dirty="0"/>
          </a:p>
        </p:txBody>
      </p:sp>
      <p:sp>
        <p:nvSpPr>
          <p:cNvPr id="30" name="Shape 28"/>
          <p:cNvSpPr/>
          <p:nvPr/>
        </p:nvSpPr>
        <p:spPr>
          <a:xfrm>
            <a:off x="6281928" y="4681728"/>
            <a:ext cx="5394960" cy="1298448"/>
          </a:xfrm>
          <a:prstGeom prst="roundRect">
            <a:avLst>
              <a:gd name="adj" fmla="val 4225"/>
            </a:avLst>
          </a:prstGeom>
          <a:solidFill>
            <a:srgbClr val="252943"/>
          </a:solidFill>
          <a:ln w="12700">
            <a:solidFill>
              <a:srgbClr val="252943"/>
            </a:solidFill>
            <a:prstDash val="solid"/>
          </a:ln>
        </p:spPr>
      </p:sp>
      <p:sp>
        <p:nvSpPr>
          <p:cNvPr id="31" name="Shape 29"/>
          <p:cNvSpPr/>
          <p:nvPr/>
        </p:nvSpPr>
        <p:spPr>
          <a:xfrm>
            <a:off x="6556248" y="4919472"/>
            <a:ext cx="365760" cy="365760"/>
          </a:xfrm>
          <a:prstGeom prst="ellipse">
            <a:avLst/>
          </a:prstGeom>
          <a:solidFill>
            <a:srgbClr val="E0A458"/>
          </a:solidFill>
          <a:ln w="12700">
            <a:solidFill>
              <a:srgbClr val="E0A458"/>
            </a:solidFill>
            <a:prstDash val="solid"/>
          </a:ln>
        </p:spPr>
      </p:sp>
      <p:sp>
        <p:nvSpPr>
          <p:cNvPr id="32" name="Text 30"/>
          <p:cNvSpPr txBox="1"/>
          <p:nvPr/>
        </p:nvSpPr>
        <p:spPr>
          <a:xfrm>
            <a:off x="6556248" y="4919472"/>
            <a:ext cx="365760" cy="365760"/>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6</a:t>
            </a:r>
            <a:endParaRPr lang="en-US" sz="1200" dirty="0"/>
          </a:p>
        </p:txBody>
      </p:sp>
      <p:sp>
        <p:nvSpPr>
          <p:cNvPr id="33" name="Text 31"/>
          <p:cNvSpPr txBox="1"/>
          <p:nvPr/>
        </p:nvSpPr>
        <p:spPr>
          <a:xfrm>
            <a:off x="7068312" y="4864608"/>
            <a:ext cx="4389120" cy="310896"/>
          </a:xfrm>
          <a:prstGeom prst="rect">
            <a:avLst/>
          </a:prstGeom>
          <a:noFill/>
          <a:ln/>
        </p:spPr>
        <p:txBody>
          <a:bodyPr wrap="square" lIns="0" tIns="0" rIns="0" bIns="0" rtlCol="0" anchor="ctr"/>
          <a:lstStyle/>
          <a:p>
            <a:pPr indent="0" marL="0">
              <a:buNone/>
            </a:pPr>
            <a:r>
              <a:rPr lang="en-US" sz="1550" b="1" dirty="0">
                <a:solidFill>
                  <a:srgbClr val="E0A458"/>
                </a:solidFill>
                <a:latin typeface="Arial" pitchFamily="34" charset="0"/>
                <a:ea typeface="Arial" pitchFamily="34" charset="-122"/>
                <a:cs typeface="Arial" pitchFamily="34" charset="-120"/>
              </a:rPr>
              <a:t>Tester</a:t>
            </a:r>
            <a:endParaRPr lang="en-US" sz="1550" dirty="0"/>
          </a:p>
        </p:txBody>
      </p:sp>
      <p:sp>
        <p:nvSpPr>
          <p:cNvPr id="34" name="Text 32"/>
          <p:cNvSpPr txBox="1"/>
          <p:nvPr/>
        </p:nvSpPr>
        <p:spPr>
          <a:xfrm>
            <a:off x="7068312" y="5193792"/>
            <a:ext cx="4352544" cy="731520"/>
          </a:xfrm>
          <a:prstGeom prst="rect">
            <a:avLst/>
          </a:prstGeom>
          <a:noFill/>
          <a:ln/>
        </p:spPr>
        <p:txBody>
          <a:bodyPr wrap="square" lIns="0" tIns="0" rIns="0" bIns="0" rtlCol="0" anchor="t"/>
          <a:lstStyle/>
          <a:p>
            <a:pPr indent="0" marL="0">
              <a:lnSpc>
                <a:spcPct val="116000"/>
              </a:lnSpc>
              <a:buNone/>
            </a:pPr>
            <a:r>
              <a:rPr lang="en-US" sz="1100" dirty="0">
                <a:solidFill>
                  <a:srgbClr val="9BA1C1"/>
                </a:solidFill>
                <a:latin typeface="Arial" pitchFamily="34" charset="0"/>
                <a:ea typeface="Arial" pitchFamily="34" charset="-122"/>
                <a:cs typeface="Arial" pitchFamily="34" charset="-120"/>
              </a:rPr>
              <a:t>Runs every test before anything ships, grades the answers that have no single right answer, and blocks changes that make things worse.</a:t>
            </a:r>
            <a:endParaRPr lang="en-US" sz="1100" dirty="0"/>
          </a:p>
        </p:txBody>
      </p:sp>
      <p:sp>
        <p:nvSpPr>
          <p:cNvPr id="35" name="Text 33"/>
          <p:cNvSpPr txBox="1"/>
          <p:nvPr/>
        </p:nvSpPr>
        <p:spPr>
          <a:xfrm>
            <a:off x="502920" y="6199632"/>
            <a:ext cx="11185855" cy="310896"/>
          </a:xfrm>
          <a:prstGeom prst="rect">
            <a:avLst/>
          </a:prstGeom>
          <a:noFill/>
          <a:ln/>
        </p:spPr>
        <p:txBody>
          <a:bodyPr wrap="square" lIns="0" tIns="0" rIns="0" bIns="0" rtlCol="0" anchor="ctr"/>
          <a:lstStyle/>
          <a:p>
            <a:pPr indent="0" marL="0">
              <a:buNone/>
            </a:pPr>
            <a:r>
              <a:rPr lang="en-US" sz="1200" i="1" dirty="0">
                <a:solidFill>
                  <a:srgbClr val="9BA1C1"/>
                </a:solidFill>
                <a:latin typeface="Arial" pitchFamily="34" charset="0"/>
                <a:ea typeface="Arial" pitchFamily="34" charset="-122"/>
                <a:cs typeface="Arial" pitchFamily="34" charset="-120"/>
              </a:rPr>
              <a:t>All six are AI agents. The thing that is not AI is the calculator they call to pick the size — that stays ordinary code.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DEPLOYMENT</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What runs where</a:t>
            </a:r>
            <a:endParaRPr lang="en-US" sz="3000" dirty="0"/>
          </a:p>
        </p:txBody>
      </p:sp>
      <p:sp>
        <p:nvSpPr>
          <p:cNvPr id="4" name="Text 2"/>
          <p:cNvSpPr txBox="1"/>
          <p:nvPr/>
        </p:nvSpPr>
        <p:spPr>
          <a:xfrm>
            <a:off x="502920" y="1042416"/>
            <a:ext cx="11185855" cy="310896"/>
          </a:xfrm>
          <a:prstGeom prst="rect">
            <a:avLst/>
          </a:prstGeom>
          <a:noFill/>
          <a:ln/>
        </p:spPr>
        <p:txBody>
          <a:bodyPr wrap="square" lIns="0" tIns="0" rIns="0" bIns="0" rtlCol="0" anchor="ctr"/>
          <a:lstStyle/>
          <a:p>
            <a:pPr algn="l" indent="0" marL="0">
              <a:buNone/>
            </a:pPr>
            <a:r>
              <a:rPr lang="en-US" sz="1300" dirty="0">
                <a:solidFill>
                  <a:srgbClr val="9BA1C1"/>
                </a:solidFill>
                <a:latin typeface="Arial" pitchFamily="34" charset="0"/>
                <a:ea typeface="Arial" pitchFamily="34" charset="-122"/>
                <a:cs typeface="Arial" pitchFamily="34" charset="-120"/>
              </a:rPr>
              <a:t>Vercel and Supabase carry the product. One layer cannot live on either of them.</a:t>
            </a:r>
            <a:endParaRPr lang="en-US" sz="1300" dirty="0"/>
          </a:p>
        </p:txBody>
      </p:sp>
      <p:sp>
        <p:nvSpPr>
          <p:cNvPr id="5" name="Shape 3"/>
          <p:cNvSpPr/>
          <p:nvPr/>
        </p:nvSpPr>
        <p:spPr>
          <a:xfrm>
            <a:off x="1737360" y="1572768"/>
            <a:ext cx="8138160" cy="841248"/>
          </a:xfrm>
          <a:prstGeom prst="roundRect">
            <a:avLst>
              <a:gd name="adj" fmla="val 5435"/>
            </a:avLst>
          </a:prstGeom>
          <a:solidFill>
            <a:srgbClr val="252943"/>
          </a:solidFill>
          <a:ln w="12700">
            <a:solidFill>
              <a:srgbClr val="6E7699"/>
            </a:solidFill>
            <a:prstDash val="solid"/>
          </a:ln>
        </p:spPr>
      </p:sp>
      <p:sp>
        <p:nvSpPr>
          <p:cNvPr id="6" name="Text 4"/>
          <p:cNvSpPr txBox="1"/>
          <p:nvPr/>
        </p:nvSpPr>
        <p:spPr>
          <a:xfrm>
            <a:off x="2011680" y="1700784"/>
            <a:ext cx="7589520" cy="292608"/>
          </a:xfrm>
          <a:prstGeom prst="rect">
            <a:avLst/>
          </a:prstGeom>
          <a:noFill/>
          <a:ln/>
        </p:spPr>
        <p:txBody>
          <a:bodyPr wrap="square" lIns="0" tIns="0" rIns="0" bIns="0" rtlCol="0" anchor="ctr"/>
          <a:lstStyle/>
          <a:p>
            <a:pPr indent="0" marL="0">
              <a:buNone/>
            </a:pPr>
            <a:r>
              <a:rPr lang="en-US" sz="1500" b="1" dirty="0">
                <a:solidFill>
                  <a:srgbClr val="F2F3F8"/>
                </a:solidFill>
                <a:latin typeface="Arial" pitchFamily="34" charset="0"/>
                <a:ea typeface="Arial" pitchFamily="34" charset="-122"/>
                <a:cs typeface="Arial" pitchFamily="34" charset="-120"/>
              </a:rPr>
              <a:t>Browser · Next.js on Vercel</a:t>
            </a:r>
            <a:endParaRPr lang="en-US" sz="1500" dirty="0"/>
          </a:p>
        </p:txBody>
      </p:sp>
      <p:sp>
        <p:nvSpPr>
          <p:cNvPr id="7" name="Text 5"/>
          <p:cNvSpPr txBox="1"/>
          <p:nvPr/>
        </p:nvSpPr>
        <p:spPr>
          <a:xfrm>
            <a:off x="2011680" y="1993392"/>
            <a:ext cx="7589520" cy="256032"/>
          </a:xfrm>
          <a:prstGeom prst="rect">
            <a:avLst/>
          </a:prstGeom>
          <a:noFill/>
          <a:ln/>
        </p:spPr>
        <p:txBody>
          <a:bodyPr wrap="square" lIns="0" tIns="0" rIns="0" bIns="0" rtlCol="0" anchor="ctr"/>
          <a:lstStyle/>
          <a:p>
            <a:pPr indent="0" marL="0">
              <a:buNone/>
            </a:pPr>
            <a:r>
              <a:rPr lang="en-US" sz="1100" dirty="0">
                <a:solidFill>
                  <a:srgbClr val="9BA1C1"/>
                </a:solidFill>
                <a:latin typeface="Arial" pitchFamily="34" charset="0"/>
                <a:ea typeface="Arial" pitchFamily="34" charset="-122"/>
                <a:cs typeface="Arial" pitchFamily="34" charset="-120"/>
              </a:rPr>
              <a:t>the screens · sign-in · starts the work</a:t>
            </a:r>
            <a:endParaRPr lang="en-US" sz="1100" dirty="0"/>
          </a:p>
        </p:txBody>
      </p:sp>
      <p:sp>
        <p:nvSpPr>
          <p:cNvPr id="8" name="Shape 6"/>
          <p:cNvSpPr/>
          <p:nvPr/>
        </p:nvSpPr>
        <p:spPr>
          <a:xfrm>
            <a:off x="1737360" y="2798064"/>
            <a:ext cx="8138160" cy="841248"/>
          </a:xfrm>
          <a:prstGeom prst="roundRect">
            <a:avLst>
              <a:gd name="adj" fmla="val 5435"/>
            </a:avLst>
          </a:prstGeom>
          <a:solidFill>
            <a:srgbClr val="1F3A34"/>
          </a:solidFill>
          <a:ln w="19050">
            <a:solidFill>
              <a:srgbClr val="6FC095"/>
            </a:solidFill>
            <a:prstDash val="solid"/>
          </a:ln>
        </p:spPr>
      </p:sp>
      <p:sp>
        <p:nvSpPr>
          <p:cNvPr id="9" name="Text 7"/>
          <p:cNvSpPr txBox="1"/>
          <p:nvPr/>
        </p:nvSpPr>
        <p:spPr>
          <a:xfrm>
            <a:off x="2011680" y="2926080"/>
            <a:ext cx="7589520" cy="292608"/>
          </a:xfrm>
          <a:prstGeom prst="rect">
            <a:avLst/>
          </a:prstGeom>
          <a:noFill/>
          <a:ln/>
        </p:spPr>
        <p:txBody>
          <a:bodyPr wrap="square" lIns="0" tIns="0" rIns="0" bIns="0" rtlCol="0" anchor="ctr"/>
          <a:lstStyle/>
          <a:p>
            <a:pPr indent="0" marL="0">
              <a:buNone/>
            </a:pPr>
            <a:r>
              <a:rPr lang="en-US" sz="1500" b="1" dirty="0">
                <a:solidFill>
                  <a:srgbClr val="6FC095"/>
                </a:solidFill>
                <a:latin typeface="Arial" pitchFamily="34" charset="0"/>
                <a:ea typeface="Arial" pitchFamily="34" charset="-122"/>
                <a:cs typeface="Arial" pitchFamily="34" charset="-120"/>
              </a:rPr>
              <a:t>Supabase · eu-central-1</a:t>
            </a:r>
            <a:endParaRPr lang="en-US" sz="1500" dirty="0"/>
          </a:p>
        </p:txBody>
      </p:sp>
      <p:sp>
        <p:nvSpPr>
          <p:cNvPr id="10" name="Text 8"/>
          <p:cNvSpPr txBox="1"/>
          <p:nvPr/>
        </p:nvSpPr>
        <p:spPr>
          <a:xfrm>
            <a:off x="2011680" y="3218688"/>
            <a:ext cx="7589520" cy="256032"/>
          </a:xfrm>
          <a:prstGeom prst="rect">
            <a:avLst/>
          </a:prstGeom>
          <a:noFill/>
          <a:ln/>
        </p:spPr>
        <p:txBody>
          <a:bodyPr wrap="square" lIns="0" tIns="0" rIns="0" bIns="0" rtlCol="0" anchor="ctr"/>
          <a:lstStyle/>
          <a:p>
            <a:pPr indent="0" marL="0">
              <a:buNone/>
            </a:pPr>
            <a:r>
              <a:rPr lang="en-US" sz="1100" dirty="0">
                <a:solidFill>
                  <a:srgbClr val="9BA1C1"/>
                </a:solidFill>
                <a:latin typeface="Arial" pitchFamily="34" charset="0"/>
                <a:ea typeface="Arial" pitchFamily="34" charset="-122"/>
                <a:cs typeface="Arial" pitchFamily="34" charset="-120"/>
              </a:rPr>
              <a:t>database · sign-in · private file storage · live updates · finds similar bodies</a:t>
            </a:r>
            <a:endParaRPr lang="en-US" sz="1100" dirty="0"/>
          </a:p>
        </p:txBody>
      </p:sp>
      <p:sp>
        <p:nvSpPr>
          <p:cNvPr id="11" name="Shape 9"/>
          <p:cNvSpPr/>
          <p:nvPr/>
        </p:nvSpPr>
        <p:spPr>
          <a:xfrm>
            <a:off x="1737360" y="4023360"/>
            <a:ext cx="8138160" cy="1005840"/>
          </a:xfrm>
          <a:prstGeom prst="roundRect">
            <a:avLst>
              <a:gd name="adj" fmla="val 4545"/>
            </a:avLst>
          </a:prstGeom>
          <a:solidFill>
            <a:srgbClr val="223050"/>
          </a:solidFill>
          <a:ln w="19050">
            <a:solidFill>
              <a:srgbClr val="83B4DE"/>
            </a:solidFill>
            <a:prstDash val="solid"/>
          </a:ln>
        </p:spPr>
      </p:sp>
      <p:sp>
        <p:nvSpPr>
          <p:cNvPr id="12" name="Text 10"/>
          <p:cNvSpPr txBox="1"/>
          <p:nvPr/>
        </p:nvSpPr>
        <p:spPr>
          <a:xfrm>
            <a:off x="2011680" y="4133088"/>
            <a:ext cx="7589520" cy="292608"/>
          </a:xfrm>
          <a:prstGeom prst="rect">
            <a:avLst/>
          </a:prstGeom>
          <a:noFill/>
          <a:ln/>
        </p:spPr>
        <p:txBody>
          <a:bodyPr wrap="square" lIns="0" tIns="0" rIns="0" bIns="0" rtlCol="0" anchor="ctr"/>
          <a:lstStyle/>
          <a:p>
            <a:pPr indent="0" marL="0">
              <a:buNone/>
            </a:pPr>
            <a:r>
              <a:rPr lang="en-US" sz="1500" b="1" dirty="0">
                <a:solidFill>
                  <a:srgbClr val="83B4DE"/>
                </a:solidFill>
                <a:latin typeface="Arial" pitchFamily="34" charset="0"/>
                <a:ea typeface="Arial" pitchFamily="34" charset="-122"/>
                <a:cs typeface="Arial" pitchFamily="34" charset="-120"/>
              </a:rPr>
              <a:t>Modal · the heavy lifting, running only when needed</a:t>
            </a:r>
            <a:endParaRPr lang="en-US" sz="1500" dirty="0"/>
          </a:p>
        </p:txBody>
      </p:sp>
      <p:sp>
        <p:nvSpPr>
          <p:cNvPr id="13" name="Text 11"/>
          <p:cNvSpPr txBox="1"/>
          <p:nvPr/>
        </p:nvSpPr>
        <p:spPr>
          <a:xfrm>
            <a:off x="2011680" y="4425696"/>
            <a:ext cx="7589520" cy="256032"/>
          </a:xfrm>
          <a:prstGeom prst="rect">
            <a:avLst/>
          </a:prstGeom>
          <a:noFill/>
          <a:ln/>
        </p:spPr>
        <p:txBody>
          <a:bodyPr wrap="square" lIns="0" tIns="0" rIns="0" bIns="0" rtlCol="0" anchor="ctr"/>
          <a:lstStyle/>
          <a:p>
            <a:pPr indent="0" marL="0">
              <a:buNone/>
            </a:pPr>
            <a:r>
              <a:rPr lang="en-US" sz="1100" dirty="0">
                <a:solidFill>
                  <a:srgbClr val="9BA1C1"/>
                </a:solidFill>
                <a:latin typeface="Arial" pitchFamily="34" charset="0"/>
                <a:ea typeface="Arial" pitchFamily="34" charset="-122"/>
                <a:cs typeface="Arial" pitchFamily="34" charset="-120"/>
              </a:rPr>
              <a:t>3D body fit · measurements · the size calculator · the six agents</a:t>
            </a:r>
            <a:endParaRPr lang="en-US" sz="1100" dirty="0"/>
          </a:p>
        </p:txBody>
      </p:sp>
      <p:sp>
        <p:nvSpPr>
          <p:cNvPr id="14" name="Text 12"/>
          <p:cNvSpPr txBox="1"/>
          <p:nvPr/>
        </p:nvSpPr>
        <p:spPr>
          <a:xfrm>
            <a:off x="2011680" y="4663440"/>
            <a:ext cx="7589520" cy="256032"/>
          </a:xfrm>
          <a:prstGeom prst="rect">
            <a:avLst/>
          </a:prstGeom>
          <a:noFill/>
          <a:ln/>
        </p:spPr>
        <p:txBody>
          <a:bodyPr wrap="square" lIns="0" tIns="0" rIns="0" bIns="0" rtlCol="0" anchor="ctr"/>
          <a:lstStyle/>
          <a:p>
            <a:pPr indent="0" marL="0">
              <a:buNone/>
            </a:pPr>
            <a:r>
              <a:rPr lang="en-US" sz="1100" i="1" dirty="0">
                <a:solidFill>
                  <a:srgbClr val="E0A458"/>
                </a:solidFill>
                <a:latin typeface="Arial" pitchFamily="34" charset="0"/>
                <a:ea typeface="Arial" pitchFamily="34" charset="-122"/>
                <a:cs typeface="Arial" pitchFamily="34" charset="-120"/>
              </a:rPr>
              <a:t>agents call the Anthropic API — Haiku 4.5 at volume, Opus 5 for reasoning and judging</a:t>
            </a:r>
            <a:endParaRPr lang="en-US" sz="1100" dirty="0"/>
          </a:p>
        </p:txBody>
      </p:sp>
      <p:sp>
        <p:nvSpPr>
          <p:cNvPr id="15" name="Shape 13"/>
          <p:cNvSpPr/>
          <p:nvPr/>
        </p:nvSpPr>
        <p:spPr>
          <a:xfrm>
            <a:off x="1325880" y="2103120"/>
            <a:ext cx="0" cy="1920240"/>
          </a:xfrm>
          <a:prstGeom prst="line">
            <a:avLst/>
          </a:prstGeom>
          <a:noFill/>
          <a:ln w="15875">
            <a:solidFill>
              <a:srgbClr val="9BA1C1"/>
            </a:solidFill>
            <a:prstDash val="solid"/>
          </a:ln>
        </p:spPr>
      </p:sp>
      <p:sp>
        <p:nvSpPr>
          <p:cNvPr id="16" name="Shape 14"/>
          <p:cNvSpPr/>
          <p:nvPr/>
        </p:nvSpPr>
        <p:spPr>
          <a:xfrm>
            <a:off x="1325880" y="2103120"/>
            <a:ext cx="365760" cy="0"/>
          </a:xfrm>
          <a:prstGeom prst="line">
            <a:avLst/>
          </a:prstGeom>
          <a:noFill/>
          <a:ln w="15875">
            <a:solidFill>
              <a:srgbClr val="9BA1C1"/>
            </a:solidFill>
            <a:prstDash val="solid"/>
          </a:ln>
        </p:spPr>
      </p:sp>
      <p:sp>
        <p:nvSpPr>
          <p:cNvPr id="17" name="Shape 15"/>
          <p:cNvSpPr/>
          <p:nvPr/>
        </p:nvSpPr>
        <p:spPr>
          <a:xfrm>
            <a:off x="1325880" y="4023360"/>
            <a:ext cx="365760" cy="0"/>
          </a:xfrm>
          <a:prstGeom prst="line">
            <a:avLst/>
          </a:prstGeom>
          <a:noFill/>
          <a:ln w="15875">
            <a:solidFill>
              <a:srgbClr val="9BA1C1"/>
            </a:solidFill>
            <a:prstDash val="solid"/>
            <a:tailEnd type="triangle"/>
          </a:ln>
        </p:spPr>
      </p:sp>
      <p:sp>
        <p:nvSpPr>
          <p:cNvPr id="18" name="Text 16"/>
          <p:cNvSpPr txBox="1"/>
          <p:nvPr/>
        </p:nvSpPr>
        <p:spPr>
          <a:xfrm>
            <a:off x="457200" y="2816352"/>
            <a:ext cx="841248" cy="457200"/>
          </a:xfrm>
          <a:prstGeom prst="rect">
            <a:avLst/>
          </a:prstGeom>
          <a:noFill/>
          <a:ln/>
        </p:spPr>
        <p:txBody>
          <a:bodyPr wrap="square" lIns="0" tIns="0" rIns="0" bIns="0" rtlCol="0" anchor="ctr"/>
          <a:lstStyle/>
          <a:p>
            <a:pPr indent="0" marL="0">
              <a:buNone/>
            </a:pPr>
            <a:r>
              <a:rPr lang="en-US" sz="950" i="1" dirty="0">
                <a:solidFill>
                  <a:srgbClr val="9BA1C1"/>
                </a:solidFill>
                <a:latin typeface="Arial" pitchFamily="34" charset="0"/>
                <a:ea typeface="Arial" pitchFamily="34" charset="-122"/>
                <a:cs typeface="Arial" pitchFamily="34" charset="-120"/>
              </a:rPr>
              <a:t>starts the work</a:t>
            </a:r>
            <a:endParaRPr lang="en-US" sz="950" dirty="0"/>
          </a:p>
        </p:txBody>
      </p:sp>
      <p:sp>
        <p:nvSpPr>
          <p:cNvPr id="19" name="Shape 17"/>
          <p:cNvSpPr/>
          <p:nvPr/>
        </p:nvSpPr>
        <p:spPr>
          <a:xfrm>
            <a:off x="10149840" y="3639312"/>
            <a:ext cx="0" cy="384048"/>
          </a:xfrm>
          <a:prstGeom prst="line">
            <a:avLst/>
          </a:prstGeom>
          <a:noFill/>
          <a:ln w="15875">
            <a:solidFill>
              <a:srgbClr val="83B4DE"/>
            </a:solidFill>
            <a:prstDash val="solid"/>
            <a:headEnd type="triangle"/>
          </a:ln>
        </p:spPr>
      </p:sp>
      <p:sp>
        <p:nvSpPr>
          <p:cNvPr id="20" name="Text 18"/>
          <p:cNvSpPr txBox="1"/>
          <p:nvPr/>
        </p:nvSpPr>
        <p:spPr>
          <a:xfrm>
            <a:off x="10378440" y="3639312"/>
            <a:ext cx="1325880" cy="384048"/>
          </a:xfrm>
          <a:prstGeom prst="rect">
            <a:avLst/>
          </a:prstGeom>
          <a:noFill/>
          <a:ln/>
        </p:spPr>
        <p:txBody>
          <a:bodyPr wrap="square" lIns="0" tIns="0" rIns="0" bIns="0" rtlCol="0" anchor="ctr"/>
          <a:lstStyle/>
          <a:p>
            <a:pPr indent="0" marL="0">
              <a:buNone/>
            </a:pPr>
            <a:r>
              <a:rPr lang="en-US" sz="950" i="1" dirty="0">
                <a:solidFill>
                  <a:srgbClr val="83B4DE"/>
                </a:solidFill>
                <a:latin typeface="Arial" pitchFamily="34" charset="0"/>
                <a:ea typeface="Arial" pitchFamily="34" charset="-122"/>
                <a:cs typeface="Arial" pitchFamily="34" charset="-120"/>
              </a:rPr>
              <a:t>saves progress</a:t>
            </a:r>
            <a:endParaRPr lang="en-US" sz="950" dirty="0"/>
          </a:p>
        </p:txBody>
      </p:sp>
      <p:sp>
        <p:nvSpPr>
          <p:cNvPr id="21" name="Shape 19"/>
          <p:cNvSpPr/>
          <p:nvPr/>
        </p:nvSpPr>
        <p:spPr>
          <a:xfrm>
            <a:off x="10149840" y="2414016"/>
            <a:ext cx="0" cy="384048"/>
          </a:xfrm>
          <a:prstGeom prst="line">
            <a:avLst/>
          </a:prstGeom>
          <a:noFill/>
          <a:ln w="15875">
            <a:solidFill>
              <a:srgbClr val="6FC095"/>
            </a:solidFill>
            <a:prstDash val="solid"/>
            <a:headEnd type="triangle"/>
          </a:ln>
        </p:spPr>
      </p:sp>
      <p:sp>
        <p:nvSpPr>
          <p:cNvPr id="22" name="Text 20"/>
          <p:cNvSpPr txBox="1"/>
          <p:nvPr/>
        </p:nvSpPr>
        <p:spPr>
          <a:xfrm>
            <a:off x="10378440" y="2414016"/>
            <a:ext cx="1325880" cy="384048"/>
          </a:xfrm>
          <a:prstGeom prst="rect">
            <a:avLst/>
          </a:prstGeom>
          <a:noFill/>
          <a:ln/>
        </p:spPr>
        <p:txBody>
          <a:bodyPr wrap="square" lIns="0" tIns="0" rIns="0" bIns="0" rtlCol="0" anchor="ctr"/>
          <a:lstStyle/>
          <a:p>
            <a:pPr indent="0" marL="0">
              <a:buNone/>
            </a:pPr>
            <a:r>
              <a:rPr lang="en-US" sz="950" i="1" dirty="0">
                <a:solidFill>
                  <a:srgbClr val="6FC095"/>
                </a:solidFill>
                <a:latin typeface="Arial" pitchFamily="34" charset="0"/>
                <a:ea typeface="Arial" pitchFamily="34" charset="-122"/>
                <a:cs typeface="Arial" pitchFamily="34" charset="-120"/>
              </a:rPr>
              <a:t>live updates</a:t>
            </a:r>
            <a:endParaRPr lang="en-US" sz="950" dirty="0"/>
          </a:p>
        </p:txBody>
      </p:sp>
      <p:sp>
        <p:nvSpPr>
          <p:cNvPr id="23" name="Shape 21"/>
          <p:cNvSpPr/>
          <p:nvPr/>
        </p:nvSpPr>
        <p:spPr>
          <a:xfrm>
            <a:off x="502920" y="5285232"/>
            <a:ext cx="11185855" cy="896112"/>
          </a:xfrm>
          <a:prstGeom prst="roundRect">
            <a:avLst>
              <a:gd name="adj" fmla="val 6122"/>
            </a:avLst>
          </a:prstGeom>
          <a:solidFill>
            <a:srgbClr val="3A2530"/>
          </a:solidFill>
          <a:ln w="19050">
            <a:solidFill>
              <a:srgbClr val="EC8079"/>
            </a:solidFill>
            <a:prstDash val="solid"/>
          </a:ln>
        </p:spPr>
      </p:sp>
      <p:sp>
        <p:nvSpPr>
          <p:cNvPr id="24" name="Text 22"/>
          <p:cNvSpPr txBox="1"/>
          <p:nvPr/>
        </p:nvSpPr>
        <p:spPr>
          <a:xfrm>
            <a:off x="777240" y="5394960"/>
            <a:ext cx="3840480" cy="256032"/>
          </a:xfrm>
          <a:prstGeom prst="rect">
            <a:avLst/>
          </a:prstGeom>
          <a:noFill/>
          <a:ln/>
        </p:spPr>
        <p:txBody>
          <a:bodyPr wrap="square" lIns="0" tIns="0" rIns="0" bIns="0" rtlCol="0" anchor="ctr"/>
          <a:lstStyle/>
          <a:p>
            <a:pPr indent="0" marL="0">
              <a:buNone/>
            </a:pPr>
            <a:r>
              <a:rPr lang="en-US" sz="1250" b="1" dirty="0">
                <a:solidFill>
                  <a:srgbClr val="EC8079"/>
                </a:solidFill>
                <a:latin typeface="Arial" pitchFamily="34" charset="0"/>
                <a:ea typeface="Arial" pitchFamily="34" charset="-122"/>
                <a:cs typeface="Arial" pitchFamily="34" charset="-120"/>
              </a:rPr>
              <a:t>Why the worker is not on Vercel</a:t>
            </a:r>
            <a:endParaRPr lang="en-US" sz="1250" dirty="0"/>
          </a:p>
        </p:txBody>
      </p:sp>
      <p:sp>
        <p:nvSpPr>
          <p:cNvPr id="25" name="Text 23"/>
          <p:cNvSpPr txBox="1"/>
          <p:nvPr/>
        </p:nvSpPr>
        <p:spPr>
          <a:xfrm>
            <a:off x="777240" y="5669280"/>
            <a:ext cx="10637215" cy="402336"/>
          </a:xfrm>
          <a:prstGeom prst="rect">
            <a:avLst/>
          </a:prstGeom>
          <a:noFill/>
          <a:ln/>
        </p:spPr>
        <p:txBody>
          <a:bodyPr wrap="square" lIns="0" tIns="0" rIns="0" bIns="0" rtlCol="0" anchor="ctr"/>
          <a:lstStyle/>
          <a:p>
            <a:pPr indent="0" marL="0">
              <a:buNone/>
            </a:pPr>
            <a:r>
              <a:rPr lang="en-US" sz="1200" dirty="0">
                <a:solidFill>
                  <a:srgbClr val="F2F3F8"/>
                </a:solidFill>
                <a:latin typeface="Arial" pitchFamily="34" charset="0"/>
                <a:ea typeface="Arial" pitchFamily="34" charset="-122"/>
                <a:cs typeface="Arial" pitchFamily="34" charset="-120"/>
              </a:rPr>
              <a:t>The 3D fitting libraries alone are bigger than a Vercel function is allowed to be, and working through hundreds of frames takes minutes. Not something to optimise — the wrong kind of machine.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TWO INTERFACES</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One for customers, one for us</a:t>
            </a:r>
            <a:endParaRPr lang="en-US" sz="3000" dirty="0"/>
          </a:p>
        </p:txBody>
      </p:sp>
      <p:sp>
        <p:nvSpPr>
          <p:cNvPr id="4" name="Text 2"/>
          <p:cNvSpPr txBox="1"/>
          <p:nvPr/>
        </p:nvSpPr>
        <p:spPr>
          <a:xfrm>
            <a:off x="502920" y="1060704"/>
            <a:ext cx="9692640" cy="548640"/>
          </a:xfrm>
          <a:prstGeom prst="rect">
            <a:avLst/>
          </a:prstGeom>
          <a:noFill/>
          <a:ln/>
        </p:spPr>
        <p:txBody>
          <a:bodyPr wrap="square" lIns="0" tIns="0" rIns="0" bIns="0" rtlCol="0" anchor="t"/>
          <a:lstStyle/>
          <a:p>
            <a:pPr indent="0" marL="0">
              <a:lnSpc>
                <a:spcPct val="124000"/>
              </a:lnSpc>
              <a:buNone/>
            </a:pPr>
            <a:r>
              <a:rPr lang="en-US" sz="1350" dirty="0">
                <a:solidFill>
                  <a:srgbClr val="9BA1C1"/>
                </a:solidFill>
                <a:latin typeface="Arial" pitchFamily="34" charset="0"/>
                <a:ea typeface="Arial" pitchFamily="34" charset="-122"/>
                <a:cs typeface="Arial" pitchFamily="34" charset="-120"/>
              </a:rPr>
              <a:t>The same system, seen two ways. The customer sees a size and a sentence. We see every check, every step and what it cost — because we are the ones who have to fix it.</a:t>
            </a:r>
            <a:endParaRPr lang="en-US" sz="1350" dirty="0"/>
          </a:p>
        </p:txBody>
      </p:sp>
      <p:sp>
        <p:nvSpPr>
          <p:cNvPr id="5" name="Shape 3"/>
          <p:cNvSpPr/>
          <p:nvPr/>
        </p:nvSpPr>
        <p:spPr>
          <a:xfrm>
            <a:off x="502920" y="1828800"/>
            <a:ext cx="5394960" cy="3566160"/>
          </a:xfrm>
          <a:prstGeom prst="roundRect">
            <a:avLst>
              <a:gd name="adj" fmla="val 1538"/>
            </a:avLst>
          </a:prstGeom>
          <a:solidFill>
            <a:srgbClr val="252943"/>
          </a:solidFill>
          <a:ln w="12700">
            <a:solidFill>
              <a:srgbClr val="252943"/>
            </a:solidFill>
            <a:prstDash val="solid"/>
          </a:ln>
        </p:spPr>
      </p:sp>
      <p:sp>
        <p:nvSpPr>
          <p:cNvPr id="6" name="Shape 4"/>
          <p:cNvSpPr/>
          <p:nvPr/>
        </p:nvSpPr>
        <p:spPr>
          <a:xfrm>
            <a:off x="832104" y="2139696"/>
            <a:ext cx="164592" cy="164592"/>
          </a:xfrm>
          <a:prstGeom prst="ellipse">
            <a:avLst/>
          </a:prstGeom>
          <a:solidFill>
            <a:srgbClr val="E0A458"/>
          </a:solidFill>
          <a:ln w="12700">
            <a:solidFill>
              <a:srgbClr val="E0A458"/>
            </a:solidFill>
            <a:prstDash val="solid"/>
          </a:ln>
        </p:spPr>
      </p:sp>
      <p:sp>
        <p:nvSpPr>
          <p:cNvPr id="7" name="Text 5"/>
          <p:cNvSpPr txBox="1"/>
          <p:nvPr/>
        </p:nvSpPr>
        <p:spPr>
          <a:xfrm>
            <a:off x="1124712" y="2048256"/>
            <a:ext cx="4572000" cy="347472"/>
          </a:xfrm>
          <a:prstGeom prst="rect">
            <a:avLst/>
          </a:prstGeom>
          <a:noFill/>
          <a:ln/>
        </p:spPr>
        <p:txBody>
          <a:bodyPr wrap="square" lIns="0" tIns="0" rIns="0" bIns="0" rtlCol="0" anchor="ctr"/>
          <a:lstStyle/>
          <a:p>
            <a:pPr indent="0" marL="0">
              <a:buNone/>
            </a:pPr>
            <a:r>
              <a:rPr lang="en-US" sz="1900" b="1" dirty="0">
                <a:solidFill>
                  <a:srgbClr val="E0A458"/>
                </a:solidFill>
                <a:latin typeface="Arial" pitchFamily="34" charset="0"/>
                <a:ea typeface="Arial" pitchFamily="34" charset="-122"/>
                <a:cs typeface="Arial" pitchFamily="34" charset="-120"/>
              </a:rPr>
              <a:t>The customer app</a:t>
            </a:r>
            <a:endParaRPr lang="en-US" sz="1900" dirty="0"/>
          </a:p>
        </p:txBody>
      </p:sp>
      <p:sp>
        <p:nvSpPr>
          <p:cNvPr id="8" name="Text 6"/>
          <p:cNvSpPr txBox="1"/>
          <p:nvPr/>
        </p:nvSpPr>
        <p:spPr>
          <a:xfrm>
            <a:off x="1124712" y="2395728"/>
            <a:ext cx="4572000" cy="237744"/>
          </a:xfrm>
          <a:prstGeom prst="rect">
            <a:avLst/>
          </a:prstGeom>
          <a:noFill/>
          <a:ln/>
        </p:spPr>
        <p:txBody>
          <a:bodyPr wrap="square" lIns="0" tIns="0" rIns="0" bIns="0" rtlCol="0" anchor="ctr"/>
          <a:lstStyle/>
          <a:p>
            <a:pPr indent="0" marL="0">
              <a:buNone/>
            </a:pPr>
            <a:r>
              <a:rPr lang="en-US" sz="1050" spc="100" kern="0" dirty="0">
                <a:solidFill>
                  <a:srgbClr val="6E7699"/>
                </a:solidFill>
                <a:latin typeface="Arial" pitchFamily="34" charset="0"/>
                <a:ea typeface="Arial" pitchFamily="34" charset="-122"/>
                <a:cs typeface="Arial" pitchFamily="34" charset="-120"/>
              </a:rPr>
              <a:t>public · phone · five screens</a:t>
            </a:r>
            <a:endParaRPr lang="en-US" sz="1050" dirty="0"/>
          </a:p>
        </p:txBody>
      </p:sp>
      <p:sp>
        <p:nvSpPr>
          <p:cNvPr id="9" name="Text 7"/>
          <p:cNvSpPr txBox="1"/>
          <p:nvPr/>
        </p:nvSpPr>
        <p:spPr>
          <a:xfrm>
            <a:off x="868680" y="2798064"/>
            <a:ext cx="4663440" cy="192024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F2F3F8"/>
                </a:solidFill>
                <a:latin typeface="Arial" pitchFamily="34" charset="0"/>
                <a:ea typeface="Arial" pitchFamily="34" charset="-122"/>
                <a:cs typeface="Arial" pitchFamily="34" charset="-120"/>
              </a:rPr>
              <a:t>Film, get your measurements, get a size</a:t>
            </a:r>
            <a:endParaRPr lang="en-US" sz="1250" dirty="0"/>
          </a:p>
          <a:p>
            <a:pPr marL="342900" indent="-342900">
              <a:spcAft>
                <a:spcPts val="1000"/>
              </a:spcAft>
              <a:buSzPct val="100000"/>
              <a:buChar char="•"/>
            </a:pPr>
            <a:r>
              <a:rPr lang="en-US" sz="1250" dirty="0">
                <a:solidFill>
                  <a:srgbClr val="F2F3F8"/>
                </a:solidFill>
                <a:latin typeface="Arial" pitchFamily="34" charset="0"/>
                <a:ea typeface="Arial" pitchFamily="34" charset="-122"/>
                <a:cs typeface="Arial" pitchFamily="34" charset="-120"/>
              </a:rPr>
              <a:t>One sentence of plain explanation</a:t>
            </a:r>
            <a:endParaRPr lang="en-US" sz="1250" dirty="0"/>
          </a:p>
          <a:p>
            <a:pPr marL="342900" indent="-342900">
              <a:spcAft>
                <a:spcPts val="1000"/>
              </a:spcAft>
              <a:buSzPct val="100000"/>
              <a:buChar char="•"/>
            </a:pPr>
            <a:r>
              <a:rPr lang="en-US" sz="1250" dirty="0">
                <a:solidFill>
                  <a:srgbClr val="F2F3F8"/>
                </a:solidFill>
                <a:latin typeface="Arial" pitchFamily="34" charset="0"/>
                <a:ea typeface="Arial" pitchFamily="34" charset="-122"/>
                <a:cs typeface="Arial" pitchFamily="34" charset="-120"/>
              </a:rPr>
              <a:t>One question after delivery: how did they fit?</a:t>
            </a:r>
            <a:endParaRPr lang="en-US" sz="1250" dirty="0"/>
          </a:p>
          <a:p>
            <a:pPr marL="342900" indent="-342900">
              <a:spcAft>
                <a:spcPts val="1000"/>
              </a:spcAft>
              <a:buSzPct val="100000"/>
              <a:buChar char="•"/>
            </a:pPr>
            <a:r>
              <a:rPr lang="en-US" sz="1250" dirty="0">
                <a:solidFill>
                  <a:srgbClr val="F2F3F8"/>
                </a:solidFill>
                <a:latin typeface="Arial" pitchFamily="34" charset="0"/>
                <a:ea typeface="Arial" pitchFamily="34" charset="-122"/>
                <a:cs typeface="Arial" pitchFamily="34" charset="-120"/>
              </a:rPr>
              <a:t>No jargon, no numbers you did not ask for</a:t>
            </a:r>
            <a:endParaRPr lang="en-US" sz="1250" dirty="0"/>
          </a:p>
        </p:txBody>
      </p:sp>
      <p:sp>
        <p:nvSpPr>
          <p:cNvPr id="10" name="Text 8"/>
          <p:cNvSpPr txBox="1"/>
          <p:nvPr/>
        </p:nvSpPr>
        <p:spPr>
          <a:xfrm>
            <a:off x="868680" y="4882896"/>
            <a:ext cx="4663440" cy="310896"/>
          </a:xfrm>
          <a:prstGeom prst="rect">
            <a:avLst/>
          </a:prstGeom>
          <a:noFill/>
          <a:ln/>
        </p:spPr>
        <p:txBody>
          <a:bodyPr wrap="square" lIns="0" tIns="0" rIns="0" bIns="0" rtlCol="0" anchor="ctr"/>
          <a:lstStyle/>
          <a:p>
            <a:pPr indent="0" marL="0">
              <a:buNone/>
            </a:pPr>
            <a:r>
              <a:rPr lang="en-US" sz="1200" i="1" dirty="0">
                <a:solidFill>
                  <a:srgbClr val="E0A458"/>
                </a:solidFill>
                <a:latin typeface="Arial" pitchFamily="34" charset="0"/>
                <a:ea typeface="Arial" pitchFamily="34" charset="-122"/>
                <a:cs typeface="Arial" pitchFamily="34" charset="-120"/>
              </a:rPr>
              <a:t>This is what wins or loses a customer.</a:t>
            </a:r>
            <a:endParaRPr lang="en-US" sz="1200" dirty="0"/>
          </a:p>
        </p:txBody>
      </p:sp>
      <p:sp>
        <p:nvSpPr>
          <p:cNvPr id="11" name="Shape 9"/>
          <p:cNvSpPr/>
          <p:nvPr/>
        </p:nvSpPr>
        <p:spPr>
          <a:xfrm>
            <a:off x="6281928" y="1828800"/>
            <a:ext cx="5394960" cy="3566160"/>
          </a:xfrm>
          <a:prstGeom prst="roundRect">
            <a:avLst>
              <a:gd name="adj" fmla="val 1538"/>
            </a:avLst>
          </a:prstGeom>
          <a:solidFill>
            <a:srgbClr val="252943"/>
          </a:solidFill>
          <a:ln w="12700">
            <a:solidFill>
              <a:srgbClr val="252943"/>
            </a:solidFill>
            <a:prstDash val="solid"/>
          </a:ln>
        </p:spPr>
      </p:sp>
      <p:sp>
        <p:nvSpPr>
          <p:cNvPr id="12" name="Shape 10"/>
          <p:cNvSpPr/>
          <p:nvPr/>
        </p:nvSpPr>
        <p:spPr>
          <a:xfrm>
            <a:off x="6611112" y="2139696"/>
            <a:ext cx="164592" cy="164592"/>
          </a:xfrm>
          <a:prstGeom prst="ellipse">
            <a:avLst/>
          </a:prstGeom>
          <a:solidFill>
            <a:srgbClr val="83B4DE"/>
          </a:solidFill>
          <a:ln w="12700">
            <a:solidFill>
              <a:srgbClr val="83B4DE"/>
            </a:solidFill>
            <a:prstDash val="solid"/>
          </a:ln>
        </p:spPr>
      </p:sp>
      <p:sp>
        <p:nvSpPr>
          <p:cNvPr id="13" name="Text 11"/>
          <p:cNvSpPr txBox="1"/>
          <p:nvPr/>
        </p:nvSpPr>
        <p:spPr>
          <a:xfrm>
            <a:off x="6903720" y="2048256"/>
            <a:ext cx="4572000" cy="347472"/>
          </a:xfrm>
          <a:prstGeom prst="rect">
            <a:avLst/>
          </a:prstGeom>
          <a:noFill/>
          <a:ln/>
        </p:spPr>
        <p:txBody>
          <a:bodyPr wrap="square" lIns="0" tIns="0" rIns="0" bIns="0" rtlCol="0" anchor="ctr"/>
          <a:lstStyle/>
          <a:p>
            <a:pPr indent="0" marL="0">
              <a:buNone/>
            </a:pPr>
            <a:r>
              <a:rPr lang="en-US" sz="1900" b="1" dirty="0">
                <a:solidFill>
                  <a:srgbClr val="83B4DE"/>
                </a:solidFill>
                <a:latin typeface="Arial" pitchFamily="34" charset="0"/>
                <a:ea typeface="Arial" pitchFamily="34" charset="-122"/>
                <a:cs typeface="Arial" pitchFamily="34" charset="-120"/>
              </a:rPr>
              <a:t>The back office</a:t>
            </a:r>
            <a:endParaRPr lang="en-US" sz="1900" dirty="0"/>
          </a:p>
        </p:txBody>
      </p:sp>
      <p:sp>
        <p:nvSpPr>
          <p:cNvPr id="14" name="Text 12"/>
          <p:cNvSpPr txBox="1"/>
          <p:nvPr/>
        </p:nvSpPr>
        <p:spPr>
          <a:xfrm>
            <a:off x="6903720" y="2395728"/>
            <a:ext cx="4572000" cy="237744"/>
          </a:xfrm>
          <a:prstGeom prst="rect">
            <a:avLst/>
          </a:prstGeom>
          <a:noFill/>
          <a:ln/>
        </p:spPr>
        <p:txBody>
          <a:bodyPr wrap="square" lIns="0" tIns="0" rIns="0" bIns="0" rtlCol="0" anchor="ctr"/>
          <a:lstStyle/>
          <a:p>
            <a:pPr indent="0" marL="0">
              <a:buNone/>
            </a:pPr>
            <a:r>
              <a:rPr lang="en-US" sz="1050" spc="100" kern="0" dirty="0">
                <a:solidFill>
                  <a:srgbClr val="6E7699"/>
                </a:solidFill>
                <a:latin typeface="Arial" pitchFamily="34" charset="0"/>
                <a:ea typeface="Arial" pitchFamily="34" charset="-122"/>
                <a:cs typeface="Arial" pitchFamily="34" charset="-120"/>
              </a:rPr>
              <a:t>internal · desktop · the console</a:t>
            </a:r>
            <a:endParaRPr lang="en-US" sz="1050" dirty="0"/>
          </a:p>
        </p:txBody>
      </p:sp>
      <p:sp>
        <p:nvSpPr>
          <p:cNvPr id="15" name="Text 13"/>
          <p:cNvSpPr txBox="1"/>
          <p:nvPr/>
        </p:nvSpPr>
        <p:spPr>
          <a:xfrm>
            <a:off x="6647688" y="2798064"/>
            <a:ext cx="4663440" cy="192024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F2F3F8"/>
                </a:solidFill>
                <a:latin typeface="Arial" pitchFamily="34" charset="0"/>
                <a:ea typeface="Arial" pitchFamily="34" charset="-122"/>
                <a:cs typeface="Arial" pitchFamily="34" charset="-120"/>
              </a:rPr>
              <a:t>Every check on every filming session</a:t>
            </a:r>
            <a:endParaRPr lang="en-US" sz="1250" dirty="0"/>
          </a:p>
          <a:p>
            <a:pPr marL="342900" indent="-342900">
              <a:spcAft>
                <a:spcPts val="1000"/>
              </a:spcAft>
              <a:buSzPct val="100000"/>
              <a:buChar char="•"/>
            </a:pPr>
            <a:r>
              <a:rPr lang="en-US" sz="1250" dirty="0">
                <a:solidFill>
                  <a:srgbClr val="F2F3F8"/>
                </a:solidFill>
                <a:latin typeface="Arial" pitchFamily="34" charset="0"/>
                <a:ea typeface="Arial" pitchFamily="34" charset="-122"/>
                <a:cs typeface="Arial" pitchFamily="34" charset="-120"/>
              </a:rPr>
              <a:t>What each agent did, and what it cost</a:t>
            </a:r>
            <a:endParaRPr lang="en-US" sz="1250" dirty="0"/>
          </a:p>
          <a:p>
            <a:pPr marL="342900" indent="-342900">
              <a:spcAft>
                <a:spcPts val="1000"/>
              </a:spcAft>
              <a:buSzPct val="100000"/>
              <a:buChar char="•"/>
            </a:pPr>
            <a:r>
              <a:rPr lang="en-US" sz="1250" dirty="0">
                <a:solidFill>
                  <a:srgbClr val="F2F3F8"/>
                </a:solidFill>
                <a:latin typeface="Arial" pitchFamily="34" charset="0"/>
                <a:ea typeface="Arial" pitchFamily="34" charset="-122"/>
                <a:cs typeface="Arial" pitchFamily="34" charset="-120"/>
              </a:rPr>
              <a:t>What the AI read from each brand's chart</a:t>
            </a:r>
            <a:endParaRPr lang="en-US" sz="1250" dirty="0"/>
          </a:p>
          <a:p>
            <a:pPr marL="342900" indent="-342900">
              <a:spcAft>
                <a:spcPts val="1000"/>
              </a:spcAft>
              <a:buSzPct val="100000"/>
              <a:buChar char="•"/>
            </a:pPr>
            <a:r>
              <a:rPr lang="en-US" sz="1250" dirty="0">
                <a:solidFill>
                  <a:srgbClr val="F2F3F8"/>
                </a:solidFill>
                <a:latin typeface="Arial" pitchFamily="34" charset="0"/>
                <a:ea typeface="Arial" pitchFamily="34" charset="-122"/>
                <a:cs typeface="Arial" pitchFamily="34" charset="-120"/>
              </a:rPr>
              <a:t>The queue of things a person must confirm</a:t>
            </a:r>
            <a:endParaRPr lang="en-US" sz="1250" dirty="0"/>
          </a:p>
        </p:txBody>
      </p:sp>
      <p:sp>
        <p:nvSpPr>
          <p:cNvPr id="16" name="Text 14"/>
          <p:cNvSpPr txBox="1"/>
          <p:nvPr/>
        </p:nvSpPr>
        <p:spPr>
          <a:xfrm>
            <a:off x="6647688" y="4882896"/>
            <a:ext cx="4663440" cy="310896"/>
          </a:xfrm>
          <a:prstGeom prst="rect">
            <a:avLst/>
          </a:prstGeom>
          <a:noFill/>
          <a:ln/>
        </p:spPr>
        <p:txBody>
          <a:bodyPr wrap="square" lIns="0" tIns="0" rIns="0" bIns="0" rtlCol="0" anchor="ctr"/>
          <a:lstStyle/>
          <a:p>
            <a:pPr indent="0" marL="0">
              <a:buNone/>
            </a:pPr>
            <a:r>
              <a:rPr lang="en-US" sz="1200" i="1" dirty="0">
                <a:solidFill>
                  <a:srgbClr val="83B4DE"/>
                </a:solidFill>
                <a:latin typeface="Arial" pitchFamily="34" charset="0"/>
                <a:ea typeface="Arial" pitchFamily="34" charset="-122"/>
                <a:cs typeface="Arial" pitchFamily="34" charset="-120"/>
              </a:rPr>
              <a:t>Not beautiful, and it does not need to be.</a:t>
            </a:r>
            <a:endParaRPr lang="en-US" sz="1200" dirty="0"/>
          </a:p>
        </p:txBody>
      </p:sp>
      <p:sp>
        <p:nvSpPr>
          <p:cNvPr id="17" name="Text 15"/>
          <p:cNvSpPr txBox="1"/>
          <p:nvPr/>
        </p:nvSpPr>
        <p:spPr>
          <a:xfrm>
            <a:off x="502920" y="5669280"/>
            <a:ext cx="11185855" cy="548640"/>
          </a:xfrm>
          <a:prstGeom prst="rect">
            <a:avLst/>
          </a:prstGeom>
          <a:noFill/>
          <a:ln/>
        </p:spPr>
        <p:txBody>
          <a:bodyPr wrap="square" lIns="0" tIns="0" rIns="0" bIns="0" rtlCol="0" anchor="t"/>
          <a:lstStyle/>
          <a:p>
            <a:pPr indent="0" marL="0">
              <a:lnSpc>
                <a:spcPct val="120000"/>
              </a:lnSpc>
              <a:buNone/>
            </a:pPr>
            <a:r>
              <a:rPr lang="en-US" sz="1250" i="1" dirty="0">
                <a:solidFill>
                  <a:srgbClr val="E0A458"/>
                </a:solidFill>
                <a:latin typeface="Arial" pitchFamily="34" charset="0"/>
                <a:ea typeface="Arial" pitchFamily="34" charset="-122"/>
                <a:cs typeface="Arial" pitchFamily="34" charset="-120"/>
              </a:rPr>
              <a:t>The console we built first is the back office. It was never meant to be the customer app — and it should not become one.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THE CUSTOMER APP · PROPOSAL</a:t>
            </a:r>
            <a:endParaRPr lang="en-US" sz="950" dirty="0"/>
          </a:p>
        </p:txBody>
      </p:sp>
      <p:sp>
        <p:nvSpPr>
          <p:cNvPr id="3" name="Text 1"/>
          <p:cNvSpPr txBox="1"/>
          <p:nvPr/>
        </p:nvSpPr>
        <p:spPr>
          <a:xfrm>
            <a:off x="502920" y="384048"/>
            <a:ext cx="7498080" cy="512064"/>
          </a:xfrm>
          <a:prstGeom prst="rect">
            <a:avLst/>
          </a:prstGeom>
          <a:noFill/>
          <a:ln/>
        </p:spPr>
        <p:txBody>
          <a:bodyPr wrap="square" lIns="0" tIns="0" rIns="0" bIns="0" rtlCol="0" anchor="ctr"/>
          <a:lstStyle/>
          <a:p>
            <a:pPr indent="0" marL="0">
              <a:buNone/>
            </a:pPr>
            <a:r>
              <a:rPr lang="en-US" sz="2700" b="1" dirty="0">
                <a:solidFill>
                  <a:srgbClr val="F2F3F8"/>
                </a:solidFill>
                <a:latin typeface="Arial" pitchFamily="34" charset="0"/>
                <a:ea typeface="Arial" pitchFamily="34" charset="-122"/>
                <a:cs typeface="Arial" pitchFamily="34" charset="-120"/>
              </a:rPr>
              <a:t>Seven screens, start to finish</a:t>
            </a:r>
            <a:endParaRPr lang="en-US" sz="2700" dirty="0"/>
          </a:p>
        </p:txBody>
      </p:sp>
      <p:sp>
        <p:nvSpPr>
          <p:cNvPr id="4" name="Text 2"/>
          <p:cNvSpPr txBox="1"/>
          <p:nvPr/>
        </p:nvSpPr>
        <p:spPr>
          <a:xfrm>
            <a:off x="8046720" y="384048"/>
            <a:ext cx="3657600" cy="512064"/>
          </a:xfrm>
          <a:prstGeom prst="rect">
            <a:avLst/>
          </a:prstGeom>
          <a:noFill/>
          <a:ln/>
        </p:spPr>
        <p:txBody>
          <a:bodyPr wrap="square" lIns="0" tIns="0" rIns="0" bIns="0" rtlCol="0" anchor="ctr"/>
          <a:lstStyle/>
          <a:p>
            <a:pPr algn="r" indent="0" marL="0">
              <a:buNone/>
            </a:pPr>
            <a:r>
              <a:rPr lang="en-US" sz="1100" dirty="0">
                <a:solidFill>
                  <a:srgbClr val="6E7699"/>
                </a:solidFill>
                <a:latin typeface="Arial" pitchFamily="34" charset="0"/>
                <a:ea typeface="Arial" pitchFamily="34" charset="-122"/>
                <a:cs typeface="Arial" pitchFamily="34" charset="-120"/>
              </a:rPr>
              <a:t>design direction, not final art</a:t>
            </a:r>
            <a:endParaRPr lang="en-US" sz="1100" dirty="0"/>
          </a:p>
        </p:txBody>
      </p:sp>
      <p:pic>
        <p:nvPicPr>
          <p:cNvPr id="5" name="Image 0" descr="consumer7.png">    </p:cNvPr>
          <p:cNvPicPr>
            <a:picLocks noChangeAspect="1"/>
          </p:cNvPicPr>
          <p:nvPr/>
        </p:nvPicPr>
        <p:blipFill>
          <a:blip r:embed="rId1"/>
          <a:stretch>
            <a:fillRect/>
          </a:stretch>
        </p:blipFill>
        <p:spPr>
          <a:xfrm>
            <a:off x="502920" y="1060704"/>
            <a:ext cx="4954394" cy="5138928"/>
          </a:xfrm>
          <a:prstGeom prst="rect">
            <a:avLst/>
          </a:prstGeom>
        </p:spPr>
      </p:pic>
      <p:sp>
        <p:nvSpPr>
          <p:cNvPr id="6" name="Text 3"/>
          <p:cNvSpPr txBox="1"/>
          <p:nvPr/>
        </p:nvSpPr>
        <p:spPr>
          <a:xfrm>
            <a:off x="5868794" y="1188720"/>
            <a:ext cx="5817238" cy="310896"/>
          </a:xfrm>
          <a:prstGeom prst="rect">
            <a:avLst/>
          </a:prstGeom>
          <a:noFill/>
          <a:ln/>
        </p:spPr>
        <p:txBody>
          <a:bodyPr wrap="square" lIns="0" tIns="0" rIns="0" bIns="0" rtlCol="0" anchor="ctr"/>
          <a:lstStyle/>
          <a:p>
            <a:pPr indent="0" marL="0">
              <a:buNone/>
            </a:pPr>
            <a:r>
              <a:rPr lang="en-US" sz="1500" b="1" dirty="0">
                <a:solidFill>
                  <a:srgbClr val="E0A458"/>
                </a:solidFill>
                <a:latin typeface="Arial" pitchFamily="34" charset="0"/>
                <a:ea typeface="Arial" pitchFamily="34" charset="-122"/>
                <a:cs typeface="Arial" pitchFamily="34" charset="-120"/>
              </a:rPr>
              <a:t>Film · measure · choose · pay · one question</a:t>
            </a:r>
            <a:endParaRPr lang="en-US" sz="1500" dirty="0"/>
          </a:p>
        </p:txBody>
      </p:sp>
      <p:sp>
        <p:nvSpPr>
          <p:cNvPr id="7" name="Text 4"/>
          <p:cNvSpPr txBox="1"/>
          <p:nvPr/>
        </p:nvSpPr>
        <p:spPr>
          <a:xfrm>
            <a:off x="5868794" y="1627632"/>
            <a:ext cx="5817238" cy="2286000"/>
          </a:xfrm>
          <a:prstGeom prst="rect">
            <a:avLst/>
          </a:prstGeom>
          <a:noFill/>
          <a:ln/>
        </p:spPr>
        <p:txBody>
          <a:bodyPr wrap="square" lIns="0" tIns="0" rIns="0" bIns="0" rtlCol="0" anchor="t"/>
          <a:lstStyle/>
          <a:p>
            <a:pPr marL="342900" indent="-342900">
              <a:spcAft>
                <a:spcPts val="1100"/>
              </a:spcAft>
              <a:buSzPct val="100000"/>
              <a:buChar char="•"/>
            </a:pPr>
            <a:r>
              <a:rPr lang="en-US" sz="1250" dirty="0">
                <a:solidFill>
                  <a:srgbClr val="F2F3F8"/>
                </a:solidFill>
                <a:latin typeface="Arial" pitchFamily="34" charset="0"/>
                <a:ea typeface="Arial" pitchFamily="34" charset="-122"/>
                <a:cs typeface="Arial" pitchFamily="34" charset="-120"/>
              </a:rPr>
              <a:t>One thing to do per screen, and exactly one number to type: your height</a:t>
            </a:r>
            <a:endParaRPr lang="en-US" sz="1250" dirty="0"/>
          </a:p>
          <a:p>
            <a:pPr marL="342900" indent="-342900">
              <a:spcAft>
                <a:spcPts val="1100"/>
              </a:spcAft>
              <a:buSzPct val="100000"/>
              <a:buChar char="•"/>
            </a:pPr>
            <a:r>
              <a:rPr lang="en-US" sz="1250" dirty="0">
                <a:solidFill>
                  <a:srgbClr val="F2F3F8"/>
                </a:solidFill>
                <a:latin typeface="Arial" pitchFamily="34" charset="0"/>
                <a:ea typeface="Arial" pitchFamily="34" charset="-122"/>
                <a:cs typeface="Arial" pitchFamily="34" charset="-120"/>
              </a:rPr>
              <a:t>The size badge follows you through the catalogue, so the shop is already filtered to what fits</a:t>
            </a:r>
            <a:endParaRPr lang="en-US" sz="1250" dirty="0"/>
          </a:p>
          <a:p>
            <a:pPr marL="342900" indent="-342900">
              <a:spcAft>
                <a:spcPts val="1100"/>
              </a:spcAft>
              <a:buSzPct val="100000"/>
              <a:buChar char="•"/>
            </a:pPr>
            <a:r>
              <a:rPr lang="en-US" sz="1250" dirty="0">
                <a:solidFill>
                  <a:srgbClr val="F2F3F8"/>
                </a:solidFill>
                <a:latin typeface="Arial" pitchFamily="34" charset="0"/>
                <a:ea typeface="Arial" pitchFamily="34" charset="-122"/>
                <a:cs typeface="Arial" pitchFamily="34" charset="-120"/>
              </a:rPr>
              <a:t>Checkout says what the shop receives — your size, never your measurements</a:t>
            </a:r>
            <a:endParaRPr lang="en-US" sz="1250" dirty="0"/>
          </a:p>
          <a:p>
            <a:pPr marL="342900" indent="-342900">
              <a:spcAft>
                <a:spcPts val="1100"/>
              </a:spcAft>
              <a:buSzPct val="100000"/>
              <a:buChar char="•"/>
            </a:pPr>
            <a:r>
              <a:rPr lang="en-US" sz="1250" dirty="0">
                <a:solidFill>
                  <a:srgbClr val="F2F3F8"/>
                </a:solidFill>
                <a:latin typeface="Arial" pitchFamily="34" charset="0"/>
                <a:ea typeface="Arial" pitchFamily="34" charset="-122"/>
                <a:cs typeface="Arial" pitchFamily="34" charset="-120"/>
              </a:rPr>
              <a:t>One question after delivery, and nothing else ever</a:t>
            </a:r>
            <a:endParaRPr lang="en-US" sz="1250" dirty="0"/>
          </a:p>
        </p:txBody>
      </p:sp>
      <p:sp>
        <p:nvSpPr>
          <p:cNvPr id="8" name="Shape 5"/>
          <p:cNvSpPr/>
          <p:nvPr/>
        </p:nvSpPr>
        <p:spPr>
          <a:xfrm>
            <a:off x="5868794" y="4114800"/>
            <a:ext cx="5817238" cy="2103120"/>
          </a:xfrm>
          <a:prstGeom prst="roundRect">
            <a:avLst>
              <a:gd name="adj" fmla="val 2609"/>
            </a:avLst>
          </a:prstGeom>
          <a:solidFill>
            <a:srgbClr val="2F3355"/>
          </a:solidFill>
          <a:ln w="19050">
            <a:solidFill>
              <a:srgbClr val="E0A458"/>
            </a:solidFill>
            <a:prstDash val="solid"/>
          </a:ln>
        </p:spPr>
      </p:sp>
      <p:sp>
        <p:nvSpPr>
          <p:cNvPr id="9" name="Text 6"/>
          <p:cNvSpPr txBox="1"/>
          <p:nvPr/>
        </p:nvSpPr>
        <p:spPr>
          <a:xfrm>
            <a:off x="6106538" y="4242816"/>
            <a:ext cx="5341750" cy="274320"/>
          </a:xfrm>
          <a:prstGeom prst="rect">
            <a:avLst/>
          </a:prstGeom>
          <a:noFill/>
          <a:ln/>
        </p:spPr>
        <p:txBody>
          <a:bodyPr wrap="square" lIns="0" tIns="0" rIns="0" bIns="0" rtlCol="0" anchor="ctr"/>
          <a:lstStyle/>
          <a:p>
            <a:pPr indent="0" marL="0">
              <a:buNone/>
            </a:pPr>
            <a:r>
              <a:rPr lang="en-US" sz="1250" b="1" dirty="0">
                <a:solidFill>
                  <a:srgbClr val="E0A458"/>
                </a:solidFill>
                <a:latin typeface="Arial" pitchFamily="34" charset="0"/>
                <a:ea typeface="Arial" pitchFamily="34" charset="-122"/>
                <a:cs typeface="Arial" pitchFamily="34" charset="-120"/>
              </a:rPr>
              <a:t>What is deliberately missing</a:t>
            </a:r>
            <a:endParaRPr lang="en-US" sz="1250" dirty="0"/>
          </a:p>
        </p:txBody>
      </p:sp>
      <p:sp>
        <p:nvSpPr>
          <p:cNvPr id="10" name="Text 7"/>
          <p:cNvSpPr txBox="1"/>
          <p:nvPr/>
        </p:nvSpPr>
        <p:spPr>
          <a:xfrm>
            <a:off x="6106538" y="4553712"/>
            <a:ext cx="5341750" cy="1554480"/>
          </a:xfrm>
          <a:prstGeom prst="rect">
            <a:avLst/>
          </a:prstGeom>
          <a:noFill/>
          <a:ln/>
        </p:spPr>
        <p:txBody>
          <a:bodyPr wrap="square" lIns="0" tIns="0" rIns="0" bIns="0" rtlCol="0" anchor="t"/>
          <a:lstStyle/>
          <a:p>
            <a:pPr indent="0" marL="0">
              <a:lnSpc>
                <a:spcPct val="122000"/>
              </a:lnSpc>
              <a:buNone/>
            </a:pPr>
            <a:r>
              <a:rPr lang="en-US" sz="1200" dirty="0">
                <a:solidFill>
                  <a:srgbClr val="F2F3F8"/>
                </a:solidFill>
                <a:latin typeface="Arial" pitchFamily="34" charset="0"/>
                <a:ea typeface="Arial" pitchFamily="34" charset="-122"/>
                <a:cs typeface="Arial" pitchFamily="34" charset="-120"/>
              </a:rPr>
              <a:t>No confidence scores, no agent names, no charts, no jargon. Everything the back office shows is hidden here on purpose. Colours come from denim itself: indigo dye, raw cotton, one selvedge-red accent.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THE CUSTOMER APP · CHOOSING AND PAYING</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The size badge is the product</a:t>
            </a:r>
            <a:endParaRPr lang="en-US" sz="3000" dirty="0"/>
          </a:p>
        </p:txBody>
      </p:sp>
      <p:pic>
        <p:nvPicPr>
          <p:cNvPr id="4" name="Image 0" descr="consumer_pick.png">    </p:cNvPr>
          <p:cNvPicPr>
            <a:picLocks noChangeAspect="1"/>
          </p:cNvPicPr>
          <p:nvPr/>
        </p:nvPicPr>
        <p:blipFill>
          <a:blip r:embed="rId1"/>
          <a:stretch>
            <a:fillRect/>
          </a:stretch>
        </p:blipFill>
        <p:spPr>
          <a:xfrm>
            <a:off x="502920" y="1188720"/>
            <a:ext cx="4655602" cy="5029200"/>
          </a:xfrm>
          <a:prstGeom prst="rect">
            <a:avLst/>
          </a:prstGeom>
        </p:spPr>
      </p:pic>
      <p:sp>
        <p:nvSpPr>
          <p:cNvPr id="5" name="Shape 2"/>
          <p:cNvSpPr/>
          <p:nvPr/>
        </p:nvSpPr>
        <p:spPr>
          <a:xfrm>
            <a:off x="5570002" y="1243584"/>
            <a:ext cx="6116030" cy="1499616"/>
          </a:xfrm>
          <a:prstGeom prst="roundRect">
            <a:avLst>
              <a:gd name="adj" fmla="val 3659"/>
            </a:avLst>
          </a:prstGeom>
          <a:solidFill>
            <a:srgbClr val="252943"/>
          </a:solidFill>
          <a:ln w="12700">
            <a:solidFill>
              <a:srgbClr val="252943"/>
            </a:solidFill>
            <a:prstDash val="solid"/>
          </a:ln>
        </p:spPr>
      </p:sp>
      <p:sp>
        <p:nvSpPr>
          <p:cNvPr id="6" name="Text 3"/>
          <p:cNvSpPr txBox="1"/>
          <p:nvPr/>
        </p:nvSpPr>
        <p:spPr>
          <a:xfrm>
            <a:off x="5844322" y="1389888"/>
            <a:ext cx="5567390" cy="292608"/>
          </a:xfrm>
          <a:prstGeom prst="rect">
            <a:avLst/>
          </a:prstGeom>
          <a:noFill/>
          <a:ln/>
        </p:spPr>
        <p:txBody>
          <a:bodyPr wrap="square" lIns="0" tIns="0" rIns="0" bIns="0" rtlCol="0" anchor="ctr"/>
          <a:lstStyle/>
          <a:p>
            <a:pPr indent="0" marL="0">
              <a:buNone/>
            </a:pPr>
            <a:r>
              <a:rPr lang="en-US" sz="1500" b="1" dirty="0">
                <a:solidFill>
                  <a:srgbClr val="E0A458"/>
                </a:solidFill>
                <a:latin typeface="Arial" pitchFamily="34" charset="0"/>
                <a:ea typeface="Arial" pitchFamily="34" charset="-122"/>
                <a:cs typeface="Arial" pitchFamily="34" charset="-120"/>
              </a:rPr>
              <a:t>W31 here, W32 there</a:t>
            </a:r>
            <a:endParaRPr lang="en-US" sz="1500" dirty="0"/>
          </a:p>
        </p:txBody>
      </p:sp>
      <p:sp>
        <p:nvSpPr>
          <p:cNvPr id="7" name="Text 4"/>
          <p:cNvSpPr txBox="1"/>
          <p:nvPr/>
        </p:nvSpPr>
        <p:spPr>
          <a:xfrm>
            <a:off x="5844322" y="1719072"/>
            <a:ext cx="5567390" cy="914400"/>
          </a:xfrm>
          <a:prstGeom prst="rect">
            <a:avLst/>
          </a:prstGeom>
          <a:noFill/>
          <a:ln/>
        </p:spPr>
        <p:txBody>
          <a:bodyPr wrap="square" lIns="0" tIns="0" rIns="0" bIns="0" rtlCol="0" anchor="t"/>
          <a:lstStyle/>
          <a:p>
            <a:pPr indent="0" marL="0">
              <a:lnSpc>
                <a:spcPct val="120000"/>
              </a:lnSpc>
              <a:buNone/>
            </a:pPr>
            <a:r>
              <a:rPr lang="en-US" sz="1150" dirty="0">
                <a:solidFill>
                  <a:srgbClr val="9BA1C1"/>
                </a:solidFill>
                <a:latin typeface="Arial" pitchFamily="34" charset="0"/>
                <a:ea typeface="Arial" pitchFamily="34" charset="-122"/>
                <a:cs typeface="Arial" pitchFamily="34" charset="-120"/>
              </a:rPr>
              <a:t>The same person is not the same size in two brands. The badge on every product is their size in that brand — which is the whole thing we are selling, expressed as one small label.</a:t>
            </a:r>
            <a:endParaRPr lang="en-US" sz="1150" dirty="0"/>
          </a:p>
        </p:txBody>
      </p:sp>
      <p:sp>
        <p:nvSpPr>
          <p:cNvPr id="8" name="Shape 5"/>
          <p:cNvSpPr/>
          <p:nvPr/>
        </p:nvSpPr>
        <p:spPr>
          <a:xfrm>
            <a:off x="5570002" y="2907792"/>
            <a:ext cx="6116030" cy="1499616"/>
          </a:xfrm>
          <a:prstGeom prst="roundRect">
            <a:avLst>
              <a:gd name="adj" fmla="val 3659"/>
            </a:avLst>
          </a:prstGeom>
          <a:solidFill>
            <a:srgbClr val="252943"/>
          </a:solidFill>
          <a:ln w="12700">
            <a:solidFill>
              <a:srgbClr val="252943"/>
            </a:solidFill>
            <a:prstDash val="solid"/>
          </a:ln>
        </p:spPr>
      </p:sp>
      <p:sp>
        <p:nvSpPr>
          <p:cNvPr id="9" name="Text 6"/>
          <p:cNvSpPr txBox="1"/>
          <p:nvPr/>
        </p:nvSpPr>
        <p:spPr>
          <a:xfrm>
            <a:off x="5844322" y="3054096"/>
            <a:ext cx="5567390" cy="292608"/>
          </a:xfrm>
          <a:prstGeom prst="rect">
            <a:avLst/>
          </a:prstGeom>
          <a:noFill/>
          <a:ln/>
        </p:spPr>
        <p:txBody>
          <a:bodyPr wrap="square" lIns="0" tIns="0" rIns="0" bIns="0" rtlCol="0" anchor="ctr"/>
          <a:lstStyle/>
          <a:p>
            <a:pPr indent="0" marL="0">
              <a:buNone/>
            </a:pPr>
            <a:r>
              <a:rPr lang="en-US" sz="1500" b="1" dirty="0">
                <a:solidFill>
                  <a:srgbClr val="83B4DE"/>
                </a:solidFill>
                <a:latin typeface="Arial" pitchFamily="34" charset="0"/>
                <a:ea typeface="Arial" pitchFamily="34" charset="-122"/>
                <a:cs typeface="Arial" pitchFamily="34" charset="-120"/>
              </a:rPr>
              <a:t>A shop filtered to fit</a:t>
            </a:r>
            <a:endParaRPr lang="en-US" sz="1500" dirty="0"/>
          </a:p>
        </p:txBody>
      </p:sp>
      <p:sp>
        <p:nvSpPr>
          <p:cNvPr id="10" name="Text 7"/>
          <p:cNvSpPr txBox="1"/>
          <p:nvPr/>
        </p:nvSpPr>
        <p:spPr>
          <a:xfrm>
            <a:off x="5844322" y="3383280"/>
            <a:ext cx="5567390" cy="914400"/>
          </a:xfrm>
          <a:prstGeom prst="rect">
            <a:avLst/>
          </a:prstGeom>
          <a:noFill/>
          <a:ln/>
        </p:spPr>
        <p:txBody>
          <a:bodyPr wrap="square" lIns="0" tIns="0" rIns="0" bIns="0" rtlCol="0" anchor="t"/>
          <a:lstStyle/>
          <a:p>
            <a:pPr indent="0" marL="0">
              <a:lnSpc>
                <a:spcPct val="120000"/>
              </a:lnSpc>
              <a:buNone/>
            </a:pPr>
            <a:r>
              <a:rPr lang="en-US" sz="1150" dirty="0">
                <a:solidFill>
                  <a:srgbClr val="9BA1C1"/>
                </a:solidFill>
                <a:latin typeface="Arial" pitchFamily="34" charset="0"/>
                <a:ea typeface="Arial" pitchFamily="34" charset="-122"/>
                <a:cs typeface="Arial" pitchFamily="34" charset="-120"/>
              </a:rPr>
              <a:t>“Your size only” turns a catalogue of 26 pairs into the ones that will actually work. Nothing else in the flow needs explaining after that.</a:t>
            </a:r>
            <a:endParaRPr lang="en-US" sz="1150" dirty="0"/>
          </a:p>
        </p:txBody>
      </p:sp>
      <p:sp>
        <p:nvSpPr>
          <p:cNvPr id="11" name="Shape 8"/>
          <p:cNvSpPr/>
          <p:nvPr/>
        </p:nvSpPr>
        <p:spPr>
          <a:xfrm>
            <a:off x="5570002" y="4572000"/>
            <a:ext cx="6116030" cy="1499616"/>
          </a:xfrm>
          <a:prstGeom prst="roundRect">
            <a:avLst>
              <a:gd name="adj" fmla="val 3659"/>
            </a:avLst>
          </a:prstGeom>
          <a:solidFill>
            <a:srgbClr val="252943"/>
          </a:solidFill>
          <a:ln w="12700">
            <a:solidFill>
              <a:srgbClr val="252943"/>
            </a:solidFill>
            <a:prstDash val="solid"/>
          </a:ln>
        </p:spPr>
      </p:sp>
      <p:sp>
        <p:nvSpPr>
          <p:cNvPr id="12" name="Text 9"/>
          <p:cNvSpPr txBox="1"/>
          <p:nvPr/>
        </p:nvSpPr>
        <p:spPr>
          <a:xfrm>
            <a:off x="5844322" y="4718304"/>
            <a:ext cx="5567390" cy="292608"/>
          </a:xfrm>
          <a:prstGeom prst="rect">
            <a:avLst/>
          </a:prstGeom>
          <a:noFill/>
          <a:ln/>
        </p:spPr>
        <p:txBody>
          <a:bodyPr wrap="square" lIns="0" tIns="0" rIns="0" bIns="0" rtlCol="0" anchor="ctr"/>
          <a:lstStyle/>
          <a:p>
            <a:pPr indent="0" marL="0">
              <a:buNone/>
            </a:pPr>
            <a:r>
              <a:rPr lang="en-US" sz="1500" b="1" dirty="0">
                <a:solidFill>
                  <a:srgbClr val="6FC095"/>
                </a:solidFill>
                <a:latin typeface="Arial" pitchFamily="34" charset="0"/>
                <a:ea typeface="Arial" pitchFamily="34" charset="-122"/>
                <a:cs typeface="Arial" pitchFamily="34" charset="-120"/>
              </a:rPr>
              <a:t>The promise, at the moment it matters</a:t>
            </a:r>
            <a:endParaRPr lang="en-US" sz="1500" dirty="0"/>
          </a:p>
        </p:txBody>
      </p:sp>
      <p:sp>
        <p:nvSpPr>
          <p:cNvPr id="13" name="Text 10"/>
          <p:cNvSpPr txBox="1"/>
          <p:nvPr/>
        </p:nvSpPr>
        <p:spPr>
          <a:xfrm>
            <a:off x="5844322" y="5047488"/>
            <a:ext cx="5567390" cy="914400"/>
          </a:xfrm>
          <a:prstGeom prst="rect">
            <a:avLst/>
          </a:prstGeom>
          <a:noFill/>
          <a:ln/>
        </p:spPr>
        <p:txBody>
          <a:bodyPr wrap="square" lIns="0" tIns="0" rIns="0" bIns="0" rtlCol="0" anchor="t"/>
          <a:lstStyle/>
          <a:p>
            <a:pPr indent="0" marL="0">
              <a:lnSpc>
                <a:spcPct val="120000"/>
              </a:lnSpc>
              <a:buNone/>
            </a:pPr>
            <a:r>
              <a:rPr lang="en-US" sz="1150" dirty="0">
                <a:solidFill>
                  <a:srgbClr val="9BA1C1"/>
                </a:solidFill>
                <a:latin typeface="Arial" pitchFamily="34" charset="0"/>
                <a:ea typeface="Arial" pitchFamily="34" charset="-122"/>
                <a:cs typeface="Arial" pitchFamily="34" charset="-120"/>
              </a:rPr>
              <a:t>The shop receives a size. It never receives the measurements. Saying that on the payment screen is worth more than saying it in a privacy policy.</a:t>
            </a:r>
            <a:endParaRPr lang="en-US" sz="1150" dirty="0"/>
          </a:p>
        </p:txBody>
      </p:sp>
      <p:sp>
        <p:nvSpPr>
          <p:cNvPr id="14" name="Text 11"/>
          <p:cNvSpPr txBox="1"/>
          <p:nvPr/>
        </p:nvSpPr>
        <p:spPr>
          <a:xfrm>
            <a:off x="502920" y="6309360"/>
            <a:ext cx="11185855" cy="310896"/>
          </a:xfrm>
          <a:prstGeom prst="rect">
            <a:avLst/>
          </a:prstGeom>
          <a:noFill/>
          <a:ln/>
        </p:spPr>
        <p:txBody>
          <a:bodyPr wrap="square" lIns="0" tIns="0" rIns="0" bIns="0" rtlCol="0" anchor="ctr"/>
          <a:lstStyle/>
          <a:p>
            <a:pPr indent="0" marL="0">
              <a:buNone/>
            </a:pPr>
            <a:r>
              <a:rPr lang="en-US" sz="1200" i="1" dirty="0">
                <a:solidFill>
                  <a:srgbClr val="E0A458"/>
                </a:solidFill>
                <a:latin typeface="Arial" pitchFamily="34" charset="0"/>
                <a:ea typeface="Arial" pitchFamily="34" charset="-122"/>
                <a:cs typeface="Arial" pitchFamily="34" charset="-120"/>
              </a:rPr>
              <a:t>Decided: the order is placed with us. We take the payment and pay the brand out — which is also what makes the fit outcome our own first-party data.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THE CUSTOMER APP · THE TWO THAT MATTER</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One screen sells. One screen teaches.</a:t>
            </a:r>
            <a:endParaRPr lang="en-US" sz="3000" dirty="0"/>
          </a:p>
        </p:txBody>
      </p:sp>
      <p:pic>
        <p:nvPicPr>
          <p:cNvPr id="4" name="Image 0" descr="consumer_sell.png">    </p:cNvPr>
          <p:cNvPicPr>
            <a:picLocks noChangeAspect="1"/>
          </p:cNvPicPr>
          <p:nvPr/>
        </p:nvPicPr>
        <p:blipFill>
          <a:blip r:embed="rId1"/>
          <a:stretch>
            <a:fillRect/>
          </a:stretch>
        </p:blipFill>
        <p:spPr>
          <a:xfrm>
            <a:off x="502920" y="1188720"/>
            <a:ext cx="4655602" cy="5029200"/>
          </a:xfrm>
          <a:prstGeom prst="rect">
            <a:avLst/>
          </a:prstGeom>
        </p:spPr>
      </p:pic>
      <p:sp>
        <p:nvSpPr>
          <p:cNvPr id="5" name="Shape 2"/>
          <p:cNvSpPr/>
          <p:nvPr/>
        </p:nvSpPr>
        <p:spPr>
          <a:xfrm>
            <a:off x="5570002" y="1243584"/>
            <a:ext cx="6116030" cy="1499616"/>
          </a:xfrm>
          <a:prstGeom prst="roundRect">
            <a:avLst>
              <a:gd name="adj" fmla="val 3659"/>
            </a:avLst>
          </a:prstGeom>
          <a:solidFill>
            <a:srgbClr val="252943"/>
          </a:solidFill>
          <a:ln w="12700">
            <a:solidFill>
              <a:srgbClr val="252943"/>
            </a:solidFill>
            <a:prstDash val="solid"/>
          </a:ln>
        </p:spPr>
      </p:sp>
      <p:sp>
        <p:nvSpPr>
          <p:cNvPr id="6" name="Text 3"/>
          <p:cNvSpPr txBox="1"/>
          <p:nvPr/>
        </p:nvSpPr>
        <p:spPr>
          <a:xfrm>
            <a:off x="5844322" y="1389888"/>
            <a:ext cx="5567390" cy="292608"/>
          </a:xfrm>
          <a:prstGeom prst="rect">
            <a:avLst/>
          </a:prstGeom>
          <a:noFill/>
          <a:ln/>
        </p:spPr>
        <p:txBody>
          <a:bodyPr wrap="square" lIns="0" tIns="0" rIns="0" bIns="0" rtlCol="0" anchor="ctr"/>
          <a:lstStyle/>
          <a:p>
            <a:pPr indent="0" marL="0">
              <a:buNone/>
            </a:pPr>
            <a:r>
              <a:rPr lang="en-US" sz="1500" b="1" dirty="0">
                <a:solidFill>
                  <a:srgbClr val="E0A458"/>
                </a:solidFill>
                <a:latin typeface="Arial" pitchFamily="34" charset="0"/>
                <a:ea typeface="Arial" pitchFamily="34" charset="-122"/>
                <a:cs typeface="Arial" pitchFamily="34" charset="-120"/>
              </a:rPr>
              <a:t>The size screen</a:t>
            </a:r>
            <a:endParaRPr lang="en-US" sz="1500" dirty="0"/>
          </a:p>
        </p:txBody>
      </p:sp>
      <p:sp>
        <p:nvSpPr>
          <p:cNvPr id="7" name="Text 4"/>
          <p:cNvSpPr txBox="1"/>
          <p:nvPr/>
        </p:nvSpPr>
        <p:spPr>
          <a:xfrm>
            <a:off x="5844322" y="1719072"/>
            <a:ext cx="5567390" cy="914400"/>
          </a:xfrm>
          <a:prstGeom prst="rect">
            <a:avLst/>
          </a:prstGeom>
          <a:noFill/>
          <a:ln/>
        </p:spPr>
        <p:txBody>
          <a:bodyPr wrap="square" lIns="0" tIns="0" rIns="0" bIns="0" rtlCol="0" anchor="t"/>
          <a:lstStyle/>
          <a:p>
            <a:pPr indent="0" marL="0">
              <a:lnSpc>
                <a:spcPct val="120000"/>
              </a:lnSpc>
              <a:buNone/>
            </a:pPr>
            <a:r>
              <a:rPr lang="en-US" sz="1150" dirty="0">
                <a:solidFill>
                  <a:srgbClr val="9BA1C1"/>
                </a:solidFill>
                <a:latin typeface="Arial" pitchFamily="34" charset="0"/>
                <a:ea typeface="Arial" pitchFamily="34" charset="-122"/>
                <a:cs typeface="Arial" pitchFamily="34" charset="-120"/>
              </a:rPr>
              <a:t>A size, a verdict in four words, and four small tags saying where it will be snug. The long explanation is one tap away for the people who want it, and invisible to those who do not.</a:t>
            </a:r>
            <a:endParaRPr lang="en-US" sz="1150" dirty="0"/>
          </a:p>
        </p:txBody>
      </p:sp>
      <p:sp>
        <p:nvSpPr>
          <p:cNvPr id="8" name="Shape 5"/>
          <p:cNvSpPr/>
          <p:nvPr/>
        </p:nvSpPr>
        <p:spPr>
          <a:xfrm>
            <a:off x="5570002" y="2907792"/>
            <a:ext cx="6116030" cy="1499616"/>
          </a:xfrm>
          <a:prstGeom prst="roundRect">
            <a:avLst>
              <a:gd name="adj" fmla="val 3659"/>
            </a:avLst>
          </a:prstGeom>
          <a:solidFill>
            <a:srgbClr val="252943"/>
          </a:solidFill>
          <a:ln w="12700">
            <a:solidFill>
              <a:srgbClr val="252943"/>
            </a:solidFill>
            <a:prstDash val="solid"/>
          </a:ln>
        </p:spPr>
      </p:sp>
      <p:sp>
        <p:nvSpPr>
          <p:cNvPr id="9" name="Text 6"/>
          <p:cNvSpPr txBox="1"/>
          <p:nvPr/>
        </p:nvSpPr>
        <p:spPr>
          <a:xfrm>
            <a:off x="5844322" y="3054096"/>
            <a:ext cx="5567390" cy="292608"/>
          </a:xfrm>
          <a:prstGeom prst="rect">
            <a:avLst/>
          </a:prstGeom>
          <a:noFill/>
          <a:ln/>
        </p:spPr>
        <p:txBody>
          <a:bodyPr wrap="square" lIns="0" tIns="0" rIns="0" bIns="0" rtlCol="0" anchor="ctr"/>
          <a:lstStyle/>
          <a:p>
            <a:pPr indent="0" marL="0">
              <a:buNone/>
            </a:pPr>
            <a:r>
              <a:rPr lang="en-US" sz="1500" b="1" dirty="0">
                <a:solidFill>
                  <a:srgbClr val="83B4DE"/>
                </a:solidFill>
                <a:latin typeface="Arial" pitchFamily="34" charset="0"/>
                <a:ea typeface="Arial" pitchFamily="34" charset="-122"/>
                <a:cs typeface="Arial" pitchFamily="34" charset="-120"/>
              </a:rPr>
              <a:t>The question after delivery</a:t>
            </a:r>
            <a:endParaRPr lang="en-US" sz="1500" dirty="0"/>
          </a:p>
        </p:txBody>
      </p:sp>
      <p:sp>
        <p:nvSpPr>
          <p:cNvPr id="10" name="Text 7"/>
          <p:cNvSpPr txBox="1"/>
          <p:nvPr/>
        </p:nvSpPr>
        <p:spPr>
          <a:xfrm>
            <a:off x="5844322" y="3383280"/>
            <a:ext cx="5567390" cy="914400"/>
          </a:xfrm>
          <a:prstGeom prst="rect">
            <a:avLst/>
          </a:prstGeom>
          <a:noFill/>
          <a:ln/>
        </p:spPr>
        <p:txBody>
          <a:bodyPr wrap="square" lIns="0" tIns="0" rIns="0" bIns="0" rtlCol="0" anchor="t"/>
          <a:lstStyle/>
          <a:p>
            <a:pPr indent="0" marL="0">
              <a:lnSpc>
                <a:spcPct val="120000"/>
              </a:lnSpc>
              <a:buNone/>
            </a:pPr>
            <a:r>
              <a:rPr lang="en-US" sz="1150" dirty="0">
                <a:solidFill>
                  <a:srgbClr val="9BA1C1"/>
                </a:solidFill>
                <a:latin typeface="Arial" pitchFamily="34" charset="0"/>
                <a:ea typeface="Arial" pitchFamily="34" charset="-122"/>
                <a:cs typeface="Arial" pitchFamily="34" charset="-120"/>
              </a:rPr>
              <a:t>Three taps, no typing, no login. It is the only place the system ever finds out whether it was right.</a:t>
            </a:r>
            <a:endParaRPr lang="en-US" sz="1150" dirty="0"/>
          </a:p>
        </p:txBody>
      </p:sp>
      <p:sp>
        <p:nvSpPr>
          <p:cNvPr id="11" name="Shape 8"/>
          <p:cNvSpPr/>
          <p:nvPr/>
        </p:nvSpPr>
        <p:spPr>
          <a:xfrm>
            <a:off x="5570002" y="4572000"/>
            <a:ext cx="6116030" cy="1499616"/>
          </a:xfrm>
          <a:prstGeom prst="roundRect">
            <a:avLst>
              <a:gd name="adj" fmla="val 3659"/>
            </a:avLst>
          </a:prstGeom>
          <a:solidFill>
            <a:srgbClr val="252943"/>
          </a:solidFill>
          <a:ln w="12700">
            <a:solidFill>
              <a:srgbClr val="252943"/>
            </a:solidFill>
            <a:prstDash val="solid"/>
          </a:ln>
        </p:spPr>
      </p:sp>
      <p:sp>
        <p:nvSpPr>
          <p:cNvPr id="12" name="Text 9"/>
          <p:cNvSpPr txBox="1"/>
          <p:nvPr/>
        </p:nvSpPr>
        <p:spPr>
          <a:xfrm>
            <a:off x="5844322" y="4718304"/>
            <a:ext cx="5567390" cy="292608"/>
          </a:xfrm>
          <a:prstGeom prst="rect">
            <a:avLst/>
          </a:prstGeom>
          <a:noFill/>
          <a:ln/>
        </p:spPr>
        <p:txBody>
          <a:bodyPr wrap="square" lIns="0" tIns="0" rIns="0" bIns="0" rtlCol="0" anchor="ctr"/>
          <a:lstStyle/>
          <a:p>
            <a:pPr indent="0" marL="0">
              <a:buNone/>
            </a:pPr>
            <a:r>
              <a:rPr lang="en-US" sz="1500" b="1" dirty="0">
                <a:solidFill>
                  <a:srgbClr val="6FC095"/>
                </a:solidFill>
                <a:latin typeface="Arial" pitchFamily="34" charset="0"/>
                <a:ea typeface="Arial" pitchFamily="34" charset="-122"/>
                <a:cs typeface="Arial" pitchFamily="34" charset="-120"/>
              </a:rPr>
              <a:t>Why it is the asset</a:t>
            </a:r>
            <a:endParaRPr lang="en-US" sz="1500" dirty="0"/>
          </a:p>
        </p:txBody>
      </p:sp>
      <p:sp>
        <p:nvSpPr>
          <p:cNvPr id="13" name="Text 10"/>
          <p:cNvSpPr txBox="1"/>
          <p:nvPr/>
        </p:nvSpPr>
        <p:spPr>
          <a:xfrm>
            <a:off x="5844322" y="5047488"/>
            <a:ext cx="5567390" cy="914400"/>
          </a:xfrm>
          <a:prstGeom prst="rect">
            <a:avLst/>
          </a:prstGeom>
          <a:noFill/>
          <a:ln/>
        </p:spPr>
        <p:txBody>
          <a:bodyPr wrap="square" lIns="0" tIns="0" rIns="0" bIns="0" rtlCol="0" anchor="t"/>
          <a:lstStyle/>
          <a:p>
            <a:pPr indent="0" marL="0">
              <a:lnSpc>
                <a:spcPct val="120000"/>
              </a:lnSpc>
              <a:buNone/>
            </a:pPr>
            <a:r>
              <a:rPr lang="en-US" sz="1150" dirty="0">
                <a:solidFill>
                  <a:srgbClr val="9BA1C1"/>
                </a:solidFill>
                <a:latin typeface="Arial" pitchFamily="34" charset="0"/>
                <a:ea typeface="Arial" pitchFamily="34" charset="-122"/>
                <a:cs typeface="Arial" pitchFamily="34" charset="-120"/>
              </a:rPr>
              <a:t>No brand's size chart says “we run tight in the waist”. Only the answers to this question do. Every answer improves the next person's recommendation.</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THE BACK OFFICE · BUILT, WORKING</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Every filming session, and why it passed or failed</a:t>
            </a:r>
            <a:endParaRPr lang="en-US" sz="3000" dirty="0"/>
          </a:p>
        </p:txBody>
      </p:sp>
      <p:pic>
        <p:nvPicPr>
          <p:cNvPr id="4" name="Image 0" descr="shots/1-capture.png">    </p:cNvPr>
          <p:cNvPicPr>
            <a:picLocks noChangeAspect="1"/>
          </p:cNvPicPr>
          <p:nvPr/>
        </p:nvPicPr>
        <p:blipFill>
          <a:blip r:embed="rId1"/>
          <a:stretch>
            <a:fillRect/>
          </a:stretch>
        </p:blipFill>
        <p:spPr>
          <a:xfrm>
            <a:off x="502920" y="1042416"/>
            <a:ext cx="7223760" cy="5443103"/>
          </a:xfrm>
          <a:prstGeom prst="rect">
            <a:avLst/>
          </a:prstGeom>
        </p:spPr>
      </p:pic>
      <p:sp>
        <p:nvSpPr>
          <p:cNvPr id="5" name="Shape 2"/>
          <p:cNvSpPr/>
          <p:nvPr/>
        </p:nvSpPr>
        <p:spPr>
          <a:xfrm>
            <a:off x="502920" y="1042416"/>
            <a:ext cx="7223760" cy="5443103"/>
          </a:xfrm>
          <a:prstGeom prst="rect">
            <a:avLst/>
          </a:prstGeom>
          <a:ln w="12700">
            <a:solidFill>
              <a:srgbClr val="3B4166"/>
            </a:solidFill>
            <a:prstDash val="solid"/>
          </a:ln>
        </p:spPr>
      </p:sp>
      <p:sp>
        <p:nvSpPr>
          <p:cNvPr id="6" name="Text 3"/>
          <p:cNvSpPr txBox="1"/>
          <p:nvPr/>
        </p:nvSpPr>
        <p:spPr>
          <a:xfrm>
            <a:off x="8001000" y="1463040"/>
            <a:ext cx="3703320" cy="274320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rgbClr val="F2F3F8"/>
                </a:solidFill>
                <a:latin typeface="Arial" pitchFamily="34" charset="0"/>
                <a:ea typeface="Arial" pitchFamily="34" charset="-122"/>
                <a:cs typeface="Arial" pitchFamily="34" charset="-120"/>
              </a:rPr>
              <a:t>Each check with the value it actually measured, not a spinner</a:t>
            </a:r>
            <a:endParaRPr lang="en-US" sz="1200" dirty="0"/>
          </a:p>
          <a:p>
            <a:pPr marL="342900" indent="-342900">
              <a:spcAft>
                <a:spcPts val="1000"/>
              </a:spcAft>
              <a:buSzPct val="100000"/>
              <a:buChar char="•"/>
            </a:pPr>
            <a:r>
              <a:rPr lang="en-US" sz="1200" dirty="0">
                <a:solidFill>
                  <a:srgbClr val="F2F3F8"/>
                </a:solidFill>
                <a:latin typeface="Arial" pitchFamily="34" charset="0"/>
                <a:ea typeface="Arial" pitchFamily="34" charset="-122"/>
                <a:cs typeface="Arial" pitchFamily="34" charset="-120"/>
              </a:rPr>
              <a:t>The exact message the customer was shown, and why</a:t>
            </a:r>
            <a:endParaRPr lang="en-US" sz="1200" dirty="0"/>
          </a:p>
          <a:p>
            <a:pPr marL="342900" indent="-342900">
              <a:spcAft>
                <a:spcPts val="1000"/>
              </a:spcAft>
              <a:buSzPct val="100000"/>
              <a:buChar char="•"/>
            </a:pPr>
            <a:r>
              <a:rPr lang="en-US" sz="1200" dirty="0">
                <a:solidFill>
                  <a:srgbClr val="F2F3F8"/>
                </a:solidFill>
                <a:latin typeface="Arial" pitchFamily="34" charset="0"/>
                <a:ea typeface="Arial" pitchFamily="34" charset="-122"/>
                <a:cs typeface="Arial" pitchFamily="34" charset="-120"/>
              </a:rPr>
              <a:t>The chart on the right shows the estimate settling — we stop when it stops moving</a:t>
            </a:r>
            <a:endParaRPr lang="en-US" sz="1200" dirty="0"/>
          </a:p>
          <a:p>
            <a:pPr marL="342900" indent="-342900">
              <a:spcAft>
                <a:spcPts val="1000"/>
              </a:spcAft>
              <a:buSzPct val="100000"/>
              <a:buChar char="•"/>
            </a:pPr>
            <a:r>
              <a:rPr lang="en-US" sz="1200" dirty="0">
                <a:solidFill>
                  <a:srgbClr val="F2F3F8"/>
                </a:solidFill>
                <a:latin typeface="Arial" pitchFamily="34" charset="0"/>
                <a:ea typeface="Arial" pitchFamily="34" charset="-122"/>
                <a:cs typeface="Arial" pitchFamily="34" charset="-120"/>
              </a:rPr>
              <a:t>Toggling the failure case reproduces a rejected session exactly</a:t>
            </a:r>
            <a:endParaRPr lang="en-US" sz="1200" dirty="0"/>
          </a:p>
        </p:txBody>
      </p:sp>
      <p:sp>
        <p:nvSpPr>
          <p:cNvPr id="7" name="Shape 4"/>
          <p:cNvSpPr/>
          <p:nvPr/>
        </p:nvSpPr>
        <p:spPr>
          <a:xfrm>
            <a:off x="8001000" y="4480560"/>
            <a:ext cx="3703320" cy="1737360"/>
          </a:xfrm>
          <a:prstGeom prst="roundRect">
            <a:avLst>
              <a:gd name="adj" fmla="val 3158"/>
            </a:avLst>
          </a:prstGeom>
          <a:solidFill>
            <a:srgbClr val="2F3355"/>
          </a:solidFill>
          <a:ln w="19050">
            <a:solidFill>
              <a:srgbClr val="83B4DE"/>
            </a:solidFill>
            <a:prstDash val="solid"/>
          </a:ln>
        </p:spPr>
      </p:sp>
      <p:sp>
        <p:nvSpPr>
          <p:cNvPr id="8" name="Text 5"/>
          <p:cNvSpPr txBox="1"/>
          <p:nvPr/>
        </p:nvSpPr>
        <p:spPr>
          <a:xfrm>
            <a:off x="8229600" y="4608576"/>
            <a:ext cx="3246120" cy="256032"/>
          </a:xfrm>
          <a:prstGeom prst="rect">
            <a:avLst/>
          </a:prstGeom>
          <a:noFill/>
          <a:ln/>
        </p:spPr>
        <p:txBody>
          <a:bodyPr wrap="square" lIns="0" tIns="0" rIns="0" bIns="0" rtlCol="0" anchor="ctr"/>
          <a:lstStyle/>
          <a:p>
            <a:pPr indent="0" marL="0">
              <a:buNone/>
            </a:pPr>
            <a:r>
              <a:rPr lang="en-US" sz="1200" b="1" dirty="0">
                <a:solidFill>
                  <a:srgbClr val="83B4DE"/>
                </a:solidFill>
                <a:latin typeface="Arial" pitchFamily="34" charset="0"/>
                <a:ea typeface="Arial" pitchFamily="34" charset="-122"/>
                <a:cs typeface="Arial" pitchFamily="34" charset="-120"/>
              </a:rPr>
              <a:t>Why it looks like this</a:t>
            </a:r>
            <a:endParaRPr lang="en-US" sz="1200" dirty="0"/>
          </a:p>
        </p:txBody>
      </p:sp>
      <p:sp>
        <p:nvSpPr>
          <p:cNvPr id="9" name="Text 6"/>
          <p:cNvSpPr txBox="1"/>
          <p:nvPr/>
        </p:nvSpPr>
        <p:spPr>
          <a:xfrm>
            <a:off x="8229600" y="4901184"/>
            <a:ext cx="3246120" cy="1188720"/>
          </a:xfrm>
          <a:prstGeom prst="rect">
            <a:avLst/>
          </a:prstGeom>
          <a:noFill/>
          <a:ln/>
        </p:spPr>
        <p:txBody>
          <a:bodyPr wrap="square" lIns="0" tIns="0" rIns="0" bIns="0" rtlCol="0" anchor="t"/>
          <a:lstStyle/>
          <a:p>
            <a:pPr indent="0" marL="0">
              <a:lnSpc>
                <a:spcPct val="120000"/>
              </a:lnSpc>
              <a:buNone/>
            </a:pPr>
            <a:r>
              <a:rPr lang="en-US" sz="1200" dirty="0">
                <a:solidFill>
                  <a:srgbClr val="F2F3F8"/>
                </a:solidFill>
                <a:latin typeface="Arial" pitchFamily="34" charset="0"/>
                <a:ea typeface="Arial" pitchFamily="34" charset="-122"/>
                <a:cs typeface="Arial" pitchFamily="34" charset="-120"/>
              </a:rPr>
              <a:t>When a customer writes in saying the app rejected their video, this is the screen that answers them in ten seconds. Dense on purpose.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THE BACK OFFICE · BUILT, WORKING</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What the six agents did, and what it cost</a:t>
            </a:r>
            <a:endParaRPr lang="en-US" sz="3000" dirty="0"/>
          </a:p>
        </p:txBody>
      </p:sp>
      <p:pic>
        <p:nvPicPr>
          <p:cNvPr id="4" name="Image 0" descr="shots/4-agents.png">    </p:cNvPr>
          <p:cNvPicPr>
            <a:picLocks noChangeAspect="1"/>
          </p:cNvPicPr>
          <p:nvPr/>
        </p:nvPicPr>
        <p:blipFill>
          <a:blip r:embed="rId1"/>
          <a:stretch>
            <a:fillRect/>
          </a:stretch>
        </p:blipFill>
        <p:spPr>
          <a:xfrm>
            <a:off x="502920" y="1042416"/>
            <a:ext cx="7223760" cy="5443103"/>
          </a:xfrm>
          <a:prstGeom prst="rect">
            <a:avLst/>
          </a:prstGeom>
        </p:spPr>
      </p:pic>
      <p:sp>
        <p:nvSpPr>
          <p:cNvPr id="5" name="Shape 2"/>
          <p:cNvSpPr/>
          <p:nvPr/>
        </p:nvSpPr>
        <p:spPr>
          <a:xfrm>
            <a:off x="502920" y="1042416"/>
            <a:ext cx="7223760" cy="5443103"/>
          </a:xfrm>
          <a:prstGeom prst="rect">
            <a:avLst/>
          </a:prstGeom>
          <a:ln w="12700">
            <a:solidFill>
              <a:srgbClr val="3B4166"/>
            </a:solidFill>
            <a:prstDash val="solid"/>
          </a:ln>
        </p:spPr>
      </p:sp>
      <p:sp>
        <p:nvSpPr>
          <p:cNvPr id="6" name="Text 3"/>
          <p:cNvSpPr txBox="1"/>
          <p:nvPr/>
        </p:nvSpPr>
        <p:spPr>
          <a:xfrm>
            <a:off x="8001000" y="1463040"/>
            <a:ext cx="3703320" cy="274320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rgbClr val="F2F3F8"/>
                </a:solidFill>
                <a:latin typeface="Arial" pitchFamily="34" charset="0"/>
                <a:ea typeface="Arial" pitchFamily="34" charset="-122"/>
                <a:cs typeface="Arial" pitchFamily="34" charset="-120"/>
              </a:rPr>
              <a:t>Who is finished, who is working, who is idle</a:t>
            </a:r>
            <a:endParaRPr lang="en-US" sz="1200" dirty="0"/>
          </a:p>
          <a:p>
            <a:pPr marL="342900" indent="-342900">
              <a:spcAft>
                <a:spcPts val="1000"/>
              </a:spcAft>
              <a:buSzPct val="100000"/>
              <a:buChar char="•"/>
            </a:pPr>
            <a:r>
              <a:rPr lang="en-US" sz="1200" dirty="0">
                <a:solidFill>
                  <a:srgbClr val="F2F3F8"/>
                </a:solidFill>
                <a:latin typeface="Arial" pitchFamily="34" charset="0"/>
                <a:ea typeface="Arial" pitchFamily="34" charset="-122"/>
                <a:cs typeface="Arial" pitchFamily="34" charset="-120"/>
              </a:rPr>
              <a:t>Every step: what it did, what came back, how long, what it cost</a:t>
            </a:r>
            <a:endParaRPr lang="en-US" sz="1200" dirty="0"/>
          </a:p>
          <a:p>
            <a:pPr marL="342900" indent="-342900">
              <a:spcAft>
                <a:spcPts val="1000"/>
              </a:spcAft>
              <a:buSzPct val="100000"/>
              <a:buChar char="•"/>
            </a:pPr>
            <a:r>
              <a:rPr lang="en-US" sz="1200" dirty="0">
                <a:solidFill>
                  <a:srgbClr val="F2F3F8"/>
                </a:solidFill>
                <a:latin typeface="Arial" pitchFamily="34" charset="0"/>
                <a:ea typeface="Arial" pitchFamily="34" charset="-122"/>
                <a:cs typeface="Arial" pitchFamily="34" charset="-120"/>
              </a:rPr>
              <a:t>A small cheap model does the repetitive reading; a large one reasons</a:t>
            </a:r>
            <a:endParaRPr lang="en-US" sz="1200" dirty="0"/>
          </a:p>
          <a:p>
            <a:pPr marL="342900" indent="-342900">
              <a:spcAft>
                <a:spcPts val="1000"/>
              </a:spcAft>
              <a:buSzPct val="100000"/>
              <a:buChar char="•"/>
            </a:pPr>
            <a:r>
              <a:rPr lang="en-US" sz="1200" dirty="0">
                <a:solidFill>
                  <a:srgbClr val="F2F3F8"/>
                </a:solidFill>
                <a:latin typeface="Arial" pitchFamily="34" charset="0"/>
                <a:ea typeface="Arial" pitchFamily="34" charset="-122"/>
                <a:cs typeface="Arial" pitchFamily="34" charset="-120"/>
              </a:rPr>
              <a:t>Retries are shown, not hidden — the AI sometimes answers in the wrong format</a:t>
            </a:r>
            <a:endParaRPr lang="en-US" sz="1200" dirty="0"/>
          </a:p>
        </p:txBody>
      </p:sp>
      <p:sp>
        <p:nvSpPr>
          <p:cNvPr id="7" name="Shape 4"/>
          <p:cNvSpPr/>
          <p:nvPr/>
        </p:nvSpPr>
        <p:spPr>
          <a:xfrm>
            <a:off x="8001000" y="4480560"/>
            <a:ext cx="3703320" cy="1737360"/>
          </a:xfrm>
          <a:prstGeom prst="roundRect">
            <a:avLst>
              <a:gd name="adj" fmla="val 3158"/>
            </a:avLst>
          </a:prstGeom>
          <a:solidFill>
            <a:srgbClr val="2F3355"/>
          </a:solidFill>
          <a:ln w="19050">
            <a:solidFill>
              <a:srgbClr val="E0A458"/>
            </a:solidFill>
            <a:prstDash val="solid"/>
          </a:ln>
        </p:spPr>
      </p:sp>
      <p:sp>
        <p:nvSpPr>
          <p:cNvPr id="8" name="Text 5"/>
          <p:cNvSpPr txBox="1"/>
          <p:nvPr/>
        </p:nvSpPr>
        <p:spPr>
          <a:xfrm>
            <a:off x="8229600" y="4608576"/>
            <a:ext cx="3246120" cy="256032"/>
          </a:xfrm>
          <a:prstGeom prst="rect">
            <a:avLst/>
          </a:prstGeom>
          <a:noFill/>
          <a:ln/>
        </p:spPr>
        <p:txBody>
          <a:bodyPr wrap="square" lIns="0" tIns="0" rIns="0" bIns="0" rtlCol="0" anchor="ctr"/>
          <a:lstStyle/>
          <a:p>
            <a:pPr indent="0" marL="0">
              <a:buNone/>
            </a:pPr>
            <a:r>
              <a:rPr lang="en-US" sz="1200" b="1" dirty="0">
                <a:solidFill>
                  <a:srgbClr val="E0A458"/>
                </a:solidFill>
                <a:latin typeface="Arial" pitchFamily="34" charset="0"/>
                <a:ea typeface="Arial" pitchFamily="34" charset="-122"/>
                <a:cs typeface="Arial" pitchFamily="34" charset="-120"/>
              </a:rPr>
              <a:t>Why this matters commercially</a:t>
            </a:r>
            <a:endParaRPr lang="en-US" sz="1200" dirty="0"/>
          </a:p>
        </p:txBody>
      </p:sp>
      <p:sp>
        <p:nvSpPr>
          <p:cNvPr id="9" name="Text 6"/>
          <p:cNvSpPr txBox="1"/>
          <p:nvPr/>
        </p:nvSpPr>
        <p:spPr>
          <a:xfrm>
            <a:off x="8229600" y="4901184"/>
            <a:ext cx="3246120" cy="1188720"/>
          </a:xfrm>
          <a:prstGeom prst="rect">
            <a:avLst/>
          </a:prstGeom>
          <a:noFill/>
          <a:ln/>
        </p:spPr>
        <p:txBody>
          <a:bodyPr wrap="square" lIns="0" tIns="0" rIns="0" bIns="0" rtlCol="0" anchor="t"/>
          <a:lstStyle/>
          <a:p>
            <a:pPr indent="0" marL="0">
              <a:lnSpc>
                <a:spcPct val="120000"/>
              </a:lnSpc>
              <a:buNone/>
            </a:pPr>
            <a:r>
              <a:rPr lang="en-US" sz="1200" dirty="0">
                <a:solidFill>
                  <a:srgbClr val="F2F3F8"/>
                </a:solidFill>
                <a:latin typeface="Arial" pitchFamily="34" charset="0"/>
                <a:ea typeface="Arial" pitchFamily="34" charset="-122"/>
                <a:cs typeface="Arial" pitchFamily="34" charset="-120"/>
              </a:rPr>
              <a:t>AI costs money per use. This screen is how we know what one recommendation costs, and where to spend a cheaper model instead.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DELIVERABLE 2 · SERVICE BLUEPRINT</a:t>
            </a:r>
            <a:endParaRPr lang="en-US" sz="950" dirty="0"/>
          </a:p>
        </p:txBody>
      </p:sp>
      <p:sp>
        <p:nvSpPr>
          <p:cNvPr id="3" name="Text 1"/>
          <p:cNvSpPr txBox="1"/>
          <p:nvPr/>
        </p:nvSpPr>
        <p:spPr>
          <a:xfrm>
            <a:off x="502920" y="310896"/>
            <a:ext cx="6400800" cy="384048"/>
          </a:xfrm>
          <a:prstGeom prst="rect">
            <a:avLst/>
          </a:prstGeom>
          <a:noFill/>
          <a:ln/>
        </p:spPr>
        <p:txBody>
          <a:bodyPr wrap="square" lIns="0" tIns="0" rIns="0" bIns="0" rtlCol="0" anchor="ctr"/>
          <a:lstStyle/>
          <a:p>
            <a:pPr indent="0" marL="0">
              <a:buNone/>
            </a:pPr>
            <a:r>
              <a:rPr lang="en-US" sz="2400" b="1" dirty="0">
                <a:solidFill>
                  <a:srgbClr val="F2F3F8"/>
                </a:solidFill>
                <a:latin typeface="Arial" pitchFamily="34" charset="0"/>
                <a:ea typeface="Arial" pitchFamily="34" charset="-122"/>
                <a:cs typeface="Arial" pitchFamily="34" charset="-120"/>
              </a:rPr>
              <a:t>Six stages, five layers</a:t>
            </a:r>
            <a:endParaRPr lang="en-US" sz="2400" dirty="0"/>
          </a:p>
        </p:txBody>
      </p:sp>
      <p:sp>
        <p:nvSpPr>
          <p:cNvPr id="4" name="Text 2"/>
          <p:cNvSpPr txBox="1"/>
          <p:nvPr/>
        </p:nvSpPr>
        <p:spPr>
          <a:xfrm>
            <a:off x="5852160" y="128016"/>
            <a:ext cx="5833872" cy="256032"/>
          </a:xfrm>
          <a:prstGeom prst="rect">
            <a:avLst/>
          </a:prstGeom>
          <a:noFill/>
          <a:ln/>
        </p:spPr>
        <p:txBody>
          <a:bodyPr wrap="square" lIns="0" tIns="0" rIns="0" bIns="0" rtlCol="0" anchor="ctr"/>
          <a:lstStyle/>
          <a:p>
            <a:pPr algn="r" indent="0" marL="0">
              <a:buNone/>
            </a:pPr>
            <a:r>
              <a:rPr lang="en-US" sz="950" dirty="0">
                <a:solidFill>
                  <a:srgbClr val="6E7699"/>
                </a:solidFill>
                <a:latin typeface="Arial" pitchFamily="34" charset="0"/>
                <a:ea typeface="Arial" pitchFamily="34" charset="-122"/>
                <a:cs typeface="Arial" pitchFamily="34" charset="-120"/>
              </a:rPr>
              <a:t>customer actions in blue · what we show in amber · internal steps plain · decisions as diamonds</a:t>
            </a:r>
            <a:endParaRPr lang="en-US" sz="950" dirty="0"/>
          </a:p>
        </p:txBody>
      </p:sp>
      <p:sp>
        <p:nvSpPr>
          <p:cNvPr id="5" name="Text 3"/>
          <p:cNvSpPr txBox="1"/>
          <p:nvPr/>
        </p:nvSpPr>
        <p:spPr>
          <a:xfrm>
            <a:off x="1892808" y="932688"/>
            <a:ext cx="1577340" cy="365760"/>
          </a:xfrm>
          <a:prstGeom prst="rect">
            <a:avLst/>
          </a:prstGeom>
          <a:noFill/>
          <a:ln/>
        </p:spPr>
        <p:txBody>
          <a:bodyPr wrap="square" lIns="0" tIns="0" rIns="0" bIns="0" rtlCol="0" anchor="ctr"/>
          <a:lstStyle/>
          <a:p>
            <a:pPr algn="ctr" indent="0" marL="0">
              <a:lnSpc>
                <a:spcPct val="106000"/>
              </a:lnSpc>
              <a:buNone/>
            </a:pPr>
            <a:r>
              <a:rPr lang="en-US" sz="1050" b="1" dirty="0">
                <a:solidFill>
                  <a:srgbClr val="E0A458"/>
                </a:solidFill>
                <a:latin typeface="Arial" pitchFamily="34" charset="0"/>
                <a:ea typeface="Arial" pitchFamily="34" charset="-122"/>
                <a:cs typeface="Arial" pitchFamily="34" charset="-120"/>
              </a:rPr>
              <a:t>01 Build Digital</a:t>
            </a:r>
            <a:endParaRPr lang="en-US" sz="1050" dirty="0"/>
          </a:p>
          <a:p>
            <a:pPr algn="ctr" indent="0" marL="0">
              <a:lnSpc>
                <a:spcPct val="106000"/>
              </a:lnSpc>
              <a:buNone/>
            </a:pPr>
            <a:r>
              <a:rPr lang="en-US" sz="1050" b="1" dirty="0">
                <a:solidFill>
                  <a:srgbClr val="E0A458"/>
                </a:solidFill>
                <a:latin typeface="Arial" pitchFamily="34" charset="0"/>
                <a:ea typeface="Arial" pitchFamily="34" charset="-122"/>
                <a:cs typeface="Arial" pitchFamily="34" charset="-120"/>
              </a:rPr>
              <a:t>Profile</a:t>
            </a:r>
            <a:endParaRPr lang="en-US" sz="1050" dirty="0"/>
          </a:p>
        </p:txBody>
      </p:sp>
      <p:sp>
        <p:nvSpPr>
          <p:cNvPr id="6" name="Text 4"/>
          <p:cNvSpPr txBox="1"/>
          <p:nvPr/>
        </p:nvSpPr>
        <p:spPr>
          <a:xfrm>
            <a:off x="3525012" y="932688"/>
            <a:ext cx="1577340" cy="365760"/>
          </a:xfrm>
          <a:prstGeom prst="rect">
            <a:avLst/>
          </a:prstGeom>
          <a:noFill/>
          <a:ln/>
        </p:spPr>
        <p:txBody>
          <a:bodyPr wrap="square" lIns="0" tIns="0" rIns="0" bIns="0" rtlCol="0" anchor="ctr"/>
          <a:lstStyle/>
          <a:p>
            <a:pPr algn="ctr" indent="0" marL="0">
              <a:lnSpc>
                <a:spcPct val="106000"/>
              </a:lnSpc>
              <a:buNone/>
            </a:pPr>
            <a:r>
              <a:rPr lang="en-US" sz="1050" b="1" dirty="0">
                <a:solidFill>
                  <a:srgbClr val="E0A458"/>
                </a:solidFill>
                <a:latin typeface="Arial" pitchFamily="34" charset="0"/>
                <a:ea typeface="Arial" pitchFamily="34" charset="-122"/>
                <a:cs typeface="Arial" pitchFamily="34" charset="-120"/>
              </a:rPr>
              <a:t>02 Set Preferences</a:t>
            </a:r>
            <a:endParaRPr lang="en-US" sz="1050" dirty="0"/>
          </a:p>
          <a:p>
            <a:pPr algn="ctr" indent="0" marL="0">
              <a:lnSpc>
                <a:spcPct val="106000"/>
              </a:lnSpc>
              <a:buNone/>
            </a:pPr>
            <a:r>
              <a:rPr lang="en-US" sz="1050" b="1" dirty="0">
                <a:solidFill>
                  <a:srgbClr val="E0A458"/>
                </a:solidFill>
                <a:latin typeface="Arial" pitchFamily="34" charset="0"/>
                <a:ea typeface="Arial" pitchFamily="34" charset="-122"/>
                <a:cs typeface="Arial" pitchFamily="34" charset="-120"/>
              </a:rPr>
              <a:t>&amp; Search</a:t>
            </a:r>
            <a:endParaRPr lang="en-US" sz="1050" dirty="0"/>
          </a:p>
        </p:txBody>
      </p:sp>
      <p:sp>
        <p:nvSpPr>
          <p:cNvPr id="7" name="Text 5"/>
          <p:cNvSpPr txBox="1"/>
          <p:nvPr/>
        </p:nvSpPr>
        <p:spPr>
          <a:xfrm>
            <a:off x="5157216" y="932688"/>
            <a:ext cx="1577340" cy="365760"/>
          </a:xfrm>
          <a:prstGeom prst="rect">
            <a:avLst/>
          </a:prstGeom>
          <a:noFill/>
          <a:ln/>
        </p:spPr>
        <p:txBody>
          <a:bodyPr wrap="square" lIns="0" tIns="0" rIns="0" bIns="0" rtlCol="0" anchor="ctr"/>
          <a:lstStyle/>
          <a:p>
            <a:pPr algn="ctr" indent="0" marL="0">
              <a:lnSpc>
                <a:spcPct val="106000"/>
              </a:lnSpc>
              <a:buNone/>
            </a:pPr>
            <a:r>
              <a:rPr lang="en-US" sz="1050" b="1" dirty="0">
                <a:solidFill>
                  <a:srgbClr val="E0A458"/>
                </a:solidFill>
                <a:latin typeface="Arial" pitchFamily="34" charset="0"/>
                <a:ea typeface="Arial" pitchFamily="34" charset="-122"/>
                <a:cs typeface="Arial" pitchFamily="34" charset="-120"/>
              </a:rPr>
              <a:t>03 Match Fit</a:t>
            </a:r>
            <a:endParaRPr lang="en-US" sz="1050" dirty="0"/>
          </a:p>
        </p:txBody>
      </p:sp>
      <p:sp>
        <p:nvSpPr>
          <p:cNvPr id="8" name="Text 6"/>
          <p:cNvSpPr txBox="1"/>
          <p:nvPr/>
        </p:nvSpPr>
        <p:spPr>
          <a:xfrm>
            <a:off x="6789420" y="932688"/>
            <a:ext cx="1577340" cy="365760"/>
          </a:xfrm>
          <a:prstGeom prst="rect">
            <a:avLst/>
          </a:prstGeom>
          <a:noFill/>
          <a:ln/>
        </p:spPr>
        <p:txBody>
          <a:bodyPr wrap="square" lIns="0" tIns="0" rIns="0" bIns="0" rtlCol="0" anchor="ctr"/>
          <a:lstStyle/>
          <a:p>
            <a:pPr algn="ctr" indent="0" marL="0">
              <a:lnSpc>
                <a:spcPct val="106000"/>
              </a:lnSpc>
              <a:buNone/>
            </a:pPr>
            <a:r>
              <a:rPr lang="en-US" sz="1050" b="1" dirty="0">
                <a:solidFill>
                  <a:srgbClr val="E0A458"/>
                </a:solidFill>
                <a:latin typeface="Arial" pitchFamily="34" charset="0"/>
                <a:ea typeface="Arial" pitchFamily="34" charset="-122"/>
                <a:cs typeface="Arial" pitchFamily="34" charset="-120"/>
              </a:rPr>
              <a:t>04 Review</a:t>
            </a:r>
            <a:endParaRPr lang="en-US" sz="1050" dirty="0"/>
          </a:p>
          <a:p>
            <a:pPr algn="ctr" indent="0" marL="0">
              <a:lnSpc>
                <a:spcPct val="106000"/>
              </a:lnSpc>
              <a:buNone/>
            </a:pPr>
            <a:r>
              <a:rPr lang="en-US" sz="1050" b="1" dirty="0">
                <a:solidFill>
                  <a:srgbClr val="E0A458"/>
                </a:solidFill>
                <a:latin typeface="Arial" pitchFamily="34" charset="0"/>
                <a:ea typeface="Arial" pitchFamily="34" charset="-122"/>
                <a:cs typeface="Arial" pitchFamily="34" charset="-120"/>
              </a:rPr>
              <a:t>&amp; Decide</a:t>
            </a:r>
            <a:endParaRPr lang="en-US" sz="1050" dirty="0"/>
          </a:p>
        </p:txBody>
      </p:sp>
      <p:sp>
        <p:nvSpPr>
          <p:cNvPr id="9" name="Text 7"/>
          <p:cNvSpPr txBox="1"/>
          <p:nvPr/>
        </p:nvSpPr>
        <p:spPr>
          <a:xfrm>
            <a:off x="8421624" y="932688"/>
            <a:ext cx="1577340" cy="365760"/>
          </a:xfrm>
          <a:prstGeom prst="rect">
            <a:avLst/>
          </a:prstGeom>
          <a:noFill/>
          <a:ln/>
        </p:spPr>
        <p:txBody>
          <a:bodyPr wrap="square" lIns="0" tIns="0" rIns="0" bIns="0" rtlCol="0" anchor="ctr"/>
          <a:lstStyle/>
          <a:p>
            <a:pPr algn="ctr" indent="0" marL="0">
              <a:lnSpc>
                <a:spcPct val="106000"/>
              </a:lnSpc>
              <a:buNone/>
            </a:pPr>
            <a:r>
              <a:rPr lang="en-US" sz="1050" b="1" dirty="0">
                <a:solidFill>
                  <a:srgbClr val="E0A458"/>
                </a:solidFill>
                <a:latin typeface="Arial" pitchFamily="34" charset="0"/>
                <a:ea typeface="Arial" pitchFamily="34" charset="-122"/>
                <a:cs typeface="Arial" pitchFamily="34" charset="-120"/>
              </a:rPr>
              <a:t>05 Purchase</a:t>
            </a:r>
            <a:endParaRPr lang="en-US" sz="1050" dirty="0"/>
          </a:p>
        </p:txBody>
      </p:sp>
      <p:sp>
        <p:nvSpPr>
          <p:cNvPr id="10" name="Text 8"/>
          <p:cNvSpPr txBox="1"/>
          <p:nvPr/>
        </p:nvSpPr>
        <p:spPr>
          <a:xfrm>
            <a:off x="10053828" y="932688"/>
            <a:ext cx="1577340" cy="365760"/>
          </a:xfrm>
          <a:prstGeom prst="rect">
            <a:avLst/>
          </a:prstGeom>
          <a:noFill/>
          <a:ln/>
        </p:spPr>
        <p:txBody>
          <a:bodyPr wrap="square" lIns="0" tIns="0" rIns="0" bIns="0" rtlCol="0" anchor="ctr"/>
          <a:lstStyle/>
          <a:p>
            <a:pPr algn="ctr" indent="0" marL="0">
              <a:lnSpc>
                <a:spcPct val="106000"/>
              </a:lnSpc>
              <a:buNone/>
            </a:pPr>
            <a:r>
              <a:rPr lang="en-US" sz="1050" b="1" dirty="0">
                <a:solidFill>
                  <a:srgbClr val="E0A458"/>
                </a:solidFill>
                <a:latin typeface="Arial" pitchFamily="34" charset="0"/>
                <a:ea typeface="Arial" pitchFamily="34" charset="-122"/>
                <a:cs typeface="Arial" pitchFamily="34" charset="-120"/>
              </a:rPr>
              <a:t>06 Learn</a:t>
            </a:r>
            <a:endParaRPr lang="en-US" sz="1050" dirty="0"/>
          </a:p>
          <a:p>
            <a:pPr algn="ctr" indent="0" marL="0">
              <a:lnSpc>
                <a:spcPct val="106000"/>
              </a:lnSpc>
              <a:buNone/>
            </a:pPr>
            <a:r>
              <a:rPr lang="en-US" sz="1050" b="1" dirty="0">
                <a:solidFill>
                  <a:srgbClr val="E0A458"/>
                </a:solidFill>
                <a:latin typeface="Arial" pitchFamily="34" charset="0"/>
                <a:ea typeface="Arial" pitchFamily="34" charset="-122"/>
                <a:cs typeface="Arial" pitchFamily="34" charset="-120"/>
              </a:rPr>
              <a:t>&amp; Improve</a:t>
            </a:r>
            <a:endParaRPr lang="en-US" sz="1050" dirty="0"/>
          </a:p>
        </p:txBody>
      </p:sp>
      <p:sp>
        <p:nvSpPr>
          <p:cNvPr id="11" name="Shape 9"/>
          <p:cNvSpPr/>
          <p:nvPr/>
        </p:nvSpPr>
        <p:spPr>
          <a:xfrm>
            <a:off x="502920" y="1335024"/>
            <a:ext cx="1335024" cy="731520"/>
          </a:xfrm>
          <a:prstGeom prst="roundRect">
            <a:avLst>
              <a:gd name="adj" fmla="val 6250"/>
            </a:avLst>
          </a:prstGeom>
          <a:solidFill>
            <a:srgbClr val="23263F"/>
          </a:solidFill>
          <a:ln w="12700">
            <a:solidFill>
              <a:srgbClr val="3D4370"/>
            </a:solidFill>
            <a:prstDash val="solid"/>
          </a:ln>
        </p:spPr>
      </p:sp>
      <p:sp>
        <p:nvSpPr>
          <p:cNvPr id="12" name="Text 10"/>
          <p:cNvSpPr txBox="1"/>
          <p:nvPr/>
        </p:nvSpPr>
        <p:spPr>
          <a:xfrm>
            <a:off x="576072" y="1335024"/>
            <a:ext cx="1188720" cy="731520"/>
          </a:xfrm>
          <a:prstGeom prst="rect">
            <a:avLst/>
          </a:prstGeom>
          <a:noFill/>
          <a:ln/>
        </p:spPr>
        <p:txBody>
          <a:bodyPr wrap="square" lIns="0" tIns="0" rIns="0" bIns="0" rtlCol="0" anchor="ctr"/>
          <a:lstStyle/>
          <a:p>
            <a:pPr indent="0" marL="0">
              <a:lnSpc>
                <a:spcPct val="110000"/>
              </a:lnSpc>
              <a:buNone/>
            </a:pPr>
            <a:r>
              <a:rPr lang="en-US" sz="950" b="1" dirty="0">
                <a:solidFill>
                  <a:srgbClr val="E0A458"/>
                </a:solidFill>
                <a:latin typeface="Arial" pitchFamily="34" charset="0"/>
                <a:ea typeface="Arial" pitchFamily="34" charset="-122"/>
                <a:cs typeface="Arial" pitchFamily="34" charset="-120"/>
              </a:rPr>
              <a:t>Physical</a:t>
            </a:r>
            <a:endParaRPr lang="en-US" sz="950" dirty="0"/>
          </a:p>
          <a:p>
            <a:pPr indent="0" marL="0">
              <a:lnSpc>
                <a:spcPct val="110000"/>
              </a:lnSpc>
              <a:buNone/>
            </a:pPr>
            <a:r>
              <a:rPr lang="en-US" sz="950" b="1" dirty="0">
                <a:solidFill>
                  <a:srgbClr val="E0A458"/>
                </a:solidFill>
                <a:latin typeface="Arial" pitchFamily="34" charset="0"/>
                <a:ea typeface="Arial" pitchFamily="34" charset="-122"/>
                <a:cs typeface="Arial" pitchFamily="34" charset="-120"/>
              </a:rPr>
              <a:t>evidence</a:t>
            </a:r>
            <a:endParaRPr lang="en-US" sz="950" dirty="0"/>
          </a:p>
        </p:txBody>
      </p:sp>
      <p:sp>
        <p:nvSpPr>
          <p:cNvPr id="13" name="Shape 11"/>
          <p:cNvSpPr/>
          <p:nvPr/>
        </p:nvSpPr>
        <p:spPr>
          <a:xfrm>
            <a:off x="1892808" y="1335024"/>
            <a:ext cx="1577340" cy="731520"/>
          </a:xfrm>
          <a:prstGeom prst="roundRect">
            <a:avLst>
              <a:gd name="adj" fmla="val 6250"/>
            </a:avLst>
          </a:prstGeom>
          <a:solidFill>
            <a:srgbClr val="1B1D33"/>
          </a:solidFill>
          <a:ln w="12700">
            <a:solidFill>
              <a:srgbClr val="2C3152"/>
            </a:solidFill>
            <a:prstDash val="solid"/>
          </a:ln>
        </p:spPr>
      </p:sp>
      <p:sp>
        <p:nvSpPr>
          <p:cNvPr id="14" name="Text 12"/>
          <p:cNvSpPr txBox="1"/>
          <p:nvPr/>
        </p:nvSpPr>
        <p:spPr>
          <a:xfrm>
            <a:off x="1984248" y="1335024"/>
            <a:ext cx="1394460" cy="731520"/>
          </a:xfrm>
          <a:prstGeom prst="rect">
            <a:avLst/>
          </a:prstGeom>
          <a:noFill/>
          <a:ln/>
        </p:spPr>
        <p:txBody>
          <a:bodyPr wrap="square" lIns="0" tIns="0" rIns="0" bIns="0" rtlCol="0" anchor="ctr"/>
          <a:lstStyle/>
          <a:p>
            <a:pPr indent="0" marL="0">
              <a:lnSpc>
                <a:spcPct val="114000"/>
              </a:lnSpc>
              <a:buNone/>
            </a:pPr>
            <a:r>
              <a:rPr lang="en-US" sz="850" dirty="0">
                <a:solidFill>
                  <a:srgbClr val="9BA1C1"/>
                </a:solidFill>
                <a:latin typeface="Arial" pitchFamily="34" charset="0"/>
                <a:ea typeface="Arial" pitchFamily="34" charset="-122"/>
                <a:cs typeface="Arial" pitchFamily="34" charset="-120"/>
              </a:rPr>
              <a:t>Phone camera, the 3D leg profile</a:t>
            </a:r>
            <a:endParaRPr lang="en-US" sz="850" dirty="0"/>
          </a:p>
        </p:txBody>
      </p:sp>
      <p:sp>
        <p:nvSpPr>
          <p:cNvPr id="15" name="Shape 13"/>
          <p:cNvSpPr/>
          <p:nvPr/>
        </p:nvSpPr>
        <p:spPr>
          <a:xfrm>
            <a:off x="3525012" y="1335024"/>
            <a:ext cx="1577340" cy="731520"/>
          </a:xfrm>
          <a:prstGeom prst="roundRect">
            <a:avLst>
              <a:gd name="adj" fmla="val 6250"/>
            </a:avLst>
          </a:prstGeom>
          <a:solidFill>
            <a:srgbClr val="1B1D33"/>
          </a:solidFill>
          <a:ln w="12700">
            <a:solidFill>
              <a:srgbClr val="2C3152"/>
            </a:solidFill>
            <a:prstDash val="solid"/>
          </a:ln>
        </p:spPr>
      </p:sp>
      <p:sp>
        <p:nvSpPr>
          <p:cNvPr id="16" name="Text 14"/>
          <p:cNvSpPr txBox="1"/>
          <p:nvPr/>
        </p:nvSpPr>
        <p:spPr>
          <a:xfrm>
            <a:off x="3616452" y="1335024"/>
            <a:ext cx="1394460" cy="731520"/>
          </a:xfrm>
          <a:prstGeom prst="rect">
            <a:avLst/>
          </a:prstGeom>
          <a:noFill/>
          <a:ln/>
        </p:spPr>
        <p:txBody>
          <a:bodyPr wrap="square" lIns="0" tIns="0" rIns="0" bIns="0" rtlCol="0" anchor="ctr"/>
          <a:lstStyle/>
          <a:p>
            <a:pPr indent="0" marL="0">
              <a:lnSpc>
                <a:spcPct val="114000"/>
              </a:lnSpc>
              <a:buNone/>
            </a:pPr>
            <a:r>
              <a:rPr lang="en-US" sz="850" dirty="0">
                <a:solidFill>
                  <a:srgbClr val="9BA1C1"/>
                </a:solidFill>
                <a:latin typeface="Arial" pitchFamily="34" charset="0"/>
                <a:ea typeface="Arial" pitchFamily="34" charset="-122"/>
                <a:cs typeface="Arial" pitchFamily="34" charset="-120"/>
              </a:rPr>
              <a:t>Cut filters on screen</a:t>
            </a:r>
            <a:endParaRPr lang="en-US" sz="850" dirty="0"/>
          </a:p>
        </p:txBody>
      </p:sp>
      <p:sp>
        <p:nvSpPr>
          <p:cNvPr id="17" name="Shape 15"/>
          <p:cNvSpPr/>
          <p:nvPr/>
        </p:nvSpPr>
        <p:spPr>
          <a:xfrm>
            <a:off x="5157216" y="1335024"/>
            <a:ext cx="1577340" cy="731520"/>
          </a:xfrm>
          <a:prstGeom prst="roundRect">
            <a:avLst>
              <a:gd name="adj" fmla="val 6250"/>
            </a:avLst>
          </a:prstGeom>
          <a:solidFill>
            <a:srgbClr val="1B1D33"/>
          </a:solidFill>
          <a:ln w="12700">
            <a:solidFill>
              <a:srgbClr val="2C3152"/>
            </a:solidFill>
            <a:prstDash val="solid"/>
          </a:ln>
        </p:spPr>
      </p:sp>
      <p:sp>
        <p:nvSpPr>
          <p:cNvPr id="18" name="Text 16"/>
          <p:cNvSpPr txBox="1"/>
          <p:nvPr/>
        </p:nvSpPr>
        <p:spPr>
          <a:xfrm>
            <a:off x="5248656" y="1335024"/>
            <a:ext cx="1394460" cy="731520"/>
          </a:xfrm>
          <a:prstGeom prst="rect">
            <a:avLst/>
          </a:prstGeom>
          <a:noFill/>
          <a:ln/>
        </p:spPr>
        <p:txBody>
          <a:bodyPr wrap="square" lIns="0" tIns="0" rIns="0" bIns="0" rtlCol="0" anchor="ctr"/>
          <a:lstStyle/>
          <a:p>
            <a:pPr indent="0" marL="0">
              <a:lnSpc>
                <a:spcPct val="114000"/>
              </a:lnSpc>
              <a:buNone/>
            </a:pPr>
            <a:r>
              <a:rPr lang="en-US" sz="850" dirty="0">
                <a:solidFill>
                  <a:srgbClr val="9BA1C1"/>
                </a:solidFill>
                <a:latin typeface="Arial" pitchFamily="34" charset="0"/>
                <a:ea typeface="Arial" pitchFamily="34" charset="-122"/>
                <a:cs typeface="Arial" pitchFamily="34" charset="-120"/>
              </a:rPr>
              <a:t>A size badge on every product</a:t>
            </a:r>
            <a:endParaRPr lang="en-US" sz="850" dirty="0"/>
          </a:p>
        </p:txBody>
      </p:sp>
      <p:sp>
        <p:nvSpPr>
          <p:cNvPr id="19" name="Shape 17"/>
          <p:cNvSpPr/>
          <p:nvPr/>
        </p:nvSpPr>
        <p:spPr>
          <a:xfrm>
            <a:off x="6789420" y="1335024"/>
            <a:ext cx="1577340" cy="731520"/>
          </a:xfrm>
          <a:prstGeom prst="roundRect">
            <a:avLst>
              <a:gd name="adj" fmla="val 6250"/>
            </a:avLst>
          </a:prstGeom>
          <a:solidFill>
            <a:srgbClr val="1B1D33"/>
          </a:solidFill>
          <a:ln w="12700">
            <a:solidFill>
              <a:srgbClr val="2C3152"/>
            </a:solidFill>
            <a:prstDash val="solid"/>
          </a:ln>
        </p:spPr>
      </p:sp>
      <p:sp>
        <p:nvSpPr>
          <p:cNvPr id="20" name="Text 18"/>
          <p:cNvSpPr txBox="1"/>
          <p:nvPr/>
        </p:nvSpPr>
        <p:spPr>
          <a:xfrm>
            <a:off x="6880860" y="1335024"/>
            <a:ext cx="1394460" cy="731520"/>
          </a:xfrm>
          <a:prstGeom prst="rect">
            <a:avLst/>
          </a:prstGeom>
          <a:noFill/>
          <a:ln/>
        </p:spPr>
        <p:txBody>
          <a:bodyPr wrap="square" lIns="0" tIns="0" rIns="0" bIns="0" rtlCol="0" anchor="ctr"/>
          <a:lstStyle/>
          <a:p>
            <a:pPr indent="0" marL="0">
              <a:lnSpc>
                <a:spcPct val="114000"/>
              </a:lnSpc>
              <a:buNone/>
            </a:pPr>
            <a:r>
              <a:rPr lang="en-US" sz="850" dirty="0">
                <a:solidFill>
                  <a:srgbClr val="9BA1C1"/>
                </a:solidFill>
                <a:latin typeface="Arial" pitchFamily="34" charset="0"/>
                <a:ea typeface="Arial" pitchFamily="34" charset="-122"/>
                <a:cs typeface="Arial" pitchFamily="34" charset="-120"/>
              </a:rPr>
              <a:t>Product page, the size card</a:t>
            </a:r>
            <a:endParaRPr lang="en-US" sz="850" dirty="0"/>
          </a:p>
        </p:txBody>
      </p:sp>
      <p:sp>
        <p:nvSpPr>
          <p:cNvPr id="21" name="Shape 19"/>
          <p:cNvSpPr/>
          <p:nvPr/>
        </p:nvSpPr>
        <p:spPr>
          <a:xfrm>
            <a:off x="8421624" y="1335024"/>
            <a:ext cx="1577340" cy="731520"/>
          </a:xfrm>
          <a:prstGeom prst="roundRect">
            <a:avLst>
              <a:gd name="adj" fmla="val 6250"/>
            </a:avLst>
          </a:prstGeom>
          <a:solidFill>
            <a:srgbClr val="1B1D33"/>
          </a:solidFill>
          <a:ln w="12700">
            <a:solidFill>
              <a:srgbClr val="2C3152"/>
            </a:solidFill>
            <a:prstDash val="solid"/>
          </a:ln>
        </p:spPr>
      </p:sp>
      <p:sp>
        <p:nvSpPr>
          <p:cNvPr id="22" name="Text 20"/>
          <p:cNvSpPr txBox="1"/>
          <p:nvPr/>
        </p:nvSpPr>
        <p:spPr>
          <a:xfrm>
            <a:off x="8513064" y="1335024"/>
            <a:ext cx="1394460" cy="731520"/>
          </a:xfrm>
          <a:prstGeom prst="rect">
            <a:avLst/>
          </a:prstGeom>
          <a:noFill/>
          <a:ln/>
        </p:spPr>
        <p:txBody>
          <a:bodyPr wrap="square" lIns="0" tIns="0" rIns="0" bIns="0" rtlCol="0" anchor="ctr"/>
          <a:lstStyle/>
          <a:p>
            <a:pPr indent="0" marL="0">
              <a:lnSpc>
                <a:spcPct val="114000"/>
              </a:lnSpc>
              <a:buNone/>
            </a:pPr>
            <a:r>
              <a:rPr lang="en-US" sz="850" dirty="0">
                <a:solidFill>
                  <a:srgbClr val="9BA1C1"/>
                </a:solidFill>
                <a:latin typeface="Arial" pitchFamily="34" charset="0"/>
                <a:ea typeface="Arial" pitchFamily="34" charset="-122"/>
                <a:cs typeface="Arial" pitchFamily="34" charset="-120"/>
              </a:rPr>
              <a:t>Order confirmation, the delivery box</a:t>
            </a:r>
            <a:endParaRPr lang="en-US" sz="850" dirty="0"/>
          </a:p>
        </p:txBody>
      </p:sp>
      <p:sp>
        <p:nvSpPr>
          <p:cNvPr id="23" name="Shape 21"/>
          <p:cNvSpPr/>
          <p:nvPr/>
        </p:nvSpPr>
        <p:spPr>
          <a:xfrm>
            <a:off x="10053828" y="1335024"/>
            <a:ext cx="1577340" cy="731520"/>
          </a:xfrm>
          <a:prstGeom prst="roundRect">
            <a:avLst>
              <a:gd name="adj" fmla="val 6250"/>
            </a:avLst>
          </a:prstGeom>
          <a:solidFill>
            <a:srgbClr val="1B1D33"/>
          </a:solidFill>
          <a:ln w="12700">
            <a:solidFill>
              <a:srgbClr val="2C3152"/>
            </a:solidFill>
            <a:prstDash val="solid"/>
          </a:ln>
        </p:spPr>
      </p:sp>
      <p:sp>
        <p:nvSpPr>
          <p:cNvPr id="24" name="Text 22"/>
          <p:cNvSpPr txBox="1"/>
          <p:nvPr/>
        </p:nvSpPr>
        <p:spPr>
          <a:xfrm>
            <a:off x="10145268" y="1335024"/>
            <a:ext cx="1394460" cy="731520"/>
          </a:xfrm>
          <a:prstGeom prst="rect">
            <a:avLst/>
          </a:prstGeom>
          <a:noFill/>
          <a:ln/>
        </p:spPr>
        <p:txBody>
          <a:bodyPr wrap="square" lIns="0" tIns="0" rIns="0" bIns="0" rtlCol="0" anchor="ctr"/>
          <a:lstStyle/>
          <a:p>
            <a:pPr indent="0" marL="0">
              <a:lnSpc>
                <a:spcPct val="114000"/>
              </a:lnSpc>
              <a:buNone/>
            </a:pPr>
            <a:r>
              <a:rPr lang="en-US" sz="850" dirty="0">
                <a:solidFill>
                  <a:srgbClr val="9BA1C1"/>
                </a:solidFill>
                <a:latin typeface="Arial" pitchFamily="34" charset="0"/>
                <a:ea typeface="Arial" pitchFamily="34" charset="-122"/>
                <a:cs typeface="Arial" pitchFamily="34" charset="-120"/>
              </a:rPr>
              <a:t>One notification, return label if needed</a:t>
            </a:r>
            <a:endParaRPr lang="en-US" sz="850" dirty="0"/>
          </a:p>
        </p:txBody>
      </p:sp>
      <p:sp>
        <p:nvSpPr>
          <p:cNvPr id="25" name="Shape 23"/>
          <p:cNvSpPr/>
          <p:nvPr/>
        </p:nvSpPr>
        <p:spPr>
          <a:xfrm>
            <a:off x="502920" y="2121408"/>
            <a:ext cx="1335024" cy="914400"/>
          </a:xfrm>
          <a:prstGeom prst="roundRect">
            <a:avLst>
              <a:gd name="adj" fmla="val 5000"/>
            </a:avLst>
          </a:prstGeom>
          <a:solidFill>
            <a:srgbClr val="23263F"/>
          </a:solidFill>
          <a:ln w="12700">
            <a:solidFill>
              <a:srgbClr val="3D4370"/>
            </a:solidFill>
            <a:prstDash val="solid"/>
          </a:ln>
        </p:spPr>
      </p:sp>
      <p:sp>
        <p:nvSpPr>
          <p:cNvPr id="26" name="Text 24"/>
          <p:cNvSpPr txBox="1"/>
          <p:nvPr/>
        </p:nvSpPr>
        <p:spPr>
          <a:xfrm>
            <a:off x="576072" y="2121408"/>
            <a:ext cx="1188720" cy="914400"/>
          </a:xfrm>
          <a:prstGeom prst="rect">
            <a:avLst/>
          </a:prstGeom>
          <a:noFill/>
          <a:ln/>
        </p:spPr>
        <p:txBody>
          <a:bodyPr wrap="square" lIns="0" tIns="0" rIns="0" bIns="0" rtlCol="0" anchor="ctr"/>
          <a:lstStyle/>
          <a:p>
            <a:pPr indent="0" marL="0">
              <a:lnSpc>
                <a:spcPct val="110000"/>
              </a:lnSpc>
              <a:buNone/>
            </a:pPr>
            <a:r>
              <a:rPr lang="en-US" sz="950" b="1" dirty="0">
                <a:solidFill>
                  <a:srgbClr val="E0A458"/>
                </a:solidFill>
                <a:latin typeface="Arial" pitchFamily="34" charset="0"/>
                <a:ea typeface="Arial" pitchFamily="34" charset="-122"/>
                <a:cs typeface="Arial" pitchFamily="34" charset="-120"/>
              </a:rPr>
              <a:t>Customer</a:t>
            </a:r>
            <a:endParaRPr lang="en-US" sz="950" dirty="0"/>
          </a:p>
          <a:p>
            <a:pPr indent="0" marL="0">
              <a:lnSpc>
                <a:spcPct val="110000"/>
              </a:lnSpc>
              <a:buNone/>
            </a:pPr>
            <a:r>
              <a:rPr lang="en-US" sz="950" b="1" dirty="0">
                <a:solidFill>
                  <a:srgbClr val="E0A458"/>
                </a:solidFill>
                <a:latin typeface="Arial" pitchFamily="34" charset="0"/>
                <a:ea typeface="Arial" pitchFamily="34" charset="-122"/>
                <a:cs typeface="Arial" pitchFamily="34" charset="-120"/>
              </a:rPr>
              <a:t>actions</a:t>
            </a:r>
            <a:endParaRPr lang="en-US" sz="950" dirty="0"/>
          </a:p>
        </p:txBody>
      </p:sp>
      <p:sp>
        <p:nvSpPr>
          <p:cNvPr id="27" name="Shape 25"/>
          <p:cNvSpPr/>
          <p:nvPr/>
        </p:nvSpPr>
        <p:spPr>
          <a:xfrm>
            <a:off x="1892808" y="2121408"/>
            <a:ext cx="1577340" cy="914400"/>
          </a:xfrm>
          <a:prstGeom prst="roundRect">
            <a:avLst>
              <a:gd name="adj" fmla="val 5000"/>
            </a:avLst>
          </a:prstGeom>
          <a:solidFill>
            <a:srgbClr val="1C2C42"/>
          </a:solidFill>
          <a:ln w="12700">
            <a:solidFill>
              <a:srgbClr val="83B4DE"/>
            </a:solidFill>
            <a:prstDash val="solid"/>
          </a:ln>
        </p:spPr>
      </p:sp>
      <p:sp>
        <p:nvSpPr>
          <p:cNvPr id="28" name="Text 26"/>
          <p:cNvSpPr txBox="1"/>
          <p:nvPr/>
        </p:nvSpPr>
        <p:spPr>
          <a:xfrm>
            <a:off x="1984248" y="2121408"/>
            <a:ext cx="1394460" cy="914400"/>
          </a:xfrm>
          <a:prstGeom prst="rect">
            <a:avLst/>
          </a:prstGeom>
          <a:noFill/>
          <a:ln/>
        </p:spPr>
        <p:txBody>
          <a:bodyPr wrap="square" lIns="0" tIns="0" rIns="0" bIns="0" rtlCol="0" anchor="ctr"/>
          <a:lstStyle/>
          <a:p>
            <a:pPr indent="0" marL="0">
              <a:lnSpc>
                <a:spcPct val="114000"/>
              </a:lnSpc>
              <a:buNone/>
            </a:pPr>
            <a:r>
              <a:rPr lang="en-US" sz="900" dirty="0">
                <a:solidFill>
                  <a:srgbClr val="F2F3F8"/>
                </a:solidFill>
                <a:latin typeface="Arial" pitchFamily="34" charset="0"/>
                <a:ea typeface="Arial" pitchFamily="34" charset="-122"/>
                <a:cs typeface="Arial" pitchFamily="34" charset="-120"/>
              </a:rPr>
              <a:t>Registers, types height, films ten seconds</a:t>
            </a:r>
            <a:endParaRPr lang="en-US" sz="900" dirty="0"/>
          </a:p>
        </p:txBody>
      </p:sp>
      <p:sp>
        <p:nvSpPr>
          <p:cNvPr id="29" name="Shape 27"/>
          <p:cNvSpPr/>
          <p:nvPr/>
        </p:nvSpPr>
        <p:spPr>
          <a:xfrm>
            <a:off x="3525012" y="2121408"/>
            <a:ext cx="1577340" cy="914400"/>
          </a:xfrm>
          <a:prstGeom prst="roundRect">
            <a:avLst>
              <a:gd name="adj" fmla="val 5000"/>
            </a:avLst>
          </a:prstGeom>
          <a:solidFill>
            <a:srgbClr val="1C2C42"/>
          </a:solidFill>
          <a:ln w="12700">
            <a:solidFill>
              <a:srgbClr val="83B4DE"/>
            </a:solidFill>
            <a:prstDash val="solid"/>
          </a:ln>
        </p:spPr>
      </p:sp>
      <p:sp>
        <p:nvSpPr>
          <p:cNvPr id="30" name="Text 28"/>
          <p:cNvSpPr txBox="1"/>
          <p:nvPr/>
        </p:nvSpPr>
        <p:spPr>
          <a:xfrm>
            <a:off x="3616452" y="2121408"/>
            <a:ext cx="1394460" cy="914400"/>
          </a:xfrm>
          <a:prstGeom prst="rect">
            <a:avLst/>
          </a:prstGeom>
          <a:noFill/>
          <a:ln/>
        </p:spPr>
        <p:txBody>
          <a:bodyPr wrap="square" lIns="0" tIns="0" rIns="0" bIns="0" rtlCol="0" anchor="ctr"/>
          <a:lstStyle/>
          <a:p>
            <a:pPr indent="0" marL="0">
              <a:lnSpc>
                <a:spcPct val="114000"/>
              </a:lnSpc>
              <a:buNone/>
            </a:pPr>
            <a:r>
              <a:rPr lang="en-US" sz="900" dirty="0">
                <a:solidFill>
                  <a:srgbClr val="F2F3F8"/>
                </a:solidFill>
                <a:latin typeface="Arial" pitchFamily="34" charset="0"/>
                <a:ea typeface="Arial" pitchFamily="34" charset="-122"/>
                <a:cs typeface="Arial" pitchFamily="34" charset="-120"/>
              </a:rPr>
              <a:t>Picks preferred cut, searches across brands</a:t>
            </a:r>
            <a:endParaRPr lang="en-US" sz="900" dirty="0"/>
          </a:p>
        </p:txBody>
      </p:sp>
      <p:sp>
        <p:nvSpPr>
          <p:cNvPr id="31" name="Shape 29"/>
          <p:cNvSpPr/>
          <p:nvPr/>
        </p:nvSpPr>
        <p:spPr>
          <a:xfrm>
            <a:off x="5157216" y="2121408"/>
            <a:ext cx="1577340" cy="914400"/>
          </a:xfrm>
          <a:prstGeom prst="roundRect">
            <a:avLst>
              <a:gd name="adj" fmla="val 5000"/>
            </a:avLst>
          </a:prstGeom>
          <a:solidFill>
            <a:srgbClr val="1C2C42"/>
          </a:solidFill>
          <a:ln w="12700">
            <a:solidFill>
              <a:srgbClr val="83B4DE"/>
            </a:solidFill>
            <a:prstDash val="solid"/>
          </a:ln>
        </p:spPr>
      </p:sp>
      <p:sp>
        <p:nvSpPr>
          <p:cNvPr id="32" name="Text 30"/>
          <p:cNvSpPr txBox="1"/>
          <p:nvPr/>
        </p:nvSpPr>
        <p:spPr>
          <a:xfrm>
            <a:off x="5248656" y="2121408"/>
            <a:ext cx="1394460" cy="914400"/>
          </a:xfrm>
          <a:prstGeom prst="rect">
            <a:avLst/>
          </a:prstGeom>
          <a:noFill/>
          <a:ln/>
        </p:spPr>
        <p:txBody>
          <a:bodyPr wrap="square" lIns="0" tIns="0" rIns="0" bIns="0" rtlCol="0" anchor="ctr"/>
          <a:lstStyle/>
          <a:p>
            <a:pPr indent="0" marL="0">
              <a:lnSpc>
                <a:spcPct val="114000"/>
              </a:lnSpc>
              <a:buNone/>
            </a:pPr>
            <a:r>
              <a:rPr lang="en-US" sz="900" dirty="0">
                <a:solidFill>
                  <a:srgbClr val="F2F3F8"/>
                </a:solidFill>
                <a:latin typeface="Arial" pitchFamily="34" charset="0"/>
                <a:ea typeface="Arial" pitchFamily="34" charset="-122"/>
                <a:cs typeface="Arial" pitchFamily="34" charset="-120"/>
              </a:rPr>
              <a:t>Sees only the jeans that fit</a:t>
            </a:r>
            <a:endParaRPr lang="en-US" sz="900" dirty="0"/>
          </a:p>
        </p:txBody>
      </p:sp>
      <p:sp>
        <p:nvSpPr>
          <p:cNvPr id="33" name="Shape 31"/>
          <p:cNvSpPr/>
          <p:nvPr/>
        </p:nvSpPr>
        <p:spPr>
          <a:xfrm>
            <a:off x="6789420" y="2121408"/>
            <a:ext cx="1577340" cy="914400"/>
          </a:xfrm>
          <a:prstGeom prst="roundRect">
            <a:avLst>
              <a:gd name="adj" fmla="val 5000"/>
            </a:avLst>
          </a:prstGeom>
          <a:solidFill>
            <a:srgbClr val="1C2C42"/>
          </a:solidFill>
          <a:ln w="12700">
            <a:solidFill>
              <a:srgbClr val="83B4DE"/>
            </a:solidFill>
            <a:prstDash val="solid"/>
          </a:ln>
        </p:spPr>
      </p:sp>
      <p:sp>
        <p:nvSpPr>
          <p:cNvPr id="34" name="Text 32"/>
          <p:cNvSpPr txBox="1"/>
          <p:nvPr/>
        </p:nvSpPr>
        <p:spPr>
          <a:xfrm>
            <a:off x="6880860" y="2121408"/>
            <a:ext cx="1394460" cy="914400"/>
          </a:xfrm>
          <a:prstGeom prst="rect">
            <a:avLst/>
          </a:prstGeom>
          <a:noFill/>
          <a:ln/>
        </p:spPr>
        <p:txBody>
          <a:bodyPr wrap="square" lIns="0" tIns="0" rIns="0" bIns="0" rtlCol="0" anchor="ctr"/>
          <a:lstStyle/>
          <a:p>
            <a:pPr indent="0" marL="0">
              <a:lnSpc>
                <a:spcPct val="114000"/>
              </a:lnSpc>
              <a:buNone/>
            </a:pPr>
            <a:r>
              <a:rPr lang="en-US" sz="900" dirty="0">
                <a:solidFill>
                  <a:srgbClr val="F2F3F8"/>
                </a:solidFill>
                <a:latin typeface="Arial" pitchFamily="34" charset="0"/>
                <a:ea typeface="Arial" pitchFamily="34" charset="-122"/>
                <a:cs typeface="Arial" pitchFamily="34" charset="-120"/>
              </a:rPr>
              <a:t>Reads the size and why, accepts or rejects</a:t>
            </a:r>
            <a:endParaRPr lang="en-US" sz="900" dirty="0"/>
          </a:p>
        </p:txBody>
      </p:sp>
      <p:sp>
        <p:nvSpPr>
          <p:cNvPr id="35" name="Shape 33"/>
          <p:cNvSpPr/>
          <p:nvPr/>
        </p:nvSpPr>
        <p:spPr>
          <a:xfrm>
            <a:off x="8421624" y="2121408"/>
            <a:ext cx="1577340" cy="914400"/>
          </a:xfrm>
          <a:prstGeom prst="roundRect">
            <a:avLst>
              <a:gd name="adj" fmla="val 5000"/>
            </a:avLst>
          </a:prstGeom>
          <a:solidFill>
            <a:srgbClr val="1C2C42"/>
          </a:solidFill>
          <a:ln w="12700">
            <a:solidFill>
              <a:srgbClr val="83B4DE"/>
            </a:solidFill>
            <a:prstDash val="solid"/>
          </a:ln>
        </p:spPr>
      </p:sp>
      <p:sp>
        <p:nvSpPr>
          <p:cNvPr id="36" name="Text 34"/>
          <p:cNvSpPr txBox="1"/>
          <p:nvPr/>
        </p:nvSpPr>
        <p:spPr>
          <a:xfrm>
            <a:off x="8513064" y="2121408"/>
            <a:ext cx="1394460" cy="914400"/>
          </a:xfrm>
          <a:prstGeom prst="rect">
            <a:avLst/>
          </a:prstGeom>
          <a:noFill/>
          <a:ln/>
        </p:spPr>
        <p:txBody>
          <a:bodyPr wrap="square" lIns="0" tIns="0" rIns="0" bIns="0" rtlCol="0" anchor="ctr"/>
          <a:lstStyle/>
          <a:p>
            <a:pPr indent="0" marL="0">
              <a:lnSpc>
                <a:spcPct val="114000"/>
              </a:lnSpc>
              <a:buNone/>
            </a:pPr>
            <a:r>
              <a:rPr lang="en-US" sz="900" dirty="0">
                <a:solidFill>
                  <a:srgbClr val="F2F3F8"/>
                </a:solidFill>
                <a:latin typeface="Arial" pitchFamily="34" charset="0"/>
                <a:ea typeface="Arial" pitchFamily="34" charset="-122"/>
                <a:cs typeface="Arial" pitchFamily="34" charset="-120"/>
              </a:rPr>
              <a:t>Pays in the app</a:t>
            </a:r>
            <a:endParaRPr lang="en-US" sz="900" dirty="0"/>
          </a:p>
        </p:txBody>
      </p:sp>
      <p:sp>
        <p:nvSpPr>
          <p:cNvPr id="37" name="Shape 35"/>
          <p:cNvSpPr/>
          <p:nvPr/>
        </p:nvSpPr>
        <p:spPr>
          <a:xfrm>
            <a:off x="10053828" y="2121408"/>
            <a:ext cx="1577340" cy="914400"/>
          </a:xfrm>
          <a:prstGeom prst="roundRect">
            <a:avLst>
              <a:gd name="adj" fmla="val 5000"/>
            </a:avLst>
          </a:prstGeom>
          <a:solidFill>
            <a:srgbClr val="1C2C42"/>
          </a:solidFill>
          <a:ln w="12700">
            <a:solidFill>
              <a:srgbClr val="83B4DE"/>
            </a:solidFill>
            <a:prstDash val="solid"/>
          </a:ln>
        </p:spPr>
      </p:sp>
      <p:sp>
        <p:nvSpPr>
          <p:cNvPr id="38" name="Text 36"/>
          <p:cNvSpPr txBox="1"/>
          <p:nvPr/>
        </p:nvSpPr>
        <p:spPr>
          <a:xfrm>
            <a:off x="10145268" y="2121408"/>
            <a:ext cx="1394460" cy="914400"/>
          </a:xfrm>
          <a:prstGeom prst="rect">
            <a:avLst/>
          </a:prstGeom>
          <a:noFill/>
          <a:ln/>
        </p:spPr>
        <p:txBody>
          <a:bodyPr wrap="square" lIns="0" tIns="0" rIns="0" bIns="0" rtlCol="0" anchor="ctr"/>
          <a:lstStyle/>
          <a:p>
            <a:pPr indent="0" marL="0">
              <a:lnSpc>
                <a:spcPct val="114000"/>
              </a:lnSpc>
              <a:buNone/>
            </a:pPr>
            <a:r>
              <a:rPr lang="en-US" sz="900" dirty="0">
                <a:solidFill>
                  <a:srgbClr val="F2F3F8"/>
                </a:solidFill>
                <a:latin typeface="Arial" pitchFamily="34" charset="0"/>
                <a:ea typeface="Arial" pitchFamily="34" charset="-122"/>
                <a:cs typeface="Arial" pitchFamily="34" charset="-120"/>
              </a:rPr>
              <a:t>Taps one of three answers</a:t>
            </a:r>
            <a:endParaRPr lang="en-US" sz="900" dirty="0"/>
          </a:p>
        </p:txBody>
      </p:sp>
      <p:sp>
        <p:nvSpPr>
          <p:cNvPr id="39" name="Shape 37"/>
          <p:cNvSpPr/>
          <p:nvPr/>
        </p:nvSpPr>
        <p:spPr>
          <a:xfrm>
            <a:off x="502920" y="3090672"/>
            <a:ext cx="1335024" cy="914400"/>
          </a:xfrm>
          <a:prstGeom prst="roundRect">
            <a:avLst>
              <a:gd name="adj" fmla="val 5000"/>
            </a:avLst>
          </a:prstGeom>
          <a:solidFill>
            <a:srgbClr val="23263F"/>
          </a:solidFill>
          <a:ln w="12700">
            <a:solidFill>
              <a:srgbClr val="3D4370"/>
            </a:solidFill>
            <a:prstDash val="solid"/>
          </a:ln>
        </p:spPr>
      </p:sp>
      <p:sp>
        <p:nvSpPr>
          <p:cNvPr id="40" name="Text 38"/>
          <p:cNvSpPr txBox="1"/>
          <p:nvPr/>
        </p:nvSpPr>
        <p:spPr>
          <a:xfrm>
            <a:off x="576072" y="3090672"/>
            <a:ext cx="1188720" cy="914400"/>
          </a:xfrm>
          <a:prstGeom prst="rect">
            <a:avLst/>
          </a:prstGeom>
          <a:noFill/>
          <a:ln/>
        </p:spPr>
        <p:txBody>
          <a:bodyPr wrap="square" lIns="0" tIns="0" rIns="0" bIns="0" rtlCol="0" anchor="ctr"/>
          <a:lstStyle/>
          <a:p>
            <a:pPr indent="0" marL="0">
              <a:lnSpc>
                <a:spcPct val="110000"/>
              </a:lnSpc>
              <a:buNone/>
            </a:pPr>
            <a:r>
              <a:rPr lang="en-US" sz="950" b="1" dirty="0">
                <a:solidFill>
                  <a:srgbClr val="E0A458"/>
                </a:solidFill>
                <a:latin typeface="Arial" pitchFamily="34" charset="0"/>
                <a:ea typeface="Arial" pitchFamily="34" charset="-122"/>
                <a:cs typeface="Arial" pitchFamily="34" charset="-120"/>
              </a:rPr>
              <a:t>Front stage</a:t>
            </a:r>
            <a:endParaRPr lang="en-US" sz="950" dirty="0"/>
          </a:p>
          <a:p>
            <a:pPr indent="0" marL="0">
              <a:lnSpc>
                <a:spcPct val="110000"/>
              </a:lnSpc>
              <a:buNone/>
            </a:pPr>
            <a:r>
              <a:rPr lang="en-US" sz="950" b="1" dirty="0">
                <a:solidFill>
                  <a:srgbClr val="E0A458"/>
                </a:solidFill>
                <a:latin typeface="Arial" pitchFamily="34" charset="0"/>
                <a:ea typeface="Arial" pitchFamily="34" charset="-122"/>
                <a:cs typeface="Arial" pitchFamily="34" charset="-120"/>
              </a:rPr>
              <a:t>(visible)</a:t>
            </a:r>
            <a:endParaRPr lang="en-US" sz="950" dirty="0"/>
          </a:p>
        </p:txBody>
      </p:sp>
      <p:sp>
        <p:nvSpPr>
          <p:cNvPr id="41" name="Shape 39"/>
          <p:cNvSpPr/>
          <p:nvPr/>
        </p:nvSpPr>
        <p:spPr>
          <a:xfrm>
            <a:off x="1892808" y="3090672"/>
            <a:ext cx="1577340" cy="914400"/>
          </a:xfrm>
          <a:prstGeom prst="roundRect">
            <a:avLst>
              <a:gd name="adj" fmla="val 5000"/>
            </a:avLst>
          </a:prstGeom>
          <a:solidFill>
            <a:srgbClr val="3A3A62"/>
          </a:solidFill>
          <a:ln w="12700">
            <a:solidFill>
              <a:srgbClr val="E0A458"/>
            </a:solidFill>
            <a:prstDash val="solid"/>
          </a:ln>
        </p:spPr>
      </p:sp>
      <p:sp>
        <p:nvSpPr>
          <p:cNvPr id="42" name="Text 40"/>
          <p:cNvSpPr txBox="1"/>
          <p:nvPr/>
        </p:nvSpPr>
        <p:spPr>
          <a:xfrm>
            <a:off x="1984248" y="3090672"/>
            <a:ext cx="1394460" cy="914400"/>
          </a:xfrm>
          <a:prstGeom prst="rect">
            <a:avLst/>
          </a:prstGeom>
          <a:noFill/>
          <a:ln/>
        </p:spPr>
        <p:txBody>
          <a:bodyPr wrap="square" lIns="0" tIns="0" rIns="0" bIns="0" rtlCol="0" anchor="ctr"/>
          <a:lstStyle/>
          <a:p>
            <a:pPr indent="0" marL="0">
              <a:lnSpc>
                <a:spcPct val="114000"/>
              </a:lnSpc>
              <a:buNone/>
            </a:pPr>
            <a:r>
              <a:rPr lang="en-US" sz="900" dirty="0">
                <a:solidFill>
                  <a:srgbClr val="F2F3F8"/>
                </a:solidFill>
                <a:latin typeface="Arial" pitchFamily="34" charset="0"/>
                <a:ea typeface="Arial" pitchFamily="34" charset="-122"/>
                <a:cs typeface="Arial" pitchFamily="34" charset="-120"/>
              </a:rPr>
              <a:t>Welcome, live coaching, then the measurements</a:t>
            </a:r>
            <a:endParaRPr lang="en-US" sz="900" dirty="0"/>
          </a:p>
        </p:txBody>
      </p:sp>
      <p:sp>
        <p:nvSpPr>
          <p:cNvPr id="43" name="Shape 41"/>
          <p:cNvSpPr/>
          <p:nvPr/>
        </p:nvSpPr>
        <p:spPr>
          <a:xfrm>
            <a:off x="3525012" y="3090672"/>
            <a:ext cx="1577340" cy="914400"/>
          </a:xfrm>
          <a:prstGeom prst="roundRect">
            <a:avLst>
              <a:gd name="adj" fmla="val 5000"/>
            </a:avLst>
          </a:prstGeom>
          <a:solidFill>
            <a:srgbClr val="3A3A62"/>
          </a:solidFill>
          <a:ln w="12700">
            <a:solidFill>
              <a:srgbClr val="E0A458"/>
            </a:solidFill>
            <a:prstDash val="solid"/>
          </a:ln>
        </p:spPr>
      </p:sp>
      <p:sp>
        <p:nvSpPr>
          <p:cNvPr id="44" name="Text 42"/>
          <p:cNvSpPr txBox="1"/>
          <p:nvPr/>
        </p:nvSpPr>
        <p:spPr>
          <a:xfrm>
            <a:off x="3616452" y="3090672"/>
            <a:ext cx="1394460" cy="914400"/>
          </a:xfrm>
          <a:prstGeom prst="rect">
            <a:avLst/>
          </a:prstGeom>
          <a:noFill/>
          <a:ln/>
        </p:spPr>
        <p:txBody>
          <a:bodyPr wrap="square" lIns="0" tIns="0" rIns="0" bIns="0" rtlCol="0" anchor="ctr"/>
          <a:lstStyle/>
          <a:p>
            <a:pPr indent="0" marL="0">
              <a:lnSpc>
                <a:spcPct val="114000"/>
              </a:lnSpc>
              <a:buNone/>
            </a:pPr>
            <a:r>
              <a:rPr lang="en-US" sz="900" dirty="0">
                <a:solidFill>
                  <a:srgbClr val="F2F3F8"/>
                </a:solidFill>
                <a:latin typeface="Arial" pitchFamily="34" charset="0"/>
                <a:ea typeface="Arial" pitchFamily="34" charset="-122"/>
                <a:cs typeface="Arial" pitchFamily="34" charset="-120"/>
              </a:rPr>
              <a:t>Cut filters, brand list, saved preferences</a:t>
            </a:r>
            <a:endParaRPr lang="en-US" sz="900" dirty="0"/>
          </a:p>
        </p:txBody>
      </p:sp>
      <p:sp>
        <p:nvSpPr>
          <p:cNvPr id="45" name="Shape 43"/>
          <p:cNvSpPr/>
          <p:nvPr/>
        </p:nvSpPr>
        <p:spPr>
          <a:xfrm>
            <a:off x="5157216" y="3090672"/>
            <a:ext cx="1577340" cy="914400"/>
          </a:xfrm>
          <a:prstGeom prst="roundRect">
            <a:avLst>
              <a:gd name="adj" fmla="val 5000"/>
            </a:avLst>
          </a:prstGeom>
          <a:solidFill>
            <a:srgbClr val="3A3A62"/>
          </a:solidFill>
          <a:ln w="12700">
            <a:solidFill>
              <a:srgbClr val="E0A458"/>
            </a:solidFill>
            <a:prstDash val="solid"/>
          </a:ln>
        </p:spPr>
      </p:sp>
      <p:sp>
        <p:nvSpPr>
          <p:cNvPr id="46" name="Text 44"/>
          <p:cNvSpPr txBox="1"/>
          <p:nvPr/>
        </p:nvSpPr>
        <p:spPr>
          <a:xfrm>
            <a:off x="5248656" y="3090672"/>
            <a:ext cx="1394460" cy="914400"/>
          </a:xfrm>
          <a:prstGeom prst="rect">
            <a:avLst/>
          </a:prstGeom>
          <a:noFill/>
          <a:ln/>
        </p:spPr>
        <p:txBody>
          <a:bodyPr wrap="square" lIns="0" tIns="0" rIns="0" bIns="0" rtlCol="0" anchor="ctr"/>
          <a:lstStyle/>
          <a:p>
            <a:pPr indent="0" marL="0">
              <a:lnSpc>
                <a:spcPct val="114000"/>
              </a:lnSpc>
              <a:buNone/>
            </a:pPr>
            <a:r>
              <a:rPr lang="en-US" sz="900" dirty="0">
                <a:solidFill>
                  <a:srgbClr val="F2F3F8"/>
                </a:solidFill>
                <a:latin typeface="Arial" pitchFamily="34" charset="0"/>
                <a:ea typeface="Arial" pitchFamily="34" charset="-122"/>
                <a:cs typeface="Arial" pitchFamily="34" charset="-120"/>
              </a:rPr>
              <a:t>Catalogue with your size on each item</a:t>
            </a:r>
            <a:endParaRPr lang="en-US" sz="900" dirty="0"/>
          </a:p>
        </p:txBody>
      </p:sp>
      <p:sp>
        <p:nvSpPr>
          <p:cNvPr id="47" name="Shape 45"/>
          <p:cNvSpPr/>
          <p:nvPr/>
        </p:nvSpPr>
        <p:spPr>
          <a:xfrm>
            <a:off x="6789420" y="3090672"/>
            <a:ext cx="1577340" cy="914400"/>
          </a:xfrm>
          <a:prstGeom prst="roundRect">
            <a:avLst>
              <a:gd name="adj" fmla="val 5000"/>
            </a:avLst>
          </a:prstGeom>
          <a:solidFill>
            <a:srgbClr val="3A3A62"/>
          </a:solidFill>
          <a:ln w="12700">
            <a:solidFill>
              <a:srgbClr val="E0A458"/>
            </a:solidFill>
            <a:prstDash val="solid"/>
          </a:ln>
        </p:spPr>
      </p:sp>
      <p:sp>
        <p:nvSpPr>
          <p:cNvPr id="48" name="Text 46"/>
          <p:cNvSpPr txBox="1"/>
          <p:nvPr/>
        </p:nvSpPr>
        <p:spPr>
          <a:xfrm>
            <a:off x="6880860" y="3090672"/>
            <a:ext cx="1394460" cy="914400"/>
          </a:xfrm>
          <a:prstGeom prst="rect">
            <a:avLst/>
          </a:prstGeom>
          <a:noFill/>
          <a:ln/>
        </p:spPr>
        <p:txBody>
          <a:bodyPr wrap="square" lIns="0" tIns="0" rIns="0" bIns="0" rtlCol="0" anchor="ctr"/>
          <a:lstStyle/>
          <a:p>
            <a:pPr indent="0" marL="0">
              <a:lnSpc>
                <a:spcPct val="114000"/>
              </a:lnSpc>
              <a:buNone/>
            </a:pPr>
            <a:r>
              <a:rPr lang="en-US" sz="900" dirty="0">
                <a:solidFill>
                  <a:srgbClr val="F2F3F8"/>
                </a:solidFill>
                <a:latin typeface="Arial" pitchFamily="34" charset="0"/>
                <a:ea typeface="Arial" pitchFamily="34" charset="-122"/>
                <a:cs typeface="Arial" pitchFamily="34" charset="-120"/>
              </a:rPr>
              <a:t>Size, verdict, four sub-scores, “why this size”</a:t>
            </a:r>
            <a:endParaRPr lang="en-US" sz="900" dirty="0"/>
          </a:p>
        </p:txBody>
      </p:sp>
      <p:sp>
        <p:nvSpPr>
          <p:cNvPr id="49" name="Shape 47"/>
          <p:cNvSpPr/>
          <p:nvPr/>
        </p:nvSpPr>
        <p:spPr>
          <a:xfrm>
            <a:off x="8421624" y="3090672"/>
            <a:ext cx="1577340" cy="914400"/>
          </a:xfrm>
          <a:prstGeom prst="roundRect">
            <a:avLst>
              <a:gd name="adj" fmla="val 5000"/>
            </a:avLst>
          </a:prstGeom>
          <a:solidFill>
            <a:srgbClr val="3A3A62"/>
          </a:solidFill>
          <a:ln w="12700">
            <a:solidFill>
              <a:srgbClr val="E0A458"/>
            </a:solidFill>
            <a:prstDash val="solid"/>
          </a:ln>
        </p:spPr>
      </p:sp>
      <p:sp>
        <p:nvSpPr>
          <p:cNvPr id="50" name="Text 48"/>
          <p:cNvSpPr txBox="1"/>
          <p:nvPr/>
        </p:nvSpPr>
        <p:spPr>
          <a:xfrm>
            <a:off x="8513064" y="3090672"/>
            <a:ext cx="1394460" cy="914400"/>
          </a:xfrm>
          <a:prstGeom prst="rect">
            <a:avLst/>
          </a:prstGeom>
          <a:noFill/>
          <a:ln/>
        </p:spPr>
        <p:txBody>
          <a:bodyPr wrap="square" lIns="0" tIns="0" rIns="0" bIns="0" rtlCol="0" anchor="ctr"/>
          <a:lstStyle/>
          <a:p>
            <a:pPr indent="0" marL="0">
              <a:lnSpc>
                <a:spcPct val="114000"/>
              </a:lnSpc>
              <a:buNone/>
            </a:pPr>
            <a:r>
              <a:rPr lang="en-US" sz="900" dirty="0">
                <a:solidFill>
                  <a:srgbClr val="F2F3F8"/>
                </a:solidFill>
                <a:latin typeface="Arial" pitchFamily="34" charset="0"/>
                <a:ea typeface="Arial" pitchFamily="34" charset="-122"/>
                <a:cs typeface="Arial" pitchFamily="34" charset="-120"/>
              </a:rPr>
              <a:t>Checkout, confirmation, dispatch notices</a:t>
            </a:r>
            <a:endParaRPr lang="en-US" sz="900" dirty="0"/>
          </a:p>
        </p:txBody>
      </p:sp>
      <p:sp>
        <p:nvSpPr>
          <p:cNvPr id="51" name="Shape 49"/>
          <p:cNvSpPr/>
          <p:nvPr/>
        </p:nvSpPr>
        <p:spPr>
          <a:xfrm>
            <a:off x="10053828" y="3090672"/>
            <a:ext cx="1577340" cy="914400"/>
          </a:xfrm>
          <a:prstGeom prst="roundRect">
            <a:avLst>
              <a:gd name="adj" fmla="val 5000"/>
            </a:avLst>
          </a:prstGeom>
          <a:solidFill>
            <a:srgbClr val="3A3A62"/>
          </a:solidFill>
          <a:ln w="12700">
            <a:solidFill>
              <a:srgbClr val="E0A458"/>
            </a:solidFill>
            <a:prstDash val="solid"/>
          </a:ln>
        </p:spPr>
      </p:sp>
      <p:sp>
        <p:nvSpPr>
          <p:cNvPr id="52" name="Text 50"/>
          <p:cNvSpPr txBox="1"/>
          <p:nvPr/>
        </p:nvSpPr>
        <p:spPr>
          <a:xfrm>
            <a:off x="10145268" y="3090672"/>
            <a:ext cx="1394460" cy="914400"/>
          </a:xfrm>
          <a:prstGeom prst="rect">
            <a:avLst/>
          </a:prstGeom>
          <a:noFill/>
          <a:ln/>
        </p:spPr>
        <p:txBody>
          <a:bodyPr wrap="square" lIns="0" tIns="0" rIns="0" bIns="0" rtlCol="0" anchor="ctr"/>
          <a:lstStyle/>
          <a:p>
            <a:pPr indent="0" marL="0">
              <a:lnSpc>
                <a:spcPct val="114000"/>
              </a:lnSpc>
              <a:buNone/>
            </a:pPr>
            <a:r>
              <a:rPr lang="en-US" sz="900" dirty="0">
                <a:solidFill>
                  <a:srgbClr val="F2F3F8"/>
                </a:solidFill>
                <a:latin typeface="Arial" pitchFamily="34" charset="0"/>
                <a:ea typeface="Arial" pitchFamily="34" charset="-122"/>
                <a:cs typeface="Arial" pitchFamily="34" charset="-120"/>
              </a:rPr>
              <a:t>One push, one question</a:t>
            </a:r>
            <a:endParaRPr lang="en-US" sz="900" dirty="0"/>
          </a:p>
        </p:txBody>
      </p:sp>
      <p:sp>
        <p:nvSpPr>
          <p:cNvPr id="53" name="Shape 51"/>
          <p:cNvSpPr/>
          <p:nvPr/>
        </p:nvSpPr>
        <p:spPr>
          <a:xfrm>
            <a:off x="502920" y="4059936"/>
            <a:ext cx="1335024" cy="914400"/>
          </a:xfrm>
          <a:prstGeom prst="roundRect">
            <a:avLst>
              <a:gd name="adj" fmla="val 5000"/>
            </a:avLst>
          </a:prstGeom>
          <a:solidFill>
            <a:srgbClr val="23263F"/>
          </a:solidFill>
          <a:ln w="12700">
            <a:solidFill>
              <a:srgbClr val="3D4370"/>
            </a:solidFill>
            <a:prstDash val="solid"/>
          </a:ln>
        </p:spPr>
      </p:sp>
      <p:sp>
        <p:nvSpPr>
          <p:cNvPr id="54" name="Text 52"/>
          <p:cNvSpPr txBox="1"/>
          <p:nvPr/>
        </p:nvSpPr>
        <p:spPr>
          <a:xfrm>
            <a:off x="576072" y="4059936"/>
            <a:ext cx="1188720" cy="914400"/>
          </a:xfrm>
          <a:prstGeom prst="rect">
            <a:avLst/>
          </a:prstGeom>
          <a:noFill/>
          <a:ln/>
        </p:spPr>
        <p:txBody>
          <a:bodyPr wrap="square" lIns="0" tIns="0" rIns="0" bIns="0" rtlCol="0" anchor="ctr"/>
          <a:lstStyle/>
          <a:p>
            <a:pPr indent="0" marL="0">
              <a:lnSpc>
                <a:spcPct val="110000"/>
              </a:lnSpc>
              <a:buNone/>
            </a:pPr>
            <a:r>
              <a:rPr lang="en-US" sz="950" b="1" dirty="0">
                <a:solidFill>
                  <a:srgbClr val="E0A458"/>
                </a:solidFill>
                <a:latin typeface="Arial" pitchFamily="34" charset="0"/>
                <a:ea typeface="Arial" pitchFamily="34" charset="-122"/>
                <a:cs typeface="Arial" pitchFamily="34" charset="-120"/>
              </a:rPr>
              <a:t>Back stage</a:t>
            </a:r>
            <a:endParaRPr lang="en-US" sz="950" dirty="0"/>
          </a:p>
          <a:p>
            <a:pPr indent="0" marL="0">
              <a:lnSpc>
                <a:spcPct val="110000"/>
              </a:lnSpc>
              <a:buNone/>
            </a:pPr>
            <a:r>
              <a:rPr lang="en-US" sz="950" b="1" dirty="0">
                <a:solidFill>
                  <a:srgbClr val="E0A458"/>
                </a:solidFill>
                <a:latin typeface="Arial" pitchFamily="34" charset="0"/>
                <a:ea typeface="Arial" pitchFamily="34" charset="-122"/>
                <a:cs typeface="Arial" pitchFamily="34" charset="-120"/>
              </a:rPr>
              <a:t>(internal)</a:t>
            </a:r>
            <a:endParaRPr lang="en-US" sz="950" dirty="0"/>
          </a:p>
        </p:txBody>
      </p:sp>
      <p:sp>
        <p:nvSpPr>
          <p:cNvPr id="55" name="Shape 53"/>
          <p:cNvSpPr/>
          <p:nvPr/>
        </p:nvSpPr>
        <p:spPr>
          <a:xfrm>
            <a:off x="1892808" y="4059936"/>
            <a:ext cx="1577340" cy="914400"/>
          </a:xfrm>
          <a:prstGeom prst="roundRect">
            <a:avLst>
              <a:gd name="adj" fmla="val 5000"/>
            </a:avLst>
          </a:prstGeom>
          <a:solidFill>
            <a:srgbClr val="2F3355"/>
          </a:solidFill>
          <a:ln w="12700">
            <a:solidFill>
              <a:srgbClr val="3D4370"/>
            </a:solidFill>
            <a:prstDash val="solid"/>
          </a:ln>
        </p:spPr>
      </p:sp>
      <p:sp>
        <p:nvSpPr>
          <p:cNvPr id="56" name="Text 54"/>
          <p:cNvSpPr txBox="1"/>
          <p:nvPr/>
        </p:nvSpPr>
        <p:spPr>
          <a:xfrm>
            <a:off x="1984248" y="4059936"/>
            <a:ext cx="1394460" cy="914400"/>
          </a:xfrm>
          <a:prstGeom prst="rect">
            <a:avLst/>
          </a:prstGeom>
          <a:noFill/>
          <a:ln/>
        </p:spPr>
        <p:txBody>
          <a:bodyPr wrap="square" lIns="0" tIns="0" rIns="0" bIns="0" rtlCol="0" anchor="ctr"/>
          <a:lstStyle/>
          <a:p>
            <a:pPr indent="0" marL="0">
              <a:lnSpc>
                <a:spcPct val="114000"/>
              </a:lnSpc>
              <a:buNone/>
            </a:pPr>
            <a:r>
              <a:rPr lang="en-US" sz="900" dirty="0">
                <a:solidFill>
                  <a:srgbClr val="F2F3F8"/>
                </a:solidFill>
                <a:latin typeface="Arial" pitchFamily="34" charset="0"/>
                <a:ea typeface="Arial" pitchFamily="34" charset="-122"/>
                <a:cs typeface="Arial" pitchFamily="34" charset="-120"/>
              </a:rPr>
              <a:t>Consent logged · 3D fit · nine measurements · sanity check</a:t>
            </a:r>
            <a:endParaRPr lang="en-US" sz="900" dirty="0"/>
          </a:p>
        </p:txBody>
      </p:sp>
      <p:sp>
        <p:nvSpPr>
          <p:cNvPr id="57" name="Shape 55"/>
          <p:cNvSpPr/>
          <p:nvPr/>
        </p:nvSpPr>
        <p:spPr>
          <a:xfrm>
            <a:off x="3525012" y="4059936"/>
            <a:ext cx="1577340" cy="914400"/>
          </a:xfrm>
          <a:prstGeom prst="roundRect">
            <a:avLst>
              <a:gd name="adj" fmla="val 5000"/>
            </a:avLst>
          </a:prstGeom>
          <a:solidFill>
            <a:srgbClr val="2F3355"/>
          </a:solidFill>
          <a:ln w="12700">
            <a:solidFill>
              <a:srgbClr val="3D4370"/>
            </a:solidFill>
            <a:prstDash val="solid"/>
          </a:ln>
        </p:spPr>
      </p:sp>
      <p:sp>
        <p:nvSpPr>
          <p:cNvPr id="58" name="Text 56"/>
          <p:cNvSpPr txBox="1"/>
          <p:nvPr/>
        </p:nvSpPr>
        <p:spPr>
          <a:xfrm>
            <a:off x="3616452" y="4059936"/>
            <a:ext cx="1394460" cy="914400"/>
          </a:xfrm>
          <a:prstGeom prst="rect">
            <a:avLst/>
          </a:prstGeom>
          <a:noFill/>
          <a:ln/>
        </p:spPr>
        <p:txBody>
          <a:bodyPr wrap="square" lIns="0" tIns="0" rIns="0" bIns="0" rtlCol="0" anchor="ctr"/>
          <a:lstStyle/>
          <a:p>
            <a:pPr indent="0" marL="0">
              <a:lnSpc>
                <a:spcPct val="114000"/>
              </a:lnSpc>
              <a:buNone/>
            </a:pPr>
            <a:r>
              <a:rPr lang="en-US" sz="900" dirty="0">
                <a:solidFill>
                  <a:srgbClr val="F2F3F8"/>
                </a:solidFill>
                <a:latin typeface="Arial" pitchFamily="34" charset="0"/>
                <a:ea typeface="Arial" pitchFamily="34" charset="-122"/>
                <a:cs typeface="Arial" pitchFamily="34" charset="-120"/>
              </a:rPr>
              <a:t>Preferences stored, catalogue query built</a:t>
            </a:r>
            <a:endParaRPr lang="en-US" sz="900" dirty="0"/>
          </a:p>
        </p:txBody>
      </p:sp>
      <p:sp>
        <p:nvSpPr>
          <p:cNvPr id="59" name="Shape 57"/>
          <p:cNvSpPr/>
          <p:nvPr/>
        </p:nvSpPr>
        <p:spPr>
          <a:xfrm>
            <a:off x="5157216" y="4059936"/>
            <a:ext cx="1577340" cy="914400"/>
          </a:xfrm>
          <a:prstGeom prst="roundRect">
            <a:avLst>
              <a:gd name="adj" fmla="val 5000"/>
            </a:avLst>
          </a:prstGeom>
          <a:solidFill>
            <a:srgbClr val="2F3355"/>
          </a:solidFill>
          <a:ln w="12700">
            <a:solidFill>
              <a:srgbClr val="3D4370"/>
            </a:solidFill>
            <a:prstDash val="solid"/>
          </a:ln>
        </p:spPr>
      </p:sp>
      <p:sp>
        <p:nvSpPr>
          <p:cNvPr id="60" name="Text 58"/>
          <p:cNvSpPr txBox="1"/>
          <p:nvPr/>
        </p:nvSpPr>
        <p:spPr>
          <a:xfrm>
            <a:off x="5248656" y="4059936"/>
            <a:ext cx="1394460" cy="914400"/>
          </a:xfrm>
          <a:prstGeom prst="rect">
            <a:avLst/>
          </a:prstGeom>
          <a:noFill/>
          <a:ln/>
        </p:spPr>
        <p:txBody>
          <a:bodyPr wrap="square" lIns="0" tIns="0" rIns="0" bIns="0" rtlCol="0" anchor="ctr"/>
          <a:lstStyle/>
          <a:p>
            <a:pPr indent="0" marL="0">
              <a:lnSpc>
                <a:spcPct val="114000"/>
              </a:lnSpc>
              <a:buNone/>
            </a:pPr>
            <a:r>
              <a:rPr lang="en-US" sz="900" dirty="0">
                <a:solidFill>
                  <a:srgbClr val="F2F3F8"/>
                </a:solidFill>
                <a:latin typeface="Arial" pitchFamily="34" charset="0"/>
                <a:ea typeface="Arial" pitchFamily="34" charset="-122"/>
                <a:cs typeface="Arial" pitchFamily="34" charset="-120"/>
              </a:rPr>
              <a:t>Size charts read per brand · calculator scores every product · brand calibration applied</a:t>
            </a:r>
            <a:endParaRPr lang="en-US" sz="900" dirty="0"/>
          </a:p>
        </p:txBody>
      </p:sp>
      <p:sp>
        <p:nvSpPr>
          <p:cNvPr id="61" name="Shape 59"/>
          <p:cNvSpPr/>
          <p:nvPr/>
        </p:nvSpPr>
        <p:spPr>
          <a:xfrm>
            <a:off x="6789420" y="4059936"/>
            <a:ext cx="1577340" cy="914400"/>
          </a:xfrm>
          <a:prstGeom prst="roundRect">
            <a:avLst>
              <a:gd name="adj" fmla="val 5000"/>
            </a:avLst>
          </a:prstGeom>
          <a:solidFill>
            <a:srgbClr val="2F3355"/>
          </a:solidFill>
          <a:ln w="12700">
            <a:solidFill>
              <a:srgbClr val="3D4370"/>
            </a:solidFill>
            <a:prstDash val="solid"/>
          </a:ln>
        </p:spPr>
      </p:sp>
      <p:sp>
        <p:nvSpPr>
          <p:cNvPr id="62" name="Text 60"/>
          <p:cNvSpPr txBox="1"/>
          <p:nvPr/>
        </p:nvSpPr>
        <p:spPr>
          <a:xfrm>
            <a:off x="6880860" y="4059936"/>
            <a:ext cx="1394460" cy="914400"/>
          </a:xfrm>
          <a:prstGeom prst="rect">
            <a:avLst/>
          </a:prstGeom>
          <a:noFill/>
          <a:ln/>
        </p:spPr>
        <p:txBody>
          <a:bodyPr wrap="square" lIns="0" tIns="0" rIns="0" bIns="0" rtlCol="0" anchor="ctr"/>
          <a:lstStyle/>
          <a:p>
            <a:pPr indent="0" marL="0">
              <a:lnSpc>
                <a:spcPct val="114000"/>
              </a:lnSpc>
              <a:buNone/>
            </a:pPr>
            <a:r>
              <a:rPr lang="en-US" sz="900" dirty="0">
                <a:solidFill>
                  <a:srgbClr val="F2F3F8"/>
                </a:solidFill>
                <a:latin typeface="Arial" pitchFamily="34" charset="0"/>
                <a:ea typeface="Arial" pitchFamily="34" charset="-122"/>
                <a:cs typeface="Arial" pitchFamily="34" charset="-120"/>
              </a:rPr>
              <a:t>Advisor explains the calculation; every claim checked against it</a:t>
            </a:r>
            <a:endParaRPr lang="en-US" sz="900" dirty="0"/>
          </a:p>
        </p:txBody>
      </p:sp>
      <p:sp>
        <p:nvSpPr>
          <p:cNvPr id="63" name="Shape 61"/>
          <p:cNvSpPr/>
          <p:nvPr/>
        </p:nvSpPr>
        <p:spPr>
          <a:xfrm>
            <a:off x="8421624" y="4059936"/>
            <a:ext cx="1577340" cy="914400"/>
          </a:xfrm>
          <a:prstGeom prst="roundRect">
            <a:avLst>
              <a:gd name="adj" fmla="val 5000"/>
            </a:avLst>
          </a:prstGeom>
          <a:solidFill>
            <a:srgbClr val="2F3355"/>
          </a:solidFill>
          <a:ln w="12700">
            <a:solidFill>
              <a:srgbClr val="3D4370"/>
            </a:solidFill>
            <a:prstDash val="solid"/>
          </a:ln>
        </p:spPr>
      </p:sp>
      <p:sp>
        <p:nvSpPr>
          <p:cNvPr id="64" name="Text 62"/>
          <p:cNvSpPr txBox="1"/>
          <p:nvPr/>
        </p:nvSpPr>
        <p:spPr>
          <a:xfrm>
            <a:off x="8513064" y="4059936"/>
            <a:ext cx="1394460" cy="914400"/>
          </a:xfrm>
          <a:prstGeom prst="rect">
            <a:avLst/>
          </a:prstGeom>
          <a:noFill/>
          <a:ln/>
        </p:spPr>
        <p:txBody>
          <a:bodyPr wrap="square" lIns="0" tIns="0" rIns="0" bIns="0" rtlCol="0" anchor="ctr"/>
          <a:lstStyle/>
          <a:p>
            <a:pPr indent="0" marL="0">
              <a:lnSpc>
                <a:spcPct val="114000"/>
              </a:lnSpc>
              <a:buNone/>
            </a:pPr>
            <a:r>
              <a:rPr lang="en-US" sz="900" dirty="0">
                <a:solidFill>
                  <a:srgbClr val="F2F3F8"/>
                </a:solidFill>
                <a:latin typeface="Arial" pitchFamily="34" charset="0"/>
                <a:ea typeface="Arial" pitchFamily="34" charset="-122"/>
                <a:cs typeface="Arial" pitchFamily="34" charset="-120"/>
              </a:rPr>
              <a:t>Order created, payment captured, brand notified, fulfilment tracked</a:t>
            </a:r>
            <a:endParaRPr lang="en-US" sz="900" dirty="0"/>
          </a:p>
        </p:txBody>
      </p:sp>
      <p:sp>
        <p:nvSpPr>
          <p:cNvPr id="65" name="Shape 63"/>
          <p:cNvSpPr/>
          <p:nvPr/>
        </p:nvSpPr>
        <p:spPr>
          <a:xfrm>
            <a:off x="10053828" y="4059936"/>
            <a:ext cx="1577340" cy="914400"/>
          </a:xfrm>
          <a:prstGeom prst="roundRect">
            <a:avLst>
              <a:gd name="adj" fmla="val 5000"/>
            </a:avLst>
          </a:prstGeom>
          <a:solidFill>
            <a:srgbClr val="2F3355"/>
          </a:solidFill>
          <a:ln w="12700">
            <a:solidFill>
              <a:srgbClr val="3D4370"/>
            </a:solidFill>
            <a:prstDash val="solid"/>
          </a:ln>
        </p:spPr>
      </p:sp>
      <p:sp>
        <p:nvSpPr>
          <p:cNvPr id="66" name="Text 64"/>
          <p:cNvSpPr txBox="1"/>
          <p:nvPr/>
        </p:nvSpPr>
        <p:spPr>
          <a:xfrm>
            <a:off x="10145268" y="4059936"/>
            <a:ext cx="1394460" cy="914400"/>
          </a:xfrm>
          <a:prstGeom prst="rect">
            <a:avLst/>
          </a:prstGeom>
          <a:noFill/>
          <a:ln/>
        </p:spPr>
        <p:txBody>
          <a:bodyPr wrap="square" lIns="0" tIns="0" rIns="0" bIns="0" rtlCol="0" anchor="ctr"/>
          <a:lstStyle/>
          <a:p>
            <a:pPr indent="0" marL="0">
              <a:lnSpc>
                <a:spcPct val="114000"/>
              </a:lnSpc>
              <a:buNone/>
            </a:pPr>
            <a:r>
              <a:rPr lang="en-US" sz="900" dirty="0">
                <a:solidFill>
                  <a:srgbClr val="F2F3F8"/>
                </a:solidFill>
                <a:latin typeface="Arial" pitchFamily="34" charset="0"/>
                <a:ea typeface="Arial" pitchFamily="34" charset="-122"/>
                <a:cs typeface="Arial" pitchFamily="34" charset="-120"/>
              </a:rPr>
              <a:t>Answer becomes a structured finding; calibration updated</a:t>
            </a:r>
            <a:endParaRPr lang="en-US" sz="900" dirty="0"/>
          </a:p>
        </p:txBody>
      </p:sp>
      <p:sp>
        <p:nvSpPr>
          <p:cNvPr id="67" name="Shape 65"/>
          <p:cNvSpPr/>
          <p:nvPr/>
        </p:nvSpPr>
        <p:spPr>
          <a:xfrm>
            <a:off x="502920" y="5029200"/>
            <a:ext cx="1335024" cy="731520"/>
          </a:xfrm>
          <a:prstGeom prst="roundRect">
            <a:avLst>
              <a:gd name="adj" fmla="val 6250"/>
            </a:avLst>
          </a:prstGeom>
          <a:solidFill>
            <a:srgbClr val="23263F"/>
          </a:solidFill>
          <a:ln w="12700">
            <a:solidFill>
              <a:srgbClr val="3D4370"/>
            </a:solidFill>
            <a:prstDash val="solid"/>
          </a:ln>
        </p:spPr>
      </p:sp>
      <p:sp>
        <p:nvSpPr>
          <p:cNvPr id="68" name="Text 66"/>
          <p:cNvSpPr txBox="1"/>
          <p:nvPr/>
        </p:nvSpPr>
        <p:spPr>
          <a:xfrm>
            <a:off x="576072" y="5029200"/>
            <a:ext cx="1188720" cy="731520"/>
          </a:xfrm>
          <a:prstGeom prst="rect">
            <a:avLst/>
          </a:prstGeom>
          <a:noFill/>
          <a:ln/>
        </p:spPr>
        <p:txBody>
          <a:bodyPr wrap="square" lIns="0" tIns="0" rIns="0" bIns="0" rtlCol="0" anchor="ctr"/>
          <a:lstStyle/>
          <a:p>
            <a:pPr indent="0" marL="0">
              <a:lnSpc>
                <a:spcPct val="110000"/>
              </a:lnSpc>
              <a:buNone/>
            </a:pPr>
            <a:r>
              <a:rPr lang="en-US" sz="950" b="1" dirty="0">
                <a:solidFill>
                  <a:srgbClr val="E0A458"/>
                </a:solidFill>
                <a:latin typeface="Arial" pitchFamily="34" charset="0"/>
                <a:ea typeface="Arial" pitchFamily="34" charset="-122"/>
                <a:cs typeface="Arial" pitchFamily="34" charset="-120"/>
              </a:rPr>
              <a:t>Support</a:t>
            </a:r>
            <a:endParaRPr lang="en-US" sz="950" dirty="0"/>
          </a:p>
          <a:p>
            <a:pPr indent="0" marL="0">
              <a:lnSpc>
                <a:spcPct val="110000"/>
              </a:lnSpc>
              <a:buNone/>
            </a:pPr>
            <a:r>
              <a:rPr lang="en-US" sz="950" b="1" dirty="0">
                <a:solidFill>
                  <a:srgbClr val="E0A458"/>
                </a:solidFill>
                <a:latin typeface="Arial" pitchFamily="34" charset="0"/>
                <a:ea typeface="Arial" pitchFamily="34" charset="-122"/>
                <a:cs typeface="Arial" pitchFamily="34" charset="-120"/>
              </a:rPr>
              <a:t>processes</a:t>
            </a:r>
            <a:endParaRPr lang="en-US" sz="950" dirty="0"/>
          </a:p>
        </p:txBody>
      </p:sp>
      <p:sp>
        <p:nvSpPr>
          <p:cNvPr id="69" name="Shape 67"/>
          <p:cNvSpPr/>
          <p:nvPr/>
        </p:nvSpPr>
        <p:spPr>
          <a:xfrm>
            <a:off x="1892808" y="5029200"/>
            <a:ext cx="1577340" cy="731520"/>
          </a:xfrm>
          <a:prstGeom prst="roundRect">
            <a:avLst>
              <a:gd name="adj" fmla="val 6250"/>
            </a:avLst>
          </a:prstGeom>
          <a:solidFill>
            <a:srgbClr val="252943"/>
          </a:solidFill>
          <a:ln w="12700">
            <a:solidFill>
              <a:srgbClr val="252943"/>
            </a:solidFill>
            <a:prstDash val="solid"/>
          </a:ln>
        </p:spPr>
      </p:sp>
      <p:sp>
        <p:nvSpPr>
          <p:cNvPr id="70" name="Text 68"/>
          <p:cNvSpPr txBox="1"/>
          <p:nvPr/>
        </p:nvSpPr>
        <p:spPr>
          <a:xfrm>
            <a:off x="1984248" y="5029200"/>
            <a:ext cx="1394460" cy="731520"/>
          </a:xfrm>
          <a:prstGeom prst="rect">
            <a:avLst/>
          </a:prstGeom>
          <a:noFill/>
          <a:ln/>
        </p:spPr>
        <p:txBody>
          <a:bodyPr wrap="square" lIns="0" tIns="0" rIns="0" bIns="0" rtlCol="0" anchor="ctr"/>
          <a:lstStyle/>
          <a:p>
            <a:pPr indent="0" marL="0">
              <a:lnSpc>
                <a:spcPct val="114000"/>
              </a:lnSpc>
              <a:buNone/>
            </a:pPr>
            <a:r>
              <a:rPr lang="en-US" sz="850" dirty="0">
                <a:solidFill>
                  <a:srgbClr val="9BA1C1"/>
                </a:solidFill>
                <a:latin typeface="Arial" pitchFamily="34" charset="0"/>
                <a:ea typeface="Arial" pitchFamily="34" charset="-122"/>
                <a:cs typeface="Arial" pitchFamily="34" charset="-120"/>
              </a:rPr>
              <a:t>Auth, consent ledger, GPU worker, reference body data</a:t>
            </a:r>
            <a:endParaRPr lang="en-US" sz="850" dirty="0"/>
          </a:p>
        </p:txBody>
      </p:sp>
      <p:sp>
        <p:nvSpPr>
          <p:cNvPr id="71" name="Shape 69"/>
          <p:cNvSpPr/>
          <p:nvPr/>
        </p:nvSpPr>
        <p:spPr>
          <a:xfrm>
            <a:off x="3525012" y="5029200"/>
            <a:ext cx="1577340" cy="731520"/>
          </a:xfrm>
          <a:prstGeom prst="roundRect">
            <a:avLst>
              <a:gd name="adj" fmla="val 6250"/>
            </a:avLst>
          </a:prstGeom>
          <a:solidFill>
            <a:srgbClr val="252943"/>
          </a:solidFill>
          <a:ln w="12700">
            <a:solidFill>
              <a:srgbClr val="252943"/>
            </a:solidFill>
            <a:prstDash val="solid"/>
          </a:ln>
        </p:spPr>
      </p:sp>
      <p:sp>
        <p:nvSpPr>
          <p:cNvPr id="72" name="Text 70"/>
          <p:cNvSpPr txBox="1"/>
          <p:nvPr/>
        </p:nvSpPr>
        <p:spPr>
          <a:xfrm>
            <a:off x="3616452" y="5029200"/>
            <a:ext cx="1394460" cy="731520"/>
          </a:xfrm>
          <a:prstGeom prst="rect">
            <a:avLst/>
          </a:prstGeom>
          <a:noFill/>
          <a:ln/>
        </p:spPr>
        <p:txBody>
          <a:bodyPr wrap="square" lIns="0" tIns="0" rIns="0" bIns="0" rtlCol="0" anchor="ctr"/>
          <a:lstStyle/>
          <a:p>
            <a:pPr indent="0" marL="0">
              <a:lnSpc>
                <a:spcPct val="114000"/>
              </a:lnSpc>
              <a:buNone/>
            </a:pPr>
            <a:r>
              <a:rPr lang="en-US" sz="850" dirty="0">
                <a:solidFill>
                  <a:srgbClr val="9BA1C1"/>
                </a:solidFill>
                <a:latin typeface="Arial" pitchFamily="34" charset="0"/>
                <a:ea typeface="Arial" pitchFamily="34" charset="-122"/>
                <a:cs typeface="Arial" pitchFamily="34" charset="-120"/>
              </a:rPr>
              <a:t>Brand and product database</a:t>
            </a:r>
            <a:endParaRPr lang="en-US" sz="850" dirty="0"/>
          </a:p>
        </p:txBody>
      </p:sp>
      <p:sp>
        <p:nvSpPr>
          <p:cNvPr id="73" name="Shape 71"/>
          <p:cNvSpPr/>
          <p:nvPr/>
        </p:nvSpPr>
        <p:spPr>
          <a:xfrm>
            <a:off x="5157216" y="5029200"/>
            <a:ext cx="1577340" cy="731520"/>
          </a:xfrm>
          <a:prstGeom prst="roundRect">
            <a:avLst>
              <a:gd name="adj" fmla="val 6250"/>
            </a:avLst>
          </a:prstGeom>
          <a:solidFill>
            <a:srgbClr val="252943"/>
          </a:solidFill>
          <a:ln w="12700">
            <a:solidFill>
              <a:srgbClr val="252943"/>
            </a:solidFill>
            <a:prstDash val="solid"/>
          </a:ln>
        </p:spPr>
      </p:sp>
      <p:sp>
        <p:nvSpPr>
          <p:cNvPr id="74" name="Text 72"/>
          <p:cNvSpPr txBox="1"/>
          <p:nvPr/>
        </p:nvSpPr>
        <p:spPr>
          <a:xfrm>
            <a:off x="5248656" y="5029200"/>
            <a:ext cx="1394460" cy="731520"/>
          </a:xfrm>
          <a:prstGeom prst="rect">
            <a:avLst/>
          </a:prstGeom>
          <a:noFill/>
          <a:ln/>
        </p:spPr>
        <p:txBody>
          <a:bodyPr wrap="square" lIns="0" tIns="0" rIns="0" bIns="0" rtlCol="0" anchor="ctr"/>
          <a:lstStyle/>
          <a:p>
            <a:pPr indent="0" marL="0">
              <a:lnSpc>
                <a:spcPct val="114000"/>
              </a:lnSpc>
              <a:buNone/>
            </a:pPr>
            <a:r>
              <a:rPr lang="en-US" sz="850" dirty="0">
                <a:solidFill>
                  <a:srgbClr val="9BA1C1"/>
                </a:solidFill>
                <a:latin typeface="Arial" pitchFamily="34" charset="0"/>
                <a:ea typeface="Arial" pitchFamily="34" charset="-122"/>
                <a:cs typeface="Arial" pitchFamily="34" charset="-120"/>
              </a:rPr>
              <a:t>Size-chart database with a data-quality tier, similar-body search</a:t>
            </a:r>
            <a:endParaRPr lang="en-US" sz="850" dirty="0"/>
          </a:p>
        </p:txBody>
      </p:sp>
      <p:sp>
        <p:nvSpPr>
          <p:cNvPr id="75" name="Shape 73"/>
          <p:cNvSpPr/>
          <p:nvPr/>
        </p:nvSpPr>
        <p:spPr>
          <a:xfrm>
            <a:off x="6789420" y="5029200"/>
            <a:ext cx="1577340" cy="731520"/>
          </a:xfrm>
          <a:prstGeom prst="roundRect">
            <a:avLst>
              <a:gd name="adj" fmla="val 6250"/>
            </a:avLst>
          </a:prstGeom>
          <a:solidFill>
            <a:srgbClr val="252943"/>
          </a:solidFill>
          <a:ln w="12700">
            <a:solidFill>
              <a:srgbClr val="252943"/>
            </a:solidFill>
            <a:prstDash val="solid"/>
          </a:ln>
        </p:spPr>
      </p:sp>
      <p:sp>
        <p:nvSpPr>
          <p:cNvPr id="76" name="Text 74"/>
          <p:cNvSpPr txBox="1"/>
          <p:nvPr/>
        </p:nvSpPr>
        <p:spPr>
          <a:xfrm>
            <a:off x="6880860" y="5029200"/>
            <a:ext cx="1394460" cy="731520"/>
          </a:xfrm>
          <a:prstGeom prst="rect">
            <a:avLst/>
          </a:prstGeom>
          <a:noFill/>
          <a:ln/>
        </p:spPr>
        <p:txBody>
          <a:bodyPr wrap="square" lIns="0" tIns="0" rIns="0" bIns="0" rtlCol="0" anchor="ctr"/>
          <a:lstStyle/>
          <a:p>
            <a:pPr indent="0" marL="0">
              <a:lnSpc>
                <a:spcPct val="114000"/>
              </a:lnSpc>
              <a:buNone/>
            </a:pPr>
            <a:r>
              <a:rPr lang="en-US" sz="850" dirty="0">
                <a:solidFill>
                  <a:srgbClr val="9BA1C1"/>
                </a:solidFill>
                <a:latin typeface="Arial" pitchFamily="34" charset="0"/>
                <a:ea typeface="Arial" pitchFamily="34" charset="-122"/>
                <a:cs typeface="Arial" pitchFamily="34" charset="-120"/>
              </a:rPr>
              <a:t>Anthropic API, faithfulness check</a:t>
            </a:r>
            <a:endParaRPr lang="en-US" sz="850" dirty="0"/>
          </a:p>
        </p:txBody>
      </p:sp>
      <p:sp>
        <p:nvSpPr>
          <p:cNvPr id="77" name="Shape 75"/>
          <p:cNvSpPr/>
          <p:nvPr/>
        </p:nvSpPr>
        <p:spPr>
          <a:xfrm>
            <a:off x="8421624" y="5029200"/>
            <a:ext cx="1577340" cy="731520"/>
          </a:xfrm>
          <a:prstGeom prst="roundRect">
            <a:avLst>
              <a:gd name="adj" fmla="val 6250"/>
            </a:avLst>
          </a:prstGeom>
          <a:solidFill>
            <a:srgbClr val="252943"/>
          </a:solidFill>
          <a:ln w="12700">
            <a:solidFill>
              <a:srgbClr val="252943"/>
            </a:solidFill>
            <a:prstDash val="solid"/>
          </a:ln>
        </p:spPr>
      </p:sp>
      <p:sp>
        <p:nvSpPr>
          <p:cNvPr id="78" name="Text 76"/>
          <p:cNvSpPr txBox="1"/>
          <p:nvPr/>
        </p:nvSpPr>
        <p:spPr>
          <a:xfrm>
            <a:off x="8513064" y="5029200"/>
            <a:ext cx="1394460" cy="731520"/>
          </a:xfrm>
          <a:prstGeom prst="rect">
            <a:avLst/>
          </a:prstGeom>
          <a:noFill/>
          <a:ln/>
        </p:spPr>
        <p:txBody>
          <a:bodyPr wrap="square" lIns="0" tIns="0" rIns="0" bIns="0" rtlCol="0" anchor="ctr"/>
          <a:lstStyle/>
          <a:p>
            <a:pPr indent="0" marL="0">
              <a:lnSpc>
                <a:spcPct val="114000"/>
              </a:lnSpc>
              <a:buNone/>
            </a:pPr>
            <a:r>
              <a:rPr lang="en-US" sz="850" dirty="0">
                <a:solidFill>
                  <a:srgbClr val="9BA1C1"/>
                </a:solidFill>
                <a:latin typeface="Arial" pitchFamily="34" charset="0"/>
                <a:ea typeface="Arial" pitchFamily="34" charset="-122"/>
                <a:cs typeface="Arial" pitchFamily="34" charset="-120"/>
              </a:rPr>
              <a:t>Marketplace payment provider, brand order API, invoicing, carrier</a:t>
            </a:r>
            <a:endParaRPr lang="en-US" sz="850" dirty="0"/>
          </a:p>
        </p:txBody>
      </p:sp>
      <p:sp>
        <p:nvSpPr>
          <p:cNvPr id="79" name="Shape 77"/>
          <p:cNvSpPr/>
          <p:nvPr/>
        </p:nvSpPr>
        <p:spPr>
          <a:xfrm>
            <a:off x="10053828" y="5029200"/>
            <a:ext cx="1577340" cy="731520"/>
          </a:xfrm>
          <a:prstGeom prst="roundRect">
            <a:avLst>
              <a:gd name="adj" fmla="val 6250"/>
            </a:avLst>
          </a:prstGeom>
          <a:solidFill>
            <a:srgbClr val="252943"/>
          </a:solidFill>
          <a:ln w="12700">
            <a:solidFill>
              <a:srgbClr val="252943"/>
            </a:solidFill>
            <a:prstDash val="solid"/>
          </a:ln>
        </p:spPr>
      </p:sp>
      <p:sp>
        <p:nvSpPr>
          <p:cNvPr id="80" name="Text 78"/>
          <p:cNvSpPr txBox="1"/>
          <p:nvPr/>
        </p:nvSpPr>
        <p:spPr>
          <a:xfrm>
            <a:off x="10145268" y="5029200"/>
            <a:ext cx="1394460" cy="731520"/>
          </a:xfrm>
          <a:prstGeom prst="rect">
            <a:avLst/>
          </a:prstGeom>
          <a:noFill/>
          <a:ln/>
        </p:spPr>
        <p:txBody>
          <a:bodyPr wrap="square" lIns="0" tIns="0" rIns="0" bIns="0" rtlCol="0" anchor="ctr"/>
          <a:lstStyle/>
          <a:p>
            <a:pPr indent="0" marL="0">
              <a:lnSpc>
                <a:spcPct val="114000"/>
              </a:lnSpc>
              <a:buNone/>
            </a:pPr>
            <a:r>
              <a:rPr lang="en-US" sz="850" dirty="0">
                <a:solidFill>
                  <a:srgbClr val="9BA1C1"/>
                </a:solidFill>
                <a:latin typeface="Arial" pitchFamily="34" charset="0"/>
                <a:ea typeface="Arial" pitchFamily="34" charset="-122"/>
                <a:cs typeface="Arial" pitchFamily="34" charset="-120"/>
              </a:rPr>
              <a:t>Learning pipeline, brand analytics</a:t>
            </a:r>
            <a:endParaRPr lang="en-US" sz="850" dirty="0"/>
          </a:p>
        </p:txBody>
      </p:sp>
      <p:sp>
        <p:nvSpPr>
          <p:cNvPr id="81" name="Shape 79"/>
          <p:cNvSpPr/>
          <p:nvPr/>
        </p:nvSpPr>
        <p:spPr>
          <a:xfrm>
            <a:off x="2571750" y="5815584"/>
            <a:ext cx="219456" cy="219456"/>
          </a:xfrm>
          <a:prstGeom prst="diamond">
            <a:avLst/>
          </a:prstGeom>
          <a:solidFill>
            <a:srgbClr val="FBEED9"/>
          </a:solidFill>
          <a:ln w="12700">
            <a:solidFill>
              <a:srgbClr val="E0A458"/>
            </a:solidFill>
            <a:prstDash val="solid"/>
          </a:ln>
        </p:spPr>
      </p:sp>
      <p:sp>
        <p:nvSpPr>
          <p:cNvPr id="82" name="Shape 80"/>
          <p:cNvSpPr/>
          <p:nvPr/>
        </p:nvSpPr>
        <p:spPr>
          <a:xfrm>
            <a:off x="7468362" y="5815584"/>
            <a:ext cx="219456" cy="219456"/>
          </a:xfrm>
          <a:prstGeom prst="diamond">
            <a:avLst/>
          </a:prstGeom>
          <a:solidFill>
            <a:srgbClr val="FBEED9"/>
          </a:solidFill>
          <a:ln w="12700">
            <a:solidFill>
              <a:srgbClr val="E0A458"/>
            </a:solidFill>
            <a:prstDash val="solid"/>
          </a:ln>
        </p:spPr>
      </p:sp>
      <p:sp>
        <p:nvSpPr>
          <p:cNvPr id="83" name="Shape 81"/>
          <p:cNvSpPr/>
          <p:nvPr/>
        </p:nvSpPr>
        <p:spPr>
          <a:xfrm>
            <a:off x="10732770" y="5815584"/>
            <a:ext cx="219456" cy="219456"/>
          </a:xfrm>
          <a:prstGeom prst="diamond">
            <a:avLst/>
          </a:prstGeom>
          <a:solidFill>
            <a:srgbClr val="FBEED9"/>
          </a:solidFill>
          <a:ln w="12700">
            <a:solidFill>
              <a:srgbClr val="E0A458"/>
            </a:solidFill>
            <a:prstDash val="solid"/>
          </a:ln>
        </p:spPr>
      </p:sp>
      <p:sp>
        <p:nvSpPr>
          <p:cNvPr id="84" name="Text 82"/>
          <p:cNvSpPr txBox="1"/>
          <p:nvPr/>
        </p:nvSpPr>
        <p:spPr>
          <a:xfrm>
            <a:off x="1892808" y="6089904"/>
            <a:ext cx="9765792" cy="219456"/>
          </a:xfrm>
          <a:prstGeom prst="rect">
            <a:avLst/>
          </a:prstGeom>
          <a:noFill/>
          <a:ln/>
        </p:spPr>
        <p:txBody>
          <a:bodyPr wrap="square" lIns="0" tIns="0" rIns="0" bIns="0" rtlCol="0" anchor="ctr"/>
          <a:lstStyle/>
          <a:p>
            <a:pPr indent="0" marL="0">
              <a:buNone/>
            </a:pPr>
            <a:r>
              <a:rPr lang="en-US" sz="1000" b="1" dirty="0">
                <a:solidFill>
                  <a:srgbClr val="E0A458"/>
                </a:solidFill>
                <a:latin typeface="Arial" pitchFamily="34" charset="0"/>
                <a:ea typeface="Arial" pitchFamily="34" charset="-122"/>
                <a:cs typeface="Arial" pitchFamily="34" charset="-120"/>
              </a:rPr>
              <a:t>Video usable?          ·          Accept the size?          ·          Kept or returned?</a:t>
            </a:r>
            <a:endParaRPr lang="en-US" sz="1000" dirty="0"/>
          </a:p>
        </p:txBody>
      </p:sp>
      <p:sp>
        <p:nvSpPr>
          <p:cNvPr id="85" name="Text 83"/>
          <p:cNvSpPr txBox="1"/>
          <p:nvPr/>
        </p:nvSpPr>
        <p:spPr>
          <a:xfrm>
            <a:off x="1892808" y="6309360"/>
            <a:ext cx="9765792" cy="384048"/>
          </a:xfrm>
          <a:prstGeom prst="rect">
            <a:avLst/>
          </a:prstGeom>
          <a:noFill/>
          <a:ln/>
        </p:spPr>
        <p:txBody>
          <a:bodyPr wrap="square" lIns="0" tIns="0" rIns="0" bIns="0" rtlCol="0" anchor="t"/>
          <a:lstStyle/>
          <a:p>
            <a:pPr indent="0" marL="0">
              <a:lnSpc>
                <a:spcPct val="110000"/>
              </a:lnSpc>
              <a:buNone/>
            </a:pPr>
            <a:r>
              <a:rPr lang="en-US" sz="950" i="1" dirty="0">
                <a:solidFill>
                  <a:srgbClr val="EC8079"/>
                </a:solidFill>
                <a:latin typeface="Arial" pitchFamily="34" charset="0"/>
                <a:ea typeface="Arial" pitchFamily="34" charset="-122"/>
                <a:cs typeface="Arial" pitchFamily="34" charset="-120"/>
              </a:rPr>
              <a:t>Failure and loop paths: unusable video → re-record, then type the measurements by hand  ·  reject the size → back to Set Preferences  ·  returned → refund, and the reason is captured</a:t>
            </a:r>
            <a:endParaRPr lang="en-US" sz="950" dirty="0"/>
          </a:p>
        </p:txBody>
      </p:sp>
      <p:sp>
        <p:nvSpPr>
          <p:cNvPr id="86" name="Text 84"/>
          <p:cNvSpPr txBox="1"/>
          <p:nvPr/>
        </p:nvSpPr>
        <p:spPr>
          <a:xfrm>
            <a:off x="576072" y="5815584"/>
            <a:ext cx="1335024" cy="219456"/>
          </a:xfrm>
          <a:prstGeom prst="rect">
            <a:avLst/>
          </a:prstGeom>
          <a:noFill/>
          <a:ln/>
        </p:spPr>
        <p:txBody>
          <a:bodyPr wrap="square" lIns="0" tIns="0" rIns="0" bIns="0" rtlCol="0" anchor="ctr"/>
          <a:lstStyle/>
          <a:p>
            <a:pPr indent="0" marL="0">
              <a:buNone/>
            </a:pPr>
            <a:r>
              <a:rPr lang="en-US" sz="850" b="1" spc="120" kern="0" dirty="0">
                <a:solidFill>
                  <a:srgbClr val="E0A458"/>
                </a:solidFill>
                <a:latin typeface="Arial" pitchFamily="34" charset="0"/>
                <a:ea typeface="Arial" pitchFamily="34" charset="-122"/>
                <a:cs typeface="Arial" pitchFamily="34" charset="-120"/>
              </a:rPr>
              <a:t>DECISIONS</a:t>
            </a:r>
            <a:endParaRPr lang="en-US" sz="850" dirty="0"/>
          </a:p>
        </p:txBody>
      </p:sp>
      <p:sp>
        <p:nvSpPr>
          <p:cNvPr id="87" name="Text 85"/>
          <p:cNvSpPr txBox="1"/>
          <p:nvPr/>
        </p:nvSpPr>
        <p:spPr>
          <a:xfrm>
            <a:off x="502920" y="694944"/>
            <a:ext cx="11185855" cy="219456"/>
          </a:xfrm>
          <a:prstGeom prst="rect">
            <a:avLst/>
          </a:prstGeom>
          <a:noFill/>
          <a:ln/>
        </p:spPr>
        <p:txBody>
          <a:bodyPr wrap="square" lIns="0" tIns="0" rIns="0" bIns="0" rtlCol="0" anchor="ctr"/>
          <a:lstStyle/>
          <a:p>
            <a:pPr indent="0" marL="0">
              <a:buNone/>
            </a:pPr>
            <a:r>
              <a:rPr lang="en-US" sz="950" i="1" dirty="0">
                <a:solidFill>
                  <a:srgbClr val="9BA1C1"/>
                </a:solidFill>
                <a:latin typeface="Arial" pitchFamily="34" charset="0"/>
                <a:ea typeface="Arial" pitchFamily="34" charset="-122"/>
                <a:cs typeface="Arial" pitchFamily="34" charset="-120"/>
              </a:rPr>
              <a:t>Stages copied from our experience map. One change: stage 05 now happens in the app, not on the retailer's site — the map needs updating to match.</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DELIVERABLE 3 · TECHNICAL ARCHITECTURE</a:t>
            </a:r>
            <a:endParaRPr lang="en-US" sz="950" dirty="0"/>
          </a:p>
        </p:txBody>
      </p:sp>
      <p:sp>
        <p:nvSpPr>
          <p:cNvPr id="3" name="Text 1"/>
          <p:cNvSpPr txBox="1"/>
          <p:nvPr/>
        </p:nvSpPr>
        <p:spPr>
          <a:xfrm>
            <a:off x="502920" y="365760"/>
            <a:ext cx="7863840" cy="457200"/>
          </a:xfrm>
          <a:prstGeom prst="rect">
            <a:avLst/>
          </a:prstGeom>
          <a:noFill/>
          <a:ln/>
        </p:spPr>
        <p:txBody>
          <a:bodyPr wrap="square" lIns="0" tIns="0" rIns="0" bIns="0" rtlCol="0" anchor="ctr"/>
          <a:lstStyle/>
          <a:p>
            <a:pPr indent="0" marL="0">
              <a:buNone/>
            </a:pPr>
            <a:r>
              <a:rPr lang="en-US" sz="2400" b="1" dirty="0">
                <a:solidFill>
                  <a:srgbClr val="F2F3F8"/>
                </a:solidFill>
                <a:latin typeface="Arial" pitchFamily="34" charset="0"/>
                <a:ea typeface="Arial" pitchFamily="34" charset="-122"/>
                <a:cs typeface="Arial" pitchFamily="34" charset="-120"/>
              </a:rPr>
              <a:t>Front end, back end, and what supports them</a:t>
            </a:r>
            <a:endParaRPr lang="en-US" sz="2400" dirty="0"/>
          </a:p>
        </p:txBody>
      </p:sp>
      <p:sp>
        <p:nvSpPr>
          <p:cNvPr id="4" name="Text 2"/>
          <p:cNvSpPr txBox="1"/>
          <p:nvPr/>
        </p:nvSpPr>
        <p:spPr>
          <a:xfrm>
            <a:off x="7498080" y="365760"/>
            <a:ext cx="4187952" cy="457200"/>
          </a:xfrm>
          <a:prstGeom prst="rect">
            <a:avLst/>
          </a:prstGeom>
          <a:noFill/>
          <a:ln/>
        </p:spPr>
        <p:txBody>
          <a:bodyPr wrap="square" lIns="0" tIns="0" rIns="0" bIns="0" rtlCol="0" anchor="ctr"/>
          <a:lstStyle/>
          <a:p>
            <a:pPr algn="r" indent="0" marL="0">
              <a:buNone/>
            </a:pPr>
            <a:r>
              <a:rPr lang="en-US" sz="1000" dirty="0">
                <a:solidFill>
                  <a:srgbClr val="6E7699"/>
                </a:solidFill>
                <a:latin typeface="Arial" pitchFamily="34" charset="0"/>
                <a:ea typeface="Arial" pitchFamily="34" charset="-122"/>
                <a:cs typeface="Arial" pitchFamily="34" charset="-120"/>
              </a:rPr>
              <a:t>EU-hosted · the order and the payment are ours</a:t>
            </a:r>
            <a:endParaRPr lang="en-US" sz="1000" dirty="0"/>
          </a:p>
        </p:txBody>
      </p:sp>
      <p:sp>
        <p:nvSpPr>
          <p:cNvPr id="5" name="Shape 3"/>
          <p:cNvSpPr/>
          <p:nvPr/>
        </p:nvSpPr>
        <p:spPr>
          <a:xfrm>
            <a:off x="1517904" y="969264"/>
            <a:ext cx="2761488" cy="621792"/>
          </a:xfrm>
          <a:prstGeom prst="roundRect">
            <a:avLst>
              <a:gd name="adj" fmla="val 7353"/>
            </a:avLst>
          </a:prstGeom>
          <a:solidFill>
            <a:srgbClr val="252943"/>
          </a:solidFill>
          <a:ln w="16510">
            <a:solidFill>
              <a:srgbClr val="E0A458"/>
            </a:solidFill>
            <a:prstDash val="solid"/>
          </a:ln>
        </p:spPr>
      </p:sp>
      <p:sp>
        <p:nvSpPr>
          <p:cNvPr id="6" name="Text 4"/>
          <p:cNvSpPr txBox="1"/>
          <p:nvPr/>
        </p:nvSpPr>
        <p:spPr>
          <a:xfrm>
            <a:off x="1517904" y="1042416"/>
            <a:ext cx="2761488" cy="237744"/>
          </a:xfrm>
          <a:prstGeom prst="rect">
            <a:avLst/>
          </a:prstGeom>
          <a:noFill/>
          <a:ln/>
        </p:spPr>
        <p:txBody>
          <a:bodyPr wrap="square" lIns="0" tIns="0" rIns="0" bIns="0" rtlCol="0" anchor="ctr"/>
          <a:lstStyle/>
          <a:p>
            <a:pPr algn="ctr" indent="0" marL="0">
              <a:buNone/>
            </a:pPr>
            <a:r>
              <a:rPr lang="en-US" sz="1150" b="1" dirty="0">
                <a:solidFill>
                  <a:srgbClr val="E0A458"/>
                </a:solidFill>
                <a:latin typeface="Arial" pitchFamily="34" charset="0"/>
                <a:ea typeface="Arial" pitchFamily="34" charset="-122"/>
                <a:cs typeface="Arial" pitchFamily="34" charset="-120"/>
              </a:rPr>
              <a:t>Customer app</a:t>
            </a:r>
            <a:endParaRPr lang="en-US" sz="1150" dirty="0"/>
          </a:p>
        </p:txBody>
      </p:sp>
      <p:sp>
        <p:nvSpPr>
          <p:cNvPr id="7" name="Text 5"/>
          <p:cNvSpPr txBox="1"/>
          <p:nvPr/>
        </p:nvSpPr>
        <p:spPr>
          <a:xfrm>
            <a:off x="1517904" y="1280160"/>
            <a:ext cx="2761488" cy="219456"/>
          </a:xfrm>
          <a:prstGeom prst="rect">
            <a:avLst/>
          </a:prstGeom>
          <a:noFill/>
          <a:ln/>
        </p:spPr>
        <p:txBody>
          <a:bodyPr wrap="square" lIns="0" tIns="0" rIns="0" bIns="0" rtlCol="0" anchor="ctr"/>
          <a:lstStyle/>
          <a:p>
            <a:pPr algn="ctr" indent="0" marL="0">
              <a:buNone/>
            </a:pPr>
            <a:r>
              <a:rPr lang="en-US" sz="900" dirty="0">
                <a:solidFill>
                  <a:srgbClr val="9BA1C1"/>
                </a:solidFill>
                <a:latin typeface="Arial" pitchFamily="34" charset="0"/>
                <a:ea typeface="Arial" pitchFamily="34" charset="-122"/>
                <a:cs typeface="Arial" pitchFamily="34" charset="-120"/>
              </a:rPr>
              <a:t>phone · Next.js on Vercel</a:t>
            </a:r>
            <a:endParaRPr lang="en-US" sz="900" dirty="0"/>
          </a:p>
        </p:txBody>
      </p:sp>
      <p:sp>
        <p:nvSpPr>
          <p:cNvPr id="8" name="Shape 6"/>
          <p:cNvSpPr/>
          <p:nvPr/>
        </p:nvSpPr>
        <p:spPr>
          <a:xfrm>
            <a:off x="4389120" y="969264"/>
            <a:ext cx="2761488" cy="621792"/>
          </a:xfrm>
          <a:prstGeom prst="roundRect">
            <a:avLst>
              <a:gd name="adj" fmla="val 7353"/>
            </a:avLst>
          </a:prstGeom>
          <a:solidFill>
            <a:srgbClr val="252943"/>
          </a:solidFill>
          <a:ln w="16510">
            <a:solidFill>
              <a:srgbClr val="83B4DE"/>
            </a:solidFill>
            <a:prstDash val="solid"/>
          </a:ln>
        </p:spPr>
      </p:sp>
      <p:sp>
        <p:nvSpPr>
          <p:cNvPr id="9" name="Text 7"/>
          <p:cNvSpPr txBox="1"/>
          <p:nvPr/>
        </p:nvSpPr>
        <p:spPr>
          <a:xfrm>
            <a:off x="4389120" y="1042416"/>
            <a:ext cx="2761488" cy="237744"/>
          </a:xfrm>
          <a:prstGeom prst="rect">
            <a:avLst/>
          </a:prstGeom>
          <a:noFill/>
          <a:ln/>
        </p:spPr>
        <p:txBody>
          <a:bodyPr wrap="square" lIns="0" tIns="0" rIns="0" bIns="0" rtlCol="0" anchor="ctr"/>
          <a:lstStyle/>
          <a:p>
            <a:pPr algn="ctr" indent="0" marL="0">
              <a:buNone/>
            </a:pPr>
            <a:r>
              <a:rPr lang="en-US" sz="1150" b="1" dirty="0">
                <a:solidFill>
                  <a:srgbClr val="83B4DE"/>
                </a:solidFill>
                <a:latin typeface="Arial" pitchFamily="34" charset="0"/>
                <a:ea typeface="Arial" pitchFamily="34" charset="-122"/>
                <a:cs typeface="Arial" pitchFamily="34" charset="-120"/>
              </a:rPr>
              <a:t>Brand dashboard</a:t>
            </a:r>
            <a:endParaRPr lang="en-US" sz="1150" dirty="0"/>
          </a:p>
        </p:txBody>
      </p:sp>
      <p:sp>
        <p:nvSpPr>
          <p:cNvPr id="10" name="Text 8"/>
          <p:cNvSpPr txBox="1"/>
          <p:nvPr/>
        </p:nvSpPr>
        <p:spPr>
          <a:xfrm>
            <a:off x="4389120" y="1280160"/>
            <a:ext cx="2761488" cy="219456"/>
          </a:xfrm>
          <a:prstGeom prst="rect">
            <a:avLst/>
          </a:prstGeom>
          <a:noFill/>
          <a:ln/>
        </p:spPr>
        <p:txBody>
          <a:bodyPr wrap="square" lIns="0" tIns="0" rIns="0" bIns="0" rtlCol="0" anchor="ctr"/>
          <a:lstStyle/>
          <a:p>
            <a:pPr algn="ctr" indent="0" marL="0">
              <a:buNone/>
            </a:pPr>
            <a:r>
              <a:rPr lang="en-US" sz="900" dirty="0">
                <a:solidFill>
                  <a:srgbClr val="9BA1C1"/>
                </a:solidFill>
                <a:latin typeface="Arial" pitchFamily="34" charset="0"/>
                <a:ea typeface="Arial" pitchFamily="34" charset="-122"/>
                <a:cs typeface="Arial" pitchFamily="34" charset="-120"/>
              </a:rPr>
              <a:t>return-rate, catalogue</a:t>
            </a:r>
            <a:endParaRPr lang="en-US" sz="900" dirty="0"/>
          </a:p>
        </p:txBody>
      </p:sp>
      <p:sp>
        <p:nvSpPr>
          <p:cNvPr id="11" name="Shape 9"/>
          <p:cNvSpPr/>
          <p:nvPr/>
        </p:nvSpPr>
        <p:spPr>
          <a:xfrm>
            <a:off x="7260336" y="969264"/>
            <a:ext cx="2761488" cy="621792"/>
          </a:xfrm>
          <a:prstGeom prst="roundRect">
            <a:avLst>
              <a:gd name="adj" fmla="val 7353"/>
            </a:avLst>
          </a:prstGeom>
          <a:solidFill>
            <a:srgbClr val="252943"/>
          </a:solidFill>
          <a:ln w="16510">
            <a:solidFill>
              <a:srgbClr val="83B4DE"/>
            </a:solidFill>
            <a:prstDash val="solid"/>
          </a:ln>
        </p:spPr>
      </p:sp>
      <p:sp>
        <p:nvSpPr>
          <p:cNvPr id="12" name="Text 10"/>
          <p:cNvSpPr txBox="1"/>
          <p:nvPr/>
        </p:nvSpPr>
        <p:spPr>
          <a:xfrm>
            <a:off x="7260336" y="1042416"/>
            <a:ext cx="2761488" cy="237744"/>
          </a:xfrm>
          <a:prstGeom prst="rect">
            <a:avLst/>
          </a:prstGeom>
          <a:noFill/>
          <a:ln/>
        </p:spPr>
        <p:txBody>
          <a:bodyPr wrap="square" lIns="0" tIns="0" rIns="0" bIns="0" rtlCol="0" anchor="ctr"/>
          <a:lstStyle/>
          <a:p>
            <a:pPr algn="ctr" indent="0" marL="0">
              <a:buNone/>
            </a:pPr>
            <a:r>
              <a:rPr lang="en-US" sz="1150" b="1" dirty="0">
                <a:solidFill>
                  <a:srgbClr val="83B4DE"/>
                </a:solidFill>
                <a:latin typeface="Arial" pitchFamily="34" charset="0"/>
                <a:ea typeface="Arial" pitchFamily="34" charset="-122"/>
                <a:cs typeface="Arial" pitchFamily="34" charset="-120"/>
              </a:rPr>
              <a:t>Internal console</a:t>
            </a:r>
            <a:endParaRPr lang="en-US" sz="1150" dirty="0"/>
          </a:p>
        </p:txBody>
      </p:sp>
      <p:sp>
        <p:nvSpPr>
          <p:cNvPr id="13" name="Text 11"/>
          <p:cNvSpPr txBox="1"/>
          <p:nvPr/>
        </p:nvSpPr>
        <p:spPr>
          <a:xfrm>
            <a:off x="7260336" y="1280160"/>
            <a:ext cx="2761488" cy="219456"/>
          </a:xfrm>
          <a:prstGeom prst="rect">
            <a:avLst/>
          </a:prstGeom>
          <a:noFill/>
          <a:ln/>
        </p:spPr>
        <p:txBody>
          <a:bodyPr wrap="square" lIns="0" tIns="0" rIns="0" bIns="0" rtlCol="0" anchor="ctr"/>
          <a:lstStyle/>
          <a:p>
            <a:pPr algn="ctr" indent="0" marL="0">
              <a:buNone/>
            </a:pPr>
            <a:r>
              <a:rPr lang="en-US" sz="900" dirty="0">
                <a:solidFill>
                  <a:srgbClr val="9BA1C1"/>
                </a:solidFill>
                <a:latin typeface="Arial" pitchFamily="34" charset="0"/>
                <a:ea typeface="Arial" pitchFamily="34" charset="-122"/>
                <a:cs typeface="Arial" pitchFamily="34" charset="-120"/>
              </a:rPr>
              <a:t>sessions, agents, cost</a:t>
            </a:r>
            <a:endParaRPr lang="en-US" sz="900" dirty="0"/>
          </a:p>
        </p:txBody>
      </p:sp>
      <p:sp>
        <p:nvSpPr>
          <p:cNvPr id="14" name="Text 12"/>
          <p:cNvSpPr txBox="1"/>
          <p:nvPr/>
        </p:nvSpPr>
        <p:spPr>
          <a:xfrm>
            <a:off x="274320" y="969264"/>
            <a:ext cx="1170432" cy="621792"/>
          </a:xfrm>
          <a:prstGeom prst="rect">
            <a:avLst/>
          </a:prstGeom>
          <a:noFill/>
          <a:ln/>
        </p:spPr>
        <p:txBody>
          <a:bodyPr wrap="square" lIns="0" tIns="0" rIns="0" bIns="0" rtlCol="0" anchor="ctr"/>
          <a:lstStyle/>
          <a:p>
            <a:pPr indent="0" marL="0">
              <a:buNone/>
            </a:pPr>
            <a:r>
              <a:rPr lang="en-US" sz="850" b="1" spc="120" kern="0" dirty="0">
                <a:solidFill>
                  <a:srgbClr val="6E7699"/>
                </a:solidFill>
                <a:latin typeface="Arial" pitchFamily="34" charset="0"/>
                <a:ea typeface="Arial" pitchFamily="34" charset="-122"/>
                <a:cs typeface="Arial" pitchFamily="34" charset="-120"/>
              </a:rPr>
              <a:t>FRONT END</a:t>
            </a:r>
            <a:endParaRPr lang="en-US" sz="850" dirty="0"/>
          </a:p>
        </p:txBody>
      </p:sp>
      <p:sp>
        <p:nvSpPr>
          <p:cNvPr id="15" name="Shape 13"/>
          <p:cNvSpPr/>
          <p:nvPr/>
        </p:nvSpPr>
        <p:spPr>
          <a:xfrm>
            <a:off x="1517904" y="1847088"/>
            <a:ext cx="8503920" cy="548640"/>
          </a:xfrm>
          <a:prstGeom prst="roundRect">
            <a:avLst>
              <a:gd name="adj" fmla="val 8333"/>
            </a:avLst>
          </a:prstGeom>
          <a:solidFill>
            <a:srgbClr val="2F3355"/>
          </a:solidFill>
          <a:ln w="12700">
            <a:solidFill>
              <a:srgbClr val="3D4370"/>
            </a:solidFill>
            <a:prstDash val="solid"/>
          </a:ln>
        </p:spPr>
      </p:sp>
      <p:sp>
        <p:nvSpPr>
          <p:cNvPr id="16" name="Text 14"/>
          <p:cNvSpPr txBox="1"/>
          <p:nvPr/>
        </p:nvSpPr>
        <p:spPr>
          <a:xfrm>
            <a:off x="1517904" y="1847088"/>
            <a:ext cx="8503920" cy="548640"/>
          </a:xfrm>
          <a:prstGeom prst="rect">
            <a:avLst/>
          </a:prstGeom>
          <a:noFill/>
          <a:ln/>
        </p:spPr>
        <p:txBody>
          <a:bodyPr wrap="square" lIns="0" tIns="0" rIns="0" bIns="0" rtlCol="0" anchor="ctr"/>
          <a:lstStyle/>
          <a:p>
            <a:pPr algn="ctr" indent="0" marL="0">
              <a:buNone/>
            </a:pPr>
            <a:r>
              <a:rPr lang="en-US" sz="1150" b="1" dirty="0">
                <a:solidFill>
                  <a:srgbClr val="F2F3F8"/>
                </a:solidFill>
                <a:latin typeface="Arial" pitchFamily="34" charset="0"/>
                <a:ea typeface="Arial" pitchFamily="34" charset="-122"/>
                <a:cs typeface="Arial" pitchFamily="34" charset="-120"/>
              </a:rPr>
              <a:t>Vercel  ·  routes, session, order orchestration</a:t>
            </a:r>
            <a:endParaRPr lang="en-US" sz="1150" dirty="0"/>
          </a:p>
        </p:txBody>
      </p:sp>
      <p:sp>
        <p:nvSpPr>
          <p:cNvPr id="17" name="Shape 15"/>
          <p:cNvSpPr/>
          <p:nvPr/>
        </p:nvSpPr>
        <p:spPr>
          <a:xfrm>
            <a:off x="1517904" y="2651760"/>
            <a:ext cx="8503920" cy="786384"/>
          </a:xfrm>
          <a:prstGeom prst="roundRect">
            <a:avLst>
              <a:gd name="adj" fmla="val 5814"/>
            </a:avLst>
          </a:prstGeom>
          <a:solidFill>
            <a:srgbClr val="1F3A34"/>
          </a:solidFill>
          <a:ln w="17780">
            <a:solidFill>
              <a:srgbClr val="6FC095"/>
            </a:solidFill>
            <a:prstDash val="solid"/>
          </a:ln>
        </p:spPr>
      </p:sp>
      <p:sp>
        <p:nvSpPr>
          <p:cNvPr id="18" name="Text 16"/>
          <p:cNvSpPr txBox="1"/>
          <p:nvPr/>
        </p:nvSpPr>
        <p:spPr>
          <a:xfrm>
            <a:off x="1664208" y="2724912"/>
            <a:ext cx="2743200" cy="256032"/>
          </a:xfrm>
          <a:prstGeom prst="rect">
            <a:avLst/>
          </a:prstGeom>
          <a:noFill/>
          <a:ln/>
        </p:spPr>
        <p:txBody>
          <a:bodyPr wrap="square" lIns="0" tIns="0" rIns="0" bIns="0" rtlCol="0" anchor="ctr"/>
          <a:lstStyle/>
          <a:p>
            <a:pPr indent="0" marL="0">
              <a:buNone/>
            </a:pPr>
            <a:r>
              <a:rPr lang="en-US" sz="1150" b="1" dirty="0">
                <a:solidFill>
                  <a:srgbClr val="6FC095"/>
                </a:solidFill>
                <a:latin typeface="Arial" pitchFamily="34" charset="0"/>
                <a:ea typeface="Arial" pitchFamily="34" charset="-122"/>
                <a:cs typeface="Arial" pitchFamily="34" charset="-120"/>
              </a:rPr>
              <a:t>Supabase  ·  eu-central-1</a:t>
            </a:r>
            <a:endParaRPr lang="en-US" sz="1150" dirty="0"/>
          </a:p>
        </p:txBody>
      </p:sp>
      <p:sp>
        <p:nvSpPr>
          <p:cNvPr id="19" name="Text 17"/>
          <p:cNvSpPr txBox="1"/>
          <p:nvPr/>
        </p:nvSpPr>
        <p:spPr>
          <a:xfrm>
            <a:off x="1664208" y="2980944"/>
            <a:ext cx="4023360" cy="219456"/>
          </a:xfrm>
          <a:prstGeom prst="rect">
            <a:avLst/>
          </a:prstGeom>
          <a:noFill/>
          <a:ln/>
        </p:spPr>
        <p:txBody>
          <a:bodyPr wrap="square" lIns="0" tIns="0" rIns="0" bIns="0" rtlCol="0" anchor="ctr"/>
          <a:lstStyle/>
          <a:p>
            <a:pPr indent="0" marL="0">
              <a:buNone/>
            </a:pPr>
            <a:r>
              <a:rPr lang="en-US" sz="900" dirty="0">
                <a:solidFill>
                  <a:srgbClr val="9BA1C1"/>
                </a:solidFill>
                <a:latin typeface="Arial" pitchFamily="34" charset="0"/>
                <a:ea typeface="Arial" pitchFamily="34" charset="-122"/>
                <a:cs typeface="Arial" pitchFamily="34" charset="-120"/>
              </a:rPr>
              <a:t>Postgres · Auth · private Storage · Realtime · similar-body search</a:t>
            </a:r>
            <a:endParaRPr lang="en-US" sz="900" dirty="0"/>
          </a:p>
        </p:txBody>
      </p:sp>
      <p:sp>
        <p:nvSpPr>
          <p:cNvPr id="20" name="Shape 18"/>
          <p:cNvSpPr/>
          <p:nvPr/>
        </p:nvSpPr>
        <p:spPr>
          <a:xfrm>
            <a:off x="5998464" y="2734056"/>
            <a:ext cx="1901952" cy="621792"/>
          </a:xfrm>
          <a:prstGeom prst="roundRect">
            <a:avLst>
              <a:gd name="adj" fmla="val 7353"/>
            </a:avLst>
          </a:prstGeom>
          <a:solidFill>
            <a:srgbClr val="16302A"/>
          </a:solidFill>
          <a:ln w="12700">
            <a:solidFill>
              <a:srgbClr val="6FC095"/>
            </a:solidFill>
            <a:prstDash val="solid"/>
          </a:ln>
        </p:spPr>
      </p:sp>
      <p:sp>
        <p:nvSpPr>
          <p:cNvPr id="21" name="Text 19"/>
          <p:cNvSpPr txBox="1"/>
          <p:nvPr/>
        </p:nvSpPr>
        <p:spPr>
          <a:xfrm>
            <a:off x="5998464" y="2788920"/>
            <a:ext cx="1901952" cy="219456"/>
          </a:xfrm>
          <a:prstGeom prst="rect">
            <a:avLst/>
          </a:prstGeom>
          <a:noFill/>
          <a:ln/>
        </p:spPr>
        <p:txBody>
          <a:bodyPr wrap="square" lIns="0" tIns="0" rIns="0" bIns="0" rtlCol="0" anchor="ctr"/>
          <a:lstStyle/>
          <a:p>
            <a:pPr algn="ctr" indent="0" marL="0">
              <a:buNone/>
            </a:pPr>
            <a:r>
              <a:rPr lang="en-US" sz="950" b="1" dirty="0">
                <a:solidFill>
                  <a:srgbClr val="6FC095"/>
                </a:solidFill>
                <a:latin typeface="Arial" pitchFamily="34" charset="0"/>
                <a:ea typeface="Arial" pitchFamily="34" charset="-122"/>
                <a:cs typeface="Arial" pitchFamily="34" charset="-120"/>
              </a:rPr>
              <a:t>Identity</a:t>
            </a:r>
            <a:endParaRPr lang="en-US" sz="950" dirty="0"/>
          </a:p>
        </p:txBody>
      </p:sp>
      <p:sp>
        <p:nvSpPr>
          <p:cNvPr id="22" name="Text 20"/>
          <p:cNvSpPr txBox="1"/>
          <p:nvPr/>
        </p:nvSpPr>
        <p:spPr>
          <a:xfrm>
            <a:off x="5998464" y="3008376"/>
            <a:ext cx="1901952" cy="219456"/>
          </a:xfrm>
          <a:prstGeom prst="rect">
            <a:avLst/>
          </a:prstGeom>
          <a:noFill/>
          <a:ln/>
        </p:spPr>
        <p:txBody>
          <a:bodyPr wrap="square" lIns="0" tIns="0" rIns="0" bIns="0" rtlCol="0" anchor="ctr"/>
          <a:lstStyle/>
          <a:p>
            <a:pPr algn="ctr" indent="0" marL="0">
              <a:buNone/>
            </a:pPr>
            <a:r>
              <a:rPr lang="en-US" sz="850" dirty="0">
                <a:solidFill>
                  <a:srgbClr val="9BA1C1"/>
                </a:solidFill>
                <a:latin typeface="Arial" pitchFamily="34" charset="0"/>
                <a:ea typeface="Arial" pitchFamily="34" charset="-122"/>
                <a:cs typeface="Arial" pitchFamily="34" charset="-120"/>
              </a:rPr>
              <a:t>email, device, orders</a:t>
            </a:r>
            <a:endParaRPr lang="en-US" sz="850" dirty="0"/>
          </a:p>
        </p:txBody>
      </p:sp>
      <p:sp>
        <p:nvSpPr>
          <p:cNvPr id="23" name="Shape 21"/>
          <p:cNvSpPr/>
          <p:nvPr/>
        </p:nvSpPr>
        <p:spPr>
          <a:xfrm>
            <a:off x="8010144" y="2734056"/>
            <a:ext cx="1901952" cy="621792"/>
          </a:xfrm>
          <a:prstGeom prst="roundRect">
            <a:avLst>
              <a:gd name="adj" fmla="val 7353"/>
            </a:avLst>
          </a:prstGeom>
          <a:solidFill>
            <a:srgbClr val="16302A"/>
          </a:solidFill>
          <a:ln w="12700">
            <a:solidFill>
              <a:srgbClr val="6FC095"/>
            </a:solidFill>
            <a:prstDash val="solid"/>
          </a:ln>
        </p:spPr>
      </p:sp>
      <p:sp>
        <p:nvSpPr>
          <p:cNvPr id="24" name="Text 22"/>
          <p:cNvSpPr txBox="1"/>
          <p:nvPr/>
        </p:nvSpPr>
        <p:spPr>
          <a:xfrm>
            <a:off x="8010144" y="2788920"/>
            <a:ext cx="1901952" cy="219456"/>
          </a:xfrm>
          <a:prstGeom prst="rect">
            <a:avLst/>
          </a:prstGeom>
          <a:noFill/>
          <a:ln/>
        </p:spPr>
        <p:txBody>
          <a:bodyPr wrap="square" lIns="0" tIns="0" rIns="0" bIns="0" rtlCol="0" anchor="ctr"/>
          <a:lstStyle/>
          <a:p>
            <a:pPr algn="ctr" indent="0" marL="0">
              <a:buNone/>
            </a:pPr>
            <a:r>
              <a:rPr lang="en-US" sz="950" b="1" dirty="0">
                <a:solidFill>
                  <a:srgbClr val="6FC095"/>
                </a:solidFill>
                <a:latin typeface="Arial" pitchFamily="34" charset="0"/>
                <a:ea typeface="Arial" pitchFamily="34" charset="-122"/>
                <a:cs typeface="Arial" pitchFamily="34" charset="-120"/>
              </a:rPr>
              <a:t>Measurements + outcomes</a:t>
            </a:r>
            <a:endParaRPr lang="en-US" sz="950" dirty="0"/>
          </a:p>
        </p:txBody>
      </p:sp>
      <p:sp>
        <p:nvSpPr>
          <p:cNvPr id="25" name="Text 23"/>
          <p:cNvSpPr txBox="1"/>
          <p:nvPr/>
        </p:nvSpPr>
        <p:spPr>
          <a:xfrm>
            <a:off x="8010144" y="3008376"/>
            <a:ext cx="1901952" cy="219456"/>
          </a:xfrm>
          <a:prstGeom prst="rect">
            <a:avLst/>
          </a:prstGeom>
          <a:noFill/>
          <a:ln/>
        </p:spPr>
        <p:txBody>
          <a:bodyPr wrap="square" lIns="0" tIns="0" rIns="0" bIns="0" rtlCol="0" anchor="ctr"/>
          <a:lstStyle/>
          <a:p>
            <a:pPr algn="ctr" indent="0" marL="0">
              <a:buNone/>
            </a:pPr>
            <a:r>
              <a:rPr lang="en-US" sz="850" dirty="0">
                <a:solidFill>
                  <a:srgbClr val="9BA1C1"/>
                </a:solidFill>
                <a:latin typeface="Arial" pitchFamily="34" charset="0"/>
                <a:ea typeface="Arial" pitchFamily="34" charset="-122"/>
                <a:cs typeface="Arial" pitchFamily="34" charset="-120"/>
              </a:rPr>
              <a:t>pseudonymised, no faces</a:t>
            </a:r>
            <a:endParaRPr lang="en-US" sz="850" dirty="0"/>
          </a:p>
        </p:txBody>
      </p:sp>
      <p:sp>
        <p:nvSpPr>
          <p:cNvPr id="26" name="Text 24"/>
          <p:cNvSpPr txBox="1"/>
          <p:nvPr/>
        </p:nvSpPr>
        <p:spPr>
          <a:xfrm>
            <a:off x="4626864" y="3456432"/>
            <a:ext cx="5394960" cy="201168"/>
          </a:xfrm>
          <a:prstGeom prst="rect">
            <a:avLst/>
          </a:prstGeom>
          <a:noFill/>
          <a:ln/>
        </p:spPr>
        <p:txBody>
          <a:bodyPr wrap="square" lIns="0" tIns="0" rIns="0" bIns="0" rtlCol="0" anchor="ctr"/>
          <a:lstStyle/>
          <a:p>
            <a:pPr algn="r" indent="0" marL="0">
              <a:buNone/>
            </a:pPr>
            <a:r>
              <a:rPr lang="en-US" sz="850" i="1" dirty="0">
                <a:solidFill>
                  <a:srgbClr val="6FC095"/>
                </a:solidFill>
                <a:latin typeface="Arial" pitchFamily="34" charset="0"/>
                <a:ea typeface="Arial" pitchFamily="34" charset="-122"/>
                <a:cs typeface="Arial" pitchFamily="34" charset="-120"/>
              </a:rPr>
              <a:t>the two are joined only by a pseudonym — deleting it anonymises the rest</a:t>
            </a:r>
            <a:endParaRPr lang="en-US" sz="850" dirty="0"/>
          </a:p>
        </p:txBody>
      </p:sp>
      <p:sp>
        <p:nvSpPr>
          <p:cNvPr id="27" name="Text 25"/>
          <p:cNvSpPr txBox="1"/>
          <p:nvPr/>
        </p:nvSpPr>
        <p:spPr>
          <a:xfrm>
            <a:off x="274320" y="2377440"/>
            <a:ext cx="1170432" cy="365760"/>
          </a:xfrm>
          <a:prstGeom prst="rect">
            <a:avLst/>
          </a:prstGeom>
          <a:noFill/>
          <a:ln/>
        </p:spPr>
        <p:txBody>
          <a:bodyPr wrap="square" lIns="0" tIns="0" rIns="0" bIns="0" rtlCol="0" anchor="ctr"/>
          <a:lstStyle/>
          <a:p>
            <a:pPr indent="0" marL="0">
              <a:buNone/>
            </a:pPr>
            <a:r>
              <a:rPr lang="en-US" sz="850" b="1" spc="120" kern="0" dirty="0">
                <a:solidFill>
                  <a:srgbClr val="6E7699"/>
                </a:solidFill>
                <a:latin typeface="Arial" pitchFamily="34" charset="0"/>
                <a:ea typeface="Arial" pitchFamily="34" charset="-122"/>
                <a:cs typeface="Arial" pitchFamily="34" charset="-120"/>
              </a:rPr>
              <a:t>BACK END</a:t>
            </a:r>
            <a:endParaRPr lang="en-US" sz="850" dirty="0"/>
          </a:p>
        </p:txBody>
      </p:sp>
      <p:sp>
        <p:nvSpPr>
          <p:cNvPr id="28" name="Shape 26"/>
          <p:cNvSpPr/>
          <p:nvPr/>
        </p:nvSpPr>
        <p:spPr>
          <a:xfrm>
            <a:off x="1517904" y="3694176"/>
            <a:ext cx="6126480" cy="786384"/>
          </a:xfrm>
          <a:prstGeom prst="roundRect">
            <a:avLst>
              <a:gd name="adj" fmla="val 5814"/>
            </a:avLst>
          </a:prstGeom>
          <a:solidFill>
            <a:srgbClr val="223050"/>
          </a:solidFill>
          <a:ln w="17780">
            <a:solidFill>
              <a:srgbClr val="83B4DE"/>
            </a:solidFill>
            <a:prstDash val="solid"/>
          </a:ln>
        </p:spPr>
      </p:sp>
      <p:sp>
        <p:nvSpPr>
          <p:cNvPr id="29" name="Text 27"/>
          <p:cNvSpPr txBox="1"/>
          <p:nvPr/>
        </p:nvSpPr>
        <p:spPr>
          <a:xfrm>
            <a:off x="1664208" y="3767328"/>
            <a:ext cx="5852160" cy="256032"/>
          </a:xfrm>
          <a:prstGeom prst="rect">
            <a:avLst/>
          </a:prstGeom>
          <a:noFill/>
          <a:ln/>
        </p:spPr>
        <p:txBody>
          <a:bodyPr wrap="square" lIns="0" tIns="0" rIns="0" bIns="0" rtlCol="0" anchor="ctr"/>
          <a:lstStyle/>
          <a:p>
            <a:pPr indent="0" marL="0">
              <a:buNone/>
            </a:pPr>
            <a:r>
              <a:rPr lang="en-US" sz="1150" b="1" dirty="0">
                <a:solidFill>
                  <a:srgbClr val="83B4DE"/>
                </a:solidFill>
                <a:latin typeface="Arial" pitchFamily="34" charset="0"/>
                <a:ea typeface="Arial" pitchFamily="34" charset="-122"/>
                <a:cs typeface="Arial" pitchFamily="34" charset="-120"/>
              </a:rPr>
              <a:t>Modal  ·  Python worker, scales to zero</a:t>
            </a:r>
            <a:endParaRPr lang="en-US" sz="1150" dirty="0"/>
          </a:p>
        </p:txBody>
      </p:sp>
      <p:sp>
        <p:nvSpPr>
          <p:cNvPr id="30" name="Text 28"/>
          <p:cNvSpPr txBox="1"/>
          <p:nvPr/>
        </p:nvSpPr>
        <p:spPr>
          <a:xfrm>
            <a:off x="1664208" y="4023360"/>
            <a:ext cx="5852160" cy="219456"/>
          </a:xfrm>
          <a:prstGeom prst="rect">
            <a:avLst/>
          </a:prstGeom>
          <a:noFill/>
          <a:ln/>
        </p:spPr>
        <p:txBody>
          <a:bodyPr wrap="square" lIns="0" tIns="0" rIns="0" bIns="0" rtlCol="0" anchor="ctr"/>
          <a:lstStyle/>
          <a:p>
            <a:pPr indent="0" marL="0">
              <a:buNone/>
            </a:pPr>
            <a:r>
              <a:rPr lang="en-US" sz="900" dirty="0">
                <a:solidFill>
                  <a:srgbClr val="9BA1C1"/>
                </a:solidFill>
                <a:latin typeface="Arial" pitchFamily="34" charset="0"/>
                <a:ea typeface="Arial" pitchFamily="34" charset="-122"/>
                <a:cs typeface="Arial" pitchFamily="34" charset="-120"/>
              </a:rPr>
              <a:t>3D body fit · measurement extractor · the calculator · calibration · the six agents</a:t>
            </a:r>
            <a:endParaRPr lang="en-US" sz="900" dirty="0"/>
          </a:p>
        </p:txBody>
      </p:sp>
      <p:sp>
        <p:nvSpPr>
          <p:cNvPr id="31" name="Shape 29"/>
          <p:cNvSpPr/>
          <p:nvPr/>
        </p:nvSpPr>
        <p:spPr>
          <a:xfrm>
            <a:off x="7790688" y="3694176"/>
            <a:ext cx="2231136" cy="786384"/>
          </a:xfrm>
          <a:prstGeom prst="roundRect">
            <a:avLst>
              <a:gd name="adj" fmla="val 5814"/>
            </a:avLst>
          </a:prstGeom>
          <a:solidFill>
            <a:srgbClr val="3A3A62"/>
          </a:solidFill>
          <a:ln w="17780">
            <a:solidFill>
              <a:srgbClr val="E0A458"/>
            </a:solidFill>
            <a:prstDash val="solid"/>
          </a:ln>
        </p:spPr>
      </p:sp>
      <p:sp>
        <p:nvSpPr>
          <p:cNvPr id="32" name="Text 30"/>
          <p:cNvSpPr txBox="1"/>
          <p:nvPr/>
        </p:nvSpPr>
        <p:spPr>
          <a:xfrm>
            <a:off x="7790688" y="3767328"/>
            <a:ext cx="2231136" cy="256032"/>
          </a:xfrm>
          <a:prstGeom prst="rect">
            <a:avLst/>
          </a:prstGeom>
          <a:noFill/>
          <a:ln/>
        </p:spPr>
        <p:txBody>
          <a:bodyPr wrap="square" lIns="0" tIns="0" rIns="0" bIns="0" rtlCol="0" anchor="ctr"/>
          <a:lstStyle/>
          <a:p>
            <a:pPr algn="ctr" indent="0" marL="0">
              <a:buNone/>
            </a:pPr>
            <a:r>
              <a:rPr lang="en-US" sz="1150" b="1" dirty="0">
                <a:solidFill>
                  <a:srgbClr val="E0A458"/>
                </a:solidFill>
                <a:latin typeface="Arial" pitchFamily="34" charset="0"/>
                <a:ea typeface="Arial" pitchFamily="34" charset="-122"/>
                <a:cs typeface="Arial" pitchFamily="34" charset="-120"/>
              </a:rPr>
              <a:t>Anthropic API</a:t>
            </a:r>
            <a:endParaRPr lang="en-US" sz="1150" dirty="0"/>
          </a:p>
        </p:txBody>
      </p:sp>
      <p:sp>
        <p:nvSpPr>
          <p:cNvPr id="33" name="Text 31"/>
          <p:cNvSpPr txBox="1"/>
          <p:nvPr/>
        </p:nvSpPr>
        <p:spPr>
          <a:xfrm>
            <a:off x="7790688" y="4023360"/>
            <a:ext cx="2231136" cy="219456"/>
          </a:xfrm>
          <a:prstGeom prst="rect">
            <a:avLst/>
          </a:prstGeom>
          <a:noFill/>
          <a:ln/>
        </p:spPr>
        <p:txBody>
          <a:bodyPr wrap="square" lIns="0" tIns="0" rIns="0" bIns="0" rtlCol="0" anchor="ctr"/>
          <a:lstStyle/>
          <a:p>
            <a:pPr algn="ctr" indent="0" marL="0">
              <a:buNone/>
            </a:pPr>
            <a:r>
              <a:rPr lang="en-US" sz="900" dirty="0">
                <a:solidFill>
                  <a:srgbClr val="9BA1C1"/>
                </a:solidFill>
                <a:latin typeface="Arial" pitchFamily="34" charset="0"/>
                <a:ea typeface="Arial" pitchFamily="34" charset="-122"/>
                <a:cs typeface="Arial" pitchFamily="34" charset="-120"/>
              </a:rPr>
              <a:t>Haiku 4.5 · Opus 5</a:t>
            </a:r>
            <a:endParaRPr lang="en-US" sz="900" dirty="0"/>
          </a:p>
        </p:txBody>
      </p:sp>
      <p:sp>
        <p:nvSpPr>
          <p:cNvPr id="34" name="Shape 32"/>
          <p:cNvSpPr/>
          <p:nvPr/>
        </p:nvSpPr>
        <p:spPr>
          <a:xfrm>
            <a:off x="1517904" y="4736592"/>
            <a:ext cx="2761488" cy="676656"/>
          </a:xfrm>
          <a:prstGeom prst="roundRect">
            <a:avLst>
              <a:gd name="adj" fmla="val 6757"/>
            </a:avLst>
          </a:prstGeom>
          <a:solidFill>
            <a:srgbClr val="252943"/>
          </a:solidFill>
          <a:ln w="16510">
            <a:solidFill>
              <a:srgbClr val="EC8079"/>
            </a:solidFill>
            <a:prstDash val="solid"/>
          </a:ln>
        </p:spPr>
      </p:sp>
      <p:sp>
        <p:nvSpPr>
          <p:cNvPr id="35" name="Text 33"/>
          <p:cNvSpPr txBox="1"/>
          <p:nvPr/>
        </p:nvSpPr>
        <p:spPr>
          <a:xfrm>
            <a:off x="1517904" y="4809744"/>
            <a:ext cx="2761488" cy="237744"/>
          </a:xfrm>
          <a:prstGeom prst="rect">
            <a:avLst/>
          </a:prstGeom>
          <a:noFill/>
          <a:ln/>
        </p:spPr>
        <p:txBody>
          <a:bodyPr wrap="square" lIns="0" tIns="0" rIns="0" bIns="0" rtlCol="0" anchor="ctr"/>
          <a:lstStyle/>
          <a:p>
            <a:pPr algn="ctr" indent="0" marL="0">
              <a:buNone/>
            </a:pPr>
            <a:r>
              <a:rPr lang="en-US" sz="1100" b="1" dirty="0">
                <a:solidFill>
                  <a:srgbClr val="EC8079"/>
                </a:solidFill>
                <a:latin typeface="Arial" pitchFamily="34" charset="0"/>
                <a:ea typeface="Arial" pitchFamily="34" charset="-122"/>
                <a:cs typeface="Arial" pitchFamily="34" charset="-120"/>
              </a:rPr>
              <a:t>Payments</a:t>
            </a:r>
            <a:endParaRPr lang="en-US" sz="1100" dirty="0"/>
          </a:p>
        </p:txBody>
      </p:sp>
      <p:sp>
        <p:nvSpPr>
          <p:cNvPr id="36" name="Text 34"/>
          <p:cNvSpPr txBox="1"/>
          <p:nvPr/>
        </p:nvSpPr>
        <p:spPr>
          <a:xfrm>
            <a:off x="1517904" y="5047488"/>
            <a:ext cx="2761488" cy="292608"/>
          </a:xfrm>
          <a:prstGeom prst="rect">
            <a:avLst/>
          </a:prstGeom>
          <a:noFill/>
          <a:ln/>
        </p:spPr>
        <p:txBody>
          <a:bodyPr wrap="square" lIns="0" tIns="0" rIns="0" bIns="0" rtlCol="0" anchor="ctr"/>
          <a:lstStyle/>
          <a:p>
            <a:pPr algn="ctr" indent="0" marL="0">
              <a:lnSpc>
                <a:spcPct val="110000"/>
              </a:lnSpc>
              <a:buNone/>
            </a:pPr>
            <a:r>
              <a:rPr lang="en-US" sz="850" dirty="0">
                <a:solidFill>
                  <a:srgbClr val="9BA1C1"/>
                </a:solidFill>
                <a:latin typeface="Arial" pitchFamily="34" charset="0"/>
                <a:ea typeface="Arial" pitchFamily="34" charset="-122"/>
                <a:cs typeface="Arial" pitchFamily="34" charset="-120"/>
              </a:rPr>
              <a:t>our page, our branding · payment triggered by API · money to the brand</a:t>
            </a:r>
            <a:endParaRPr lang="en-US" sz="850" dirty="0"/>
          </a:p>
        </p:txBody>
      </p:sp>
      <p:sp>
        <p:nvSpPr>
          <p:cNvPr id="37" name="Shape 35"/>
          <p:cNvSpPr/>
          <p:nvPr/>
        </p:nvSpPr>
        <p:spPr>
          <a:xfrm>
            <a:off x="4389120" y="4736592"/>
            <a:ext cx="2761488" cy="676656"/>
          </a:xfrm>
          <a:prstGeom prst="roundRect">
            <a:avLst>
              <a:gd name="adj" fmla="val 6757"/>
            </a:avLst>
          </a:prstGeom>
          <a:solidFill>
            <a:srgbClr val="252943"/>
          </a:solidFill>
          <a:ln w="12700">
            <a:solidFill>
              <a:srgbClr val="3D4370"/>
            </a:solidFill>
            <a:prstDash val="solid"/>
          </a:ln>
        </p:spPr>
      </p:sp>
      <p:sp>
        <p:nvSpPr>
          <p:cNvPr id="38" name="Text 36"/>
          <p:cNvSpPr txBox="1"/>
          <p:nvPr/>
        </p:nvSpPr>
        <p:spPr>
          <a:xfrm>
            <a:off x="4389120" y="4809744"/>
            <a:ext cx="2761488" cy="237744"/>
          </a:xfrm>
          <a:prstGeom prst="rect">
            <a:avLst/>
          </a:prstGeom>
          <a:noFill/>
          <a:ln/>
        </p:spPr>
        <p:txBody>
          <a:bodyPr wrap="square" lIns="0" tIns="0" rIns="0" bIns="0" rtlCol="0" anchor="ctr"/>
          <a:lstStyle/>
          <a:p>
            <a:pPr algn="ctr" indent="0" marL="0">
              <a:buNone/>
            </a:pPr>
            <a:r>
              <a:rPr lang="en-US" sz="1100" b="1" dirty="0">
                <a:solidFill>
                  <a:srgbClr val="F2F3F8"/>
                </a:solidFill>
                <a:latin typeface="Arial" pitchFamily="34" charset="0"/>
                <a:ea typeface="Arial" pitchFamily="34" charset="-122"/>
                <a:cs typeface="Arial" pitchFamily="34" charset="-120"/>
              </a:rPr>
              <a:t>Brand systems</a:t>
            </a:r>
            <a:endParaRPr lang="en-US" sz="1100" dirty="0"/>
          </a:p>
        </p:txBody>
      </p:sp>
      <p:sp>
        <p:nvSpPr>
          <p:cNvPr id="39" name="Text 37"/>
          <p:cNvSpPr txBox="1"/>
          <p:nvPr/>
        </p:nvSpPr>
        <p:spPr>
          <a:xfrm>
            <a:off x="4389120" y="5047488"/>
            <a:ext cx="2761488" cy="292608"/>
          </a:xfrm>
          <a:prstGeom prst="rect">
            <a:avLst/>
          </a:prstGeom>
          <a:noFill/>
          <a:ln/>
        </p:spPr>
        <p:txBody>
          <a:bodyPr wrap="square" lIns="0" tIns="0" rIns="0" bIns="0" rtlCol="0" anchor="ctr"/>
          <a:lstStyle/>
          <a:p>
            <a:pPr algn="ctr" indent="0" marL="0">
              <a:lnSpc>
                <a:spcPct val="110000"/>
              </a:lnSpc>
              <a:buNone/>
            </a:pPr>
            <a:r>
              <a:rPr lang="en-US" sz="850" dirty="0">
                <a:solidFill>
                  <a:srgbClr val="9BA1C1"/>
                </a:solidFill>
                <a:latin typeface="Arial" pitchFamily="34" charset="0"/>
                <a:ea typeface="Arial" pitchFamily="34" charset="-122"/>
                <a:cs typeface="Arial" pitchFamily="34" charset="-120"/>
              </a:rPr>
              <a:t>order API · size-chart feed or scrape</a:t>
            </a:r>
            <a:endParaRPr lang="en-US" sz="850" dirty="0"/>
          </a:p>
        </p:txBody>
      </p:sp>
      <p:sp>
        <p:nvSpPr>
          <p:cNvPr id="40" name="Shape 38"/>
          <p:cNvSpPr/>
          <p:nvPr/>
        </p:nvSpPr>
        <p:spPr>
          <a:xfrm>
            <a:off x="7260336" y="4736592"/>
            <a:ext cx="2761488" cy="676656"/>
          </a:xfrm>
          <a:prstGeom prst="roundRect">
            <a:avLst>
              <a:gd name="adj" fmla="val 6757"/>
            </a:avLst>
          </a:prstGeom>
          <a:solidFill>
            <a:srgbClr val="252943"/>
          </a:solidFill>
          <a:ln w="12700">
            <a:solidFill>
              <a:srgbClr val="3D4370"/>
            </a:solidFill>
            <a:prstDash val="solid"/>
          </a:ln>
        </p:spPr>
      </p:sp>
      <p:sp>
        <p:nvSpPr>
          <p:cNvPr id="41" name="Text 39"/>
          <p:cNvSpPr txBox="1"/>
          <p:nvPr/>
        </p:nvSpPr>
        <p:spPr>
          <a:xfrm>
            <a:off x="7260336" y="4809744"/>
            <a:ext cx="2761488" cy="237744"/>
          </a:xfrm>
          <a:prstGeom prst="rect">
            <a:avLst/>
          </a:prstGeom>
          <a:noFill/>
          <a:ln/>
        </p:spPr>
        <p:txBody>
          <a:bodyPr wrap="square" lIns="0" tIns="0" rIns="0" bIns="0" rtlCol="0" anchor="ctr"/>
          <a:lstStyle/>
          <a:p>
            <a:pPr algn="ctr" indent="0" marL="0">
              <a:buNone/>
            </a:pPr>
            <a:r>
              <a:rPr lang="en-US" sz="1100" b="1" dirty="0">
                <a:solidFill>
                  <a:srgbClr val="F2F3F8"/>
                </a:solidFill>
                <a:latin typeface="Arial" pitchFamily="34" charset="0"/>
                <a:ea typeface="Arial" pitchFamily="34" charset="-122"/>
                <a:cs typeface="Arial" pitchFamily="34" charset="-120"/>
              </a:rPr>
              <a:t>Logistics</a:t>
            </a:r>
            <a:endParaRPr lang="en-US" sz="1100" dirty="0"/>
          </a:p>
        </p:txBody>
      </p:sp>
      <p:sp>
        <p:nvSpPr>
          <p:cNvPr id="42" name="Text 40"/>
          <p:cNvSpPr txBox="1"/>
          <p:nvPr/>
        </p:nvSpPr>
        <p:spPr>
          <a:xfrm>
            <a:off x="7260336" y="5047488"/>
            <a:ext cx="2761488" cy="292608"/>
          </a:xfrm>
          <a:prstGeom prst="rect">
            <a:avLst/>
          </a:prstGeom>
          <a:noFill/>
          <a:ln/>
        </p:spPr>
        <p:txBody>
          <a:bodyPr wrap="square" lIns="0" tIns="0" rIns="0" bIns="0" rtlCol="0" anchor="ctr"/>
          <a:lstStyle/>
          <a:p>
            <a:pPr algn="ctr" indent="0" marL="0">
              <a:lnSpc>
                <a:spcPct val="110000"/>
              </a:lnSpc>
              <a:buNone/>
            </a:pPr>
            <a:r>
              <a:rPr lang="en-US" sz="850" dirty="0">
                <a:solidFill>
                  <a:srgbClr val="9BA1C1"/>
                </a:solidFill>
                <a:latin typeface="Arial" pitchFamily="34" charset="0"/>
                <a:ea typeface="Arial" pitchFamily="34" charset="-122"/>
                <a:cs typeface="Arial" pitchFamily="34" charset="-120"/>
              </a:rPr>
              <a:t>carrier API · returns labels</a:t>
            </a:r>
            <a:endParaRPr lang="en-US" sz="850" dirty="0"/>
          </a:p>
        </p:txBody>
      </p:sp>
      <p:sp>
        <p:nvSpPr>
          <p:cNvPr id="43" name="Text 41"/>
          <p:cNvSpPr txBox="1"/>
          <p:nvPr/>
        </p:nvSpPr>
        <p:spPr>
          <a:xfrm>
            <a:off x="274320" y="4736592"/>
            <a:ext cx="1170432" cy="676656"/>
          </a:xfrm>
          <a:prstGeom prst="rect">
            <a:avLst/>
          </a:prstGeom>
          <a:noFill/>
          <a:ln/>
        </p:spPr>
        <p:txBody>
          <a:bodyPr wrap="square" lIns="0" tIns="0" rIns="0" bIns="0" rtlCol="0" anchor="ctr"/>
          <a:lstStyle/>
          <a:p>
            <a:pPr indent="0" marL="0">
              <a:buNone/>
            </a:pPr>
            <a:r>
              <a:rPr lang="en-US" sz="850" b="1" spc="120" kern="0" dirty="0">
                <a:solidFill>
                  <a:srgbClr val="6E7699"/>
                </a:solidFill>
                <a:latin typeface="Arial" pitchFamily="34" charset="0"/>
                <a:ea typeface="Arial" pitchFamily="34" charset="-122"/>
                <a:cs typeface="Arial" pitchFamily="34" charset="-120"/>
              </a:rPr>
              <a:t>SUPPORT</a:t>
            </a:r>
            <a:endParaRPr lang="en-US" sz="850" dirty="0"/>
          </a:p>
        </p:txBody>
      </p:sp>
      <p:sp>
        <p:nvSpPr>
          <p:cNvPr id="44" name="Shape 42"/>
          <p:cNvSpPr/>
          <p:nvPr/>
        </p:nvSpPr>
        <p:spPr>
          <a:xfrm>
            <a:off x="1225296" y="1280160"/>
            <a:ext cx="0" cy="3794760"/>
          </a:xfrm>
          <a:prstGeom prst="line">
            <a:avLst/>
          </a:prstGeom>
          <a:noFill/>
          <a:ln w="15875">
            <a:solidFill>
              <a:srgbClr val="9BA1C1"/>
            </a:solidFill>
            <a:prstDash val="solid"/>
          </a:ln>
        </p:spPr>
      </p:sp>
      <p:sp>
        <p:nvSpPr>
          <p:cNvPr id="45" name="Shape 43"/>
          <p:cNvSpPr/>
          <p:nvPr/>
        </p:nvSpPr>
        <p:spPr>
          <a:xfrm>
            <a:off x="1225296" y="2121408"/>
            <a:ext cx="256032" cy="0"/>
          </a:xfrm>
          <a:prstGeom prst="line">
            <a:avLst/>
          </a:prstGeom>
          <a:noFill/>
          <a:ln w="15875">
            <a:solidFill>
              <a:srgbClr val="9BA1C1"/>
            </a:solidFill>
            <a:prstDash val="solid"/>
            <a:tailEnd type="triangle"/>
          </a:ln>
        </p:spPr>
      </p:sp>
      <p:sp>
        <p:nvSpPr>
          <p:cNvPr id="46" name="Shape 44"/>
          <p:cNvSpPr/>
          <p:nvPr/>
        </p:nvSpPr>
        <p:spPr>
          <a:xfrm>
            <a:off x="1225296" y="3044952"/>
            <a:ext cx="256032" cy="0"/>
          </a:xfrm>
          <a:prstGeom prst="line">
            <a:avLst/>
          </a:prstGeom>
          <a:noFill/>
          <a:ln w="15875">
            <a:solidFill>
              <a:srgbClr val="9BA1C1"/>
            </a:solidFill>
            <a:prstDash val="solid"/>
            <a:tailEnd type="triangle"/>
          </a:ln>
        </p:spPr>
      </p:sp>
      <p:sp>
        <p:nvSpPr>
          <p:cNvPr id="47" name="Shape 45"/>
          <p:cNvSpPr/>
          <p:nvPr/>
        </p:nvSpPr>
        <p:spPr>
          <a:xfrm>
            <a:off x="1225296" y="4087368"/>
            <a:ext cx="256032" cy="0"/>
          </a:xfrm>
          <a:prstGeom prst="line">
            <a:avLst/>
          </a:prstGeom>
          <a:noFill/>
          <a:ln w="15875">
            <a:solidFill>
              <a:srgbClr val="9BA1C1"/>
            </a:solidFill>
            <a:prstDash val="solid"/>
            <a:tailEnd type="triangle"/>
          </a:ln>
        </p:spPr>
      </p:sp>
      <p:sp>
        <p:nvSpPr>
          <p:cNvPr id="48" name="Shape 46"/>
          <p:cNvSpPr/>
          <p:nvPr/>
        </p:nvSpPr>
        <p:spPr>
          <a:xfrm>
            <a:off x="1225296" y="5074920"/>
            <a:ext cx="256032" cy="0"/>
          </a:xfrm>
          <a:prstGeom prst="line">
            <a:avLst/>
          </a:prstGeom>
          <a:noFill/>
          <a:ln w="15875">
            <a:solidFill>
              <a:srgbClr val="9BA1C1"/>
            </a:solidFill>
            <a:prstDash val="solid"/>
            <a:tailEnd type="triangle"/>
          </a:ln>
        </p:spPr>
      </p:sp>
      <p:sp>
        <p:nvSpPr>
          <p:cNvPr id="49" name="Text 47"/>
          <p:cNvSpPr txBox="1"/>
          <p:nvPr/>
        </p:nvSpPr>
        <p:spPr>
          <a:xfrm>
            <a:off x="274320" y="1883664"/>
            <a:ext cx="914400" cy="219456"/>
          </a:xfrm>
          <a:prstGeom prst="rect">
            <a:avLst/>
          </a:prstGeom>
          <a:noFill/>
          <a:ln/>
        </p:spPr>
        <p:txBody>
          <a:bodyPr wrap="square" lIns="0" tIns="0" rIns="0" bIns="0" rtlCol="0" anchor="ctr"/>
          <a:lstStyle/>
          <a:p>
            <a:pPr indent="0" marL="0">
              <a:buNone/>
            </a:pPr>
            <a:r>
              <a:rPr lang="en-US" sz="850" i="1" dirty="0">
                <a:solidFill>
                  <a:srgbClr val="9BA1C1"/>
                </a:solidFill>
                <a:latin typeface="Arial" pitchFamily="34" charset="0"/>
                <a:ea typeface="Arial" pitchFamily="34" charset="-122"/>
                <a:cs typeface="Arial" pitchFamily="34" charset="-120"/>
              </a:rPr>
              <a:t>requests</a:t>
            </a:r>
            <a:endParaRPr lang="en-US" sz="850" dirty="0"/>
          </a:p>
        </p:txBody>
      </p:sp>
      <p:sp>
        <p:nvSpPr>
          <p:cNvPr id="50" name="Shape 48"/>
          <p:cNvSpPr/>
          <p:nvPr/>
        </p:nvSpPr>
        <p:spPr>
          <a:xfrm>
            <a:off x="10314432" y="1280160"/>
            <a:ext cx="0" cy="3200400"/>
          </a:xfrm>
          <a:prstGeom prst="line">
            <a:avLst/>
          </a:prstGeom>
          <a:noFill/>
          <a:ln w="15875">
            <a:solidFill>
              <a:srgbClr val="6FC095"/>
            </a:solidFill>
            <a:prstDash val="solid"/>
          </a:ln>
        </p:spPr>
      </p:sp>
      <p:sp>
        <p:nvSpPr>
          <p:cNvPr id="51" name="Shape 49"/>
          <p:cNvSpPr/>
          <p:nvPr/>
        </p:nvSpPr>
        <p:spPr>
          <a:xfrm>
            <a:off x="10021824" y="1280160"/>
            <a:ext cx="292608" cy="0"/>
          </a:xfrm>
          <a:prstGeom prst="line">
            <a:avLst/>
          </a:prstGeom>
          <a:noFill/>
          <a:ln w="15875">
            <a:solidFill>
              <a:srgbClr val="6FC095"/>
            </a:solidFill>
            <a:prstDash val="solid"/>
          </a:ln>
        </p:spPr>
      </p:sp>
      <p:sp>
        <p:nvSpPr>
          <p:cNvPr id="52" name="Shape 50"/>
          <p:cNvSpPr/>
          <p:nvPr/>
        </p:nvSpPr>
        <p:spPr>
          <a:xfrm>
            <a:off x="10021824" y="4087368"/>
            <a:ext cx="292608" cy="0"/>
          </a:xfrm>
          <a:prstGeom prst="line">
            <a:avLst/>
          </a:prstGeom>
          <a:noFill/>
          <a:ln w="15875">
            <a:solidFill>
              <a:srgbClr val="6FC095"/>
            </a:solidFill>
            <a:prstDash val="solid"/>
            <a:headEnd type="triangle"/>
          </a:ln>
        </p:spPr>
      </p:sp>
      <p:sp>
        <p:nvSpPr>
          <p:cNvPr id="53" name="Shape 51"/>
          <p:cNvSpPr/>
          <p:nvPr/>
        </p:nvSpPr>
        <p:spPr>
          <a:xfrm>
            <a:off x="10314432" y="1280160"/>
            <a:ext cx="0" cy="91440"/>
          </a:xfrm>
          <a:prstGeom prst="line">
            <a:avLst/>
          </a:prstGeom>
          <a:noFill/>
          <a:ln w="15875">
            <a:solidFill>
              <a:srgbClr val="6FC095"/>
            </a:solidFill>
            <a:prstDash val="solid"/>
            <a:headEnd type="triangle"/>
          </a:ln>
        </p:spPr>
      </p:sp>
      <p:sp>
        <p:nvSpPr>
          <p:cNvPr id="54" name="Text 52"/>
          <p:cNvSpPr txBox="1"/>
          <p:nvPr/>
        </p:nvSpPr>
        <p:spPr>
          <a:xfrm>
            <a:off x="10460736" y="2468880"/>
            <a:ext cx="1225296" cy="457200"/>
          </a:xfrm>
          <a:prstGeom prst="rect">
            <a:avLst/>
          </a:prstGeom>
          <a:noFill/>
          <a:ln/>
        </p:spPr>
        <p:txBody>
          <a:bodyPr wrap="square" lIns="0" tIns="0" rIns="0" bIns="0" rtlCol="0" anchor="ctr"/>
          <a:lstStyle/>
          <a:p>
            <a:pPr indent="0" marL="0">
              <a:lnSpc>
                <a:spcPct val="105000"/>
              </a:lnSpc>
              <a:buNone/>
            </a:pPr>
            <a:r>
              <a:rPr lang="en-US" sz="850" i="1" dirty="0">
                <a:solidFill>
                  <a:srgbClr val="6FC095"/>
                </a:solidFill>
                <a:latin typeface="Arial" pitchFamily="34" charset="0"/>
                <a:ea typeface="Arial" pitchFamily="34" charset="-122"/>
                <a:cs typeface="Arial" pitchFamily="34" charset="-120"/>
              </a:rPr>
              <a:t>live updates,</a:t>
            </a:r>
            <a:endParaRPr lang="en-US" sz="850" dirty="0"/>
          </a:p>
          <a:p>
            <a:pPr indent="0" marL="0">
              <a:lnSpc>
                <a:spcPct val="105000"/>
              </a:lnSpc>
              <a:buNone/>
            </a:pPr>
            <a:r>
              <a:rPr lang="en-US" sz="850" i="1" dirty="0">
                <a:solidFill>
                  <a:srgbClr val="6FC095"/>
                </a:solidFill>
                <a:latin typeface="Arial" pitchFamily="34" charset="0"/>
                <a:ea typeface="Arial" pitchFamily="34" charset="-122"/>
                <a:cs typeface="Arial" pitchFamily="34" charset="-120"/>
              </a:rPr>
              <a:t>agent state</a:t>
            </a:r>
            <a:endParaRPr lang="en-US" sz="850" dirty="0"/>
          </a:p>
        </p:txBody>
      </p:sp>
      <p:sp>
        <p:nvSpPr>
          <p:cNvPr id="55" name="Text 53"/>
          <p:cNvSpPr txBox="1"/>
          <p:nvPr/>
        </p:nvSpPr>
        <p:spPr>
          <a:xfrm>
            <a:off x="502920" y="5596128"/>
            <a:ext cx="11185855" cy="310896"/>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Everything that holds personal data sits in the EU. Video frames are never stored — only the height, nine measurements and how sure we are.</a:t>
            </a:r>
            <a:endParaRPr lang="en-US" sz="1150" dirty="0"/>
          </a:p>
        </p:txBody>
      </p:sp>
      <p:sp>
        <p:nvSpPr>
          <p:cNvPr id="56" name="Text 54"/>
          <p:cNvSpPr txBox="1"/>
          <p:nvPr/>
        </p:nvSpPr>
        <p:spPr>
          <a:xfrm>
            <a:off x="502920" y="5870448"/>
            <a:ext cx="11185855" cy="548640"/>
          </a:xfrm>
          <a:prstGeom prst="rect">
            <a:avLst/>
          </a:prstGeom>
          <a:noFill/>
          <a:ln/>
        </p:spPr>
        <p:txBody>
          <a:bodyPr wrap="square" lIns="0" tIns="0" rIns="0" bIns="0" rtlCol="0" anchor="t"/>
          <a:lstStyle/>
          <a:p>
            <a:pPr indent="0" marL="0">
              <a:lnSpc>
                <a:spcPct val="118000"/>
              </a:lnSpc>
              <a:buNone/>
            </a:pPr>
            <a:r>
              <a:rPr lang="en-US" sz="1200" i="1" dirty="0">
                <a:solidFill>
                  <a:srgbClr val="E0A458"/>
                </a:solidFill>
                <a:latin typeface="Arial" pitchFamily="34" charset="0"/>
                <a:ea typeface="Arial" pitchFamily="34" charset="-122"/>
                <a:cs typeface="Arial" pitchFamily="34" charset="-120"/>
              </a:rPr>
              <a:t>The checkout is ours — our page, our branding, our confirmation — but the card fields are the provider's and the money goes straight to the brand. The order is still our own event, without us ever holding funds.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PLAN</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Fourteen weeks: hardest part first, screens last</a:t>
            </a:r>
            <a:endParaRPr lang="en-US" sz="3000" dirty="0"/>
          </a:p>
        </p:txBody>
      </p:sp>
      <p:sp>
        <p:nvSpPr>
          <p:cNvPr id="4" name="Shape 2"/>
          <p:cNvSpPr/>
          <p:nvPr/>
        </p:nvSpPr>
        <p:spPr>
          <a:xfrm>
            <a:off x="502920" y="1517904"/>
            <a:ext cx="11185855" cy="457200"/>
          </a:xfrm>
          <a:prstGeom prst="roundRect">
            <a:avLst>
              <a:gd name="adj" fmla="val 12000"/>
            </a:avLst>
          </a:prstGeom>
          <a:solidFill>
            <a:srgbClr val="252943"/>
          </a:solidFill>
          <a:ln w="12700">
            <a:solidFill>
              <a:srgbClr val="252943"/>
            </a:solidFill>
            <a:prstDash val="solid"/>
          </a:ln>
        </p:spPr>
      </p:sp>
      <p:sp>
        <p:nvSpPr>
          <p:cNvPr id="5" name="Text 3"/>
          <p:cNvSpPr txBox="1"/>
          <p:nvPr/>
        </p:nvSpPr>
        <p:spPr>
          <a:xfrm>
            <a:off x="704088" y="1517904"/>
            <a:ext cx="1051560" cy="457200"/>
          </a:xfrm>
          <a:prstGeom prst="rect">
            <a:avLst/>
          </a:prstGeom>
          <a:noFill/>
          <a:ln/>
        </p:spPr>
        <p:txBody>
          <a:bodyPr wrap="square" lIns="0" tIns="0" rIns="0" bIns="0" rtlCol="0" anchor="ctr"/>
          <a:lstStyle/>
          <a:p>
            <a:pPr indent="0" marL="0">
              <a:buNone/>
            </a:pPr>
            <a:r>
              <a:rPr lang="en-US" sz="1300" b="1" dirty="0">
                <a:solidFill>
                  <a:srgbClr val="83B4DE"/>
                </a:solidFill>
                <a:latin typeface="Arial" pitchFamily="34" charset="0"/>
                <a:ea typeface="Arial" pitchFamily="34" charset="-122"/>
                <a:cs typeface="Arial" pitchFamily="34" charset="-120"/>
              </a:rPr>
              <a:t>1–2</a:t>
            </a:r>
            <a:endParaRPr lang="en-US" sz="1300" dirty="0"/>
          </a:p>
        </p:txBody>
      </p:sp>
      <p:sp>
        <p:nvSpPr>
          <p:cNvPr id="6" name="Text 4"/>
          <p:cNvSpPr txBox="1"/>
          <p:nvPr/>
        </p:nvSpPr>
        <p:spPr>
          <a:xfrm>
            <a:off x="1874520" y="1517904"/>
            <a:ext cx="3291840" cy="457200"/>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From video to a measurement, once</a:t>
            </a:r>
            <a:endParaRPr lang="en-US" sz="1300" dirty="0"/>
          </a:p>
        </p:txBody>
      </p:sp>
      <p:sp>
        <p:nvSpPr>
          <p:cNvPr id="7" name="Text 5"/>
          <p:cNvSpPr txBox="1"/>
          <p:nvPr/>
        </p:nvSpPr>
        <p:spPr>
          <a:xfrm>
            <a:off x="5303520" y="1517904"/>
            <a:ext cx="6217920" cy="45720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Measurement points checked on computer-made bodies. Deliverable: one error figure.</a:t>
            </a:r>
            <a:endParaRPr lang="en-US" sz="1150" dirty="0"/>
          </a:p>
        </p:txBody>
      </p:sp>
      <p:sp>
        <p:nvSpPr>
          <p:cNvPr id="8" name="Shape 6"/>
          <p:cNvSpPr/>
          <p:nvPr/>
        </p:nvSpPr>
        <p:spPr>
          <a:xfrm>
            <a:off x="502920" y="2043684"/>
            <a:ext cx="11185855" cy="457200"/>
          </a:xfrm>
          <a:prstGeom prst="roundRect">
            <a:avLst>
              <a:gd name="adj" fmla="val 12000"/>
            </a:avLst>
          </a:prstGeom>
          <a:solidFill>
            <a:srgbClr val="252943"/>
          </a:solidFill>
          <a:ln w="12700">
            <a:solidFill>
              <a:srgbClr val="252943"/>
            </a:solidFill>
            <a:prstDash val="solid"/>
          </a:ln>
        </p:spPr>
      </p:sp>
      <p:sp>
        <p:nvSpPr>
          <p:cNvPr id="9" name="Text 7"/>
          <p:cNvSpPr txBox="1"/>
          <p:nvPr/>
        </p:nvSpPr>
        <p:spPr>
          <a:xfrm>
            <a:off x="704088" y="2043684"/>
            <a:ext cx="1051560" cy="457200"/>
          </a:xfrm>
          <a:prstGeom prst="rect">
            <a:avLst/>
          </a:prstGeom>
          <a:noFill/>
          <a:ln/>
        </p:spPr>
        <p:txBody>
          <a:bodyPr wrap="square" lIns="0" tIns="0" rIns="0" bIns="0" rtlCol="0" anchor="ctr"/>
          <a:lstStyle/>
          <a:p>
            <a:pPr indent="0" marL="0">
              <a:buNone/>
            </a:pPr>
            <a:r>
              <a:rPr lang="en-US" sz="1300" b="1" dirty="0">
                <a:solidFill>
                  <a:srgbClr val="83B4DE"/>
                </a:solidFill>
                <a:latin typeface="Arial" pitchFamily="34" charset="0"/>
                <a:ea typeface="Arial" pitchFamily="34" charset="-122"/>
                <a:cs typeface="Arial" pitchFamily="34" charset="-120"/>
              </a:rPr>
              <a:t>3</a:t>
            </a:r>
            <a:endParaRPr lang="en-US" sz="1300" dirty="0"/>
          </a:p>
        </p:txBody>
      </p:sp>
      <p:sp>
        <p:nvSpPr>
          <p:cNvPr id="10" name="Text 8"/>
          <p:cNvSpPr txBox="1"/>
          <p:nvPr/>
        </p:nvSpPr>
        <p:spPr>
          <a:xfrm>
            <a:off x="1874520" y="2043684"/>
            <a:ext cx="3291840" cy="457200"/>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Combining frames, and centimetres</a:t>
            </a:r>
            <a:endParaRPr lang="en-US" sz="1300" dirty="0"/>
          </a:p>
        </p:txBody>
      </p:sp>
      <p:sp>
        <p:nvSpPr>
          <p:cNvPr id="11" name="Text 9"/>
          <p:cNvSpPr txBox="1"/>
          <p:nvPr/>
        </p:nvSpPr>
        <p:spPr>
          <a:xfrm>
            <a:off x="5303520" y="2043684"/>
            <a:ext cx="6217920" cy="45720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How the error falls as frames are added; first check against real people.</a:t>
            </a:r>
            <a:endParaRPr lang="en-US" sz="1150" dirty="0"/>
          </a:p>
        </p:txBody>
      </p:sp>
      <p:sp>
        <p:nvSpPr>
          <p:cNvPr id="12" name="Shape 10"/>
          <p:cNvSpPr/>
          <p:nvPr/>
        </p:nvSpPr>
        <p:spPr>
          <a:xfrm>
            <a:off x="502920" y="2569464"/>
            <a:ext cx="11185855" cy="457200"/>
          </a:xfrm>
          <a:prstGeom prst="roundRect">
            <a:avLst>
              <a:gd name="adj" fmla="val 12000"/>
            </a:avLst>
          </a:prstGeom>
          <a:solidFill>
            <a:srgbClr val="3A3A62"/>
          </a:solidFill>
          <a:ln w="12700">
            <a:solidFill>
              <a:srgbClr val="3A3A62"/>
            </a:solidFill>
            <a:prstDash val="solid"/>
          </a:ln>
        </p:spPr>
      </p:sp>
      <p:sp>
        <p:nvSpPr>
          <p:cNvPr id="13" name="Shape 11"/>
          <p:cNvSpPr/>
          <p:nvPr/>
        </p:nvSpPr>
        <p:spPr>
          <a:xfrm>
            <a:off x="502920" y="2569464"/>
            <a:ext cx="11185855" cy="457200"/>
          </a:xfrm>
          <a:prstGeom prst="roundRect">
            <a:avLst>
              <a:gd name="adj" fmla="val 10000"/>
            </a:avLst>
          </a:prstGeom>
          <a:solidFill>
            <a:srgbClr val="3A3A62"/>
          </a:solidFill>
          <a:ln w="19050">
            <a:solidFill>
              <a:srgbClr val="E0A458"/>
            </a:solidFill>
            <a:prstDash val="solid"/>
          </a:ln>
        </p:spPr>
      </p:sp>
      <p:sp>
        <p:nvSpPr>
          <p:cNvPr id="14" name="Text 12"/>
          <p:cNvSpPr txBox="1"/>
          <p:nvPr/>
        </p:nvSpPr>
        <p:spPr>
          <a:xfrm>
            <a:off x="704088" y="2569464"/>
            <a:ext cx="1051560" cy="457200"/>
          </a:xfrm>
          <a:prstGeom prst="rect">
            <a:avLst/>
          </a:prstGeom>
          <a:noFill/>
          <a:ln/>
        </p:spPr>
        <p:txBody>
          <a:bodyPr wrap="square" lIns="0" tIns="0" rIns="0" bIns="0" rtlCol="0" anchor="ctr"/>
          <a:lstStyle/>
          <a:p>
            <a:pPr indent="0" marL="0">
              <a:buNone/>
            </a:pPr>
            <a:r>
              <a:rPr lang="en-US" sz="1150" b="1" dirty="0">
                <a:solidFill>
                  <a:srgbClr val="E0A458"/>
                </a:solidFill>
                <a:latin typeface="Arial" pitchFamily="34" charset="0"/>
                <a:ea typeface="Arial" pitchFamily="34" charset="-122"/>
                <a:cs typeface="Arial" pitchFamily="34" charset="-120"/>
              </a:rPr>
              <a:t>GATE</a:t>
            </a:r>
            <a:endParaRPr lang="en-US" sz="1150" dirty="0"/>
          </a:p>
        </p:txBody>
      </p:sp>
      <p:sp>
        <p:nvSpPr>
          <p:cNvPr id="15" name="Text 13"/>
          <p:cNvSpPr txBox="1"/>
          <p:nvPr/>
        </p:nvSpPr>
        <p:spPr>
          <a:xfrm>
            <a:off x="1874520" y="2569464"/>
            <a:ext cx="3291840" cy="457200"/>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Decision point</a:t>
            </a:r>
            <a:endParaRPr lang="en-US" sz="1300" dirty="0"/>
          </a:p>
        </p:txBody>
      </p:sp>
      <p:sp>
        <p:nvSpPr>
          <p:cNvPr id="16" name="Text 14"/>
          <p:cNvSpPr txBox="1"/>
          <p:nvPr/>
        </p:nvSpPr>
        <p:spPr>
          <a:xfrm>
            <a:off x="5303520" y="2569464"/>
            <a:ext cx="6217920" cy="45720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Worse than about 3 cm on the leg? Switch to a simpler method. Same agents either way.</a:t>
            </a:r>
            <a:endParaRPr lang="en-US" sz="1150" dirty="0"/>
          </a:p>
        </p:txBody>
      </p:sp>
      <p:sp>
        <p:nvSpPr>
          <p:cNvPr id="17" name="Shape 15"/>
          <p:cNvSpPr/>
          <p:nvPr/>
        </p:nvSpPr>
        <p:spPr>
          <a:xfrm>
            <a:off x="502920" y="3095244"/>
            <a:ext cx="11185855" cy="457200"/>
          </a:xfrm>
          <a:prstGeom prst="roundRect">
            <a:avLst>
              <a:gd name="adj" fmla="val 12000"/>
            </a:avLst>
          </a:prstGeom>
          <a:solidFill>
            <a:srgbClr val="252943"/>
          </a:solidFill>
          <a:ln w="12700">
            <a:solidFill>
              <a:srgbClr val="252943"/>
            </a:solidFill>
            <a:prstDash val="solid"/>
          </a:ln>
        </p:spPr>
      </p:sp>
      <p:sp>
        <p:nvSpPr>
          <p:cNvPr id="18" name="Text 16"/>
          <p:cNvSpPr txBox="1"/>
          <p:nvPr/>
        </p:nvSpPr>
        <p:spPr>
          <a:xfrm>
            <a:off x="704088" y="3095244"/>
            <a:ext cx="1051560" cy="457200"/>
          </a:xfrm>
          <a:prstGeom prst="rect">
            <a:avLst/>
          </a:prstGeom>
          <a:noFill/>
          <a:ln/>
        </p:spPr>
        <p:txBody>
          <a:bodyPr wrap="square" lIns="0" tIns="0" rIns="0" bIns="0" rtlCol="0" anchor="ctr"/>
          <a:lstStyle/>
          <a:p>
            <a:pPr indent="0" marL="0">
              <a:buNone/>
            </a:pPr>
            <a:r>
              <a:rPr lang="en-US" sz="1300" b="1" dirty="0">
                <a:solidFill>
                  <a:srgbClr val="83B4DE"/>
                </a:solidFill>
                <a:latin typeface="Arial" pitchFamily="34" charset="0"/>
                <a:ea typeface="Arial" pitchFamily="34" charset="-122"/>
                <a:cs typeface="Arial" pitchFamily="34" charset="-120"/>
              </a:rPr>
              <a:t>4–5</a:t>
            </a:r>
            <a:endParaRPr lang="en-US" sz="1300" dirty="0"/>
          </a:p>
        </p:txBody>
      </p:sp>
      <p:sp>
        <p:nvSpPr>
          <p:cNvPr id="19" name="Text 17"/>
          <p:cNvSpPr txBox="1"/>
          <p:nvPr/>
        </p:nvSpPr>
        <p:spPr>
          <a:xfrm>
            <a:off x="1874520" y="3095244"/>
            <a:ext cx="3291840" cy="457200"/>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Coach, sanity check, calculator</a:t>
            </a:r>
            <a:endParaRPr lang="en-US" sz="1300" dirty="0"/>
          </a:p>
        </p:txBody>
      </p:sp>
      <p:sp>
        <p:nvSpPr>
          <p:cNvPr id="20" name="Text 18"/>
          <p:cNvSpPr txBox="1"/>
          <p:nvPr/>
        </p:nvSpPr>
        <p:spPr>
          <a:xfrm>
            <a:off x="5303520" y="3095244"/>
            <a:ext cx="6217920" cy="45720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Agents 1 and 2, the set of bad clips, the tolerance ranges, three brands loaded by hand.</a:t>
            </a:r>
            <a:endParaRPr lang="en-US" sz="1150" dirty="0"/>
          </a:p>
        </p:txBody>
      </p:sp>
      <p:sp>
        <p:nvSpPr>
          <p:cNvPr id="21" name="Shape 19"/>
          <p:cNvSpPr/>
          <p:nvPr/>
        </p:nvSpPr>
        <p:spPr>
          <a:xfrm>
            <a:off x="502920" y="3621024"/>
            <a:ext cx="11185855" cy="457200"/>
          </a:xfrm>
          <a:prstGeom prst="roundRect">
            <a:avLst>
              <a:gd name="adj" fmla="val 12000"/>
            </a:avLst>
          </a:prstGeom>
          <a:solidFill>
            <a:srgbClr val="252943"/>
          </a:solidFill>
          <a:ln w="12700">
            <a:solidFill>
              <a:srgbClr val="252943"/>
            </a:solidFill>
            <a:prstDash val="solid"/>
          </a:ln>
        </p:spPr>
      </p:sp>
      <p:sp>
        <p:nvSpPr>
          <p:cNvPr id="22" name="Text 20"/>
          <p:cNvSpPr txBox="1"/>
          <p:nvPr/>
        </p:nvSpPr>
        <p:spPr>
          <a:xfrm>
            <a:off x="704088" y="3621024"/>
            <a:ext cx="1051560" cy="457200"/>
          </a:xfrm>
          <a:prstGeom prst="rect">
            <a:avLst/>
          </a:prstGeom>
          <a:noFill/>
          <a:ln/>
        </p:spPr>
        <p:txBody>
          <a:bodyPr wrap="square" lIns="0" tIns="0" rIns="0" bIns="0" rtlCol="0" anchor="ctr"/>
          <a:lstStyle/>
          <a:p>
            <a:pPr indent="0" marL="0">
              <a:buNone/>
            </a:pPr>
            <a:r>
              <a:rPr lang="en-US" sz="1300" b="1" dirty="0">
                <a:solidFill>
                  <a:srgbClr val="83B4DE"/>
                </a:solidFill>
                <a:latin typeface="Arial" pitchFamily="34" charset="0"/>
                <a:ea typeface="Arial" pitchFamily="34" charset="-122"/>
                <a:cs typeface="Arial" pitchFamily="34" charset="-120"/>
              </a:rPr>
              <a:t>6–7</a:t>
            </a:r>
            <a:endParaRPr lang="en-US" sz="1300" dirty="0"/>
          </a:p>
        </p:txBody>
      </p:sp>
      <p:sp>
        <p:nvSpPr>
          <p:cNvPr id="23" name="Text 21"/>
          <p:cNvSpPr txBox="1"/>
          <p:nvPr/>
        </p:nvSpPr>
        <p:spPr>
          <a:xfrm>
            <a:off x="1874520" y="3621024"/>
            <a:ext cx="3291840" cy="457200"/>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Toolbox, size charts, returns</a:t>
            </a:r>
            <a:endParaRPr lang="en-US" sz="1300" dirty="0"/>
          </a:p>
        </p:txBody>
      </p:sp>
      <p:sp>
        <p:nvSpPr>
          <p:cNvPr id="24" name="Text 22"/>
          <p:cNvSpPr txBox="1"/>
          <p:nvPr/>
        </p:nvSpPr>
        <p:spPr>
          <a:xfrm>
            <a:off x="5303520" y="3621024"/>
            <a:ext cx="6217920" cy="45720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The calculator wired up as tools. Label the 50 size charts — the dullest week; do not let it slip.</a:t>
            </a:r>
            <a:endParaRPr lang="en-US" sz="1150" dirty="0"/>
          </a:p>
        </p:txBody>
      </p:sp>
      <p:sp>
        <p:nvSpPr>
          <p:cNvPr id="25" name="Shape 23"/>
          <p:cNvSpPr/>
          <p:nvPr/>
        </p:nvSpPr>
        <p:spPr>
          <a:xfrm>
            <a:off x="502920" y="4146804"/>
            <a:ext cx="11185855" cy="457200"/>
          </a:xfrm>
          <a:prstGeom prst="roundRect">
            <a:avLst>
              <a:gd name="adj" fmla="val 12000"/>
            </a:avLst>
          </a:prstGeom>
          <a:solidFill>
            <a:srgbClr val="252943"/>
          </a:solidFill>
          <a:ln w="12700">
            <a:solidFill>
              <a:srgbClr val="252943"/>
            </a:solidFill>
            <a:prstDash val="solid"/>
          </a:ln>
        </p:spPr>
      </p:sp>
      <p:sp>
        <p:nvSpPr>
          <p:cNvPr id="26" name="Text 24"/>
          <p:cNvSpPr txBox="1"/>
          <p:nvPr/>
        </p:nvSpPr>
        <p:spPr>
          <a:xfrm>
            <a:off x="704088" y="4146804"/>
            <a:ext cx="1051560" cy="457200"/>
          </a:xfrm>
          <a:prstGeom prst="rect">
            <a:avLst/>
          </a:prstGeom>
          <a:noFill/>
          <a:ln/>
        </p:spPr>
        <p:txBody>
          <a:bodyPr wrap="square" lIns="0" tIns="0" rIns="0" bIns="0" rtlCol="0" anchor="ctr"/>
          <a:lstStyle/>
          <a:p>
            <a:pPr indent="0" marL="0">
              <a:buNone/>
            </a:pPr>
            <a:r>
              <a:rPr lang="en-US" sz="1300" b="1" dirty="0">
                <a:solidFill>
                  <a:srgbClr val="83B4DE"/>
                </a:solidFill>
                <a:latin typeface="Arial" pitchFamily="34" charset="0"/>
                <a:ea typeface="Arial" pitchFamily="34" charset="-122"/>
                <a:cs typeface="Arial" pitchFamily="34" charset="-120"/>
              </a:rPr>
              <a:t>8–9</a:t>
            </a:r>
            <a:endParaRPr lang="en-US" sz="1300" dirty="0"/>
          </a:p>
        </p:txBody>
      </p:sp>
      <p:sp>
        <p:nvSpPr>
          <p:cNvPr id="27" name="Text 25"/>
          <p:cNvSpPr txBox="1"/>
          <p:nvPr/>
        </p:nvSpPr>
        <p:spPr>
          <a:xfrm>
            <a:off x="1874520" y="4146804"/>
            <a:ext cx="3291840" cy="457200"/>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Wiring it together, and testing</a:t>
            </a:r>
            <a:endParaRPr lang="en-US" sz="1300" dirty="0"/>
          </a:p>
        </p:txBody>
      </p:sp>
      <p:sp>
        <p:nvSpPr>
          <p:cNvPr id="28" name="Text 26"/>
          <p:cNvSpPr txBox="1"/>
          <p:nvPr/>
        </p:nvSpPr>
        <p:spPr>
          <a:xfrm>
            <a:off x="5303520" y="4146804"/>
            <a:ext cx="6217920" cy="45720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All six agents connected, every run traced, all three test sets running.</a:t>
            </a:r>
            <a:endParaRPr lang="en-US" sz="1150" dirty="0"/>
          </a:p>
        </p:txBody>
      </p:sp>
      <p:sp>
        <p:nvSpPr>
          <p:cNvPr id="29" name="Shape 27"/>
          <p:cNvSpPr/>
          <p:nvPr/>
        </p:nvSpPr>
        <p:spPr>
          <a:xfrm>
            <a:off x="502920" y="4672584"/>
            <a:ext cx="11185855" cy="457200"/>
          </a:xfrm>
          <a:prstGeom prst="roundRect">
            <a:avLst>
              <a:gd name="adj" fmla="val 12000"/>
            </a:avLst>
          </a:prstGeom>
          <a:solidFill>
            <a:srgbClr val="252943"/>
          </a:solidFill>
          <a:ln w="12700">
            <a:solidFill>
              <a:srgbClr val="252943"/>
            </a:solidFill>
            <a:prstDash val="solid"/>
          </a:ln>
        </p:spPr>
      </p:sp>
      <p:sp>
        <p:nvSpPr>
          <p:cNvPr id="30" name="Text 28"/>
          <p:cNvSpPr txBox="1"/>
          <p:nvPr/>
        </p:nvSpPr>
        <p:spPr>
          <a:xfrm>
            <a:off x="704088" y="4672584"/>
            <a:ext cx="1051560" cy="457200"/>
          </a:xfrm>
          <a:prstGeom prst="rect">
            <a:avLst/>
          </a:prstGeom>
          <a:noFill/>
          <a:ln/>
        </p:spPr>
        <p:txBody>
          <a:bodyPr wrap="square" lIns="0" tIns="0" rIns="0" bIns="0" rtlCol="0" anchor="ctr"/>
          <a:lstStyle/>
          <a:p>
            <a:pPr indent="0" marL="0">
              <a:buNone/>
            </a:pPr>
            <a:r>
              <a:rPr lang="en-US" sz="1300" b="1" dirty="0">
                <a:solidFill>
                  <a:srgbClr val="83B4DE"/>
                </a:solidFill>
                <a:latin typeface="Arial" pitchFamily="34" charset="0"/>
                <a:ea typeface="Arial" pitchFamily="34" charset="-122"/>
                <a:cs typeface="Arial" pitchFamily="34" charset="-120"/>
              </a:rPr>
              <a:t>10</a:t>
            </a:r>
            <a:endParaRPr lang="en-US" sz="1300" dirty="0"/>
          </a:p>
        </p:txBody>
      </p:sp>
      <p:sp>
        <p:nvSpPr>
          <p:cNvPr id="31" name="Text 29"/>
          <p:cNvSpPr txBox="1"/>
          <p:nvPr/>
        </p:nvSpPr>
        <p:spPr>
          <a:xfrm>
            <a:off x="1874520" y="4672584"/>
            <a:ext cx="3291840" cy="457200"/>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The experiments that answer questions</a:t>
            </a:r>
            <a:endParaRPr lang="en-US" sz="1300" dirty="0"/>
          </a:p>
        </p:txBody>
      </p:sp>
      <p:sp>
        <p:nvSpPr>
          <p:cNvPr id="32" name="Text 30"/>
          <p:cNvSpPr txBox="1"/>
          <p:nvPr/>
        </p:nvSpPr>
        <p:spPr>
          <a:xfrm>
            <a:off x="5303520" y="4672584"/>
            <a:ext cx="6217920" cy="45720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The comparison experiments, the cost curves, the learning study.</a:t>
            </a:r>
            <a:endParaRPr lang="en-US" sz="1150" dirty="0"/>
          </a:p>
        </p:txBody>
      </p:sp>
      <p:sp>
        <p:nvSpPr>
          <p:cNvPr id="33" name="Shape 31"/>
          <p:cNvSpPr/>
          <p:nvPr/>
        </p:nvSpPr>
        <p:spPr>
          <a:xfrm>
            <a:off x="502920" y="5198364"/>
            <a:ext cx="11185855" cy="457200"/>
          </a:xfrm>
          <a:prstGeom prst="roundRect">
            <a:avLst>
              <a:gd name="adj" fmla="val 12000"/>
            </a:avLst>
          </a:prstGeom>
          <a:solidFill>
            <a:srgbClr val="252943"/>
          </a:solidFill>
          <a:ln w="12700">
            <a:solidFill>
              <a:srgbClr val="252943"/>
            </a:solidFill>
            <a:prstDash val="solid"/>
          </a:ln>
        </p:spPr>
      </p:sp>
      <p:sp>
        <p:nvSpPr>
          <p:cNvPr id="34" name="Text 32"/>
          <p:cNvSpPr txBox="1"/>
          <p:nvPr/>
        </p:nvSpPr>
        <p:spPr>
          <a:xfrm>
            <a:off x="704088" y="5198364"/>
            <a:ext cx="1051560" cy="457200"/>
          </a:xfrm>
          <a:prstGeom prst="rect">
            <a:avLst/>
          </a:prstGeom>
          <a:noFill/>
          <a:ln/>
        </p:spPr>
        <p:txBody>
          <a:bodyPr wrap="square" lIns="0" tIns="0" rIns="0" bIns="0" rtlCol="0" anchor="ctr"/>
          <a:lstStyle/>
          <a:p>
            <a:pPr indent="0" marL="0">
              <a:buNone/>
            </a:pPr>
            <a:r>
              <a:rPr lang="en-US" sz="1300" b="1" dirty="0">
                <a:solidFill>
                  <a:srgbClr val="83B4DE"/>
                </a:solidFill>
                <a:latin typeface="Arial" pitchFamily="34" charset="0"/>
                <a:ea typeface="Arial" pitchFamily="34" charset="-122"/>
                <a:cs typeface="Arial" pitchFamily="34" charset="-120"/>
              </a:rPr>
              <a:t>11–13</a:t>
            </a:r>
            <a:endParaRPr lang="en-US" sz="1300" dirty="0"/>
          </a:p>
        </p:txBody>
      </p:sp>
      <p:sp>
        <p:nvSpPr>
          <p:cNvPr id="35" name="Text 33"/>
          <p:cNvSpPr txBox="1"/>
          <p:nvPr/>
        </p:nvSpPr>
        <p:spPr>
          <a:xfrm>
            <a:off x="1874520" y="5198364"/>
            <a:ext cx="3291840" cy="457200"/>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The screens</a:t>
            </a:r>
            <a:endParaRPr lang="en-US" sz="1300" dirty="0"/>
          </a:p>
        </p:txBody>
      </p:sp>
      <p:sp>
        <p:nvSpPr>
          <p:cNvPr id="36" name="Text 34"/>
          <p:cNvSpPr txBox="1"/>
          <p:nvPr/>
        </p:nvSpPr>
        <p:spPr>
          <a:xfrm>
            <a:off x="5303520" y="5198364"/>
            <a:ext cx="6217920" cy="45720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The five screens, live updates, the 3D leg, and replay mode.</a:t>
            </a:r>
            <a:endParaRPr lang="en-US" sz="1150" dirty="0"/>
          </a:p>
        </p:txBody>
      </p:sp>
      <p:sp>
        <p:nvSpPr>
          <p:cNvPr id="37" name="Shape 35"/>
          <p:cNvSpPr/>
          <p:nvPr/>
        </p:nvSpPr>
        <p:spPr>
          <a:xfrm>
            <a:off x="502920" y="5724144"/>
            <a:ext cx="11185855" cy="457200"/>
          </a:xfrm>
          <a:prstGeom prst="roundRect">
            <a:avLst>
              <a:gd name="adj" fmla="val 12000"/>
            </a:avLst>
          </a:prstGeom>
          <a:solidFill>
            <a:srgbClr val="252943"/>
          </a:solidFill>
          <a:ln w="12700">
            <a:solidFill>
              <a:srgbClr val="252943"/>
            </a:solidFill>
            <a:prstDash val="solid"/>
          </a:ln>
        </p:spPr>
      </p:sp>
      <p:sp>
        <p:nvSpPr>
          <p:cNvPr id="38" name="Text 36"/>
          <p:cNvSpPr txBox="1"/>
          <p:nvPr/>
        </p:nvSpPr>
        <p:spPr>
          <a:xfrm>
            <a:off x="704088" y="5724144"/>
            <a:ext cx="1051560" cy="457200"/>
          </a:xfrm>
          <a:prstGeom prst="rect">
            <a:avLst/>
          </a:prstGeom>
          <a:noFill/>
          <a:ln/>
        </p:spPr>
        <p:txBody>
          <a:bodyPr wrap="square" lIns="0" tIns="0" rIns="0" bIns="0" rtlCol="0" anchor="ctr"/>
          <a:lstStyle/>
          <a:p>
            <a:pPr indent="0" marL="0">
              <a:buNone/>
            </a:pPr>
            <a:r>
              <a:rPr lang="en-US" sz="1300" b="1" dirty="0">
                <a:solidFill>
                  <a:srgbClr val="83B4DE"/>
                </a:solidFill>
                <a:latin typeface="Arial" pitchFamily="34" charset="0"/>
                <a:ea typeface="Arial" pitchFamily="34" charset="-122"/>
                <a:cs typeface="Arial" pitchFamily="34" charset="-120"/>
              </a:rPr>
              <a:t>14</a:t>
            </a:r>
            <a:endParaRPr lang="en-US" sz="1300" dirty="0"/>
          </a:p>
        </p:txBody>
      </p:sp>
      <p:sp>
        <p:nvSpPr>
          <p:cNvPr id="39" name="Text 37"/>
          <p:cNvSpPr txBox="1"/>
          <p:nvPr/>
        </p:nvSpPr>
        <p:spPr>
          <a:xfrm>
            <a:off x="1874520" y="5724144"/>
            <a:ext cx="3291840" cy="457200"/>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Write-up and buffer</a:t>
            </a:r>
            <a:endParaRPr lang="en-US" sz="1300" dirty="0"/>
          </a:p>
        </p:txBody>
      </p:sp>
      <p:sp>
        <p:nvSpPr>
          <p:cNvPr id="40" name="Text 38"/>
          <p:cNvSpPr txBox="1"/>
          <p:nvPr/>
        </p:nvSpPr>
        <p:spPr>
          <a:xfrm>
            <a:off x="5303520" y="5724144"/>
            <a:ext cx="6217920" cy="457200"/>
          </a:xfrm>
          <a:prstGeom prst="rect">
            <a:avLst/>
          </a:prstGeom>
          <a:noFill/>
          <a:ln/>
        </p:spPr>
        <p:txBody>
          <a:bodyPr wrap="square" lIns="0" tIns="0" rIns="0" bIns="0" rtlCol="0" anchor="ctr"/>
          <a:lstStyle/>
          <a:p>
            <a:pPr indent="0" marL="0">
              <a:buNone/>
            </a:pPr>
            <a:r>
              <a:rPr lang="en-US" sz="1150" dirty="0">
                <a:solidFill>
                  <a:srgbClr val="9BA1C1"/>
                </a:solidFill>
                <a:latin typeface="Arial" pitchFamily="34" charset="0"/>
                <a:ea typeface="Arial" pitchFamily="34" charset="-122"/>
                <a:cs typeface="Arial" pitchFamily="34" charset="-120"/>
              </a:rPr>
              <a:t>Figures from committed CSVs. Something in weeks 6–9 will overrun.</a:t>
            </a:r>
            <a:endParaRPr lang="en-US" sz="1150" dirty="0"/>
          </a:p>
        </p:txBody>
      </p:sp>
      <p:sp>
        <p:nvSpPr>
          <p:cNvPr id="41" name="Text 39"/>
          <p:cNvSpPr txBox="1"/>
          <p:nvPr/>
        </p:nvSpPr>
        <p:spPr>
          <a:xfrm>
            <a:off x="502920" y="6309360"/>
            <a:ext cx="11185855" cy="310896"/>
          </a:xfrm>
          <a:prstGeom prst="rect">
            <a:avLst/>
          </a:prstGeom>
          <a:noFill/>
          <a:ln/>
        </p:spPr>
        <p:txBody>
          <a:bodyPr wrap="square" lIns="0" tIns="0" rIns="0" bIns="0" rtlCol="0" anchor="ctr"/>
          <a:lstStyle/>
          <a:p>
            <a:pPr indent="0" marL="0">
              <a:buNone/>
            </a:pPr>
            <a:r>
              <a:rPr lang="en-US" sz="1250" i="1" dirty="0">
                <a:solidFill>
                  <a:srgbClr val="E0A458"/>
                </a:solidFill>
                <a:latin typeface="Arial" pitchFamily="34" charset="0"/>
                <a:ea typeface="Arial" pitchFamily="34" charset="-122"/>
                <a:cs typeface="Arial" pitchFamily="34" charset="-120"/>
              </a:rPr>
              <a:t>Decide at week 3, not at week 9 — that is the difference between a project delivered and a project rescued.</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IMPACT AND SUCCESS METRICS</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How we will know it worked</a:t>
            </a:r>
            <a:endParaRPr lang="en-US" sz="3000" dirty="0"/>
          </a:p>
        </p:txBody>
      </p:sp>
      <p:sp>
        <p:nvSpPr>
          <p:cNvPr id="4" name="Text 2"/>
          <p:cNvSpPr txBox="1"/>
          <p:nvPr/>
        </p:nvSpPr>
        <p:spPr>
          <a:xfrm>
            <a:off x="502920" y="1042416"/>
            <a:ext cx="11185855" cy="310896"/>
          </a:xfrm>
          <a:prstGeom prst="rect">
            <a:avLst/>
          </a:prstGeom>
          <a:noFill/>
          <a:ln/>
        </p:spPr>
        <p:txBody>
          <a:bodyPr wrap="square" lIns="0" tIns="0" rIns="0" bIns="0" rtlCol="0" anchor="ctr"/>
          <a:lstStyle/>
          <a:p>
            <a:pPr algn="l" indent="0" marL="0">
              <a:buNone/>
            </a:pPr>
            <a:r>
              <a:rPr lang="en-US" sz="1300" dirty="0">
                <a:solidFill>
                  <a:srgbClr val="9BA1C1"/>
                </a:solidFill>
                <a:latin typeface="Arial" pitchFamily="34" charset="0"/>
                <a:ea typeface="Arial" pitchFamily="34" charset="-122"/>
                <a:cs typeface="Arial" pitchFamily="34" charset="-120"/>
              </a:rPr>
              <a:t>No real numbers exist yet. These are the targets to validate, and the order in which we can actually measure them.</a:t>
            </a:r>
            <a:endParaRPr lang="en-US" sz="1300" dirty="0"/>
          </a:p>
        </p:txBody>
      </p:sp>
      <p:sp>
        <p:nvSpPr>
          <p:cNvPr id="5" name="Shape 3"/>
          <p:cNvSpPr/>
          <p:nvPr/>
        </p:nvSpPr>
        <p:spPr>
          <a:xfrm>
            <a:off x="502920" y="1517904"/>
            <a:ext cx="11185855" cy="1298448"/>
          </a:xfrm>
          <a:prstGeom prst="roundRect">
            <a:avLst>
              <a:gd name="adj" fmla="val 4225"/>
            </a:avLst>
          </a:prstGeom>
          <a:solidFill>
            <a:srgbClr val="3A3A62"/>
          </a:solidFill>
          <a:ln w="20320">
            <a:solidFill>
              <a:srgbClr val="E0A458"/>
            </a:solidFill>
            <a:prstDash val="solid"/>
          </a:ln>
        </p:spPr>
      </p:sp>
      <p:sp>
        <p:nvSpPr>
          <p:cNvPr id="6" name="Text 4"/>
          <p:cNvSpPr txBox="1"/>
          <p:nvPr/>
        </p:nvSpPr>
        <p:spPr>
          <a:xfrm>
            <a:off x="813816" y="1627632"/>
            <a:ext cx="4572000" cy="237744"/>
          </a:xfrm>
          <a:prstGeom prst="rect">
            <a:avLst/>
          </a:prstGeom>
          <a:noFill/>
          <a:ln/>
        </p:spPr>
        <p:txBody>
          <a:bodyPr wrap="square" lIns="0" tIns="0" rIns="0" bIns="0" rtlCol="0" anchor="ctr"/>
          <a:lstStyle/>
          <a:p>
            <a:pPr indent="0" marL="0">
              <a:buNone/>
            </a:pPr>
            <a:r>
              <a:rPr lang="en-US" sz="950" b="1" spc="160" kern="0" dirty="0">
                <a:solidFill>
                  <a:srgbClr val="E0A458"/>
                </a:solidFill>
                <a:latin typeface="Arial" pitchFamily="34" charset="0"/>
                <a:ea typeface="Arial" pitchFamily="34" charset="-122"/>
                <a:cs typeface="Arial" pitchFamily="34" charset="-120"/>
              </a:rPr>
              <a:t>THE ONE THAT MATTERS</a:t>
            </a:r>
            <a:endParaRPr lang="en-US" sz="950" dirty="0"/>
          </a:p>
        </p:txBody>
      </p:sp>
      <p:sp>
        <p:nvSpPr>
          <p:cNvPr id="7" name="Text 5"/>
          <p:cNvSpPr txBox="1"/>
          <p:nvPr/>
        </p:nvSpPr>
        <p:spPr>
          <a:xfrm>
            <a:off x="813816" y="1883664"/>
            <a:ext cx="7680960" cy="310896"/>
          </a:xfrm>
          <a:prstGeom prst="rect">
            <a:avLst/>
          </a:prstGeom>
          <a:noFill/>
          <a:ln/>
        </p:spPr>
        <p:txBody>
          <a:bodyPr wrap="square" lIns="0" tIns="0" rIns="0" bIns="0" rtlCol="0" anchor="ctr"/>
          <a:lstStyle/>
          <a:p>
            <a:pPr indent="0" marL="0">
              <a:buNone/>
            </a:pPr>
            <a:r>
              <a:rPr lang="en-US" sz="1600" b="1" dirty="0">
                <a:solidFill>
                  <a:srgbClr val="F2F3F8"/>
                </a:solidFill>
                <a:latin typeface="Arial" pitchFamily="34" charset="0"/>
                <a:ea typeface="Arial" pitchFamily="34" charset="-122"/>
                <a:cs typeface="Arial" pitchFamily="34" charset="-120"/>
              </a:rPr>
              <a:t>Return rate on recommended purchases, against a 10% randomised holdout</a:t>
            </a:r>
            <a:endParaRPr lang="en-US" sz="1600" dirty="0"/>
          </a:p>
        </p:txBody>
      </p:sp>
      <p:sp>
        <p:nvSpPr>
          <p:cNvPr id="8" name="Text 6"/>
          <p:cNvSpPr txBox="1"/>
          <p:nvPr/>
        </p:nvSpPr>
        <p:spPr>
          <a:xfrm>
            <a:off x="813816" y="2212848"/>
            <a:ext cx="7680960" cy="512064"/>
          </a:xfrm>
          <a:prstGeom prst="rect">
            <a:avLst/>
          </a:prstGeom>
          <a:noFill/>
          <a:ln/>
        </p:spPr>
        <p:txBody>
          <a:bodyPr wrap="square" lIns="0" tIns="0" rIns="0" bIns="0" rtlCol="0" anchor="t"/>
          <a:lstStyle/>
          <a:p>
            <a:pPr indent="0" marL="0">
              <a:lnSpc>
                <a:spcPct val="120000"/>
              </a:lnSpc>
              <a:buNone/>
            </a:pPr>
            <a:r>
              <a:rPr lang="en-US" sz="1150" dirty="0">
                <a:solidFill>
                  <a:srgbClr val="9BA1C1"/>
                </a:solidFill>
                <a:latin typeface="Arial" pitchFamily="34" charset="0"/>
                <a:ea typeface="Arial" pitchFamily="34" charset="-122"/>
                <a:cs typeface="Arial" pitchFamily="34" charset="-120"/>
              </a:rPr>
              <a:t>A before-and-after comparison gets demolished at the first meeting: seasonality, product mix, promotions. A holdout — some eligible sessions get no recommendation — is the only version a retailer's finance team will accept.</a:t>
            </a:r>
            <a:endParaRPr lang="en-US" sz="1150" dirty="0"/>
          </a:p>
        </p:txBody>
      </p:sp>
      <p:sp>
        <p:nvSpPr>
          <p:cNvPr id="9" name="Text 7"/>
          <p:cNvSpPr txBox="1"/>
          <p:nvPr/>
        </p:nvSpPr>
        <p:spPr>
          <a:xfrm>
            <a:off x="8503920" y="1682496"/>
            <a:ext cx="2926080" cy="658368"/>
          </a:xfrm>
          <a:prstGeom prst="rect">
            <a:avLst/>
          </a:prstGeom>
          <a:noFill/>
          <a:ln/>
        </p:spPr>
        <p:txBody>
          <a:bodyPr wrap="square" lIns="0" tIns="0" rIns="0" bIns="0" rtlCol="0" anchor="ctr"/>
          <a:lstStyle/>
          <a:p>
            <a:pPr algn="r" indent="0" marL="0">
              <a:buNone/>
            </a:pPr>
            <a:r>
              <a:rPr lang="en-US" sz="4000" b="1" dirty="0">
                <a:solidFill>
                  <a:srgbClr val="E0A458"/>
                </a:solidFill>
                <a:latin typeface="Arial" pitchFamily="34" charset="0"/>
                <a:ea typeface="Arial" pitchFamily="34" charset="-122"/>
                <a:cs typeface="Arial" pitchFamily="34" charset="-120"/>
              </a:rPr>
              <a:t>−8 pp</a:t>
            </a:r>
            <a:endParaRPr lang="en-US" sz="4000" dirty="0"/>
          </a:p>
        </p:txBody>
      </p:sp>
      <p:sp>
        <p:nvSpPr>
          <p:cNvPr id="10" name="Text 8"/>
          <p:cNvSpPr txBox="1"/>
          <p:nvPr/>
        </p:nvSpPr>
        <p:spPr>
          <a:xfrm>
            <a:off x="8503920" y="2340864"/>
            <a:ext cx="2926080" cy="402336"/>
          </a:xfrm>
          <a:prstGeom prst="rect">
            <a:avLst/>
          </a:prstGeom>
          <a:noFill/>
          <a:ln/>
        </p:spPr>
        <p:txBody>
          <a:bodyPr wrap="square" lIns="0" tIns="0" rIns="0" bIns="0" rtlCol="0" anchor="t"/>
          <a:lstStyle/>
          <a:p>
            <a:pPr algn="r" indent="0" marL="0">
              <a:lnSpc>
                <a:spcPct val="112000"/>
              </a:lnSpc>
              <a:buNone/>
            </a:pPr>
            <a:r>
              <a:rPr lang="en-US" sz="1050" dirty="0">
                <a:solidFill>
                  <a:srgbClr val="9BA1C1"/>
                </a:solidFill>
                <a:latin typeface="Arial" pitchFamily="34" charset="0"/>
                <a:ea typeface="Arial" pitchFamily="34" charset="-122"/>
                <a:cs typeface="Arial" pitchFamily="34" charset="-120"/>
              </a:rPr>
              <a:t>target, once 1 000 orders</a:t>
            </a:r>
            <a:endParaRPr lang="en-US" sz="1050" dirty="0"/>
          </a:p>
          <a:p>
            <a:pPr algn="r" indent="0" marL="0">
              <a:lnSpc>
                <a:spcPct val="112000"/>
              </a:lnSpc>
              <a:buNone/>
            </a:pPr>
            <a:r>
              <a:rPr lang="en-US" sz="1050" dirty="0">
                <a:solidFill>
                  <a:srgbClr val="9BA1C1"/>
                </a:solidFill>
                <a:latin typeface="Arial" pitchFamily="34" charset="0"/>
                <a:ea typeface="Arial" pitchFamily="34" charset="-122"/>
                <a:cs typeface="Arial" pitchFamily="34" charset="-120"/>
              </a:rPr>
              <a:t>have been measured</a:t>
            </a:r>
            <a:endParaRPr lang="en-US" sz="1050" dirty="0"/>
          </a:p>
        </p:txBody>
      </p:sp>
      <p:sp>
        <p:nvSpPr>
          <p:cNvPr id="11" name="Shape 9"/>
          <p:cNvSpPr/>
          <p:nvPr/>
        </p:nvSpPr>
        <p:spPr>
          <a:xfrm>
            <a:off x="502920" y="2999232"/>
            <a:ext cx="3618890" cy="1426464"/>
          </a:xfrm>
          <a:prstGeom prst="roundRect">
            <a:avLst>
              <a:gd name="adj" fmla="val 3846"/>
            </a:avLst>
          </a:prstGeom>
          <a:solidFill>
            <a:srgbClr val="252943"/>
          </a:solidFill>
          <a:ln w="12700">
            <a:solidFill>
              <a:srgbClr val="252943"/>
            </a:solidFill>
            <a:prstDash val="solid"/>
          </a:ln>
        </p:spPr>
      </p:sp>
      <p:sp>
        <p:nvSpPr>
          <p:cNvPr id="12" name="Text 10"/>
          <p:cNvSpPr txBox="1"/>
          <p:nvPr/>
        </p:nvSpPr>
        <p:spPr>
          <a:xfrm>
            <a:off x="740664" y="3145536"/>
            <a:ext cx="3143402" cy="256032"/>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Scans completed</a:t>
            </a:r>
            <a:endParaRPr lang="en-US" sz="1300" dirty="0"/>
          </a:p>
        </p:txBody>
      </p:sp>
      <p:sp>
        <p:nvSpPr>
          <p:cNvPr id="13" name="Text 11"/>
          <p:cNvSpPr txBox="1"/>
          <p:nvPr/>
        </p:nvSpPr>
        <p:spPr>
          <a:xfrm>
            <a:off x="740664" y="3419856"/>
            <a:ext cx="3143402" cy="384048"/>
          </a:xfrm>
          <a:prstGeom prst="rect">
            <a:avLst/>
          </a:prstGeom>
          <a:noFill/>
          <a:ln/>
        </p:spPr>
        <p:txBody>
          <a:bodyPr wrap="square" lIns="0" tIns="0" rIns="0" bIns="0" rtlCol="0" anchor="ctr"/>
          <a:lstStyle/>
          <a:p>
            <a:pPr indent="0" marL="0">
              <a:buNone/>
            </a:pPr>
            <a:r>
              <a:rPr lang="en-US" sz="2400" b="1" dirty="0">
                <a:solidFill>
                  <a:srgbClr val="83B4DE"/>
                </a:solidFill>
                <a:latin typeface="Arial" pitchFamily="34" charset="0"/>
                <a:ea typeface="Arial" pitchFamily="34" charset="-122"/>
                <a:cs typeface="Arial" pitchFamily="34" charset="-120"/>
              </a:rPr>
              <a:t>≥ 70%</a:t>
            </a:r>
            <a:endParaRPr lang="en-US" sz="2400" dirty="0"/>
          </a:p>
        </p:txBody>
      </p:sp>
      <p:sp>
        <p:nvSpPr>
          <p:cNvPr id="14" name="Text 12"/>
          <p:cNvSpPr txBox="1"/>
          <p:nvPr/>
        </p:nvSpPr>
        <p:spPr>
          <a:xfrm>
            <a:off x="740664" y="3803904"/>
            <a:ext cx="3143402" cy="201168"/>
          </a:xfrm>
          <a:prstGeom prst="rect">
            <a:avLst/>
          </a:prstGeom>
          <a:noFill/>
          <a:ln/>
        </p:spPr>
        <p:txBody>
          <a:bodyPr wrap="square" lIns="0" tIns="0" rIns="0" bIns="0" rtlCol="0" anchor="ctr"/>
          <a:lstStyle/>
          <a:p>
            <a:pPr indent="0" marL="0">
              <a:buNone/>
            </a:pPr>
            <a:r>
              <a:rPr lang="en-US" sz="1000" dirty="0">
                <a:solidFill>
                  <a:srgbClr val="6E7699"/>
                </a:solidFill>
                <a:latin typeface="Arial" pitchFamily="34" charset="0"/>
                <a:ea typeface="Arial" pitchFamily="34" charset="-122"/>
                <a:cs typeface="Arial" pitchFamily="34" charset="-120"/>
              </a:rPr>
              <a:t>started → usable profile</a:t>
            </a:r>
            <a:endParaRPr lang="en-US" sz="1000" dirty="0"/>
          </a:p>
        </p:txBody>
      </p:sp>
      <p:sp>
        <p:nvSpPr>
          <p:cNvPr id="15" name="Text 13"/>
          <p:cNvSpPr txBox="1"/>
          <p:nvPr/>
        </p:nvSpPr>
        <p:spPr>
          <a:xfrm>
            <a:off x="740664" y="4005072"/>
            <a:ext cx="3143402" cy="365760"/>
          </a:xfrm>
          <a:prstGeom prst="rect">
            <a:avLst/>
          </a:prstGeom>
          <a:noFill/>
          <a:ln/>
        </p:spPr>
        <p:txBody>
          <a:bodyPr wrap="square" lIns="0" tIns="0" rIns="0" bIns="0" rtlCol="0" anchor="t"/>
          <a:lstStyle/>
          <a:p>
            <a:pPr indent="0" marL="0">
              <a:lnSpc>
                <a:spcPct val="114000"/>
              </a:lnSpc>
              <a:buNone/>
            </a:pPr>
            <a:r>
              <a:rPr lang="en-US" sz="1050" i="1" dirty="0">
                <a:solidFill>
                  <a:srgbClr val="9BA1C1"/>
                </a:solidFill>
                <a:latin typeface="Arial" pitchFamily="34" charset="0"/>
                <a:ea typeface="Arial" pitchFamily="34" charset="-122"/>
                <a:cs typeface="Arial" pitchFamily="34" charset="-120"/>
              </a:rPr>
              <a:t>If people will not film, nothing downstream matters</a:t>
            </a:r>
            <a:endParaRPr lang="en-US" sz="1050" dirty="0"/>
          </a:p>
        </p:txBody>
      </p:sp>
      <p:sp>
        <p:nvSpPr>
          <p:cNvPr id="16" name="Shape 14"/>
          <p:cNvSpPr/>
          <p:nvPr/>
        </p:nvSpPr>
        <p:spPr>
          <a:xfrm>
            <a:off x="4286402" y="2999232"/>
            <a:ext cx="3618890" cy="1426464"/>
          </a:xfrm>
          <a:prstGeom prst="roundRect">
            <a:avLst>
              <a:gd name="adj" fmla="val 3846"/>
            </a:avLst>
          </a:prstGeom>
          <a:solidFill>
            <a:srgbClr val="252943"/>
          </a:solidFill>
          <a:ln w="12700">
            <a:solidFill>
              <a:srgbClr val="252943"/>
            </a:solidFill>
            <a:prstDash val="solid"/>
          </a:ln>
        </p:spPr>
      </p:sp>
      <p:sp>
        <p:nvSpPr>
          <p:cNvPr id="17" name="Text 15"/>
          <p:cNvSpPr txBox="1"/>
          <p:nvPr/>
        </p:nvSpPr>
        <p:spPr>
          <a:xfrm>
            <a:off x="4524146" y="3145536"/>
            <a:ext cx="3143402" cy="256032"/>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Replies after delivery</a:t>
            </a:r>
            <a:endParaRPr lang="en-US" sz="1300" dirty="0"/>
          </a:p>
        </p:txBody>
      </p:sp>
      <p:sp>
        <p:nvSpPr>
          <p:cNvPr id="18" name="Text 16"/>
          <p:cNvSpPr txBox="1"/>
          <p:nvPr/>
        </p:nvSpPr>
        <p:spPr>
          <a:xfrm>
            <a:off x="4524146" y="3419856"/>
            <a:ext cx="3143402" cy="384048"/>
          </a:xfrm>
          <a:prstGeom prst="rect">
            <a:avLst/>
          </a:prstGeom>
          <a:noFill/>
          <a:ln/>
        </p:spPr>
        <p:txBody>
          <a:bodyPr wrap="square" lIns="0" tIns="0" rIns="0" bIns="0" rtlCol="0" anchor="ctr"/>
          <a:lstStyle/>
          <a:p>
            <a:pPr indent="0" marL="0">
              <a:buNone/>
            </a:pPr>
            <a:r>
              <a:rPr lang="en-US" sz="2400" b="1" dirty="0">
                <a:solidFill>
                  <a:srgbClr val="E0A458"/>
                </a:solidFill>
                <a:latin typeface="Arial" pitchFamily="34" charset="0"/>
                <a:ea typeface="Arial" pitchFamily="34" charset="-122"/>
                <a:cs typeface="Arial" pitchFamily="34" charset="-120"/>
              </a:rPr>
              <a:t>≥ 35%</a:t>
            </a:r>
            <a:endParaRPr lang="en-US" sz="2400" dirty="0"/>
          </a:p>
        </p:txBody>
      </p:sp>
      <p:sp>
        <p:nvSpPr>
          <p:cNvPr id="19" name="Text 17"/>
          <p:cNvSpPr txBox="1"/>
          <p:nvPr/>
        </p:nvSpPr>
        <p:spPr>
          <a:xfrm>
            <a:off x="4524146" y="3803904"/>
            <a:ext cx="3143402" cy="201168"/>
          </a:xfrm>
          <a:prstGeom prst="rect">
            <a:avLst/>
          </a:prstGeom>
          <a:noFill/>
          <a:ln/>
        </p:spPr>
        <p:txBody>
          <a:bodyPr wrap="square" lIns="0" tIns="0" rIns="0" bIns="0" rtlCol="0" anchor="ctr"/>
          <a:lstStyle/>
          <a:p>
            <a:pPr indent="0" marL="0">
              <a:buNone/>
            </a:pPr>
            <a:r>
              <a:rPr lang="en-US" sz="1000" dirty="0">
                <a:solidFill>
                  <a:srgbClr val="6E7699"/>
                </a:solidFill>
                <a:latin typeface="Arial" pitchFamily="34" charset="0"/>
                <a:ea typeface="Arial" pitchFamily="34" charset="-122"/>
                <a:cs typeface="Arial" pitchFamily="34" charset="-120"/>
              </a:rPr>
              <a:t>the only input to learning</a:t>
            </a:r>
            <a:endParaRPr lang="en-US" sz="1000" dirty="0"/>
          </a:p>
        </p:txBody>
      </p:sp>
      <p:sp>
        <p:nvSpPr>
          <p:cNvPr id="20" name="Text 18"/>
          <p:cNvSpPr txBox="1"/>
          <p:nvPr/>
        </p:nvSpPr>
        <p:spPr>
          <a:xfrm>
            <a:off x="4524146" y="4005072"/>
            <a:ext cx="3143402" cy="365760"/>
          </a:xfrm>
          <a:prstGeom prst="rect">
            <a:avLst/>
          </a:prstGeom>
          <a:noFill/>
          <a:ln/>
        </p:spPr>
        <p:txBody>
          <a:bodyPr wrap="square" lIns="0" tIns="0" rIns="0" bIns="0" rtlCol="0" anchor="t"/>
          <a:lstStyle/>
          <a:p>
            <a:pPr indent="0" marL="0">
              <a:lnSpc>
                <a:spcPct val="114000"/>
              </a:lnSpc>
              <a:buNone/>
            </a:pPr>
            <a:r>
              <a:rPr lang="en-US" sz="1050" i="1" dirty="0">
                <a:solidFill>
                  <a:srgbClr val="9BA1C1"/>
                </a:solidFill>
                <a:latin typeface="Arial" pitchFamily="34" charset="0"/>
                <a:ea typeface="Arial" pitchFamily="34" charset="-122"/>
                <a:cs typeface="Arial" pitchFamily="34" charset="-120"/>
              </a:rPr>
              <a:t>Below 20% the loop starves and calibration never moves</a:t>
            </a:r>
            <a:endParaRPr lang="en-US" sz="1050" dirty="0"/>
          </a:p>
        </p:txBody>
      </p:sp>
      <p:sp>
        <p:nvSpPr>
          <p:cNvPr id="21" name="Shape 19"/>
          <p:cNvSpPr/>
          <p:nvPr/>
        </p:nvSpPr>
        <p:spPr>
          <a:xfrm>
            <a:off x="8069885" y="2999232"/>
            <a:ext cx="3618890" cy="1426464"/>
          </a:xfrm>
          <a:prstGeom prst="roundRect">
            <a:avLst>
              <a:gd name="adj" fmla="val 3846"/>
            </a:avLst>
          </a:prstGeom>
          <a:solidFill>
            <a:srgbClr val="252943"/>
          </a:solidFill>
          <a:ln w="12700">
            <a:solidFill>
              <a:srgbClr val="252943"/>
            </a:solidFill>
            <a:prstDash val="solid"/>
          </a:ln>
        </p:spPr>
      </p:sp>
      <p:sp>
        <p:nvSpPr>
          <p:cNvPr id="22" name="Text 20"/>
          <p:cNvSpPr txBox="1"/>
          <p:nvPr/>
        </p:nvSpPr>
        <p:spPr>
          <a:xfrm>
            <a:off x="8307629" y="3145536"/>
            <a:ext cx="3143402" cy="256032"/>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Size accepted</a:t>
            </a:r>
            <a:endParaRPr lang="en-US" sz="1300" dirty="0"/>
          </a:p>
        </p:txBody>
      </p:sp>
      <p:sp>
        <p:nvSpPr>
          <p:cNvPr id="23" name="Text 21"/>
          <p:cNvSpPr txBox="1"/>
          <p:nvPr/>
        </p:nvSpPr>
        <p:spPr>
          <a:xfrm>
            <a:off x="8307629" y="3419856"/>
            <a:ext cx="3143402" cy="384048"/>
          </a:xfrm>
          <a:prstGeom prst="rect">
            <a:avLst/>
          </a:prstGeom>
          <a:noFill/>
          <a:ln/>
        </p:spPr>
        <p:txBody>
          <a:bodyPr wrap="square" lIns="0" tIns="0" rIns="0" bIns="0" rtlCol="0" anchor="ctr"/>
          <a:lstStyle/>
          <a:p>
            <a:pPr indent="0" marL="0">
              <a:buNone/>
            </a:pPr>
            <a:r>
              <a:rPr lang="en-US" sz="2400" b="1" dirty="0">
                <a:solidFill>
                  <a:srgbClr val="83B4DE"/>
                </a:solidFill>
                <a:latin typeface="Arial" pitchFamily="34" charset="0"/>
                <a:ea typeface="Arial" pitchFamily="34" charset="-122"/>
                <a:cs typeface="Arial" pitchFamily="34" charset="-120"/>
              </a:rPr>
              <a:t>≥ 75%</a:t>
            </a:r>
            <a:endParaRPr lang="en-US" sz="2400" dirty="0"/>
          </a:p>
        </p:txBody>
      </p:sp>
      <p:sp>
        <p:nvSpPr>
          <p:cNvPr id="24" name="Text 22"/>
          <p:cNvSpPr txBox="1"/>
          <p:nvPr/>
        </p:nvSpPr>
        <p:spPr>
          <a:xfrm>
            <a:off x="8307629" y="3803904"/>
            <a:ext cx="3143402" cy="201168"/>
          </a:xfrm>
          <a:prstGeom prst="rect">
            <a:avLst/>
          </a:prstGeom>
          <a:noFill/>
          <a:ln/>
        </p:spPr>
        <p:txBody>
          <a:bodyPr wrap="square" lIns="0" tIns="0" rIns="0" bIns="0" rtlCol="0" anchor="ctr"/>
          <a:lstStyle/>
          <a:p>
            <a:pPr indent="0" marL="0">
              <a:buNone/>
            </a:pPr>
            <a:r>
              <a:rPr lang="en-US" sz="1000" dirty="0">
                <a:solidFill>
                  <a:srgbClr val="6E7699"/>
                </a:solidFill>
                <a:latin typeface="Arial" pitchFamily="34" charset="0"/>
                <a:ea typeface="Arial" pitchFamily="34" charset="-122"/>
                <a:cs typeface="Arial" pitchFamily="34" charset="-120"/>
              </a:rPr>
              <a:t>kept without switching size</a:t>
            </a:r>
            <a:endParaRPr lang="en-US" sz="1000" dirty="0"/>
          </a:p>
        </p:txBody>
      </p:sp>
      <p:sp>
        <p:nvSpPr>
          <p:cNvPr id="25" name="Text 23"/>
          <p:cNvSpPr txBox="1"/>
          <p:nvPr/>
        </p:nvSpPr>
        <p:spPr>
          <a:xfrm>
            <a:off x="8307629" y="4005072"/>
            <a:ext cx="3143402" cy="365760"/>
          </a:xfrm>
          <a:prstGeom prst="rect">
            <a:avLst/>
          </a:prstGeom>
          <a:noFill/>
          <a:ln/>
        </p:spPr>
        <p:txBody>
          <a:bodyPr wrap="square" lIns="0" tIns="0" rIns="0" bIns="0" rtlCol="0" anchor="t"/>
          <a:lstStyle/>
          <a:p>
            <a:pPr indent="0" marL="0">
              <a:lnSpc>
                <a:spcPct val="114000"/>
              </a:lnSpc>
              <a:buNone/>
            </a:pPr>
            <a:r>
              <a:rPr lang="en-US" sz="1050" i="1" dirty="0">
                <a:solidFill>
                  <a:srgbClr val="9BA1C1"/>
                </a:solidFill>
                <a:latin typeface="Arial" pitchFamily="34" charset="0"/>
                <a:ea typeface="Arial" pitchFamily="34" charset="-122"/>
                <a:cs typeface="Arial" pitchFamily="34" charset="-120"/>
              </a:rPr>
              <a:t>Measures whether the recommendation is believed</a:t>
            </a:r>
            <a:endParaRPr lang="en-US" sz="1050" dirty="0"/>
          </a:p>
        </p:txBody>
      </p:sp>
      <p:sp>
        <p:nvSpPr>
          <p:cNvPr id="26" name="Shape 24"/>
          <p:cNvSpPr/>
          <p:nvPr/>
        </p:nvSpPr>
        <p:spPr>
          <a:xfrm>
            <a:off x="502920" y="4590288"/>
            <a:ext cx="3618890" cy="1426464"/>
          </a:xfrm>
          <a:prstGeom prst="roundRect">
            <a:avLst>
              <a:gd name="adj" fmla="val 3846"/>
            </a:avLst>
          </a:prstGeom>
          <a:solidFill>
            <a:srgbClr val="252943"/>
          </a:solidFill>
          <a:ln w="12700">
            <a:solidFill>
              <a:srgbClr val="252943"/>
            </a:solidFill>
            <a:prstDash val="solid"/>
          </a:ln>
        </p:spPr>
      </p:sp>
      <p:sp>
        <p:nvSpPr>
          <p:cNvPr id="27" name="Text 25"/>
          <p:cNvSpPr txBox="1"/>
          <p:nvPr/>
        </p:nvSpPr>
        <p:spPr>
          <a:xfrm>
            <a:off x="740664" y="4736592"/>
            <a:ext cx="3143402" cy="256032"/>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Outcomes per brand</a:t>
            </a:r>
            <a:endParaRPr lang="en-US" sz="1300" dirty="0"/>
          </a:p>
        </p:txBody>
      </p:sp>
      <p:sp>
        <p:nvSpPr>
          <p:cNvPr id="28" name="Text 26"/>
          <p:cNvSpPr txBox="1"/>
          <p:nvPr/>
        </p:nvSpPr>
        <p:spPr>
          <a:xfrm>
            <a:off x="740664" y="5010912"/>
            <a:ext cx="3143402" cy="384048"/>
          </a:xfrm>
          <a:prstGeom prst="rect">
            <a:avLst/>
          </a:prstGeom>
          <a:noFill/>
          <a:ln/>
        </p:spPr>
        <p:txBody>
          <a:bodyPr wrap="square" lIns="0" tIns="0" rIns="0" bIns="0" rtlCol="0" anchor="ctr"/>
          <a:lstStyle/>
          <a:p>
            <a:pPr indent="0" marL="0">
              <a:buNone/>
            </a:pPr>
            <a:r>
              <a:rPr lang="en-US" sz="2400" b="1" dirty="0">
                <a:solidFill>
                  <a:srgbClr val="6FC095"/>
                </a:solidFill>
                <a:latin typeface="Arial" pitchFamily="34" charset="0"/>
                <a:ea typeface="Arial" pitchFamily="34" charset="-122"/>
                <a:cs typeface="Arial" pitchFamily="34" charset="-120"/>
              </a:rPr>
              <a:t>1 000</a:t>
            </a:r>
            <a:endParaRPr lang="en-US" sz="2400" dirty="0"/>
          </a:p>
        </p:txBody>
      </p:sp>
      <p:sp>
        <p:nvSpPr>
          <p:cNvPr id="29" name="Text 27"/>
          <p:cNvSpPr txBox="1"/>
          <p:nvPr/>
        </p:nvSpPr>
        <p:spPr>
          <a:xfrm>
            <a:off x="740664" y="5394960"/>
            <a:ext cx="3143402" cy="201168"/>
          </a:xfrm>
          <a:prstGeom prst="rect">
            <a:avLst/>
          </a:prstGeom>
          <a:noFill/>
          <a:ln/>
        </p:spPr>
        <p:txBody>
          <a:bodyPr wrap="square" lIns="0" tIns="0" rIns="0" bIns="0" rtlCol="0" anchor="ctr"/>
          <a:lstStyle/>
          <a:p>
            <a:pPr indent="0" marL="0">
              <a:buNone/>
            </a:pPr>
            <a:r>
              <a:rPr lang="en-US" sz="1000" dirty="0">
                <a:solidFill>
                  <a:srgbClr val="6E7699"/>
                </a:solidFill>
                <a:latin typeface="Arial" pitchFamily="34" charset="0"/>
                <a:ea typeface="Arial" pitchFamily="34" charset="-122"/>
                <a:cs typeface="Arial" pitchFamily="34" charset="-120"/>
              </a:rPr>
              <a:t>per brand and category</a:t>
            </a:r>
            <a:endParaRPr lang="en-US" sz="1000" dirty="0"/>
          </a:p>
        </p:txBody>
      </p:sp>
      <p:sp>
        <p:nvSpPr>
          <p:cNvPr id="30" name="Text 28"/>
          <p:cNvSpPr txBox="1"/>
          <p:nvPr/>
        </p:nvSpPr>
        <p:spPr>
          <a:xfrm>
            <a:off x="740664" y="5596128"/>
            <a:ext cx="3143402" cy="365760"/>
          </a:xfrm>
          <a:prstGeom prst="rect">
            <a:avLst/>
          </a:prstGeom>
          <a:noFill/>
          <a:ln/>
        </p:spPr>
        <p:txBody>
          <a:bodyPr wrap="square" lIns="0" tIns="0" rIns="0" bIns="0" rtlCol="0" anchor="t"/>
          <a:lstStyle/>
          <a:p>
            <a:pPr indent="0" marL="0">
              <a:lnSpc>
                <a:spcPct val="114000"/>
              </a:lnSpc>
              <a:buNone/>
            </a:pPr>
            <a:r>
              <a:rPr lang="en-US" sz="1050" i="1" dirty="0">
                <a:solidFill>
                  <a:srgbClr val="9BA1C1"/>
                </a:solidFill>
                <a:latin typeface="Arial" pitchFamily="34" charset="0"/>
                <a:ea typeface="Arial" pitchFamily="34" charset="-122"/>
                <a:cs typeface="Arial" pitchFamily="34" charset="-120"/>
              </a:rPr>
              <a:t>Calibration means nothing before this counter fills</a:t>
            </a:r>
            <a:endParaRPr lang="en-US" sz="1050" dirty="0"/>
          </a:p>
        </p:txBody>
      </p:sp>
      <p:sp>
        <p:nvSpPr>
          <p:cNvPr id="31" name="Shape 29"/>
          <p:cNvSpPr/>
          <p:nvPr/>
        </p:nvSpPr>
        <p:spPr>
          <a:xfrm>
            <a:off x="4286402" y="4590288"/>
            <a:ext cx="3618890" cy="1426464"/>
          </a:xfrm>
          <a:prstGeom prst="roundRect">
            <a:avLst>
              <a:gd name="adj" fmla="val 3846"/>
            </a:avLst>
          </a:prstGeom>
          <a:solidFill>
            <a:srgbClr val="252943"/>
          </a:solidFill>
          <a:ln w="12700">
            <a:solidFill>
              <a:srgbClr val="252943"/>
            </a:solidFill>
            <a:prstDash val="solid"/>
          </a:ln>
        </p:spPr>
      </p:sp>
      <p:sp>
        <p:nvSpPr>
          <p:cNvPr id="32" name="Text 30"/>
          <p:cNvSpPr txBox="1"/>
          <p:nvPr/>
        </p:nvSpPr>
        <p:spPr>
          <a:xfrm>
            <a:off x="4524146" y="4736592"/>
            <a:ext cx="3143402" cy="256032"/>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We say “not sure”</a:t>
            </a:r>
            <a:endParaRPr lang="en-US" sz="1300" dirty="0"/>
          </a:p>
        </p:txBody>
      </p:sp>
      <p:sp>
        <p:nvSpPr>
          <p:cNvPr id="33" name="Text 31"/>
          <p:cNvSpPr txBox="1"/>
          <p:nvPr/>
        </p:nvSpPr>
        <p:spPr>
          <a:xfrm>
            <a:off x="4524146" y="5010912"/>
            <a:ext cx="3143402" cy="384048"/>
          </a:xfrm>
          <a:prstGeom prst="rect">
            <a:avLst/>
          </a:prstGeom>
          <a:noFill/>
          <a:ln/>
        </p:spPr>
        <p:txBody>
          <a:bodyPr wrap="square" lIns="0" tIns="0" rIns="0" bIns="0" rtlCol="0" anchor="ctr"/>
          <a:lstStyle/>
          <a:p>
            <a:pPr indent="0" marL="0">
              <a:buNone/>
            </a:pPr>
            <a:r>
              <a:rPr lang="en-US" sz="2400" b="1" dirty="0">
                <a:solidFill>
                  <a:srgbClr val="EC8079"/>
                </a:solidFill>
                <a:latin typeface="Arial" pitchFamily="34" charset="0"/>
                <a:ea typeface="Arial" pitchFamily="34" charset="-122"/>
                <a:cs typeface="Arial" pitchFamily="34" charset="-120"/>
              </a:rPr>
              <a:t>&gt; 0%</a:t>
            </a:r>
            <a:endParaRPr lang="en-US" sz="2400" dirty="0"/>
          </a:p>
        </p:txBody>
      </p:sp>
      <p:sp>
        <p:nvSpPr>
          <p:cNvPr id="34" name="Text 32"/>
          <p:cNvSpPr txBox="1"/>
          <p:nvPr/>
        </p:nvSpPr>
        <p:spPr>
          <a:xfrm>
            <a:off x="4524146" y="5394960"/>
            <a:ext cx="3143402" cy="201168"/>
          </a:xfrm>
          <a:prstGeom prst="rect">
            <a:avLst/>
          </a:prstGeom>
          <a:noFill/>
          <a:ln/>
        </p:spPr>
        <p:txBody>
          <a:bodyPr wrap="square" lIns="0" tIns="0" rIns="0" bIns="0" rtlCol="0" anchor="ctr"/>
          <a:lstStyle/>
          <a:p>
            <a:pPr indent="0" marL="0">
              <a:buNone/>
            </a:pPr>
            <a:r>
              <a:rPr lang="en-US" sz="1000" dirty="0">
                <a:solidFill>
                  <a:srgbClr val="6E7699"/>
                </a:solidFill>
                <a:latin typeface="Arial" pitchFamily="34" charset="0"/>
                <a:ea typeface="Arial" pitchFamily="34" charset="-122"/>
                <a:cs typeface="Arial" pitchFamily="34" charset="-120"/>
              </a:rPr>
              <a:t>and falling over time</a:t>
            </a:r>
            <a:endParaRPr lang="en-US" sz="1000" dirty="0"/>
          </a:p>
        </p:txBody>
      </p:sp>
      <p:sp>
        <p:nvSpPr>
          <p:cNvPr id="35" name="Text 33"/>
          <p:cNvSpPr txBox="1"/>
          <p:nvPr/>
        </p:nvSpPr>
        <p:spPr>
          <a:xfrm>
            <a:off x="4524146" y="5596128"/>
            <a:ext cx="3143402" cy="365760"/>
          </a:xfrm>
          <a:prstGeom prst="rect">
            <a:avLst/>
          </a:prstGeom>
          <a:noFill/>
          <a:ln/>
        </p:spPr>
        <p:txBody>
          <a:bodyPr wrap="square" lIns="0" tIns="0" rIns="0" bIns="0" rtlCol="0" anchor="t"/>
          <a:lstStyle/>
          <a:p>
            <a:pPr indent="0" marL="0">
              <a:lnSpc>
                <a:spcPct val="114000"/>
              </a:lnSpc>
              <a:buNone/>
            </a:pPr>
            <a:r>
              <a:rPr lang="en-US" sz="1050" i="1" dirty="0">
                <a:solidFill>
                  <a:srgbClr val="9BA1C1"/>
                </a:solidFill>
                <a:latin typeface="Arial" pitchFamily="34" charset="0"/>
                <a:ea typeface="Arial" pitchFamily="34" charset="-122"/>
                <a:cs typeface="Arial" pitchFamily="34" charset="-120"/>
              </a:rPr>
              <a:t>A system that never abstains is lying about its confidence</a:t>
            </a:r>
            <a:endParaRPr lang="en-US" sz="1050" dirty="0"/>
          </a:p>
        </p:txBody>
      </p:sp>
      <p:sp>
        <p:nvSpPr>
          <p:cNvPr id="36" name="Shape 34"/>
          <p:cNvSpPr/>
          <p:nvPr/>
        </p:nvSpPr>
        <p:spPr>
          <a:xfrm>
            <a:off x="8069885" y="4590288"/>
            <a:ext cx="3618890" cy="1426464"/>
          </a:xfrm>
          <a:prstGeom prst="roundRect">
            <a:avLst>
              <a:gd name="adj" fmla="val 3846"/>
            </a:avLst>
          </a:prstGeom>
          <a:solidFill>
            <a:srgbClr val="252943"/>
          </a:solidFill>
          <a:ln w="12700">
            <a:solidFill>
              <a:srgbClr val="252943"/>
            </a:solidFill>
            <a:prstDash val="solid"/>
          </a:ln>
        </p:spPr>
      </p:sp>
      <p:sp>
        <p:nvSpPr>
          <p:cNvPr id="37" name="Text 35"/>
          <p:cNvSpPr txBox="1"/>
          <p:nvPr/>
        </p:nvSpPr>
        <p:spPr>
          <a:xfrm>
            <a:off x="8307629" y="4736592"/>
            <a:ext cx="3143402" cy="256032"/>
          </a:xfrm>
          <a:prstGeom prst="rect">
            <a:avLst/>
          </a:prstGeom>
          <a:noFill/>
          <a:ln/>
        </p:spPr>
        <p:txBody>
          <a:bodyPr wrap="square" lIns="0" tIns="0" rIns="0" bIns="0" rtlCol="0" anchor="ctr"/>
          <a:lstStyle/>
          <a:p>
            <a:pPr indent="0" marL="0">
              <a:buNone/>
            </a:pPr>
            <a:r>
              <a:rPr lang="en-US" sz="1300" b="1" dirty="0">
                <a:solidFill>
                  <a:srgbClr val="F2F3F8"/>
                </a:solidFill>
                <a:latin typeface="Arial" pitchFamily="34" charset="0"/>
                <a:ea typeface="Arial" pitchFamily="34" charset="-122"/>
                <a:cs typeface="Arial" pitchFamily="34" charset="-120"/>
              </a:rPr>
              <a:t>AI cost per answer</a:t>
            </a:r>
            <a:endParaRPr lang="en-US" sz="1300" dirty="0"/>
          </a:p>
        </p:txBody>
      </p:sp>
      <p:sp>
        <p:nvSpPr>
          <p:cNvPr id="38" name="Text 36"/>
          <p:cNvSpPr txBox="1"/>
          <p:nvPr/>
        </p:nvSpPr>
        <p:spPr>
          <a:xfrm>
            <a:off x="8307629" y="5010912"/>
            <a:ext cx="3143402" cy="384048"/>
          </a:xfrm>
          <a:prstGeom prst="rect">
            <a:avLst/>
          </a:prstGeom>
          <a:noFill/>
          <a:ln/>
        </p:spPr>
        <p:txBody>
          <a:bodyPr wrap="square" lIns="0" tIns="0" rIns="0" bIns="0" rtlCol="0" anchor="ctr"/>
          <a:lstStyle/>
          <a:p>
            <a:pPr indent="0" marL="0">
              <a:buNone/>
            </a:pPr>
            <a:r>
              <a:rPr lang="en-US" sz="2400" b="1" dirty="0">
                <a:solidFill>
                  <a:srgbClr val="6E7699"/>
                </a:solidFill>
                <a:latin typeface="Arial" pitchFamily="34" charset="0"/>
                <a:ea typeface="Arial" pitchFamily="34" charset="-122"/>
                <a:cs typeface="Arial" pitchFamily="34" charset="-120"/>
              </a:rPr>
              <a:t>&lt; €0.05</a:t>
            </a:r>
            <a:endParaRPr lang="en-US" sz="2400" dirty="0"/>
          </a:p>
        </p:txBody>
      </p:sp>
      <p:sp>
        <p:nvSpPr>
          <p:cNvPr id="39" name="Text 37"/>
          <p:cNvSpPr txBox="1"/>
          <p:nvPr/>
        </p:nvSpPr>
        <p:spPr>
          <a:xfrm>
            <a:off x="8307629" y="5394960"/>
            <a:ext cx="3143402" cy="201168"/>
          </a:xfrm>
          <a:prstGeom prst="rect">
            <a:avLst/>
          </a:prstGeom>
          <a:noFill/>
          <a:ln/>
        </p:spPr>
        <p:txBody>
          <a:bodyPr wrap="square" lIns="0" tIns="0" rIns="0" bIns="0" rtlCol="0" anchor="ctr"/>
          <a:lstStyle/>
          <a:p>
            <a:pPr indent="0" marL="0">
              <a:buNone/>
            </a:pPr>
            <a:r>
              <a:rPr lang="en-US" sz="1000" dirty="0">
                <a:solidFill>
                  <a:srgbClr val="6E7699"/>
                </a:solidFill>
                <a:latin typeface="Arial" pitchFamily="34" charset="0"/>
                <a:ea typeface="Arial" pitchFamily="34" charset="-122"/>
                <a:cs typeface="Arial" pitchFamily="34" charset="-120"/>
              </a:rPr>
              <a:t>tokens plus compute</a:t>
            </a:r>
            <a:endParaRPr lang="en-US" sz="1000" dirty="0"/>
          </a:p>
        </p:txBody>
      </p:sp>
      <p:sp>
        <p:nvSpPr>
          <p:cNvPr id="40" name="Text 38"/>
          <p:cNvSpPr txBox="1"/>
          <p:nvPr/>
        </p:nvSpPr>
        <p:spPr>
          <a:xfrm>
            <a:off x="8307629" y="5596128"/>
            <a:ext cx="3143402" cy="365760"/>
          </a:xfrm>
          <a:prstGeom prst="rect">
            <a:avLst/>
          </a:prstGeom>
          <a:noFill/>
          <a:ln/>
        </p:spPr>
        <p:txBody>
          <a:bodyPr wrap="square" lIns="0" tIns="0" rIns="0" bIns="0" rtlCol="0" anchor="t"/>
          <a:lstStyle/>
          <a:p>
            <a:pPr indent="0" marL="0">
              <a:lnSpc>
                <a:spcPct val="114000"/>
              </a:lnSpc>
              <a:buNone/>
            </a:pPr>
            <a:r>
              <a:rPr lang="en-US" sz="1050" i="1" dirty="0">
                <a:solidFill>
                  <a:srgbClr val="9BA1C1"/>
                </a:solidFill>
                <a:latin typeface="Arial" pitchFamily="34" charset="0"/>
                <a:ea typeface="Arial" pitchFamily="34" charset="-122"/>
                <a:cs typeface="Arial" pitchFamily="34" charset="-120"/>
              </a:rPr>
              <a:t>Decides whether this is a business or an experiment</a:t>
            </a:r>
            <a:endParaRPr lang="en-US" sz="1050" dirty="0"/>
          </a:p>
        </p:txBody>
      </p:sp>
      <p:sp>
        <p:nvSpPr>
          <p:cNvPr id="41" name="Text 39"/>
          <p:cNvSpPr txBox="1"/>
          <p:nvPr/>
        </p:nvSpPr>
        <p:spPr>
          <a:xfrm>
            <a:off x="502920" y="6272784"/>
            <a:ext cx="11185855" cy="274320"/>
          </a:xfrm>
          <a:prstGeom prst="rect">
            <a:avLst/>
          </a:prstGeom>
          <a:noFill/>
          <a:ln/>
        </p:spPr>
        <p:txBody>
          <a:bodyPr wrap="square" lIns="0" tIns="0" rIns="0" bIns="0" rtlCol="0" anchor="ctr"/>
          <a:lstStyle/>
          <a:p>
            <a:pPr indent="0" marL="0">
              <a:buNone/>
            </a:pPr>
            <a:r>
              <a:rPr lang="en-US" sz="1200" i="1" dirty="0">
                <a:solidFill>
                  <a:srgbClr val="E0A458"/>
                </a:solidFill>
                <a:latin typeface="Arial" pitchFamily="34" charset="0"/>
                <a:ea typeface="Arial" pitchFamily="34" charset="-122"/>
                <a:cs typeface="Arial" pitchFamily="34" charset="-120"/>
              </a:rPr>
              <a:t>The first two can be measured before a single return is counted — so they are the first two we instrument.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WHAT WE NEED TO DECIDE</a:t>
            </a:r>
            <a:endParaRPr lang="en-US" sz="950" dirty="0"/>
          </a:p>
        </p:txBody>
      </p:sp>
      <p:sp>
        <p:nvSpPr>
          <p:cNvPr id="3" name="Text 1"/>
          <p:cNvSpPr txBox="1"/>
          <p:nvPr/>
        </p:nvSpPr>
        <p:spPr>
          <a:xfrm>
            <a:off x="502920" y="384048"/>
            <a:ext cx="11185855" cy="548640"/>
          </a:xfrm>
          <a:prstGeom prst="rect">
            <a:avLst/>
          </a:prstGeom>
          <a:noFill/>
          <a:ln/>
        </p:spPr>
        <p:txBody>
          <a:bodyPr wrap="square" lIns="0" tIns="0" rIns="0" bIns="0" rtlCol="0" anchor="ctr"/>
          <a:lstStyle/>
          <a:p>
            <a:pPr indent="0" marL="0">
              <a:buNone/>
            </a:pPr>
            <a:r>
              <a:rPr lang="en-US" sz="2800" b="1" dirty="0">
                <a:solidFill>
                  <a:srgbClr val="F2F3F8"/>
                </a:solidFill>
                <a:latin typeface="Arial" pitchFamily="34" charset="0"/>
                <a:ea typeface="Arial" pitchFamily="34" charset="-122"/>
                <a:cs typeface="Arial" pitchFamily="34" charset="-120"/>
              </a:rPr>
              <a:t>Five questions, then we build</a:t>
            </a:r>
            <a:endParaRPr lang="en-US" sz="2800" dirty="0"/>
          </a:p>
        </p:txBody>
      </p:sp>
      <p:sp>
        <p:nvSpPr>
          <p:cNvPr id="4" name="Shape 2"/>
          <p:cNvSpPr/>
          <p:nvPr/>
        </p:nvSpPr>
        <p:spPr>
          <a:xfrm>
            <a:off x="502920" y="1243584"/>
            <a:ext cx="11185855" cy="822960"/>
          </a:xfrm>
          <a:prstGeom prst="roundRect">
            <a:avLst>
              <a:gd name="adj" fmla="val 6667"/>
            </a:avLst>
          </a:prstGeom>
          <a:solidFill>
            <a:srgbClr val="252943"/>
          </a:solidFill>
          <a:ln w="12700">
            <a:solidFill>
              <a:srgbClr val="252943"/>
            </a:solidFill>
            <a:prstDash val="solid"/>
          </a:ln>
        </p:spPr>
      </p:sp>
      <p:sp>
        <p:nvSpPr>
          <p:cNvPr id="5" name="Shape 3"/>
          <p:cNvSpPr/>
          <p:nvPr/>
        </p:nvSpPr>
        <p:spPr>
          <a:xfrm>
            <a:off x="740664" y="1481328"/>
            <a:ext cx="347472" cy="347472"/>
          </a:xfrm>
          <a:prstGeom prst="ellipse">
            <a:avLst/>
          </a:prstGeom>
          <a:solidFill>
            <a:srgbClr val="83B4DE"/>
          </a:solidFill>
          <a:ln w="12700">
            <a:solidFill>
              <a:srgbClr val="83B4DE"/>
            </a:solidFill>
            <a:prstDash val="solid"/>
          </a:ln>
        </p:spPr>
      </p:sp>
      <p:sp>
        <p:nvSpPr>
          <p:cNvPr id="6" name="Text 4"/>
          <p:cNvSpPr txBox="1"/>
          <p:nvPr/>
        </p:nvSpPr>
        <p:spPr>
          <a:xfrm>
            <a:off x="740664" y="1481328"/>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1</a:t>
            </a:r>
            <a:endParaRPr lang="en-US" sz="1200" dirty="0"/>
          </a:p>
        </p:txBody>
      </p:sp>
      <p:sp>
        <p:nvSpPr>
          <p:cNvPr id="7" name="Text 5"/>
          <p:cNvSpPr txBox="1"/>
          <p:nvPr/>
        </p:nvSpPr>
        <p:spPr>
          <a:xfrm>
            <a:off x="1252728" y="1353312"/>
            <a:ext cx="1828800" cy="292608"/>
          </a:xfrm>
          <a:prstGeom prst="rect">
            <a:avLst/>
          </a:prstGeom>
          <a:noFill/>
          <a:ln/>
        </p:spPr>
        <p:txBody>
          <a:bodyPr wrap="square" lIns="0" tIns="0" rIns="0" bIns="0" rtlCol="0" anchor="ctr"/>
          <a:lstStyle/>
          <a:p>
            <a:pPr indent="0" marL="0">
              <a:buNone/>
            </a:pPr>
            <a:r>
              <a:rPr lang="en-US" sz="1400" b="1" dirty="0">
                <a:solidFill>
                  <a:srgbClr val="83B4DE"/>
                </a:solidFill>
                <a:latin typeface="Arial" pitchFamily="34" charset="0"/>
                <a:ea typeface="Arial" pitchFamily="34" charset="-122"/>
                <a:cs typeface="Arial" pitchFamily="34" charset="-120"/>
              </a:rPr>
              <a:t>Priority</a:t>
            </a:r>
            <a:endParaRPr lang="en-US" sz="1400" dirty="0"/>
          </a:p>
        </p:txBody>
      </p:sp>
      <p:sp>
        <p:nvSpPr>
          <p:cNvPr id="8" name="Text 6"/>
          <p:cNvSpPr txBox="1"/>
          <p:nvPr/>
        </p:nvSpPr>
        <p:spPr>
          <a:xfrm>
            <a:off x="3154680" y="1335024"/>
            <a:ext cx="8229600" cy="640080"/>
          </a:xfrm>
          <a:prstGeom prst="rect">
            <a:avLst/>
          </a:prstGeom>
          <a:noFill/>
          <a:ln/>
        </p:spPr>
        <p:txBody>
          <a:bodyPr wrap="square" lIns="0" tIns="0" rIns="0" bIns="0" rtlCol="0" anchor="ctr"/>
          <a:lstStyle/>
          <a:p>
            <a:pPr indent="0" marL="0">
              <a:lnSpc>
                <a:spcPct val="114000"/>
              </a:lnSpc>
              <a:buNone/>
            </a:pPr>
            <a:r>
              <a:rPr lang="en-US" sz="1200" dirty="0">
                <a:solidFill>
                  <a:srgbClr val="F2F3F8"/>
                </a:solidFill>
                <a:latin typeface="Arial" pitchFamily="34" charset="0"/>
                <a:ea typeface="Arial" pitchFamily="34" charset="-122"/>
                <a:cs typeface="Arial" pitchFamily="34" charset="-120"/>
              </a:rPr>
              <a:t>If weeks 11–13 run short, which screen gets cut? My answer is 2, because measurements can live inside screen 3.</a:t>
            </a:r>
            <a:endParaRPr lang="en-US" sz="1200" dirty="0"/>
          </a:p>
        </p:txBody>
      </p:sp>
      <p:sp>
        <p:nvSpPr>
          <p:cNvPr id="9" name="Shape 7"/>
          <p:cNvSpPr/>
          <p:nvPr/>
        </p:nvSpPr>
        <p:spPr>
          <a:xfrm>
            <a:off x="502920" y="2176272"/>
            <a:ext cx="11185855" cy="822960"/>
          </a:xfrm>
          <a:prstGeom prst="roundRect">
            <a:avLst>
              <a:gd name="adj" fmla="val 6667"/>
            </a:avLst>
          </a:prstGeom>
          <a:solidFill>
            <a:srgbClr val="252943"/>
          </a:solidFill>
          <a:ln w="12700">
            <a:solidFill>
              <a:srgbClr val="252943"/>
            </a:solidFill>
            <a:prstDash val="solid"/>
          </a:ln>
        </p:spPr>
      </p:sp>
      <p:sp>
        <p:nvSpPr>
          <p:cNvPr id="10" name="Shape 8"/>
          <p:cNvSpPr/>
          <p:nvPr/>
        </p:nvSpPr>
        <p:spPr>
          <a:xfrm>
            <a:off x="740664" y="2414016"/>
            <a:ext cx="347472" cy="347472"/>
          </a:xfrm>
          <a:prstGeom prst="ellipse">
            <a:avLst/>
          </a:prstGeom>
          <a:solidFill>
            <a:srgbClr val="83B4DE"/>
          </a:solidFill>
          <a:ln w="12700">
            <a:solidFill>
              <a:srgbClr val="83B4DE"/>
            </a:solidFill>
            <a:prstDash val="solid"/>
          </a:ln>
        </p:spPr>
      </p:sp>
      <p:sp>
        <p:nvSpPr>
          <p:cNvPr id="11" name="Text 9"/>
          <p:cNvSpPr txBox="1"/>
          <p:nvPr/>
        </p:nvSpPr>
        <p:spPr>
          <a:xfrm>
            <a:off x="740664" y="2414016"/>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2</a:t>
            </a:r>
            <a:endParaRPr lang="en-US" sz="1200" dirty="0"/>
          </a:p>
        </p:txBody>
      </p:sp>
      <p:sp>
        <p:nvSpPr>
          <p:cNvPr id="12" name="Text 10"/>
          <p:cNvSpPr txBox="1"/>
          <p:nvPr/>
        </p:nvSpPr>
        <p:spPr>
          <a:xfrm>
            <a:off x="1252728" y="2286000"/>
            <a:ext cx="1828800" cy="292608"/>
          </a:xfrm>
          <a:prstGeom prst="rect">
            <a:avLst/>
          </a:prstGeom>
          <a:noFill/>
          <a:ln/>
        </p:spPr>
        <p:txBody>
          <a:bodyPr wrap="square" lIns="0" tIns="0" rIns="0" bIns="0" rtlCol="0" anchor="ctr"/>
          <a:lstStyle/>
          <a:p>
            <a:pPr indent="0" marL="0">
              <a:buNone/>
            </a:pPr>
            <a:r>
              <a:rPr lang="en-US" sz="1400" b="1" dirty="0">
                <a:solidFill>
                  <a:srgbClr val="83B4DE"/>
                </a:solidFill>
                <a:latin typeface="Arial" pitchFamily="34" charset="0"/>
                <a:ea typeface="Arial" pitchFamily="34" charset="-122"/>
                <a:cs typeface="Arial" pitchFamily="34" charset="-120"/>
              </a:rPr>
              <a:t>Audience</a:t>
            </a:r>
            <a:endParaRPr lang="en-US" sz="1400" dirty="0"/>
          </a:p>
        </p:txBody>
      </p:sp>
      <p:sp>
        <p:nvSpPr>
          <p:cNvPr id="13" name="Text 11"/>
          <p:cNvSpPr txBox="1"/>
          <p:nvPr/>
        </p:nvSpPr>
        <p:spPr>
          <a:xfrm>
            <a:off x="3154680" y="2267712"/>
            <a:ext cx="8229600" cy="640080"/>
          </a:xfrm>
          <a:prstGeom prst="rect">
            <a:avLst/>
          </a:prstGeom>
          <a:noFill/>
          <a:ln/>
        </p:spPr>
        <p:txBody>
          <a:bodyPr wrap="square" lIns="0" tIns="0" rIns="0" bIns="0" rtlCol="0" anchor="ctr"/>
          <a:lstStyle/>
          <a:p>
            <a:pPr indent="0" marL="0">
              <a:lnSpc>
                <a:spcPct val="114000"/>
              </a:lnSpc>
              <a:buNone/>
            </a:pPr>
            <a:r>
              <a:rPr lang="en-US" sz="1200" dirty="0">
                <a:solidFill>
                  <a:srgbClr val="F2F3F8"/>
                </a:solidFill>
                <a:latin typeface="Arial" pitchFamily="34" charset="0"/>
                <a:ea typeface="Arial" pitchFamily="34" charset="-122"/>
                <a:cs typeface="Arial" pitchFamily="34" charset="-120"/>
              </a:rPr>
              <a:t>How much machinery stays visible in a shipped product — all of it behind a flag, or a simple view by default?</a:t>
            </a:r>
            <a:endParaRPr lang="en-US" sz="1200" dirty="0"/>
          </a:p>
        </p:txBody>
      </p:sp>
      <p:sp>
        <p:nvSpPr>
          <p:cNvPr id="14" name="Shape 12"/>
          <p:cNvSpPr/>
          <p:nvPr/>
        </p:nvSpPr>
        <p:spPr>
          <a:xfrm>
            <a:off x="502920" y="3108960"/>
            <a:ext cx="11185855" cy="822960"/>
          </a:xfrm>
          <a:prstGeom prst="roundRect">
            <a:avLst>
              <a:gd name="adj" fmla="val 6667"/>
            </a:avLst>
          </a:prstGeom>
          <a:solidFill>
            <a:srgbClr val="252943"/>
          </a:solidFill>
          <a:ln w="12700">
            <a:solidFill>
              <a:srgbClr val="252943"/>
            </a:solidFill>
            <a:prstDash val="solid"/>
          </a:ln>
        </p:spPr>
      </p:sp>
      <p:sp>
        <p:nvSpPr>
          <p:cNvPr id="15" name="Shape 13"/>
          <p:cNvSpPr/>
          <p:nvPr/>
        </p:nvSpPr>
        <p:spPr>
          <a:xfrm>
            <a:off x="740664" y="3346704"/>
            <a:ext cx="347472" cy="347472"/>
          </a:xfrm>
          <a:prstGeom prst="ellipse">
            <a:avLst/>
          </a:prstGeom>
          <a:solidFill>
            <a:srgbClr val="E0A458"/>
          </a:solidFill>
          <a:ln w="12700">
            <a:solidFill>
              <a:srgbClr val="E0A458"/>
            </a:solidFill>
            <a:prstDash val="solid"/>
          </a:ln>
        </p:spPr>
      </p:sp>
      <p:sp>
        <p:nvSpPr>
          <p:cNvPr id="16" name="Text 14"/>
          <p:cNvSpPr txBox="1"/>
          <p:nvPr/>
        </p:nvSpPr>
        <p:spPr>
          <a:xfrm>
            <a:off x="740664" y="3346704"/>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3</a:t>
            </a:r>
            <a:endParaRPr lang="en-US" sz="1200" dirty="0"/>
          </a:p>
        </p:txBody>
      </p:sp>
      <p:sp>
        <p:nvSpPr>
          <p:cNvPr id="17" name="Text 15"/>
          <p:cNvSpPr txBox="1"/>
          <p:nvPr/>
        </p:nvSpPr>
        <p:spPr>
          <a:xfrm>
            <a:off x="1252728" y="3218688"/>
            <a:ext cx="1828800" cy="292608"/>
          </a:xfrm>
          <a:prstGeom prst="rect">
            <a:avLst/>
          </a:prstGeom>
          <a:noFill/>
          <a:ln/>
        </p:spPr>
        <p:txBody>
          <a:bodyPr wrap="square" lIns="0" tIns="0" rIns="0" bIns="0" rtlCol="0" anchor="ctr"/>
          <a:lstStyle/>
          <a:p>
            <a:pPr indent="0" marL="0">
              <a:buNone/>
            </a:pPr>
            <a:r>
              <a:rPr lang="en-US" sz="1400" b="1" dirty="0">
                <a:solidFill>
                  <a:srgbClr val="E0A458"/>
                </a:solidFill>
                <a:latin typeface="Arial" pitchFamily="34" charset="0"/>
                <a:ea typeface="Arial" pitchFamily="34" charset="-122"/>
                <a:cs typeface="Arial" pitchFamily="34" charset="-120"/>
              </a:rPr>
              <a:t>Language</a:t>
            </a:r>
            <a:endParaRPr lang="en-US" sz="1400" dirty="0"/>
          </a:p>
        </p:txBody>
      </p:sp>
      <p:sp>
        <p:nvSpPr>
          <p:cNvPr id="18" name="Text 16"/>
          <p:cNvSpPr txBox="1"/>
          <p:nvPr/>
        </p:nvSpPr>
        <p:spPr>
          <a:xfrm>
            <a:off x="3154680" y="3200400"/>
            <a:ext cx="8229600" cy="640080"/>
          </a:xfrm>
          <a:prstGeom prst="rect">
            <a:avLst/>
          </a:prstGeom>
          <a:noFill/>
          <a:ln/>
        </p:spPr>
        <p:txBody>
          <a:bodyPr wrap="square" lIns="0" tIns="0" rIns="0" bIns="0" rtlCol="0" anchor="ctr"/>
          <a:lstStyle/>
          <a:p>
            <a:pPr indent="0" marL="0">
              <a:lnSpc>
                <a:spcPct val="114000"/>
              </a:lnSpc>
              <a:buNone/>
            </a:pPr>
            <a:r>
              <a:rPr lang="en-US" sz="1200" dirty="0">
                <a:solidFill>
                  <a:srgbClr val="F2F3F8"/>
                </a:solidFill>
                <a:latin typeface="Arial" pitchFamily="34" charset="0"/>
                <a:ea typeface="Arial" pitchFamily="34" charset="-122"/>
                <a:cs typeface="Arial" pitchFamily="34" charset="-120"/>
              </a:rPr>
              <a:t>Italian in the interface with English in the code and thesis, or English throughout? This decides which language agent 5's labelled set is built in.</a:t>
            </a:r>
            <a:endParaRPr lang="en-US" sz="1200" dirty="0"/>
          </a:p>
        </p:txBody>
      </p:sp>
      <p:sp>
        <p:nvSpPr>
          <p:cNvPr id="19" name="Shape 17"/>
          <p:cNvSpPr/>
          <p:nvPr/>
        </p:nvSpPr>
        <p:spPr>
          <a:xfrm>
            <a:off x="502920" y="4041648"/>
            <a:ext cx="11185855" cy="822960"/>
          </a:xfrm>
          <a:prstGeom prst="roundRect">
            <a:avLst>
              <a:gd name="adj" fmla="val 6667"/>
            </a:avLst>
          </a:prstGeom>
          <a:solidFill>
            <a:srgbClr val="252943"/>
          </a:solidFill>
          <a:ln w="12700">
            <a:solidFill>
              <a:srgbClr val="252943"/>
            </a:solidFill>
            <a:prstDash val="solid"/>
          </a:ln>
        </p:spPr>
      </p:sp>
      <p:sp>
        <p:nvSpPr>
          <p:cNvPr id="20" name="Shape 18"/>
          <p:cNvSpPr/>
          <p:nvPr/>
        </p:nvSpPr>
        <p:spPr>
          <a:xfrm>
            <a:off x="740664" y="4279392"/>
            <a:ext cx="347472" cy="347472"/>
          </a:xfrm>
          <a:prstGeom prst="ellipse">
            <a:avLst/>
          </a:prstGeom>
          <a:solidFill>
            <a:srgbClr val="E0A458"/>
          </a:solidFill>
          <a:ln w="12700">
            <a:solidFill>
              <a:srgbClr val="E0A458"/>
            </a:solidFill>
            <a:prstDash val="solid"/>
          </a:ln>
        </p:spPr>
      </p:sp>
      <p:sp>
        <p:nvSpPr>
          <p:cNvPr id="21" name="Text 19"/>
          <p:cNvSpPr txBox="1"/>
          <p:nvPr/>
        </p:nvSpPr>
        <p:spPr>
          <a:xfrm>
            <a:off x="740664" y="4279392"/>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4</a:t>
            </a:r>
            <a:endParaRPr lang="en-US" sz="1200" dirty="0"/>
          </a:p>
        </p:txBody>
      </p:sp>
      <p:sp>
        <p:nvSpPr>
          <p:cNvPr id="22" name="Text 20"/>
          <p:cNvSpPr txBox="1"/>
          <p:nvPr/>
        </p:nvSpPr>
        <p:spPr>
          <a:xfrm>
            <a:off x="1252728" y="4151376"/>
            <a:ext cx="1828800" cy="292608"/>
          </a:xfrm>
          <a:prstGeom prst="rect">
            <a:avLst/>
          </a:prstGeom>
          <a:noFill/>
          <a:ln/>
        </p:spPr>
        <p:txBody>
          <a:bodyPr wrap="square" lIns="0" tIns="0" rIns="0" bIns="0" rtlCol="0" anchor="ctr"/>
          <a:lstStyle/>
          <a:p>
            <a:pPr indent="0" marL="0">
              <a:buNone/>
            </a:pPr>
            <a:r>
              <a:rPr lang="en-US" sz="1400" b="1" dirty="0">
                <a:solidFill>
                  <a:srgbClr val="E0A458"/>
                </a:solidFill>
                <a:latin typeface="Arial" pitchFamily="34" charset="0"/>
                <a:ea typeface="Arial" pitchFamily="34" charset="-122"/>
                <a:cs typeface="Arial" pitchFamily="34" charset="-120"/>
              </a:rPr>
              <a:t>Vocabulary</a:t>
            </a:r>
            <a:endParaRPr lang="en-US" sz="1400" dirty="0"/>
          </a:p>
        </p:txBody>
      </p:sp>
      <p:sp>
        <p:nvSpPr>
          <p:cNvPr id="23" name="Text 21"/>
          <p:cNvSpPr txBox="1"/>
          <p:nvPr/>
        </p:nvSpPr>
        <p:spPr>
          <a:xfrm>
            <a:off x="3154680" y="4133088"/>
            <a:ext cx="8229600" cy="640080"/>
          </a:xfrm>
          <a:prstGeom prst="rect">
            <a:avLst/>
          </a:prstGeom>
          <a:noFill/>
          <a:ln/>
        </p:spPr>
        <p:txBody>
          <a:bodyPr wrap="square" lIns="0" tIns="0" rIns="0" bIns="0" rtlCol="0" anchor="ctr"/>
          <a:lstStyle/>
          <a:p>
            <a:pPr indent="0" marL="0">
              <a:lnSpc>
                <a:spcPct val="114000"/>
              </a:lnSpc>
              <a:buNone/>
            </a:pPr>
            <a:r>
              <a:rPr lang="en-US" sz="1200" dirty="0">
                <a:solidFill>
                  <a:srgbClr val="F2F3F8"/>
                </a:solidFill>
                <a:latin typeface="Arial" pitchFamily="34" charset="0"/>
                <a:ea typeface="Arial" pitchFamily="34" charset="-122"/>
                <a:cs typeface="Arial" pitchFamily="34" charset="-120"/>
              </a:rPr>
              <a:t>You know denim better than the mockup does. Any measurement name, tolerance or phrase that reads wrong to you?</a:t>
            </a:r>
            <a:endParaRPr lang="en-US" sz="1200" dirty="0"/>
          </a:p>
        </p:txBody>
      </p:sp>
      <p:sp>
        <p:nvSpPr>
          <p:cNvPr id="24" name="Shape 22"/>
          <p:cNvSpPr/>
          <p:nvPr/>
        </p:nvSpPr>
        <p:spPr>
          <a:xfrm>
            <a:off x="502920" y="4974336"/>
            <a:ext cx="11185855" cy="822960"/>
          </a:xfrm>
          <a:prstGeom prst="roundRect">
            <a:avLst>
              <a:gd name="adj" fmla="val 6667"/>
            </a:avLst>
          </a:prstGeom>
          <a:solidFill>
            <a:srgbClr val="252943"/>
          </a:solidFill>
          <a:ln w="12700">
            <a:solidFill>
              <a:srgbClr val="252943"/>
            </a:solidFill>
            <a:prstDash val="solid"/>
          </a:ln>
        </p:spPr>
      </p:sp>
      <p:sp>
        <p:nvSpPr>
          <p:cNvPr id="25" name="Shape 23"/>
          <p:cNvSpPr/>
          <p:nvPr/>
        </p:nvSpPr>
        <p:spPr>
          <a:xfrm>
            <a:off x="740664" y="5212080"/>
            <a:ext cx="347472" cy="347472"/>
          </a:xfrm>
          <a:prstGeom prst="ellipse">
            <a:avLst/>
          </a:prstGeom>
          <a:solidFill>
            <a:srgbClr val="83B4DE"/>
          </a:solidFill>
          <a:ln w="12700">
            <a:solidFill>
              <a:srgbClr val="83B4DE"/>
            </a:solidFill>
            <a:prstDash val="solid"/>
          </a:ln>
        </p:spPr>
      </p:sp>
      <p:sp>
        <p:nvSpPr>
          <p:cNvPr id="26" name="Text 24"/>
          <p:cNvSpPr txBox="1"/>
          <p:nvPr/>
        </p:nvSpPr>
        <p:spPr>
          <a:xfrm>
            <a:off x="740664" y="5212080"/>
            <a:ext cx="347472" cy="347472"/>
          </a:xfrm>
          <a:prstGeom prst="rect">
            <a:avLst/>
          </a:prstGeom>
          <a:noFill/>
          <a:ln/>
        </p:spPr>
        <p:txBody>
          <a:bodyPr wrap="square" lIns="0" tIns="0" rIns="0" bIns="0" rtlCol="0" anchor="ctr"/>
          <a:lstStyle/>
          <a:p>
            <a:pPr algn="ctr" indent="0" marL="0">
              <a:buNone/>
            </a:pPr>
            <a:r>
              <a:rPr lang="en-US" sz="1200" b="1" dirty="0">
                <a:solidFill>
                  <a:srgbClr val="1B1D33"/>
                </a:solidFill>
                <a:latin typeface="Arial" pitchFamily="34" charset="0"/>
                <a:ea typeface="Arial" pitchFamily="34" charset="-122"/>
                <a:cs typeface="Arial" pitchFamily="34" charset="-120"/>
              </a:rPr>
              <a:t>5</a:t>
            </a:r>
            <a:endParaRPr lang="en-US" sz="1200" dirty="0"/>
          </a:p>
        </p:txBody>
      </p:sp>
      <p:sp>
        <p:nvSpPr>
          <p:cNvPr id="27" name="Text 25"/>
          <p:cNvSpPr txBox="1"/>
          <p:nvPr/>
        </p:nvSpPr>
        <p:spPr>
          <a:xfrm>
            <a:off x="1252728" y="5084064"/>
            <a:ext cx="1828800" cy="292608"/>
          </a:xfrm>
          <a:prstGeom prst="rect">
            <a:avLst/>
          </a:prstGeom>
          <a:noFill/>
          <a:ln/>
        </p:spPr>
        <p:txBody>
          <a:bodyPr wrap="square" lIns="0" tIns="0" rIns="0" bIns="0" rtlCol="0" anchor="ctr"/>
          <a:lstStyle/>
          <a:p>
            <a:pPr indent="0" marL="0">
              <a:buNone/>
            </a:pPr>
            <a:r>
              <a:rPr lang="en-US" sz="1400" b="1" dirty="0">
                <a:solidFill>
                  <a:srgbClr val="83B4DE"/>
                </a:solidFill>
                <a:latin typeface="Arial" pitchFamily="34" charset="0"/>
                <a:ea typeface="Arial" pitchFamily="34" charset="-122"/>
                <a:cs typeface="Arial" pitchFamily="34" charset="-120"/>
              </a:rPr>
              <a:t>Fit score</a:t>
            </a:r>
            <a:endParaRPr lang="en-US" sz="1400" dirty="0"/>
          </a:p>
        </p:txBody>
      </p:sp>
      <p:sp>
        <p:nvSpPr>
          <p:cNvPr id="28" name="Text 26"/>
          <p:cNvSpPr txBox="1"/>
          <p:nvPr/>
        </p:nvSpPr>
        <p:spPr>
          <a:xfrm>
            <a:off x="3154680" y="5065776"/>
            <a:ext cx="8229600" cy="640080"/>
          </a:xfrm>
          <a:prstGeom prst="rect">
            <a:avLst/>
          </a:prstGeom>
          <a:noFill/>
          <a:ln/>
        </p:spPr>
        <p:txBody>
          <a:bodyPr wrap="square" lIns="0" tIns="0" rIns="0" bIns="0" rtlCol="0" anchor="ctr"/>
          <a:lstStyle/>
          <a:p>
            <a:pPr indent="0" marL="0">
              <a:lnSpc>
                <a:spcPct val="114000"/>
              </a:lnSpc>
              <a:buNone/>
            </a:pPr>
            <a:r>
              <a:rPr lang="en-US" sz="1200" dirty="0">
                <a:solidFill>
                  <a:srgbClr val="F2F3F8"/>
                </a:solidFill>
                <a:latin typeface="Arial" pitchFamily="34" charset="0"/>
                <a:ea typeface="Arial" pitchFamily="34" charset="-122"/>
                <a:cs typeface="Arial" pitchFamily="34" charset="-120"/>
              </a:rPr>
              <a:t>A number out of 100, words, or both?</a:t>
            </a:r>
            <a:endParaRPr lang="en-US" sz="1200" dirty="0"/>
          </a:p>
        </p:txBody>
      </p:sp>
      <p:sp>
        <p:nvSpPr>
          <p:cNvPr id="29" name="Text 27"/>
          <p:cNvSpPr txBox="1"/>
          <p:nvPr/>
        </p:nvSpPr>
        <p:spPr>
          <a:xfrm>
            <a:off x="502920" y="6035040"/>
            <a:ext cx="11185855" cy="310896"/>
          </a:xfrm>
          <a:prstGeom prst="rect">
            <a:avLst/>
          </a:prstGeom>
          <a:noFill/>
          <a:ln/>
        </p:spPr>
        <p:txBody>
          <a:bodyPr wrap="square" lIns="0" tIns="0" rIns="0" bIns="0" rtlCol="0" anchor="ctr"/>
          <a:lstStyle/>
          <a:p>
            <a:pPr indent="0" marL="0">
              <a:buNone/>
            </a:pPr>
            <a:r>
              <a:rPr lang="en-US" sz="1250" i="1" dirty="0">
                <a:solidFill>
                  <a:srgbClr val="E0A458"/>
                </a:solidFill>
                <a:latin typeface="Arial" pitchFamily="34" charset="0"/>
                <a:ea typeface="Arial" pitchFamily="34" charset="-122"/>
                <a:cs typeface="Arial" pitchFamily="34" charset="-120"/>
              </a:rPr>
              <a:t>Colours, spacing and copy are cheap to change once the app exists. Layout and scope are not — those are what this meeting is for.</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D33"/>
        </a:solidFill>
      </p:bgPr>
    </p:bg>
    <p:spTree>
      <p:nvGrpSpPr>
        <p:cNvPr id="1" name=""/>
        <p:cNvGrpSpPr/>
        <p:nvPr/>
      </p:nvGrpSpPr>
      <p:grpSpPr>
        <a:xfrm>
          <a:off x="0" y="0"/>
          <a:ext cx="0" cy="0"/>
          <a:chOff x="0" y="0"/>
          <a:chExt cx="0" cy="0"/>
        </a:xfrm>
      </p:grpSpPr>
      <p:sp>
        <p:nvSpPr>
          <p:cNvPr id="2" name="Shape 0"/>
          <p:cNvSpPr/>
          <p:nvPr/>
        </p:nvSpPr>
        <p:spPr>
          <a:xfrm>
            <a:off x="502920" y="2596896"/>
            <a:ext cx="0" cy="146304"/>
          </a:xfrm>
          <a:prstGeom prst="line">
            <a:avLst/>
          </a:prstGeom>
          <a:noFill/>
          <a:ln w="12700">
            <a:solidFill>
              <a:srgbClr val="E0A458"/>
            </a:solidFill>
            <a:prstDash val="solid"/>
          </a:ln>
        </p:spPr>
      </p:sp>
      <p:sp>
        <p:nvSpPr>
          <p:cNvPr id="3" name="Shape 1"/>
          <p:cNvSpPr/>
          <p:nvPr/>
        </p:nvSpPr>
        <p:spPr>
          <a:xfrm>
            <a:off x="685800" y="2670048"/>
            <a:ext cx="0" cy="73152"/>
          </a:xfrm>
          <a:prstGeom prst="line">
            <a:avLst/>
          </a:prstGeom>
          <a:noFill/>
          <a:ln w="12700">
            <a:solidFill>
              <a:srgbClr val="6E7699"/>
            </a:solidFill>
            <a:prstDash val="solid"/>
          </a:ln>
        </p:spPr>
      </p:sp>
      <p:sp>
        <p:nvSpPr>
          <p:cNvPr id="4" name="Shape 2"/>
          <p:cNvSpPr/>
          <p:nvPr/>
        </p:nvSpPr>
        <p:spPr>
          <a:xfrm>
            <a:off x="868680" y="2670048"/>
            <a:ext cx="0" cy="73152"/>
          </a:xfrm>
          <a:prstGeom prst="line">
            <a:avLst/>
          </a:prstGeom>
          <a:noFill/>
          <a:ln w="12700">
            <a:solidFill>
              <a:srgbClr val="6E7699"/>
            </a:solidFill>
            <a:prstDash val="solid"/>
          </a:ln>
        </p:spPr>
      </p:sp>
      <p:sp>
        <p:nvSpPr>
          <p:cNvPr id="5" name="Shape 3"/>
          <p:cNvSpPr/>
          <p:nvPr/>
        </p:nvSpPr>
        <p:spPr>
          <a:xfrm>
            <a:off x="1051560" y="2670048"/>
            <a:ext cx="0" cy="73152"/>
          </a:xfrm>
          <a:prstGeom prst="line">
            <a:avLst/>
          </a:prstGeom>
          <a:noFill/>
          <a:ln w="12700">
            <a:solidFill>
              <a:srgbClr val="6E7699"/>
            </a:solidFill>
            <a:prstDash val="solid"/>
          </a:ln>
        </p:spPr>
      </p:sp>
      <p:sp>
        <p:nvSpPr>
          <p:cNvPr id="6" name="Shape 4"/>
          <p:cNvSpPr/>
          <p:nvPr/>
        </p:nvSpPr>
        <p:spPr>
          <a:xfrm>
            <a:off x="1234440" y="2670048"/>
            <a:ext cx="0" cy="73152"/>
          </a:xfrm>
          <a:prstGeom prst="line">
            <a:avLst/>
          </a:prstGeom>
          <a:noFill/>
          <a:ln w="12700">
            <a:solidFill>
              <a:srgbClr val="6E7699"/>
            </a:solidFill>
            <a:prstDash val="solid"/>
          </a:ln>
        </p:spPr>
      </p:sp>
      <p:sp>
        <p:nvSpPr>
          <p:cNvPr id="7" name="Shape 5"/>
          <p:cNvSpPr/>
          <p:nvPr/>
        </p:nvSpPr>
        <p:spPr>
          <a:xfrm>
            <a:off x="1417320" y="2596896"/>
            <a:ext cx="0" cy="146304"/>
          </a:xfrm>
          <a:prstGeom prst="line">
            <a:avLst/>
          </a:prstGeom>
          <a:noFill/>
          <a:ln w="12700">
            <a:solidFill>
              <a:srgbClr val="E0A458"/>
            </a:solidFill>
            <a:prstDash val="solid"/>
          </a:ln>
        </p:spPr>
      </p:sp>
      <p:sp>
        <p:nvSpPr>
          <p:cNvPr id="8" name="Shape 6"/>
          <p:cNvSpPr/>
          <p:nvPr/>
        </p:nvSpPr>
        <p:spPr>
          <a:xfrm>
            <a:off x="1600200" y="2670048"/>
            <a:ext cx="0" cy="73152"/>
          </a:xfrm>
          <a:prstGeom prst="line">
            <a:avLst/>
          </a:prstGeom>
          <a:noFill/>
          <a:ln w="12700">
            <a:solidFill>
              <a:srgbClr val="6E7699"/>
            </a:solidFill>
            <a:prstDash val="solid"/>
          </a:ln>
        </p:spPr>
      </p:sp>
      <p:sp>
        <p:nvSpPr>
          <p:cNvPr id="9" name="Shape 7"/>
          <p:cNvSpPr/>
          <p:nvPr/>
        </p:nvSpPr>
        <p:spPr>
          <a:xfrm>
            <a:off x="1783080" y="2670048"/>
            <a:ext cx="0" cy="73152"/>
          </a:xfrm>
          <a:prstGeom prst="line">
            <a:avLst/>
          </a:prstGeom>
          <a:noFill/>
          <a:ln w="12700">
            <a:solidFill>
              <a:srgbClr val="6E7699"/>
            </a:solidFill>
            <a:prstDash val="solid"/>
          </a:ln>
        </p:spPr>
      </p:sp>
      <p:sp>
        <p:nvSpPr>
          <p:cNvPr id="10" name="Shape 8"/>
          <p:cNvSpPr/>
          <p:nvPr/>
        </p:nvSpPr>
        <p:spPr>
          <a:xfrm>
            <a:off x="1965960" y="2670048"/>
            <a:ext cx="0" cy="73152"/>
          </a:xfrm>
          <a:prstGeom prst="line">
            <a:avLst/>
          </a:prstGeom>
          <a:noFill/>
          <a:ln w="12700">
            <a:solidFill>
              <a:srgbClr val="6E7699"/>
            </a:solidFill>
            <a:prstDash val="solid"/>
          </a:ln>
        </p:spPr>
      </p:sp>
      <p:sp>
        <p:nvSpPr>
          <p:cNvPr id="11" name="Shape 9"/>
          <p:cNvSpPr/>
          <p:nvPr/>
        </p:nvSpPr>
        <p:spPr>
          <a:xfrm>
            <a:off x="2148840" y="2670048"/>
            <a:ext cx="0" cy="73152"/>
          </a:xfrm>
          <a:prstGeom prst="line">
            <a:avLst/>
          </a:prstGeom>
          <a:noFill/>
          <a:ln w="12700">
            <a:solidFill>
              <a:srgbClr val="6E7699"/>
            </a:solidFill>
            <a:prstDash val="solid"/>
          </a:ln>
        </p:spPr>
      </p:sp>
      <p:sp>
        <p:nvSpPr>
          <p:cNvPr id="12" name="Shape 10"/>
          <p:cNvSpPr/>
          <p:nvPr/>
        </p:nvSpPr>
        <p:spPr>
          <a:xfrm>
            <a:off x="2331720" y="2596896"/>
            <a:ext cx="0" cy="146304"/>
          </a:xfrm>
          <a:prstGeom prst="line">
            <a:avLst/>
          </a:prstGeom>
          <a:noFill/>
          <a:ln w="12700">
            <a:solidFill>
              <a:srgbClr val="E0A458"/>
            </a:solidFill>
            <a:prstDash val="solid"/>
          </a:ln>
        </p:spPr>
      </p:sp>
      <p:sp>
        <p:nvSpPr>
          <p:cNvPr id="13" name="Shape 11"/>
          <p:cNvSpPr/>
          <p:nvPr/>
        </p:nvSpPr>
        <p:spPr>
          <a:xfrm>
            <a:off x="2514600" y="2670048"/>
            <a:ext cx="0" cy="73152"/>
          </a:xfrm>
          <a:prstGeom prst="line">
            <a:avLst/>
          </a:prstGeom>
          <a:noFill/>
          <a:ln w="12700">
            <a:solidFill>
              <a:srgbClr val="6E7699"/>
            </a:solidFill>
            <a:prstDash val="solid"/>
          </a:ln>
        </p:spPr>
      </p:sp>
      <p:sp>
        <p:nvSpPr>
          <p:cNvPr id="14" name="Shape 12"/>
          <p:cNvSpPr/>
          <p:nvPr/>
        </p:nvSpPr>
        <p:spPr>
          <a:xfrm>
            <a:off x="2697480" y="2670048"/>
            <a:ext cx="0" cy="73152"/>
          </a:xfrm>
          <a:prstGeom prst="line">
            <a:avLst/>
          </a:prstGeom>
          <a:noFill/>
          <a:ln w="12700">
            <a:solidFill>
              <a:srgbClr val="6E7699"/>
            </a:solidFill>
            <a:prstDash val="solid"/>
          </a:ln>
        </p:spPr>
      </p:sp>
      <p:sp>
        <p:nvSpPr>
          <p:cNvPr id="15" name="Shape 13"/>
          <p:cNvSpPr/>
          <p:nvPr/>
        </p:nvSpPr>
        <p:spPr>
          <a:xfrm>
            <a:off x="2880360" y="2670048"/>
            <a:ext cx="0" cy="73152"/>
          </a:xfrm>
          <a:prstGeom prst="line">
            <a:avLst/>
          </a:prstGeom>
          <a:noFill/>
          <a:ln w="12700">
            <a:solidFill>
              <a:srgbClr val="6E7699"/>
            </a:solidFill>
            <a:prstDash val="solid"/>
          </a:ln>
        </p:spPr>
      </p:sp>
      <p:sp>
        <p:nvSpPr>
          <p:cNvPr id="16" name="Shape 14"/>
          <p:cNvSpPr/>
          <p:nvPr/>
        </p:nvSpPr>
        <p:spPr>
          <a:xfrm>
            <a:off x="3063240" y="2670048"/>
            <a:ext cx="0" cy="73152"/>
          </a:xfrm>
          <a:prstGeom prst="line">
            <a:avLst/>
          </a:prstGeom>
          <a:noFill/>
          <a:ln w="12700">
            <a:solidFill>
              <a:srgbClr val="6E7699"/>
            </a:solidFill>
            <a:prstDash val="solid"/>
          </a:ln>
        </p:spPr>
      </p:sp>
      <p:sp>
        <p:nvSpPr>
          <p:cNvPr id="17" name="Shape 15"/>
          <p:cNvSpPr/>
          <p:nvPr/>
        </p:nvSpPr>
        <p:spPr>
          <a:xfrm>
            <a:off x="3246120" y="2596896"/>
            <a:ext cx="0" cy="146304"/>
          </a:xfrm>
          <a:prstGeom prst="line">
            <a:avLst/>
          </a:prstGeom>
          <a:noFill/>
          <a:ln w="12700">
            <a:solidFill>
              <a:srgbClr val="E0A458"/>
            </a:solidFill>
            <a:prstDash val="solid"/>
          </a:ln>
        </p:spPr>
      </p:sp>
      <p:sp>
        <p:nvSpPr>
          <p:cNvPr id="18" name="Shape 16"/>
          <p:cNvSpPr/>
          <p:nvPr/>
        </p:nvSpPr>
        <p:spPr>
          <a:xfrm>
            <a:off x="3429000" y="2670048"/>
            <a:ext cx="0" cy="73152"/>
          </a:xfrm>
          <a:prstGeom prst="line">
            <a:avLst/>
          </a:prstGeom>
          <a:noFill/>
          <a:ln w="12700">
            <a:solidFill>
              <a:srgbClr val="6E7699"/>
            </a:solidFill>
            <a:prstDash val="solid"/>
          </a:ln>
        </p:spPr>
      </p:sp>
      <p:sp>
        <p:nvSpPr>
          <p:cNvPr id="19" name="Shape 17"/>
          <p:cNvSpPr/>
          <p:nvPr/>
        </p:nvSpPr>
        <p:spPr>
          <a:xfrm>
            <a:off x="3611880" y="2670048"/>
            <a:ext cx="0" cy="73152"/>
          </a:xfrm>
          <a:prstGeom prst="line">
            <a:avLst/>
          </a:prstGeom>
          <a:noFill/>
          <a:ln w="12700">
            <a:solidFill>
              <a:srgbClr val="6E7699"/>
            </a:solidFill>
            <a:prstDash val="solid"/>
          </a:ln>
        </p:spPr>
      </p:sp>
      <p:sp>
        <p:nvSpPr>
          <p:cNvPr id="20" name="Shape 18"/>
          <p:cNvSpPr/>
          <p:nvPr/>
        </p:nvSpPr>
        <p:spPr>
          <a:xfrm>
            <a:off x="3794760" y="2670048"/>
            <a:ext cx="0" cy="73152"/>
          </a:xfrm>
          <a:prstGeom prst="line">
            <a:avLst/>
          </a:prstGeom>
          <a:noFill/>
          <a:ln w="12700">
            <a:solidFill>
              <a:srgbClr val="6E7699"/>
            </a:solidFill>
            <a:prstDash val="solid"/>
          </a:ln>
        </p:spPr>
      </p:sp>
      <p:sp>
        <p:nvSpPr>
          <p:cNvPr id="21" name="Shape 19"/>
          <p:cNvSpPr/>
          <p:nvPr/>
        </p:nvSpPr>
        <p:spPr>
          <a:xfrm>
            <a:off x="3977640" y="2670048"/>
            <a:ext cx="0" cy="73152"/>
          </a:xfrm>
          <a:prstGeom prst="line">
            <a:avLst/>
          </a:prstGeom>
          <a:noFill/>
          <a:ln w="12700">
            <a:solidFill>
              <a:srgbClr val="6E7699"/>
            </a:solidFill>
            <a:prstDash val="solid"/>
          </a:ln>
        </p:spPr>
      </p:sp>
      <p:sp>
        <p:nvSpPr>
          <p:cNvPr id="22" name="Shape 20"/>
          <p:cNvSpPr/>
          <p:nvPr/>
        </p:nvSpPr>
        <p:spPr>
          <a:xfrm>
            <a:off x="4160520" y="2596896"/>
            <a:ext cx="0" cy="146304"/>
          </a:xfrm>
          <a:prstGeom prst="line">
            <a:avLst/>
          </a:prstGeom>
          <a:noFill/>
          <a:ln w="12700">
            <a:solidFill>
              <a:srgbClr val="E0A458"/>
            </a:solidFill>
            <a:prstDash val="solid"/>
          </a:ln>
        </p:spPr>
      </p:sp>
      <p:sp>
        <p:nvSpPr>
          <p:cNvPr id="23" name="Shape 21"/>
          <p:cNvSpPr/>
          <p:nvPr/>
        </p:nvSpPr>
        <p:spPr>
          <a:xfrm>
            <a:off x="4343400" y="2670048"/>
            <a:ext cx="0" cy="73152"/>
          </a:xfrm>
          <a:prstGeom prst="line">
            <a:avLst/>
          </a:prstGeom>
          <a:noFill/>
          <a:ln w="12700">
            <a:solidFill>
              <a:srgbClr val="6E7699"/>
            </a:solidFill>
            <a:prstDash val="solid"/>
          </a:ln>
        </p:spPr>
      </p:sp>
      <p:sp>
        <p:nvSpPr>
          <p:cNvPr id="24" name="Shape 22"/>
          <p:cNvSpPr/>
          <p:nvPr/>
        </p:nvSpPr>
        <p:spPr>
          <a:xfrm>
            <a:off x="4526280" y="2670048"/>
            <a:ext cx="0" cy="73152"/>
          </a:xfrm>
          <a:prstGeom prst="line">
            <a:avLst/>
          </a:prstGeom>
          <a:noFill/>
          <a:ln w="12700">
            <a:solidFill>
              <a:srgbClr val="6E7699"/>
            </a:solidFill>
            <a:prstDash val="solid"/>
          </a:ln>
        </p:spPr>
      </p:sp>
      <p:sp>
        <p:nvSpPr>
          <p:cNvPr id="25" name="Shape 23"/>
          <p:cNvSpPr/>
          <p:nvPr/>
        </p:nvSpPr>
        <p:spPr>
          <a:xfrm>
            <a:off x="4709160" y="2670048"/>
            <a:ext cx="0" cy="73152"/>
          </a:xfrm>
          <a:prstGeom prst="line">
            <a:avLst/>
          </a:prstGeom>
          <a:noFill/>
          <a:ln w="12700">
            <a:solidFill>
              <a:srgbClr val="6E7699"/>
            </a:solidFill>
            <a:prstDash val="solid"/>
          </a:ln>
        </p:spPr>
      </p:sp>
      <p:sp>
        <p:nvSpPr>
          <p:cNvPr id="26" name="Shape 24"/>
          <p:cNvSpPr/>
          <p:nvPr/>
        </p:nvSpPr>
        <p:spPr>
          <a:xfrm>
            <a:off x="4892040" y="2670048"/>
            <a:ext cx="0" cy="73152"/>
          </a:xfrm>
          <a:prstGeom prst="line">
            <a:avLst/>
          </a:prstGeom>
          <a:noFill/>
          <a:ln w="12700">
            <a:solidFill>
              <a:srgbClr val="6E7699"/>
            </a:solidFill>
            <a:prstDash val="solid"/>
          </a:ln>
        </p:spPr>
      </p:sp>
      <p:sp>
        <p:nvSpPr>
          <p:cNvPr id="27" name="Shape 25"/>
          <p:cNvSpPr/>
          <p:nvPr/>
        </p:nvSpPr>
        <p:spPr>
          <a:xfrm>
            <a:off x="5074920" y="2596896"/>
            <a:ext cx="0" cy="146304"/>
          </a:xfrm>
          <a:prstGeom prst="line">
            <a:avLst/>
          </a:prstGeom>
          <a:noFill/>
          <a:ln w="12700">
            <a:solidFill>
              <a:srgbClr val="E0A458"/>
            </a:solidFill>
            <a:prstDash val="solid"/>
          </a:ln>
        </p:spPr>
      </p:sp>
      <p:sp>
        <p:nvSpPr>
          <p:cNvPr id="28" name="Shape 26"/>
          <p:cNvSpPr/>
          <p:nvPr/>
        </p:nvSpPr>
        <p:spPr>
          <a:xfrm>
            <a:off x="5257800" y="2670048"/>
            <a:ext cx="0" cy="73152"/>
          </a:xfrm>
          <a:prstGeom prst="line">
            <a:avLst/>
          </a:prstGeom>
          <a:noFill/>
          <a:ln w="12700">
            <a:solidFill>
              <a:srgbClr val="6E7699"/>
            </a:solidFill>
            <a:prstDash val="solid"/>
          </a:ln>
        </p:spPr>
      </p:sp>
      <p:sp>
        <p:nvSpPr>
          <p:cNvPr id="29" name="Shape 27"/>
          <p:cNvSpPr/>
          <p:nvPr/>
        </p:nvSpPr>
        <p:spPr>
          <a:xfrm>
            <a:off x="5440680" y="2670048"/>
            <a:ext cx="0" cy="73152"/>
          </a:xfrm>
          <a:prstGeom prst="line">
            <a:avLst/>
          </a:prstGeom>
          <a:noFill/>
          <a:ln w="12700">
            <a:solidFill>
              <a:srgbClr val="6E7699"/>
            </a:solidFill>
            <a:prstDash val="solid"/>
          </a:ln>
        </p:spPr>
      </p:sp>
      <p:sp>
        <p:nvSpPr>
          <p:cNvPr id="30" name="Shape 28"/>
          <p:cNvSpPr/>
          <p:nvPr/>
        </p:nvSpPr>
        <p:spPr>
          <a:xfrm>
            <a:off x="5623560" y="2670048"/>
            <a:ext cx="0" cy="73152"/>
          </a:xfrm>
          <a:prstGeom prst="line">
            <a:avLst/>
          </a:prstGeom>
          <a:noFill/>
          <a:ln w="12700">
            <a:solidFill>
              <a:srgbClr val="6E7699"/>
            </a:solidFill>
            <a:prstDash val="solid"/>
          </a:ln>
        </p:spPr>
      </p:sp>
      <p:sp>
        <p:nvSpPr>
          <p:cNvPr id="31" name="Shape 29"/>
          <p:cNvSpPr/>
          <p:nvPr/>
        </p:nvSpPr>
        <p:spPr>
          <a:xfrm>
            <a:off x="5806440" y="2670048"/>
            <a:ext cx="0" cy="73152"/>
          </a:xfrm>
          <a:prstGeom prst="line">
            <a:avLst/>
          </a:prstGeom>
          <a:noFill/>
          <a:ln w="12700">
            <a:solidFill>
              <a:srgbClr val="6E7699"/>
            </a:solidFill>
            <a:prstDash val="solid"/>
          </a:ln>
        </p:spPr>
      </p:sp>
      <p:sp>
        <p:nvSpPr>
          <p:cNvPr id="32" name="Shape 30"/>
          <p:cNvSpPr/>
          <p:nvPr/>
        </p:nvSpPr>
        <p:spPr>
          <a:xfrm>
            <a:off x="5989320" y="2596896"/>
            <a:ext cx="0" cy="146304"/>
          </a:xfrm>
          <a:prstGeom prst="line">
            <a:avLst/>
          </a:prstGeom>
          <a:noFill/>
          <a:ln w="12700">
            <a:solidFill>
              <a:srgbClr val="E0A458"/>
            </a:solidFill>
            <a:prstDash val="solid"/>
          </a:ln>
        </p:spPr>
      </p:sp>
      <p:sp>
        <p:nvSpPr>
          <p:cNvPr id="33" name="Shape 31"/>
          <p:cNvSpPr/>
          <p:nvPr/>
        </p:nvSpPr>
        <p:spPr>
          <a:xfrm>
            <a:off x="6172200" y="2670048"/>
            <a:ext cx="0" cy="73152"/>
          </a:xfrm>
          <a:prstGeom prst="line">
            <a:avLst/>
          </a:prstGeom>
          <a:noFill/>
          <a:ln w="12700">
            <a:solidFill>
              <a:srgbClr val="6E7699"/>
            </a:solidFill>
            <a:prstDash val="solid"/>
          </a:ln>
        </p:spPr>
      </p:sp>
      <p:sp>
        <p:nvSpPr>
          <p:cNvPr id="34" name="Shape 32"/>
          <p:cNvSpPr/>
          <p:nvPr/>
        </p:nvSpPr>
        <p:spPr>
          <a:xfrm>
            <a:off x="6355080" y="2670048"/>
            <a:ext cx="0" cy="73152"/>
          </a:xfrm>
          <a:prstGeom prst="line">
            <a:avLst/>
          </a:prstGeom>
          <a:noFill/>
          <a:ln w="12700">
            <a:solidFill>
              <a:srgbClr val="6E7699"/>
            </a:solidFill>
            <a:prstDash val="solid"/>
          </a:ln>
        </p:spPr>
      </p:sp>
      <p:sp>
        <p:nvSpPr>
          <p:cNvPr id="35" name="Shape 33"/>
          <p:cNvSpPr/>
          <p:nvPr/>
        </p:nvSpPr>
        <p:spPr>
          <a:xfrm>
            <a:off x="6537960" y="2670048"/>
            <a:ext cx="0" cy="73152"/>
          </a:xfrm>
          <a:prstGeom prst="line">
            <a:avLst/>
          </a:prstGeom>
          <a:noFill/>
          <a:ln w="12700">
            <a:solidFill>
              <a:srgbClr val="6E7699"/>
            </a:solidFill>
            <a:prstDash val="solid"/>
          </a:ln>
        </p:spPr>
      </p:sp>
      <p:sp>
        <p:nvSpPr>
          <p:cNvPr id="36" name="Shape 34"/>
          <p:cNvSpPr/>
          <p:nvPr/>
        </p:nvSpPr>
        <p:spPr>
          <a:xfrm>
            <a:off x="6720840" y="2670048"/>
            <a:ext cx="0" cy="73152"/>
          </a:xfrm>
          <a:prstGeom prst="line">
            <a:avLst/>
          </a:prstGeom>
          <a:noFill/>
          <a:ln w="12700">
            <a:solidFill>
              <a:srgbClr val="6E7699"/>
            </a:solidFill>
            <a:prstDash val="solid"/>
          </a:ln>
        </p:spPr>
      </p:sp>
      <p:sp>
        <p:nvSpPr>
          <p:cNvPr id="37" name="Shape 35"/>
          <p:cNvSpPr/>
          <p:nvPr/>
        </p:nvSpPr>
        <p:spPr>
          <a:xfrm>
            <a:off x="6903720" y="2596896"/>
            <a:ext cx="0" cy="146304"/>
          </a:xfrm>
          <a:prstGeom prst="line">
            <a:avLst/>
          </a:prstGeom>
          <a:noFill/>
          <a:ln w="12700">
            <a:solidFill>
              <a:srgbClr val="E0A458"/>
            </a:solidFill>
            <a:prstDash val="solid"/>
          </a:ln>
        </p:spPr>
      </p:sp>
      <p:sp>
        <p:nvSpPr>
          <p:cNvPr id="38" name="Shape 36"/>
          <p:cNvSpPr/>
          <p:nvPr/>
        </p:nvSpPr>
        <p:spPr>
          <a:xfrm>
            <a:off x="7086600" y="2670048"/>
            <a:ext cx="0" cy="73152"/>
          </a:xfrm>
          <a:prstGeom prst="line">
            <a:avLst/>
          </a:prstGeom>
          <a:noFill/>
          <a:ln w="12700">
            <a:solidFill>
              <a:srgbClr val="6E7699"/>
            </a:solidFill>
            <a:prstDash val="solid"/>
          </a:ln>
        </p:spPr>
      </p:sp>
      <p:sp>
        <p:nvSpPr>
          <p:cNvPr id="39" name="Shape 37"/>
          <p:cNvSpPr/>
          <p:nvPr/>
        </p:nvSpPr>
        <p:spPr>
          <a:xfrm>
            <a:off x="7269480" y="2670048"/>
            <a:ext cx="0" cy="73152"/>
          </a:xfrm>
          <a:prstGeom prst="line">
            <a:avLst/>
          </a:prstGeom>
          <a:noFill/>
          <a:ln w="12700">
            <a:solidFill>
              <a:srgbClr val="6E7699"/>
            </a:solidFill>
            <a:prstDash val="solid"/>
          </a:ln>
        </p:spPr>
      </p:sp>
      <p:sp>
        <p:nvSpPr>
          <p:cNvPr id="40" name="Shape 38"/>
          <p:cNvSpPr/>
          <p:nvPr/>
        </p:nvSpPr>
        <p:spPr>
          <a:xfrm>
            <a:off x="7452360" y="2670048"/>
            <a:ext cx="0" cy="73152"/>
          </a:xfrm>
          <a:prstGeom prst="line">
            <a:avLst/>
          </a:prstGeom>
          <a:noFill/>
          <a:ln w="12700">
            <a:solidFill>
              <a:srgbClr val="6E7699"/>
            </a:solidFill>
            <a:prstDash val="solid"/>
          </a:ln>
        </p:spPr>
      </p:sp>
      <p:sp>
        <p:nvSpPr>
          <p:cNvPr id="41" name="Shape 39"/>
          <p:cNvSpPr/>
          <p:nvPr/>
        </p:nvSpPr>
        <p:spPr>
          <a:xfrm>
            <a:off x="7635240" y="2670048"/>
            <a:ext cx="0" cy="73152"/>
          </a:xfrm>
          <a:prstGeom prst="line">
            <a:avLst/>
          </a:prstGeom>
          <a:noFill/>
          <a:ln w="12700">
            <a:solidFill>
              <a:srgbClr val="6E7699"/>
            </a:solidFill>
            <a:prstDash val="solid"/>
          </a:ln>
        </p:spPr>
      </p:sp>
      <p:sp>
        <p:nvSpPr>
          <p:cNvPr id="42" name="Shape 40"/>
          <p:cNvSpPr/>
          <p:nvPr/>
        </p:nvSpPr>
        <p:spPr>
          <a:xfrm>
            <a:off x="7818120" y="2596896"/>
            <a:ext cx="0" cy="146304"/>
          </a:xfrm>
          <a:prstGeom prst="line">
            <a:avLst/>
          </a:prstGeom>
          <a:noFill/>
          <a:ln w="12700">
            <a:solidFill>
              <a:srgbClr val="E0A458"/>
            </a:solidFill>
            <a:prstDash val="solid"/>
          </a:ln>
        </p:spPr>
      </p:sp>
      <p:sp>
        <p:nvSpPr>
          <p:cNvPr id="43" name="Shape 41"/>
          <p:cNvSpPr/>
          <p:nvPr/>
        </p:nvSpPr>
        <p:spPr>
          <a:xfrm>
            <a:off x="8001000" y="2670048"/>
            <a:ext cx="0" cy="73152"/>
          </a:xfrm>
          <a:prstGeom prst="line">
            <a:avLst/>
          </a:prstGeom>
          <a:noFill/>
          <a:ln w="12700">
            <a:solidFill>
              <a:srgbClr val="6E7699"/>
            </a:solidFill>
            <a:prstDash val="solid"/>
          </a:ln>
        </p:spPr>
      </p:sp>
      <p:sp>
        <p:nvSpPr>
          <p:cNvPr id="44" name="Shape 42"/>
          <p:cNvSpPr/>
          <p:nvPr/>
        </p:nvSpPr>
        <p:spPr>
          <a:xfrm>
            <a:off x="8183880" y="2670048"/>
            <a:ext cx="0" cy="73152"/>
          </a:xfrm>
          <a:prstGeom prst="line">
            <a:avLst/>
          </a:prstGeom>
          <a:noFill/>
          <a:ln w="12700">
            <a:solidFill>
              <a:srgbClr val="6E7699"/>
            </a:solidFill>
            <a:prstDash val="solid"/>
          </a:ln>
        </p:spPr>
      </p:sp>
      <p:sp>
        <p:nvSpPr>
          <p:cNvPr id="45" name="Shape 43"/>
          <p:cNvSpPr/>
          <p:nvPr/>
        </p:nvSpPr>
        <p:spPr>
          <a:xfrm>
            <a:off x="8366760" y="2670048"/>
            <a:ext cx="0" cy="73152"/>
          </a:xfrm>
          <a:prstGeom prst="line">
            <a:avLst/>
          </a:prstGeom>
          <a:noFill/>
          <a:ln w="12700">
            <a:solidFill>
              <a:srgbClr val="6E7699"/>
            </a:solidFill>
            <a:prstDash val="solid"/>
          </a:ln>
        </p:spPr>
      </p:sp>
      <p:sp>
        <p:nvSpPr>
          <p:cNvPr id="46" name="Shape 44"/>
          <p:cNvSpPr/>
          <p:nvPr/>
        </p:nvSpPr>
        <p:spPr>
          <a:xfrm>
            <a:off x="8549640" y="2670048"/>
            <a:ext cx="0" cy="73152"/>
          </a:xfrm>
          <a:prstGeom prst="line">
            <a:avLst/>
          </a:prstGeom>
          <a:noFill/>
          <a:ln w="12700">
            <a:solidFill>
              <a:srgbClr val="6E7699"/>
            </a:solidFill>
            <a:prstDash val="solid"/>
          </a:ln>
        </p:spPr>
      </p:sp>
      <p:sp>
        <p:nvSpPr>
          <p:cNvPr id="47" name="Shape 45"/>
          <p:cNvSpPr/>
          <p:nvPr/>
        </p:nvSpPr>
        <p:spPr>
          <a:xfrm>
            <a:off x="8732520" y="2596896"/>
            <a:ext cx="0" cy="146304"/>
          </a:xfrm>
          <a:prstGeom prst="line">
            <a:avLst/>
          </a:prstGeom>
          <a:noFill/>
          <a:ln w="12700">
            <a:solidFill>
              <a:srgbClr val="E0A458"/>
            </a:solidFill>
            <a:prstDash val="solid"/>
          </a:ln>
        </p:spPr>
      </p:sp>
      <p:sp>
        <p:nvSpPr>
          <p:cNvPr id="48" name="Text 46"/>
          <p:cNvSpPr txBox="1"/>
          <p:nvPr/>
        </p:nvSpPr>
        <p:spPr>
          <a:xfrm>
            <a:off x="502920" y="3017520"/>
            <a:ext cx="11185855" cy="822960"/>
          </a:xfrm>
          <a:prstGeom prst="rect">
            <a:avLst/>
          </a:prstGeom>
          <a:noFill/>
          <a:ln/>
        </p:spPr>
        <p:txBody>
          <a:bodyPr wrap="square" lIns="0" tIns="0" rIns="0" bIns="0" rtlCol="0" anchor="ctr"/>
          <a:lstStyle/>
          <a:p>
            <a:pPr indent="0" marL="0">
              <a:buNone/>
            </a:pPr>
            <a:r>
              <a:rPr lang="en-US" sz="4000" b="1" spc="300" kern="0" dirty="0">
                <a:solidFill>
                  <a:srgbClr val="F2F3F8"/>
                </a:solidFill>
                <a:latin typeface="Arial" pitchFamily="34" charset="0"/>
                <a:ea typeface="Arial" pitchFamily="34" charset="-122"/>
                <a:cs typeface="Arial" pitchFamily="34" charset="-120"/>
              </a:rPr>
              <a:t>APPENDIX</a:t>
            </a:r>
            <a:endParaRPr lang="en-US" sz="4000" dirty="0"/>
          </a:p>
        </p:txBody>
      </p:sp>
      <p:sp>
        <p:nvSpPr>
          <p:cNvPr id="49" name="Text 47"/>
          <p:cNvSpPr txBox="1"/>
          <p:nvPr/>
        </p:nvSpPr>
        <p:spPr>
          <a:xfrm>
            <a:off x="502920" y="3931920"/>
            <a:ext cx="8778240" cy="731520"/>
          </a:xfrm>
          <a:prstGeom prst="rect">
            <a:avLst/>
          </a:prstGeom>
          <a:noFill/>
          <a:ln/>
        </p:spPr>
        <p:txBody>
          <a:bodyPr wrap="square" lIns="0" tIns="0" rIns="0" bIns="0" rtlCol="0" anchor="ctr"/>
          <a:lstStyle/>
          <a:p>
            <a:pPr indent="0" marL="0">
              <a:lnSpc>
                <a:spcPct val="128000"/>
              </a:lnSpc>
              <a:buNone/>
            </a:pPr>
            <a:r>
              <a:rPr lang="en-US" sz="1400" dirty="0">
                <a:solidFill>
                  <a:srgbClr val="9BA1C1"/>
                </a:solidFill>
                <a:latin typeface="Arial" pitchFamily="34" charset="0"/>
                <a:ea typeface="Arial" pitchFamily="34" charset="-122"/>
                <a:cs typeface="Arial" pitchFamily="34" charset="-120"/>
              </a:rPr>
              <a:t>The operational detail: the checks on a filming session, why we ask for your height, the nine measurement points, how we test it, and where the data comes from.</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GATES AND SIGNALS</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Four checks that stop everything, five that just give a hint</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517904"/>
          <a:ext cx="11185855" cy="914400"/>
        </p:xfrm>
        <a:graphic>
          <a:graphicData uri="http://schemas.openxmlformats.org/drawingml/2006/table">
            <a:tbl>
              <a:tblPr/>
              <a:tblGrid>
                <a:gridCol w="2651760"/>
                <a:gridCol w="1600200"/>
                <a:gridCol w="6933895"/>
              </a:tblGrid>
              <a:tr h="402336">
                <a:tc>
                  <a:txBody>
                    <a:bodyPr/>
                    <a:lstStyle/>
                    <a:p>
                      <a:pPr indent="0" marL="0">
                        <a:buNone/>
                      </a:pPr>
                      <a:r>
                        <a:rPr lang="en-US" sz="1250" b="1" dirty="0">
                          <a:solidFill>
                            <a:srgbClr val="F2F3F8"/>
                          </a:solidFill>
                          <a:latin typeface="Arial" pitchFamily="34" charset="0"/>
                          <a:ea typeface="Arial" pitchFamily="34" charset="-122"/>
                          <a:cs typeface="Arial" pitchFamily="34" charset="-120"/>
                        </a:rPr>
                        <a:t>Check</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b="1" dirty="0">
                          <a:solidFill>
                            <a:srgbClr val="F2F3F8"/>
                          </a:solidFill>
                          <a:latin typeface="Arial" pitchFamily="34" charset="0"/>
                          <a:ea typeface="Arial" pitchFamily="34" charset="-122"/>
                          <a:cs typeface="Arial" pitchFamily="34" charset="-120"/>
                        </a:rPr>
                        <a:t>Type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b="1" dirty="0">
                          <a:solidFill>
                            <a:srgbClr val="F2F3F8"/>
                          </a:solidFill>
                          <a:latin typeface="Arial" pitchFamily="34" charset="0"/>
                          <a:ea typeface="Arial" pitchFamily="34" charset="-122"/>
                          <a:cs typeface="Arial" pitchFamily="34" charset="-120"/>
                        </a:rPr>
                        <a:t>What happens</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02336">
                <a:tc>
                  <a:txBody>
                    <a:bodyPr/>
                    <a:lstStyle/>
                    <a:p>
                      <a:pPr indent="0" marL="0">
                        <a:buNone/>
                      </a:pPr>
                      <a:r>
                        <a:rPr lang="en-US" sz="1250" dirty="0">
                          <a:solidFill>
                            <a:srgbClr val="F2F3F8"/>
                          </a:solidFill>
                          <a:latin typeface="Arial" pitchFamily="34" charset="0"/>
                          <a:ea typeface="Arial" pitchFamily="34" charset="-122"/>
                          <a:cs typeface="Arial" pitchFamily="34" charset="-120"/>
                        </a:rPr>
                        <a:t>head_visible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BLOCKING</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No way to get centimetres. Session discarded, and the person is told why.</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02336">
                <a:tc>
                  <a:txBody>
                    <a:bodyPr/>
                    <a:lstStyle/>
                    <a:p>
                      <a:pPr indent="0" marL="0">
                        <a:buNone/>
                      </a:pPr>
                      <a:r>
                        <a:rPr lang="en-US" sz="1250" dirty="0">
                          <a:solidFill>
                            <a:srgbClr val="F2F3F8"/>
                          </a:solidFill>
                          <a:latin typeface="Arial" pitchFamily="34" charset="0"/>
                          <a:ea typeface="Arial" pitchFamily="34" charset="-122"/>
                          <a:cs typeface="Arial" pitchFamily="34" charset="-120"/>
                        </a:rPr>
                        <a:t>feet_visible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BLOCKING</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The same problem at the other end of the body.</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02336">
                <a:tc>
                  <a:txBody>
                    <a:bodyPr/>
                    <a:lstStyle/>
                    <a:p>
                      <a:pPr indent="0" marL="0">
                        <a:buNone/>
                      </a:pPr>
                      <a:r>
                        <a:rPr lang="en-US" sz="1250" dirty="0">
                          <a:solidFill>
                            <a:srgbClr val="F2F3F8"/>
                          </a:solidFill>
                          <a:latin typeface="Arial" pitchFamily="34" charset="0"/>
                          <a:ea typeface="Arial" pitchFamily="34" charset="-122"/>
                          <a:cs typeface="Arial" pitchFamily="34" charset="-120"/>
                        </a:rPr>
                        <a:t>body_in_frame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BLOCKING</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The 3D fit is unreliable when part of the body is missing.</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02336">
                <a:tc>
                  <a:txBody>
                    <a:bodyPr/>
                    <a:lstStyle/>
                    <a:p>
                      <a:pPr indent="0" marL="0">
                        <a:buNone/>
                      </a:pPr>
                      <a:r>
                        <a:rPr lang="en-US" sz="1250" dirty="0">
                          <a:solidFill>
                            <a:srgbClr val="F2F3F8"/>
                          </a:solidFill>
                          <a:latin typeface="Arial" pitchFamily="34" charset="0"/>
                          <a:ea typeface="Arial" pitchFamily="34" charset="-122"/>
                          <a:cs typeface="Arial" pitchFamily="34" charset="-120"/>
                        </a:rPr>
                        <a:t>min_frames</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BLOCKING</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Too few usable frames to combine.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02336">
                <a:tc>
                  <a:txBody>
                    <a:bodyPr/>
                    <a:lstStyle/>
                    <a:p>
                      <a:pPr indent="0" marL="0">
                        <a:buNone/>
                      </a:pPr>
                      <a:r>
                        <a:rPr lang="en-US" sz="1250" dirty="0">
                          <a:solidFill>
                            <a:srgbClr val="F2F3F8"/>
                          </a:solidFill>
                          <a:latin typeface="Arial" pitchFamily="34" charset="0"/>
                          <a:ea typeface="Arial" pitchFamily="34" charset="-122"/>
                          <a:cs typeface="Arial" pitchFamily="34" charset="-120"/>
                        </a:rPr>
                        <a:t>rotation_coverage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coaching</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Keep filming; ask for a wider turn.</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02336">
                <a:tc>
                  <a:txBody>
                    <a:bodyPr/>
                    <a:lstStyle/>
                    <a:p>
                      <a:pPr indent="0" marL="0">
                        <a:buNone/>
                      </a:pPr>
                      <a:r>
                        <a:rPr lang="en-US" sz="1250" dirty="0">
                          <a:solidFill>
                            <a:srgbClr val="F2F3F8"/>
                          </a:solidFill>
                          <a:latin typeface="Arial" pitchFamily="34" charset="0"/>
                          <a:ea typeface="Arial" pitchFamily="34" charset="-122"/>
                          <a:cs typeface="Arial" pitchFamily="34" charset="-120"/>
                        </a:rPr>
                        <a:t>blur_variance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coaching</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Throw away the blurry frames, lower the confidence.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02336">
                <a:tc>
                  <a:txBody>
                    <a:bodyPr/>
                    <a:lstStyle/>
                    <a:p>
                      <a:pPr indent="0" marL="0">
                        <a:buNone/>
                      </a:pPr>
                      <a:r>
                        <a:rPr lang="en-US" sz="1250" dirty="0">
                          <a:solidFill>
                            <a:srgbClr val="F2F3F8"/>
                          </a:solidFill>
                          <a:latin typeface="Arial" pitchFamily="34" charset="0"/>
                          <a:ea typeface="Arial" pitchFamily="34" charset="-122"/>
                          <a:cs typeface="Arial" pitchFamily="34" charset="-120"/>
                        </a:rPr>
                        <a:t>lighting_estimate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coaching</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Ask the user to turn towards the light.</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02336">
                <a:tc>
                  <a:txBody>
                    <a:bodyPr/>
                    <a:lstStyle/>
                    <a:p>
                      <a:pPr indent="0" marL="0">
                        <a:buNone/>
                      </a:pPr>
                      <a:r>
                        <a:rPr lang="en-US" sz="1250" dirty="0">
                          <a:solidFill>
                            <a:srgbClr val="F2F3F8"/>
                          </a:solidFill>
                          <a:latin typeface="Arial" pitchFamily="34" charset="0"/>
                          <a:ea typeface="Arial" pitchFamily="34" charset="-122"/>
                          <a:cs typeface="Arial" pitchFamily="34" charset="-120"/>
                        </a:rPr>
                        <a:t>clothing_looseness</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confidence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Flagged — baggy clothes are the biggest source of error.</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02336">
                <a:tc>
                  <a:txBody>
                    <a:bodyPr/>
                    <a:lstStyle/>
                    <a:p>
                      <a:pPr indent="0" marL="0">
                        <a:buNone/>
                      </a:pPr>
                      <a:r>
                        <a:rPr lang="en-US" sz="1250" dirty="0">
                          <a:solidFill>
                            <a:srgbClr val="F2F3F8"/>
                          </a:solidFill>
                          <a:latin typeface="Arial" pitchFamily="34" charset="0"/>
                          <a:ea typeface="Arial" pitchFamily="34" charset="-122"/>
                          <a:cs typeface="Arial" pitchFamily="34" charset="-120"/>
                        </a:rPr>
                        <a:t>beta_variance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stop rule</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50" dirty="0">
                          <a:solidFill>
                            <a:srgbClr val="F2F3F8"/>
                          </a:solidFill>
                          <a:latin typeface="Arial" pitchFamily="34" charset="0"/>
                          <a:ea typeface="Arial" pitchFamily="34" charset="-122"/>
                          <a:cs typeface="Arial" pitchFamily="34" charset="-120"/>
                        </a:rPr>
                        <a:t>Estimate has settled: stop. Still moving: keep filming.</a:t>
                      </a:r>
                      <a:endParaRPr lang="en-US" sz="125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bl>
          </a:graphicData>
        </a:graphic>
      </p:graphicFrame>
      <p:sp>
        <p:nvSpPr>
          <p:cNvPr id="5" name="Text 2"/>
          <p:cNvSpPr txBox="1"/>
          <p:nvPr/>
        </p:nvSpPr>
        <p:spPr>
          <a:xfrm>
            <a:off x="502920" y="5705856"/>
            <a:ext cx="11185855" cy="585216"/>
          </a:xfrm>
          <a:prstGeom prst="rect">
            <a:avLst/>
          </a:prstGeom>
          <a:noFill/>
          <a:ln/>
        </p:spPr>
        <p:txBody>
          <a:bodyPr wrap="square" lIns="0" tIns="0" rIns="0" bIns="0" rtlCol="0" anchor="ctr"/>
          <a:lstStyle/>
          <a:p>
            <a:pPr indent="0" marL="0">
              <a:lnSpc>
                <a:spcPct val="115000"/>
              </a:lnSpc>
              <a:buNone/>
            </a:pPr>
            <a:r>
              <a:rPr lang="en-US" sz="1250" i="1" dirty="0">
                <a:solidFill>
                  <a:srgbClr val="E0A458"/>
                </a:solidFill>
                <a:latin typeface="Arial" pitchFamily="34" charset="0"/>
                <a:ea typeface="Arial" pitchFamily="34" charset="-122"/>
                <a:cs typeface="Arial" pitchFamily="34" charset="-120"/>
              </a:rPr>
              <a:t>“Scan failed, please try again” teaches the user nothing and guarantees a second failure. Every blocking message names the cause and the one physical action that fixes it.</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F3F8"/>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THE ONE RULE WE CANNOT BEND</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1B1D33"/>
                </a:solidFill>
                <a:latin typeface="Arial" pitchFamily="34" charset="0"/>
                <a:ea typeface="Arial" pitchFamily="34" charset="-122"/>
                <a:cs typeface="Arial" pitchFamily="34" charset="-120"/>
              </a:rPr>
              <a:t>No head in frame, no centimetres</a:t>
            </a:r>
            <a:endParaRPr lang="en-US" sz="3000" dirty="0"/>
          </a:p>
        </p:txBody>
      </p:sp>
      <p:sp>
        <p:nvSpPr>
          <p:cNvPr id="4" name="Text 2"/>
          <p:cNvSpPr txBox="1"/>
          <p:nvPr/>
        </p:nvSpPr>
        <p:spPr>
          <a:xfrm>
            <a:off x="502920" y="1042416"/>
            <a:ext cx="11185855" cy="310896"/>
          </a:xfrm>
          <a:prstGeom prst="rect">
            <a:avLst/>
          </a:prstGeom>
          <a:noFill/>
          <a:ln/>
        </p:spPr>
        <p:txBody>
          <a:bodyPr wrap="square" lIns="0" tIns="0" rIns="0" bIns="0" rtlCol="0" anchor="ctr"/>
          <a:lstStyle/>
          <a:p>
            <a:pPr algn="l" indent="0" marL="0">
              <a:buNone/>
            </a:pPr>
            <a:r>
              <a:rPr lang="en-US" sz="1300" dirty="0">
                <a:solidFill>
                  <a:srgbClr val="4E5470"/>
                </a:solidFill>
                <a:latin typeface="Arial" pitchFamily="34" charset="0"/>
                <a:ea typeface="Arial" pitchFamily="34" charset="-122"/>
                <a:cs typeface="Arial" pitchFamily="34" charset="-120"/>
              </a:rPr>
              <a:t>One camera gets your proportions right, but not your size. The centimetres have to come from somewhere else.</a:t>
            </a:r>
            <a:endParaRPr lang="en-US" sz="1300" dirty="0"/>
          </a:p>
        </p:txBody>
      </p:sp>
      <p:sp>
        <p:nvSpPr>
          <p:cNvPr id="5" name="Shape 3"/>
          <p:cNvSpPr/>
          <p:nvPr/>
        </p:nvSpPr>
        <p:spPr>
          <a:xfrm>
            <a:off x="502920" y="1792224"/>
            <a:ext cx="11185855" cy="713232"/>
          </a:xfrm>
          <a:prstGeom prst="roundRect">
            <a:avLst>
              <a:gd name="adj" fmla="val 7692"/>
            </a:avLst>
          </a:prstGeom>
          <a:solidFill>
            <a:srgbClr val="FFFFFF"/>
          </a:solidFill>
          <a:ln w="12700">
            <a:solidFill>
              <a:srgbClr val="E2E6F0"/>
            </a:solidFill>
            <a:prstDash val="solid"/>
          </a:ln>
        </p:spPr>
      </p:sp>
      <p:sp>
        <p:nvSpPr>
          <p:cNvPr id="6" name="Text 4"/>
          <p:cNvSpPr txBox="1"/>
          <p:nvPr/>
        </p:nvSpPr>
        <p:spPr>
          <a:xfrm>
            <a:off x="502920" y="1792224"/>
            <a:ext cx="11185855" cy="713232"/>
          </a:xfrm>
          <a:prstGeom prst="rect">
            <a:avLst/>
          </a:prstGeom>
          <a:noFill/>
          <a:ln/>
        </p:spPr>
        <p:txBody>
          <a:bodyPr wrap="square" lIns="0" tIns="0" rIns="0" bIns="0" rtlCol="0" anchor="ctr"/>
          <a:lstStyle/>
          <a:p>
            <a:pPr algn="ctr" indent="0" marL="0">
              <a:buNone/>
            </a:pPr>
            <a:r>
              <a:rPr lang="en-US" sz="2100" b="1" dirty="0">
                <a:solidFill>
                  <a:srgbClr val="1B1D33"/>
                </a:solidFill>
                <a:latin typeface="Arial" pitchFamily="34" charset="0"/>
                <a:ea typeface="Arial" pitchFamily="34" charset="-122"/>
                <a:cs typeface="Arial" pitchFamily="34" charset="-120"/>
              </a:rPr>
              <a:t>your height in cm   ÷   head-to-heel in the picture   =   the scale</a:t>
            </a:r>
            <a:endParaRPr lang="en-US" sz="2100" dirty="0"/>
          </a:p>
        </p:txBody>
      </p:sp>
      <p:sp>
        <p:nvSpPr>
          <p:cNvPr id="7" name="Shape 5"/>
          <p:cNvSpPr/>
          <p:nvPr/>
        </p:nvSpPr>
        <p:spPr>
          <a:xfrm>
            <a:off x="502920" y="2743200"/>
            <a:ext cx="5394960" cy="2212848"/>
          </a:xfrm>
          <a:prstGeom prst="roundRect">
            <a:avLst>
              <a:gd name="adj" fmla="val 2479"/>
            </a:avLst>
          </a:prstGeom>
          <a:solidFill>
            <a:srgbClr val="E8F1EC"/>
          </a:solidFill>
          <a:ln w="19050">
            <a:solidFill>
              <a:srgbClr val="1B6440"/>
            </a:solidFill>
            <a:prstDash val="solid"/>
          </a:ln>
        </p:spPr>
      </p:sp>
      <p:sp>
        <p:nvSpPr>
          <p:cNvPr id="8" name="Text 6"/>
          <p:cNvSpPr txBox="1"/>
          <p:nvPr/>
        </p:nvSpPr>
        <p:spPr>
          <a:xfrm>
            <a:off x="850392" y="2944368"/>
            <a:ext cx="4663440" cy="329184"/>
          </a:xfrm>
          <a:prstGeom prst="rect">
            <a:avLst/>
          </a:prstGeom>
          <a:noFill/>
          <a:ln/>
        </p:spPr>
        <p:txBody>
          <a:bodyPr wrap="square" lIns="0" tIns="0" rIns="0" bIns="0" rtlCol="0" anchor="ctr"/>
          <a:lstStyle/>
          <a:p>
            <a:pPr indent="0" marL="0">
              <a:buNone/>
            </a:pPr>
            <a:r>
              <a:rPr lang="en-US" sz="1800" b="1" dirty="0">
                <a:solidFill>
                  <a:srgbClr val="1B6440"/>
                </a:solidFill>
                <a:latin typeface="Arial" pitchFamily="34" charset="0"/>
                <a:ea typeface="Arial" pitchFamily="34" charset="-122"/>
                <a:cs typeface="Arial" pitchFamily="34" charset="-120"/>
              </a:rPr>
              <a:t>Head in frame</a:t>
            </a:r>
            <a:endParaRPr lang="en-US" sz="1800" dirty="0"/>
          </a:p>
        </p:txBody>
      </p:sp>
      <p:sp>
        <p:nvSpPr>
          <p:cNvPr id="9" name="Text 7"/>
          <p:cNvSpPr txBox="1"/>
          <p:nvPr/>
        </p:nvSpPr>
        <p:spPr>
          <a:xfrm>
            <a:off x="850392" y="3401568"/>
            <a:ext cx="4663440" cy="1005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D33"/>
                </a:solidFill>
                <a:latin typeface="Arial" pitchFamily="34" charset="0"/>
                <a:ea typeface="Arial" pitchFamily="34" charset="-122"/>
                <a:cs typeface="Arial" pitchFamily="34" charset="-120"/>
              </a:rPr>
              <a:t>we can see head to heel</a:t>
            </a:r>
            <a:endParaRPr lang="en-US" sz="1300" dirty="0"/>
          </a:p>
          <a:p>
            <a:pPr marL="342900" indent="-342900">
              <a:spcAft>
                <a:spcPts val="600"/>
              </a:spcAft>
              <a:buSzPct val="100000"/>
              <a:buChar char="•"/>
            </a:pPr>
            <a:r>
              <a:rPr lang="en-US" sz="1300" dirty="0">
                <a:solidFill>
                  <a:srgbClr val="1B1D33"/>
                </a:solidFill>
                <a:latin typeface="Arial" pitchFamily="34" charset="0"/>
                <a:ea typeface="Arial" pitchFamily="34" charset="-122"/>
                <a:cs typeface="Arial" pitchFamily="34" charset="-120"/>
              </a:rPr>
              <a:t>the scale works out</a:t>
            </a:r>
            <a:endParaRPr lang="en-US" sz="1300" dirty="0"/>
          </a:p>
          <a:p>
            <a:pPr marL="342900" indent="-342900">
              <a:spcAft>
                <a:spcPts val="600"/>
              </a:spcAft>
              <a:buSzPct val="100000"/>
              <a:buChar char="•"/>
            </a:pPr>
            <a:r>
              <a:rPr lang="en-US" sz="1300" dirty="0">
                <a:solidFill>
                  <a:srgbClr val="1B1D33"/>
                </a:solidFill>
                <a:latin typeface="Arial" pitchFamily="34" charset="0"/>
                <a:ea typeface="Arial" pitchFamily="34" charset="-122"/>
                <a:cs typeface="Arial" pitchFamily="34" charset="-120"/>
              </a:rPr>
              <a:t>measurements come out in centimetres</a:t>
            </a:r>
            <a:endParaRPr lang="en-US" sz="1300" dirty="0"/>
          </a:p>
        </p:txBody>
      </p:sp>
      <p:sp>
        <p:nvSpPr>
          <p:cNvPr id="10" name="Text 8"/>
          <p:cNvSpPr txBox="1"/>
          <p:nvPr/>
        </p:nvSpPr>
        <p:spPr>
          <a:xfrm>
            <a:off x="850392" y="4443984"/>
            <a:ext cx="4663440" cy="292608"/>
          </a:xfrm>
          <a:prstGeom prst="rect">
            <a:avLst/>
          </a:prstGeom>
          <a:noFill/>
          <a:ln/>
        </p:spPr>
        <p:txBody>
          <a:bodyPr wrap="square" lIns="0" tIns="0" rIns="0" bIns="0" rtlCol="0" anchor="ctr"/>
          <a:lstStyle/>
          <a:p>
            <a:pPr indent="0" marL="0">
              <a:buNone/>
            </a:pPr>
            <a:r>
              <a:rPr lang="en-US" sz="1200" b="1" spc="200" kern="0" dirty="0">
                <a:solidFill>
                  <a:srgbClr val="1B6440"/>
                </a:solidFill>
                <a:latin typeface="Arial" pitchFamily="34" charset="0"/>
                <a:ea typeface="Arial" pitchFamily="34" charset="-122"/>
                <a:cs typeface="Arial" pitchFamily="34" charset="-120"/>
              </a:rPr>
              <a:t>PROCEED</a:t>
            </a:r>
            <a:endParaRPr lang="en-US" sz="1200" dirty="0"/>
          </a:p>
        </p:txBody>
      </p:sp>
      <p:sp>
        <p:nvSpPr>
          <p:cNvPr id="11" name="Shape 9"/>
          <p:cNvSpPr/>
          <p:nvPr/>
        </p:nvSpPr>
        <p:spPr>
          <a:xfrm>
            <a:off x="6281928" y="2743200"/>
            <a:ext cx="5394960" cy="2212848"/>
          </a:xfrm>
          <a:prstGeom prst="roundRect">
            <a:avLst>
              <a:gd name="adj" fmla="val 2479"/>
            </a:avLst>
          </a:prstGeom>
          <a:solidFill>
            <a:srgbClr val="F7E5E4"/>
          </a:solidFill>
          <a:ln w="19050">
            <a:solidFill>
              <a:srgbClr val="A9302B"/>
            </a:solidFill>
            <a:prstDash val="solid"/>
          </a:ln>
        </p:spPr>
      </p:sp>
      <p:sp>
        <p:nvSpPr>
          <p:cNvPr id="12" name="Text 10"/>
          <p:cNvSpPr txBox="1"/>
          <p:nvPr/>
        </p:nvSpPr>
        <p:spPr>
          <a:xfrm>
            <a:off x="6629400" y="2944368"/>
            <a:ext cx="4663440" cy="329184"/>
          </a:xfrm>
          <a:prstGeom prst="rect">
            <a:avLst/>
          </a:prstGeom>
          <a:noFill/>
          <a:ln/>
        </p:spPr>
        <p:txBody>
          <a:bodyPr wrap="square" lIns="0" tIns="0" rIns="0" bIns="0" rtlCol="0" anchor="ctr"/>
          <a:lstStyle/>
          <a:p>
            <a:pPr indent="0" marL="0">
              <a:buNone/>
            </a:pPr>
            <a:r>
              <a:rPr lang="en-US" sz="1800" b="1" dirty="0">
                <a:solidFill>
                  <a:srgbClr val="A9302B"/>
                </a:solidFill>
                <a:latin typeface="Arial" pitchFamily="34" charset="0"/>
                <a:ea typeface="Arial" pitchFamily="34" charset="-122"/>
                <a:cs typeface="Arial" pitchFamily="34" charset="-120"/>
              </a:rPr>
              <a:t>Crown outside frame</a:t>
            </a:r>
            <a:endParaRPr lang="en-US" sz="1800" dirty="0"/>
          </a:p>
        </p:txBody>
      </p:sp>
      <p:sp>
        <p:nvSpPr>
          <p:cNvPr id="13" name="Text 11"/>
          <p:cNvSpPr txBox="1"/>
          <p:nvPr/>
        </p:nvSpPr>
        <p:spPr>
          <a:xfrm>
            <a:off x="6629400" y="3401568"/>
            <a:ext cx="4663440" cy="1005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D33"/>
                </a:solidFill>
                <a:latin typeface="Arial" pitchFamily="34" charset="0"/>
                <a:ea typeface="Arial" pitchFamily="34" charset="-122"/>
                <a:cs typeface="Arial" pitchFamily="34" charset="-120"/>
              </a:rPr>
              <a:t>the top of the head is missing</a:t>
            </a:r>
            <a:endParaRPr lang="en-US" sz="1300" dirty="0"/>
          </a:p>
          <a:p>
            <a:pPr marL="342900" indent="-342900">
              <a:spcAft>
                <a:spcPts val="600"/>
              </a:spcAft>
              <a:buSzPct val="100000"/>
              <a:buChar char="•"/>
            </a:pPr>
            <a:r>
              <a:rPr lang="en-US" sz="1300" dirty="0">
                <a:solidFill>
                  <a:srgbClr val="1B1D33"/>
                </a:solidFill>
                <a:latin typeface="Arial" pitchFamily="34" charset="0"/>
                <a:ea typeface="Arial" pitchFamily="34" charset="-122"/>
                <a:cs typeface="Arial" pitchFamily="34" charset="-120"/>
              </a:rPr>
              <a:t>there is no way to work out the scale</a:t>
            </a:r>
            <a:endParaRPr lang="en-US" sz="1300" dirty="0"/>
          </a:p>
          <a:p>
            <a:pPr marL="342900" indent="-342900">
              <a:spcAft>
                <a:spcPts val="600"/>
              </a:spcAft>
              <a:buSzPct val="100000"/>
              <a:buChar char="•"/>
            </a:pPr>
            <a:r>
              <a:rPr lang="en-US" sz="1300" dirty="0">
                <a:solidFill>
                  <a:srgbClr val="1B1D33"/>
                </a:solidFill>
                <a:latin typeface="Arial" pitchFamily="34" charset="0"/>
                <a:ea typeface="Arial" pitchFamily="34" charset="-122"/>
                <a:cs typeface="Arial" pitchFamily="34" charset="-120"/>
              </a:rPr>
              <a:t>every measurement is just a ratio</a:t>
            </a:r>
            <a:endParaRPr lang="en-US" sz="1300" dirty="0"/>
          </a:p>
        </p:txBody>
      </p:sp>
      <p:sp>
        <p:nvSpPr>
          <p:cNvPr id="14" name="Text 12"/>
          <p:cNvSpPr txBox="1"/>
          <p:nvPr/>
        </p:nvSpPr>
        <p:spPr>
          <a:xfrm>
            <a:off x="6629400" y="4443984"/>
            <a:ext cx="4663440" cy="292608"/>
          </a:xfrm>
          <a:prstGeom prst="rect">
            <a:avLst/>
          </a:prstGeom>
          <a:noFill/>
          <a:ln/>
        </p:spPr>
        <p:txBody>
          <a:bodyPr wrap="square" lIns="0" tIns="0" rIns="0" bIns="0" rtlCol="0" anchor="ctr"/>
          <a:lstStyle/>
          <a:p>
            <a:pPr indent="0" marL="0">
              <a:buNone/>
            </a:pPr>
            <a:r>
              <a:rPr lang="en-US" sz="1200" b="1" spc="200" kern="0" dirty="0">
                <a:solidFill>
                  <a:srgbClr val="A9302B"/>
                </a:solidFill>
                <a:latin typeface="Arial" pitchFamily="34" charset="0"/>
                <a:ea typeface="Arial" pitchFamily="34" charset="-122"/>
                <a:cs typeface="Arial" pitchFamily="34" charset="-120"/>
              </a:rPr>
              <a:t>HARD FAILURE</a:t>
            </a:r>
            <a:endParaRPr lang="en-US" sz="1200" dirty="0"/>
          </a:p>
        </p:txBody>
      </p:sp>
      <p:sp>
        <p:nvSpPr>
          <p:cNvPr id="15" name="Shape 13"/>
          <p:cNvSpPr/>
          <p:nvPr/>
        </p:nvSpPr>
        <p:spPr>
          <a:xfrm>
            <a:off x="502920" y="5193792"/>
            <a:ext cx="11185855" cy="1042416"/>
          </a:xfrm>
          <a:prstGeom prst="roundRect">
            <a:avLst>
              <a:gd name="adj" fmla="val 5263"/>
            </a:avLst>
          </a:prstGeom>
          <a:solidFill>
            <a:srgbClr val="FFF6E6"/>
          </a:solidFill>
          <a:ln w="19050">
            <a:solidFill>
              <a:srgbClr val="C08A1E"/>
            </a:solidFill>
            <a:prstDash val="solid"/>
          </a:ln>
        </p:spPr>
      </p:sp>
      <p:sp>
        <p:nvSpPr>
          <p:cNvPr id="16" name="Text 14"/>
          <p:cNvSpPr txBox="1"/>
          <p:nvPr/>
        </p:nvSpPr>
        <p:spPr>
          <a:xfrm>
            <a:off x="813816" y="5321808"/>
            <a:ext cx="10515600" cy="274320"/>
          </a:xfrm>
          <a:prstGeom prst="rect">
            <a:avLst/>
          </a:prstGeom>
          <a:noFill/>
          <a:ln/>
        </p:spPr>
        <p:txBody>
          <a:bodyPr wrap="square" lIns="0" tIns="0" rIns="0" bIns="0" rtlCol="0" anchor="ctr"/>
          <a:lstStyle/>
          <a:p>
            <a:pPr indent="0" marL="0">
              <a:buNone/>
            </a:pPr>
            <a:r>
              <a:rPr lang="en-US" sz="1350" b="1" dirty="0">
                <a:solidFill>
                  <a:srgbClr val="7A5410"/>
                </a:solidFill>
                <a:latin typeface="Arial" pitchFamily="34" charset="0"/>
                <a:ea typeface="Arial" pitchFamily="34" charset="-122"/>
                <a:cs typeface="Arial" pitchFamily="34" charset="-120"/>
              </a:rPr>
              <a:t>Blocking gates return a cause, never a generic failure.</a:t>
            </a:r>
            <a:endParaRPr lang="en-US" sz="1350" dirty="0"/>
          </a:p>
        </p:txBody>
      </p:sp>
      <p:sp>
        <p:nvSpPr>
          <p:cNvPr id="17" name="Text 15"/>
          <p:cNvSpPr txBox="1"/>
          <p:nvPr/>
        </p:nvSpPr>
        <p:spPr>
          <a:xfrm>
            <a:off x="813816" y="5614416"/>
            <a:ext cx="10515600" cy="512064"/>
          </a:xfrm>
          <a:prstGeom prst="rect">
            <a:avLst/>
          </a:prstGeom>
          <a:noFill/>
          <a:ln/>
        </p:spPr>
        <p:txBody>
          <a:bodyPr wrap="square" lIns="0" tIns="0" rIns="0" bIns="0" rtlCol="0" anchor="t"/>
          <a:lstStyle/>
          <a:p>
            <a:pPr indent="0" marL="0">
              <a:lnSpc>
                <a:spcPct val="115000"/>
              </a:lnSpc>
              <a:buNone/>
            </a:pPr>
            <a:r>
              <a:rPr lang="en-US" sz="1250" i="1" dirty="0">
                <a:solidFill>
                  <a:srgbClr val="1B1D33"/>
                </a:solidFill>
                <a:latin typeface="Arial" pitchFamily="34" charset="0"/>
                <a:ea typeface="Arial" pitchFamily="34" charset="-122"/>
                <a:cs typeface="Arial" pitchFamily="34" charset="-120"/>
              </a:rPr>
              <a:t>“We can’t see the top of your head. We need your full body, head to feet, to turn the scan into centimetres — move the phone further away and record again.”</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THE SECOND WAY IN</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The pair already in the wardrobe</a:t>
            </a:r>
            <a:endParaRPr lang="en-US" sz="3000" dirty="0"/>
          </a:p>
        </p:txBody>
      </p:sp>
      <p:sp>
        <p:nvSpPr>
          <p:cNvPr id="4" name="Text 2"/>
          <p:cNvSpPr txBox="1"/>
          <p:nvPr/>
        </p:nvSpPr>
        <p:spPr>
          <a:xfrm>
            <a:off x="502920" y="1042416"/>
            <a:ext cx="11185855" cy="310896"/>
          </a:xfrm>
          <a:prstGeom prst="rect">
            <a:avLst/>
          </a:prstGeom>
          <a:noFill/>
          <a:ln/>
        </p:spPr>
        <p:txBody>
          <a:bodyPr wrap="square" lIns="0" tIns="0" rIns="0" bIns="0" rtlCol="0" anchor="ctr"/>
          <a:lstStyle/>
          <a:p>
            <a:pPr algn="l" indent="0" marL="0">
              <a:buNone/>
            </a:pPr>
            <a:r>
              <a:rPr lang="en-US" sz="1300" dirty="0">
                <a:solidFill>
                  <a:srgbClr val="9BA1C1"/>
                </a:solidFill>
                <a:latin typeface="Arial" pitchFamily="34" charset="0"/>
                <a:ea typeface="Arial" pitchFamily="34" charset="-122"/>
                <a:cs typeface="Arial" pitchFamily="34" charset="-120"/>
              </a:rPr>
              <a:t>Nobody knows their waist in centimetres. Everybody knows which jeans they reach for first.</a:t>
            </a:r>
            <a:endParaRPr lang="en-US" sz="1300" dirty="0"/>
          </a:p>
        </p:txBody>
      </p:sp>
      <p:sp>
        <p:nvSpPr>
          <p:cNvPr id="5" name="Shape 3"/>
          <p:cNvSpPr/>
          <p:nvPr/>
        </p:nvSpPr>
        <p:spPr>
          <a:xfrm>
            <a:off x="502920" y="1755648"/>
            <a:ext cx="11185855" cy="859536"/>
          </a:xfrm>
          <a:prstGeom prst="roundRect">
            <a:avLst>
              <a:gd name="adj" fmla="val 6383"/>
            </a:avLst>
          </a:prstGeom>
          <a:solidFill>
            <a:srgbClr val="252943"/>
          </a:solidFill>
          <a:ln w="12700">
            <a:solidFill>
              <a:srgbClr val="252943"/>
            </a:solidFill>
            <a:prstDash val="solid"/>
          </a:ln>
        </p:spPr>
      </p:sp>
      <p:sp>
        <p:nvSpPr>
          <p:cNvPr id="6" name="Text 4"/>
          <p:cNvSpPr txBox="1"/>
          <p:nvPr/>
        </p:nvSpPr>
        <p:spPr>
          <a:xfrm>
            <a:off x="502920" y="1828800"/>
            <a:ext cx="11185855" cy="402336"/>
          </a:xfrm>
          <a:prstGeom prst="rect">
            <a:avLst/>
          </a:prstGeom>
          <a:noFill/>
          <a:ln/>
        </p:spPr>
        <p:txBody>
          <a:bodyPr wrap="square" lIns="0" tIns="0" rIns="0" bIns="0" rtlCol="0" anchor="ctr"/>
          <a:lstStyle/>
          <a:p>
            <a:pPr algn="ctr" indent="0" marL="0">
              <a:buNone/>
            </a:pPr>
            <a:r>
              <a:rPr lang="en-US" sz="1900" b="1" dirty="0">
                <a:solidFill>
                  <a:srgbClr val="F2F3F8"/>
                </a:solidFill>
                <a:latin typeface="Arial" pitchFamily="34" charset="0"/>
                <a:ea typeface="Arial" pitchFamily="34" charset="-122"/>
                <a:cs typeface="Arial" pitchFamily="34" charset="-120"/>
              </a:rPr>
              <a:t>“Which pair that you already own fits you best?”</a:t>
            </a:r>
            <a:endParaRPr lang="en-US" sz="1900" dirty="0"/>
          </a:p>
        </p:txBody>
      </p:sp>
      <p:sp>
        <p:nvSpPr>
          <p:cNvPr id="7" name="Text 5"/>
          <p:cNvSpPr txBox="1"/>
          <p:nvPr/>
        </p:nvSpPr>
        <p:spPr>
          <a:xfrm>
            <a:off x="502920" y="2231136"/>
            <a:ext cx="11185855" cy="274320"/>
          </a:xfrm>
          <a:prstGeom prst="rect">
            <a:avLst/>
          </a:prstGeom>
          <a:noFill/>
          <a:ln/>
        </p:spPr>
        <p:txBody>
          <a:bodyPr wrap="square" lIns="0" tIns="0" rIns="0" bIns="0" rtlCol="0" anchor="ctr"/>
          <a:lstStyle/>
          <a:p>
            <a:pPr algn="ctr" indent="0" marL="0">
              <a:buNone/>
            </a:pPr>
            <a:r>
              <a:rPr lang="en-US" sz="1100" dirty="0">
                <a:solidFill>
                  <a:srgbClr val="9BA1C1"/>
                </a:solidFill>
                <a:latin typeface="Arial" pitchFamily="34" charset="0"/>
                <a:ea typeface="Arial" pitchFamily="34" charset="-122"/>
                <a:cs typeface="Arial" pitchFamily="34" charset="-120"/>
              </a:rPr>
              <a:t>brand · model · the size on the label — three taps, no camera, no tape measure</a:t>
            </a:r>
            <a:endParaRPr lang="en-US" sz="1100" dirty="0"/>
          </a:p>
        </p:txBody>
      </p:sp>
      <p:sp>
        <p:nvSpPr>
          <p:cNvPr id="8" name="Shape 6"/>
          <p:cNvSpPr/>
          <p:nvPr/>
        </p:nvSpPr>
        <p:spPr>
          <a:xfrm>
            <a:off x="502920" y="2834640"/>
            <a:ext cx="3538728" cy="2103120"/>
          </a:xfrm>
          <a:prstGeom prst="roundRect">
            <a:avLst>
              <a:gd name="adj" fmla="val 2174"/>
            </a:avLst>
          </a:prstGeom>
          <a:solidFill>
            <a:srgbClr val="252943"/>
          </a:solidFill>
          <a:ln w="15875">
            <a:solidFill>
              <a:srgbClr val="EC8079"/>
            </a:solidFill>
            <a:prstDash val="solid"/>
          </a:ln>
        </p:spPr>
      </p:sp>
      <p:sp>
        <p:nvSpPr>
          <p:cNvPr id="9" name="Shape 7"/>
          <p:cNvSpPr/>
          <p:nvPr/>
        </p:nvSpPr>
        <p:spPr>
          <a:xfrm>
            <a:off x="502920" y="2834640"/>
            <a:ext cx="3538728" cy="50292"/>
          </a:xfrm>
          <a:prstGeom prst="rect">
            <a:avLst/>
          </a:prstGeom>
          <a:solidFill>
            <a:srgbClr val="EC8079"/>
          </a:solidFill>
          <a:ln w="12700">
            <a:solidFill>
              <a:srgbClr val="EC8079"/>
            </a:solidFill>
            <a:prstDash val="solid"/>
          </a:ln>
        </p:spPr>
      </p:sp>
      <p:sp>
        <p:nvSpPr>
          <p:cNvPr id="10" name="Text 8"/>
          <p:cNvSpPr txBox="1"/>
          <p:nvPr/>
        </p:nvSpPr>
        <p:spPr>
          <a:xfrm>
            <a:off x="777240" y="3072384"/>
            <a:ext cx="2990088" cy="310896"/>
          </a:xfrm>
          <a:prstGeom prst="rect">
            <a:avLst/>
          </a:prstGeom>
          <a:noFill/>
          <a:ln/>
        </p:spPr>
        <p:txBody>
          <a:bodyPr wrap="square" lIns="0" tIns="0" rIns="0" bIns="0" rtlCol="0" anchor="ctr"/>
          <a:lstStyle/>
          <a:p>
            <a:pPr indent="0" marL="0">
              <a:buNone/>
            </a:pPr>
            <a:r>
              <a:rPr lang="en-US" sz="1450" b="1" dirty="0">
                <a:solidFill>
                  <a:srgbClr val="EC8079"/>
                </a:solidFill>
                <a:latin typeface="Arial" pitchFamily="34" charset="0"/>
                <a:ea typeface="Arial" pitchFamily="34" charset="-122"/>
                <a:cs typeface="Arial" pitchFamily="34" charset="-120"/>
              </a:rPr>
              <a:t>When the capture fails</a:t>
            </a:r>
            <a:endParaRPr lang="en-US" sz="1450" dirty="0"/>
          </a:p>
        </p:txBody>
      </p:sp>
      <p:sp>
        <p:nvSpPr>
          <p:cNvPr id="11" name="Text 9"/>
          <p:cNvSpPr txBox="1"/>
          <p:nvPr/>
        </p:nvSpPr>
        <p:spPr>
          <a:xfrm>
            <a:off x="777240" y="3493008"/>
            <a:ext cx="2990088" cy="1024128"/>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F2F3F8"/>
                </a:solidFill>
                <a:latin typeface="Arial" pitchFamily="34" charset="0"/>
                <a:ea typeface="Arial" pitchFamily="34" charset="-122"/>
                <a:cs typeface="Arial" pitchFamily="34" charset="-120"/>
              </a:rPr>
              <a:t>the crown is out of frame</a:t>
            </a:r>
            <a:endParaRPr lang="en-US" sz="1150" dirty="0"/>
          </a:p>
          <a:p>
            <a:pPr marL="342900" indent="-342900">
              <a:spcAft>
                <a:spcPts val="500"/>
              </a:spcAft>
              <a:buSzPct val="100000"/>
              <a:buChar char="•"/>
            </a:pPr>
            <a:r>
              <a:rPr lang="en-US" sz="1150" dirty="0">
                <a:solidFill>
                  <a:srgbClr val="F2F3F8"/>
                </a:solidFill>
                <a:latin typeface="Arial" pitchFamily="34" charset="0"/>
                <a:ea typeface="Arial" pitchFamily="34" charset="-122"/>
                <a:cs typeface="Arial" pitchFamily="34" charset="-120"/>
              </a:rPr>
              <a:t>the gate blocks, as it must</a:t>
            </a:r>
            <a:endParaRPr lang="en-US" sz="1150" dirty="0"/>
          </a:p>
          <a:p>
            <a:pPr marL="342900" indent="-342900">
              <a:spcAft>
                <a:spcPts val="500"/>
              </a:spcAft>
              <a:buSzPct val="100000"/>
              <a:buChar char="•"/>
            </a:pPr>
            <a:r>
              <a:rPr lang="en-US" sz="1150" dirty="0">
                <a:solidFill>
                  <a:srgbClr val="F2F3F8"/>
                </a:solidFill>
                <a:latin typeface="Arial" pitchFamily="34" charset="0"/>
                <a:ea typeface="Arial" pitchFamily="34" charset="-122"/>
                <a:cs typeface="Arial" pitchFamily="34" charset="-120"/>
              </a:rPr>
              <a:t>we ask one question instead</a:t>
            </a:r>
            <a:endParaRPr lang="en-US" sz="1150" dirty="0"/>
          </a:p>
        </p:txBody>
      </p:sp>
      <p:sp>
        <p:nvSpPr>
          <p:cNvPr id="12" name="Text 10"/>
          <p:cNvSpPr txBox="1"/>
          <p:nvPr/>
        </p:nvSpPr>
        <p:spPr>
          <a:xfrm>
            <a:off x="777240" y="4553712"/>
            <a:ext cx="2990088" cy="256032"/>
          </a:xfrm>
          <a:prstGeom prst="rect">
            <a:avLst/>
          </a:prstGeom>
          <a:noFill/>
          <a:ln/>
        </p:spPr>
        <p:txBody>
          <a:bodyPr wrap="square" lIns="0" tIns="0" rIns="0" bIns="0" rtlCol="0" anchor="ctr"/>
          <a:lstStyle/>
          <a:p>
            <a:pPr indent="0" marL="0">
              <a:buNone/>
            </a:pPr>
            <a:r>
              <a:rPr lang="en-US" sz="950" b="1" spc="180" kern="0" dirty="0">
                <a:solidFill>
                  <a:srgbClr val="EC8079"/>
                </a:solidFill>
                <a:latin typeface="Arial" pitchFamily="34" charset="0"/>
                <a:ea typeface="Arial" pitchFamily="34" charset="-122"/>
                <a:cs typeface="Arial" pitchFamily="34" charset="-120"/>
              </a:rPr>
              <a:t>STILL AN ANSWER</a:t>
            </a:r>
            <a:endParaRPr lang="en-US" sz="950" dirty="0"/>
          </a:p>
        </p:txBody>
      </p:sp>
      <p:sp>
        <p:nvSpPr>
          <p:cNvPr id="13" name="Shape 11"/>
          <p:cNvSpPr/>
          <p:nvPr/>
        </p:nvSpPr>
        <p:spPr>
          <a:xfrm>
            <a:off x="4325112" y="2834640"/>
            <a:ext cx="3538728" cy="2103120"/>
          </a:xfrm>
          <a:prstGeom prst="roundRect">
            <a:avLst>
              <a:gd name="adj" fmla="val 2174"/>
            </a:avLst>
          </a:prstGeom>
          <a:solidFill>
            <a:srgbClr val="252943"/>
          </a:solidFill>
          <a:ln w="15875">
            <a:solidFill>
              <a:srgbClr val="83B4DE"/>
            </a:solidFill>
            <a:prstDash val="solid"/>
          </a:ln>
        </p:spPr>
      </p:sp>
      <p:sp>
        <p:nvSpPr>
          <p:cNvPr id="14" name="Shape 12"/>
          <p:cNvSpPr/>
          <p:nvPr/>
        </p:nvSpPr>
        <p:spPr>
          <a:xfrm>
            <a:off x="4325112" y="2834640"/>
            <a:ext cx="3538728" cy="50292"/>
          </a:xfrm>
          <a:prstGeom prst="rect">
            <a:avLst/>
          </a:prstGeom>
          <a:solidFill>
            <a:srgbClr val="83B4DE"/>
          </a:solidFill>
          <a:ln w="12700">
            <a:solidFill>
              <a:srgbClr val="83B4DE"/>
            </a:solidFill>
            <a:prstDash val="solid"/>
          </a:ln>
        </p:spPr>
      </p:sp>
      <p:sp>
        <p:nvSpPr>
          <p:cNvPr id="15" name="Text 13"/>
          <p:cNvSpPr txBox="1"/>
          <p:nvPr/>
        </p:nvSpPr>
        <p:spPr>
          <a:xfrm>
            <a:off x="4599432" y="3072384"/>
            <a:ext cx="2990088" cy="310896"/>
          </a:xfrm>
          <a:prstGeom prst="rect">
            <a:avLst/>
          </a:prstGeom>
          <a:noFill/>
          <a:ln/>
        </p:spPr>
        <p:txBody>
          <a:bodyPr wrap="square" lIns="0" tIns="0" rIns="0" bIns="0" rtlCol="0" anchor="ctr"/>
          <a:lstStyle/>
          <a:p>
            <a:pPr indent="0" marL="0">
              <a:buNone/>
            </a:pPr>
            <a:r>
              <a:rPr lang="en-US" sz="1450" b="1" dirty="0">
                <a:solidFill>
                  <a:srgbClr val="83B4DE"/>
                </a:solidFill>
                <a:latin typeface="Arial" pitchFamily="34" charset="0"/>
                <a:ea typeface="Arial" pitchFamily="34" charset="-122"/>
                <a:cs typeface="Arial" pitchFamily="34" charset="-120"/>
              </a:rPr>
              <a:t>When we have both</a:t>
            </a:r>
            <a:endParaRPr lang="en-US" sz="1450" dirty="0"/>
          </a:p>
        </p:txBody>
      </p:sp>
      <p:sp>
        <p:nvSpPr>
          <p:cNvPr id="16" name="Text 14"/>
          <p:cNvSpPr txBox="1"/>
          <p:nvPr/>
        </p:nvSpPr>
        <p:spPr>
          <a:xfrm>
            <a:off x="4599432" y="3493008"/>
            <a:ext cx="2990088" cy="1024128"/>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F2F3F8"/>
                </a:solidFill>
                <a:latin typeface="Arial" pitchFamily="34" charset="0"/>
                <a:ea typeface="Arial" pitchFamily="34" charset="-122"/>
                <a:cs typeface="Arial" pitchFamily="34" charset="-120"/>
              </a:rPr>
              <a:t>the video says W32</a:t>
            </a:r>
            <a:endParaRPr lang="en-US" sz="1150" dirty="0"/>
          </a:p>
          <a:p>
            <a:pPr marL="342900" indent="-342900">
              <a:spcAft>
                <a:spcPts val="500"/>
              </a:spcAft>
              <a:buSzPct val="100000"/>
              <a:buChar char="•"/>
            </a:pPr>
            <a:r>
              <a:rPr lang="en-US" sz="1150" dirty="0">
                <a:solidFill>
                  <a:srgbClr val="F2F3F8"/>
                </a:solidFill>
                <a:latin typeface="Arial" pitchFamily="34" charset="0"/>
                <a:ea typeface="Arial" pitchFamily="34" charset="-122"/>
                <a:cs typeface="Arial" pitchFamily="34" charset="-120"/>
              </a:rPr>
              <a:t>the favourite pair is a W34</a:t>
            </a:r>
            <a:endParaRPr lang="en-US" sz="1150" dirty="0"/>
          </a:p>
          <a:p>
            <a:pPr marL="342900" indent="-342900">
              <a:spcAft>
                <a:spcPts val="500"/>
              </a:spcAft>
              <a:buSzPct val="100000"/>
              <a:buChar char="•"/>
            </a:pPr>
            <a:r>
              <a:rPr lang="en-US" sz="1150" dirty="0">
                <a:solidFill>
                  <a:srgbClr val="F2F3F8"/>
                </a:solidFill>
                <a:latin typeface="Arial" pitchFamily="34" charset="0"/>
                <a:ea typeface="Arial" pitchFamily="34" charset="-122"/>
                <a:cs typeface="Arial" pitchFamily="34" charset="-120"/>
              </a:rPr>
              <a:t>the disagreement is information</a:t>
            </a:r>
            <a:endParaRPr lang="en-US" sz="1150" dirty="0"/>
          </a:p>
        </p:txBody>
      </p:sp>
      <p:sp>
        <p:nvSpPr>
          <p:cNvPr id="17" name="Text 15"/>
          <p:cNvSpPr txBox="1"/>
          <p:nvPr/>
        </p:nvSpPr>
        <p:spPr>
          <a:xfrm>
            <a:off x="4599432" y="4553712"/>
            <a:ext cx="2990088" cy="256032"/>
          </a:xfrm>
          <a:prstGeom prst="rect">
            <a:avLst/>
          </a:prstGeom>
          <a:noFill/>
          <a:ln/>
        </p:spPr>
        <p:txBody>
          <a:bodyPr wrap="square" lIns="0" tIns="0" rIns="0" bIns="0" rtlCol="0" anchor="ctr"/>
          <a:lstStyle/>
          <a:p>
            <a:pPr indent="0" marL="0">
              <a:buNone/>
            </a:pPr>
            <a:r>
              <a:rPr lang="en-US" sz="950" b="1" spc="180" kern="0" dirty="0">
                <a:solidFill>
                  <a:srgbClr val="83B4DE"/>
                </a:solidFill>
                <a:latin typeface="Arial" pitchFamily="34" charset="0"/>
                <a:ea typeface="Arial" pitchFamily="34" charset="-122"/>
                <a:cs typeface="Arial" pitchFamily="34" charset="-120"/>
              </a:rPr>
              <a:t>NOT NOISE</a:t>
            </a:r>
            <a:endParaRPr lang="en-US" sz="950" dirty="0"/>
          </a:p>
        </p:txBody>
      </p:sp>
      <p:sp>
        <p:nvSpPr>
          <p:cNvPr id="18" name="Shape 16"/>
          <p:cNvSpPr/>
          <p:nvPr/>
        </p:nvSpPr>
        <p:spPr>
          <a:xfrm>
            <a:off x="8147304" y="2834640"/>
            <a:ext cx="3538728" cy="2103120"/>
          </a:xfrm>
          <a:prstGeom prst="roundRect">
            <a:avLst>
              <a:gd name="adj" fmla="val 2174"/>
            </a:avLst>
          </a:prstGeom>
          <a:solidFill>
            <a:srgbClr val="252943"/>
          </a:solidFill>
          <a:ln w="15875">
            <a:solidFill>
              <a:srgbClr val="6FC095"/>
            </a:solidFill>
            <a:prstDash val="solid"/>
          </a:ln>
        </p:spPr>
      </p:sp>
      <p:sp>
        <p:nvSpPr>
          <p:cNvPr id="19" name="Shape 17"/>
          <p:cNvSpPr/>
          <p:nvPr/>
        </p:nvSpPr>
        <p:spPr>
          <a:xfrm>
            <a:off x="8147304" y="2834640"/>
            <a:ext cx="3538728" cy="50292"/>
          </a:xfrm>
          <a:prstGeom prst="rect">
            <a:avLst/>
          </a:prstGeom>
          <a:solidFill>
            <a:srgbClr val="6FC095"/>
          </a:solidFill>
          <a:ln w="12700">
            <a:solidFill>
              <a:srgbClr val="6FC095"/>
            </a:solidFill>
            <a:prstDash val="solid"/>
          </a:ln>
        </p:spPr>
      </p:sp>
      <p:sp>
        <p:nvSpPr>
          <p:cNvPr id="20" name="Text 18"/>
          <p:cNvSpPr txBox="1"/>
          <p:nvPr/>
        </p:nvSpPr>
        <p:spPr>
          <a:xfrm>
            <a:off x="8421624" y="3072384"/>
            <a:ext cx="2990088" cy="310896"/>
          </a:xfrm>
          <a:prstGeom prst="rect">
            <a:avLst/>
          </a:prstGeom>
          <a:noFill/>
          <a:ln/>
        </p:spPr>
        <p:txBody>
          <a:bodyPr wrap="square" lIns="0" tIns="0" rIns="0" bIns="0" rtlCol="0" anchor="ctr"/>
          <a:lstStyle/>
          <a:p>
            <a:pPr indent="0" marL="0">
              <a:buNone/>
            </a:pPr>
            <a:r>
              <a:rPr lang="en-US" sz="1450" b="1" dirty="0">
                <a:solidFill>
                  <a:srgbClr val="6FC095"/>
                </a:solidFill>
                <a:latin typeface="Arial" pitchFamily="34" charset="0"/>
                <a:ea typeface="Arial" pitchFamily="34" charset="-122"/>
                <a:cs typeface="Arial" pitchFamily="34" charset="-120"/>
              </a:rPr>
              <a:t>What measuring misses</a:t>
            </a:r>
            <a:endParaRPr lang="en-US" sz="1450" dirty="0"/>
          </a:p>
        </p:txBody>
      </p:sp>
      <p:sp>
        <p:nvSpPr>
          <p:cNvPr id="21" name="Text 19"/>
          <p:cNvSpPr txBox="1"/>
          <p:nvPr/>
        </p:nvSpPr>
        <p:spPr>
          <a:xfrm>
            <a:off x="8421624" y="3493008"/>
            <a:ext cx="2990088" cy="1024128"/>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F2F3F8"/>
                </a:solidFill>
                <a:latin typeface="Arial" pitchFamily="34" charset="0"/>
                <a:ea typeface="Arial" pitchFamily="34" charset="-122"/>
                <a:cs typeface="Arial" pitchFamily="34" charset="-120"/>
              </a:rPr>
              <a:t>two identical pairs of legs</a:t>
            </a:r>
            <a:endParaRPr lang="en-US" sz="1150" dirty="0"/>
          </a:p>
          <a:p>
            <a:pPr marL="342900" indent="-342900">
              <a:spcAft>
                <a:spcPts val="500"/>
              </a:spcAft>
              <a:buSzPct val="100000"/>
              <a:buChar char="•"/>
            </a:pPr>
            <a:r>
              <a:rPr lang="en-US" sz="1150" dirty="0">
                <a:solidFill>
                  <a:srgbClr val="F2F3F8"/>
                </a:solidFill>
                <a:latin typeface="Arial" pitchFamily="34" charset="0"/>
                <a:ea typeface="Arial" pitchFamily="34" charset="-122"/>
                <a:cs typeface="Arial" pitchFamily="34" charset="-120"/>
              </a:rPr>
              <a:t>two different favourite jeans</a:t>
            </a:r>
            <a:endParaRPr lang="en-US" sz="1150" dirty="0"/>
          </a:p>
          <a:p>
            <a:pPr marL="342900" indent="-342900">
              <a:spcAft>
                <a:spcPts val="500"/>
              </a:spcAft>
              <a:buSzPct val="100000"/>
              <a:buChar char="•"/>
            </a:pPr>
            <a:r>
              <a:rPr lang="en-US" sz="1150" dirty="0">
                <a:solidFill>
                  <a:srgbClr val="F2F3F8"/>
                </a:solidFill>
                <a:latin typeface="Arial" pitchFamily="34" charset="0"/>
                <a:ea typeface="Arial" pitchFamily="34" charset="-122"/>
                <a:cs typeface="Arial" pitchFamily="34" charset="-120"/>
              </a:rPr>
              <a:t>the body is not the taste</a:t>
            </a:r>
            <a:endParaRPr lang="en-US" sz="1150" dirty="0"/>
          </a:p>
        </p:txBody>
      </p:sp>
      <p:sp>
        <p:nvSpPr>
          <p:cNvPr id="22" name="Text 20"/>
          <p:cNvSpPr txBox="1"/>
          <p:nvPr/>
        </p:nvSpPr>
        <p:spPr>
          <a:xfrm>
            <a:off x="8421624" y="4553712"/>
            <a:ext cx="2990088" cy="256032"/>
          </a:xfrm>
          <a:prstGeom prst="rect">
            <a:avLst/>
          </a:prstGeom>
          <a:noFill/>
          <a:ln/>
        </p:spPr>
        <p:txBody>
          <a:bodyPr wrap="square" lIns="0" tIns="0" rIns="0" bIns="0" rtlCol="0" anchor="ctr"/>
          <a:lstStyle/>
          <a:p>
            <a:pPr indent="0" marL="0">
              <a:buNone/>
            </a:pPr>
            <a:r>
              <a:rPr lang="en-US" sz="950" b="1" spc="180" kern="0" dirty="0">
                <a:solidFill>
                  <a:srgbClr val="6FC095"/>
                </a:solidFill>
                <a:latin typeface="Arial" pitchFamily="34" charset="0"/>
                <a:ea typeface="Arial" pitchFamily="34" charset="-122"/>
                <a:cs typeface="Arial" pitchFamily="34" charset="-120"/>
              </a:rPr>
              <a:t>ASKED EVERY TIME</a:t>
            </a:r>
            <a:endParaRPr lang="en-US" sz="950" dirty="0"/>
          </a:p>
        </p:txBody>
      </p:sp>
      <p:sp>
        <p:nvSpPr>
          <p:cNvPr id="23" name="Shape 21"/>
          <p:cNvSpPr/>
          <p:nvPr/>
        </p:nvSpPr>
        <p:spPr>
          <a:xfrm>
            <a:off x="502920" y="5193792"/>
            <a:ext cx="11185855" cy="1024128"/>
          </a:xfrm>
          <a:prstGeom prst="roundRect">
            <a:avLst>
              <a:gd name="adj" fmla="val 5357"/>
            </a:avLst>
          </a:prstGeom>
          <a:solidFill>
            <a:srgbClr val="2F3355"/>
          </a:solidFill>
          <a:ln w="19050">
            <a:solidFill>
              <a:srgbClr val="E0A458"/>
            </a:solidFill>
            <a:prstDash val="solid"/>
          </a:ln>
        </p:spPr>
      </p:sp>
      <p:sp>
        <p:nvSpPr>
          <p:cNvPr id="24" name="Text 22"/>
          <p:cNvSpPr txBox="1"/>
          <p:nvPr/>
        </p:nvSpPr>
        <p:spPr>
          <a:xfrm>
            <a:off x="813816" y="5321808"/>
            <a:ext cx="10515600" cy="256032"/>
          </a:xfrm>
          <a:prstGeom prst="rect">
            <a:avLst/>
          </a:prstGeom>
          <a:noFill/>
          <a:ln/>
        </p:spPr>
        <p:txBody>
          <a:bodyPr wrap="square" lIns="0" tIns="0" rIns="0" bIns="0" rtlCol="0" anchor="ctr"/>
          <a:lstStyle/>
          <a:p>
            <a:pPr indent="0" marL="0">
              <a:buNone/>
            </a:pPr>
            <a:r>
              <a:rPr lang="en-US" sz="1100" b="1" spc="180" kern="0" dirty="0">
                <a:solidFill>
                  <a:srgbClr val="E0A458"/>
                </a:solidFill>
                <a:latin typeface="Arial" pitchFamily="34" charset="0"/>
                <a:ea typeface="Arial" pitchFamily="34" charset="-122"/>
                <a:cs typeface="Arial" pitchFamily="34" charset="-120"/>
              </a:rPr>
              <a:t>Still open</a:t>
            </a:r>
            <a:endParaRPr lang="en-US" sz="1100" dirty="0"/>
          </a:p>
        </p:txBody>
      </p:sp>
      <p:sp>
        <p:nvSpPr>
          <p:cNvPr id="25" name="Text 23"/>
          <p:cNvSpPr txBox="1"/>
          <p:nvPr/>
        </p:nvSpPr>
        <p:spPr>
          <a:xfrm>
            <a:off x="813816" y="5596128"/>
            <a:ext cx="10515600" cy="512064"/>
          </a:xfrm>
          <a:prstGeom prst="rect">
            <a:avLst/>
          </a:prstGeom>
          <a:noFill/>
          <a:ln/>
        </p:spPr>
        <p:txBody>
          <a:bodyPr wrap="square" lIns="0" tIns="0" rIns="0" bIns="0" rtlCol="0" anchor="t"/>
          <a:lstStyle/>
          <a:p>
            <a:pPr indent="0" marL="0">
              <a:lnSpc>
                <a:spcPct val="115000"/>
              </a:lnSpc>
              <a:buNone/>
            </a:pPr>
            <a:r>
              <a:rPr lang="en-US" sz="1250" dirty="0">
                <a:solidFill>
                  <a:srgbClr val="F2F3F8"/>
                </a:solidFill>
                <a:latin typeface="Arial" pitchFamily="34" charset="0"/>
                <a:ea typeface="Arial" pitchFamily="34" charset="-122"/>
                <a:cs typeface="Arial" pitchFamily="34" charset="-120"/>
              </a:rPr>
              <a:t>When the two disagree, which one wins — the measurement or the wardrobe? We do not know yet, and the honest answer probably changes once there are real outcomes to calibrate against.</a:t>
            </a:r>
            <a:endParaRPr lang="en-US" sz="1250" dirty="0"/>
          </a:p>
        </p:txBody>
      </p:sp>
      <p:sp>
        <p:nvSpPr>
          <p:cNvPr id="26" name="Text 24"/>
          <p:cNvSpPr txBox="1"/>
          <p:nvPr/>
        </p:nvSpPr>
        <p:spPr>
          <a:xfrm>
            <a:off x="502920" y="6327648"/>
            <a:ext cx="11185855" cy="310896"/>
          </a:xfrm>
          <a:prstGeom prst="rect">
            <a:avLst/>
          </a:prstGeom>
          <a:noFill/>
          <a:ln/>
        </p:spPr>
        <p:txBody>
          <a:bodyPr wrap="square" lIns="0" tIns="0" rIns="0" bIns="0" rtlCol="0" anchor="ctr"/>
          <a:lstStyle/>
          <a:p>
            <a:pPr indent="0" marL="0">
              <a:buNone/>
            </a:pPr>
            <a:r>
              <a:rPr lang="en-US" sz="1050" i="1" dirty="0">
                <a:solidFill>
                  <a:srgbClr val="6E7699"/>
                </a:solidFill>
                <a:latin typeface="Arial" pitchFamily="34" charset="0"/>
                <a:ea typeface="Arial" pitchFamily="34" charset="-122"/>
                <a:cs typeface="Arial" pitchFamily="34" charset="-120"/>
              </a:rPr>
              <a:t>It is also the demo's insurance: with the vision pipeline down, the app still returns a size.</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MEASUREMENT ON FIXED TOPOLOGY</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Nine measurement points, defined once, used for every body</a:t>
            </a:r>
            <a:endParaRPr lang="en-US" sz="3000" dirty="0"/>
          </a:p>
        </p:txBody>
      </p:sp>
      <p:sp>
        <p:nvSpPr>
          <p:cNvPr id="4" name="Text 2"/>
          <p:cNvSpPr txBox="1"/>
          <p:nvPr/>
        </p:nvSpPr>
        <p:spPr>
          <a:xfrm>
            <a:off x="502920" y="1042416"/>
            <a:ext cx="11185855" cy="310896"/>
          </a:xfrm>
          <a:prstGeom prst="rect">
            <a:avLst/>
          </a:prstGeom>
          <a:noFill/>
          <a:ln/>
        </p:spPr>
        <p:txBody>
          <a:bodyPr wrap="square" lIns="0" tIns="0" rIns="0" bIns="0" rtlCol="0" anchor="ctr"/>
          <a:lstStyle/>
          <a:p>
            <a:pPr algn="l" indent="0" marL="0">
              <a:buNone/>
            </a:pPr>
            <a:r>
              <a:rPr lang="en-US" sz="1300" dirty="0">
                <a:solidFill>
                  <a:srgbClr val="9BA1C1"/>
                </a:solidFill>
                <a:latin typeface="Arial" pitchFamily="34" charset="0"/>
                <a:ea typeface="Arial" pitchFamily="34" charset="-122"/>
                <a:cs typeface="Arial" pitchFamily="34" charset="-120"/>
              </a:rPr>
              <a:t>The 3D body model always has the same structure, so we say once where each measurement is taken and it holds for everyone.</a:t>
            </a:r>
            <a:endParaRPr lang="en-US" sz="1300" dirty="0"/>
          </a:p>
        </p:txBody>
      </p:sp>
      <p:sp>
        <p:nvSpPr>
          <p:cNvPr id="5" name="Shape 3"/>
          <p:cNvSpPr/>
          <p:nvPr/>
        </p:nvSpPr>
        <p:spPr>
          <a:xfrm>
            <a:off x="502920" y="1938528"/>
            <a:ext cx="3547872" cy="1060704"/>
          </a:xfrm>
          <a:prstGeom prst="roundRect">
            <a:avLst>
              <a:gd name="adj" fmla="val 5172"/>
            </a:avLst>
          </a:prstGeom>
          <a:solidFill>
            <a:srgbClr val="252943"/>
          </a:solidFill>
          <a:ln w="12700">
            <a:solidFill>
              <a:srgbClr val="252943"/>
            </a:solidFill>
            <a:prstDash val="solid"/>
          </a:ln>
        </p:spPr>
      </p:sp>
      <p:sp>
        <p:nvSpPr>
          <p:cNvPr id="6" name="Shape 4"/>
          <p:cNvSpPr/>
          <p:nvPr/>
        </p:nvSpPr>
        <p:spPr>
          <a:xfrm>
            <a:off x="740664" y="2157984"/>
            <a:ext cx="0" cy="146304"/>
          </a:xfrm>
          <a:prstGeom prst="line">
            <a:avLst/>
          </a:prstGeom>
          <a:noFill/>
          <a:ln w="12700">
            <a:solidFill>
              <a:srgbClr val="E0A458"/>
            </a:solidFill>
            <a:prstDash val="solid"/>
          </a:ln>
        </p:spPr>
      </p:sp>
      <p:sp>
        <p:nvSpPr>
          <p:cNvPr id="7" name="Shape 5"/>
          <p:cNvSpPr/>
          <p:nvPr/>
        </p:nvSpPr>
        <p:spPr>
          <a:xfrm>
            <a:off x="841248" y="2157984"/>
            <a:ext cx="0" cy="82296"/>
          </a:xfrm>
          <a:prstGeom prst="line">
            <a:avLst/>
          </a:prstGeom>
          <a:noFill/>
          <a:ln w="12700">
            <a:solidFill>
              <a:srgbClr val="6E7699"/>
            </a:solidFill>
            <a:prstDash val="solid"/>
          </a:ln>
        </p:spPr>
      </p:sp>
      <p:sp>
        <p:nvSpPr>
          <p:cNvPr id="8" name="Shape 6"/>
          <p:cNvSpPr/>
          <p:nvPr/>
        </p:nvSpPr>
        <p:spPr>
          <a:xfrm>
            <a:off x="941832" y="2157984"/>
            <a:ext cx="0" cy="82296"/>
          </a:xfrm>
          <a:prstGeom prst="line">
            <a:avLst/>
          </a:prstGeom>
          <a:noFill/>
          <a:ln w="12700">
            <a:solidFill>
              <a:srgbClr val="6E7699"/>
            </a:solidFill>
            <a:prstDash val="solid"/>
          </a:ln>
        </p:spPr>
      </p:sp>
      <p:sp>
        <p:nvSpPr>
          <p:cNvPr id="9" name="Shape 7"/>
          <p:cNvSpPr/>
          <p:nvPr/>
        </p:nvSpPr>
        <p:spPr>
          <a:xfrm>
            <a:off x="1042416" y="2157984"/>
            <a:ext cx="0" cy="82296"/>
          </a:xfrm>
          <a:prstGeom prst="line">
            <a:avLst/>
          </a:prstGeom>
          <a:noFill/>
          <a:ln w="12700">
            <a:solidFill>
              <a:srgbClr val="6E7699"/>
            </a:solidFill>
            <a:prstDash val="solid"/>
          </a:ln>
        </p:spPr>
      </p:sp>
      <p:sp>
        <p:nvSpPr>
          <p:cNvPr id="10" name="Shape 8"/>
          <p:cNvSpPr/>
          <p:nvPr/>
        </p:nvSpPr>
        <p:spPr>
          <a:xfrm>
            <a:off x="1143000" y="2157984"/>
            <a:ext cx="0" cy="82296"/>
          </a:xfrm>
          <a:prstGeom prst="line">
            <a:avLst/>
          </a:prstGeom>
          <a:noFill/>
          <a:ln w="12700">
            <a:solidFill>
              <a:srgbClr val="6E7699"/>
            </a:solidFill>
            <a:prstDash val="solid"/>
          </a:ln>
        </p:spPr>
      </p:sp>
      <p:sp>
        <p:nvSpPr>
          <p:cNvPr id="11" name="Shape 9"/>
          <p:cNvSpPr/>
          <p:nvPr/>
        </p:nvSpPr>
        <p:spPr>
          <a:xfrm>
            <a:off x="1243584" y="2157984"/>
            <a:ext cx="0" cy="82296"/>
          </a:xfrm>
          <a:prstGeom prst="line">
            <a:avLst/>
          </a:prstGeom>
          <a:noFill/>
          <a:ln w="12700">
            <a:solidFill>
              <a:srgbClr val="6E7699"/>
            </a:solidFill>
            <a:prstDash val="solid"/>
          </a:ln>
        </p:spPr>
      </p:sp>
      <p:sp>
        <p:nvSpPr>
          <p:cNvPr id="12" name="Shape 10"/>
          <p:cNvSpPr/>
          <p:nvPr/>
        </p:nvSpPr>
        <p:spPr>
          <a:xfrm>
            <a:off x="1344168" y="2157984"/>
            <a:ext cx="0" cy="82296"/>
          </a:xfrm>
          <a:prstGeom prst="line">
            <a:avLst/>
          </a:prstGeom>
          <a:noFill/>
          <a:ln w="12700">
            <a:solidFill>
              <a:srgbClr val="6E7699"/>
            </a:solidFill>
            <a:prstDash val="solid"/>
          </a:ln>
        </p:spPr>
      </p:sp>
      <p:sp>
        <p:nvSpPr>
          <p:cNvPr id="13" name="Text 11"/>
          <p:cNvSpPr txBox="1"/>
          <p:nvPr/>
        </p:nvSpPr>
        <p:spPr>
          <a:xfrm>
            <a:off x="740664" y="2340864"/>
            <a:ext cx="3108960" cy="274320"/>
          </a:xfrm>
          <a:prstGeom prst="rect">
            <a:avLst/>
          </a:prstGeom>
          <a:noFill/>
          <a:ln/>
        </p:spPr>
        <p:txBody>
          <a:bodyPr wrap="square" lIns="0" tIns="0" rIns="0" bIns="0" rtlCol="0" anchor="ctr"/>
          <a:lstStyle/>
          <a:p>
            <a:pPr indent="0" marL="0">
              <a:buNone/>
            </a:pPr>
            <a:r>
              <a:rPr lang="en-US" sz="1400" b="1" dirty="0">
                <a:solidFill>
                  <a:srgbClr val="F2F3F8"/>
                </a:solidFill>
                <a:latin typeface="Arial" pitchFamily="34" charset="0"/>
                <a:ea typeface="Arial" pitchFamily="34" charset="-122"/>
                <a:cs typeface="Arial" pitchFamily="34" charset="-120"/>
              </a:rPr>
              <a:t>Waist</a:t>
            </a:r>
            <a:endParaRPr lang="en-US" sz="1400" dirty="0"/>
          </a:p>
        </p:txBody>
      </p:sp>
      <p:sp>
        <p:nvSpPr>
          <p:cNvPr id="14" name="Text 12"/>
          <p:cNvSpPr txBox="1"/>
          <p:nvPr/>
        </p:nvSpPr>
        <p:spPr>
          <a:xfrm>
            <a:off x="740664" y="2596896"/>
            <a:ext cx="3108960" cy="201168"/>
          </a:xfrm>
          <a:prstGeom prst="rect">
            <a:avLst/>
          </a:prstGeom>
          <a:noFill/>
          <a:ln/>
        </p:spPr>
        <p:txBody>
          <a:bodyPr wrap="square" lIns="0" tIns="0" rIns="0" bIns="0" rtlCol="0" anchor="ctr"/>
          <a:lstStyle/>
          <a:p>
            <a:pPr indent="0" marL="0">
              <a:buNone/>
            </a:pPr>
            <a:r>
              <a:rPr lang="en-US" sz="1000" b="1" spc="110" kern="0" dirty="0">
                <a:solidFill>
                  <a:srgbClr val="E0A458"/>
                </a:solidFill>
                <a:latin typeface="Arial" pitchFamily="34" charset="0"/>
                <a:ea typeface="Arial" pitchFamily="34" charset="-122"/>
                <a:cs typeface="Arial" pitchFamily="34" charset="-120"/>
              </a:rPr>
              <a:t>slice around the body</a:t>
            </a:r>
            <a:endParaRPr lang="en-US" sz="1000" dirty="0"/>
          </a:p>
        </p:txBody>
      </p:sp>
      <p:sp>
        <p:nvSpPr>
          <p:cNvPr id="15" name="Text 13"/>
          <p:cNvSpPr txBox="1"/>
          <p:nvPr/>
        </p:nvSpPr>
        <p:spPr>
          <a:xfrm>
            <a:off x="740664" y="2761488"/>
            <a:ext cx="3108960" cy="201168"/>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narrowest point between ribs and hip</a:t>
            </a:r>
            <a:endParaRPr lang="en-US" sz="1000" dirty="0"/>
          </a:p>
        </p:txBody>
      </p:sp>
      <p:sp>
        <p:nvSpPr>
          <p:cNvPr id="16" name="Shape 14"/>
          <p:cNvSpPr/>
          <p:nvPr/>
        </p:nvSpPr>
        <p:spPr>
          <a:xfrm>
            <a:off x="4270248" y="1938528"/>
            <a:ext cx="3547872" cy="1060704"/>
          </a:xfrm>
          <a:prstGeom prst="roundRect">
            <a:avLst>
              <a:gd name="adj" fmla="val 5172"/>
            </a:avLst>
          </a:prstGeom>
          <a:solidFill>
            <a:srgbClr val="252943"/>
          </a:solidFill>
          <a:ln w="12700">
            <a:solidFill>
              <a:srgbClr val="252943"/>
            </a:solidFill>
            <a:prstDash val="solid"/>
          </a:ln>
        </p:spPr>
      </p:sp>
      <p:sp>
        <p:nvSpPr>
          <p:cNvPr id="17" name="Shape 15"/>
          <p:cNvSpPr/>
          <p:nvPr/>
        </p:nvSpPr>
        <p:spPr>
          <a:xfrm>
            <a:off x="4507992" y="2157984"/>
            <a:ext cx="0" cy="146304"/>
          </a:xfrm>
          <a:prstGeom prst="line">
            <a:avLst/>
          </a:prstGeom>
          <a:noFill/>
          <a:ln w="12700">
            <a:solidFill>
              <a:srgbClr val="E0A458"/>
            </a:solidFill>
            <a:prstDash val="solid"/>
          </a:ln>
        </p:spPr>
      </p:sp>
      <p:sp>
        <p:nvSpPr>
          <p:cNvPr id="18" name="Shape 16"/>
          <p:cNvSpPr/>
          <p:nvPr/>
        </p:nvSpPr>
        <p:spPr>
          <a:xfrm>
            <a:off x="4608576" y="2157984"/>
            <a:ext cx="0" cy="82296"/>
          </a:xfrm>
          <a:prstGeom prst="line">
            <a:avLst/>
          </a:prstGeom>
          <a:noFill/>
          <a:ln w="12700">
            <a:solidFill>
              <a:srgbClr val="6E7699"/>
            </a:solidFill>
            <a:prstDash val="solid"/>
          </a:ln>
        </p:spPr>
      </p:sp>
      <p:sp>
        <p:nvSpPr>
          <p:cNvPr id="19" name="Shape 17"/>
          <p:cNvSpPr/>
          <p:nvPr/>
        </p:nvSpPr>
        <p:spPr>
          <a:xfrm>
            <a:off x="4709160" y="2157984"/>
            <a:ext cx="0" cy="82296"/>
          </a:xfrm>
          <a:prstGeom prst="line">
            <a:avLst/>
          </a:prstGeom>
          <a:noFill/>
          <a:ln w="12700">
            <a:solidFill>
              <a:srgbClr val="6E7699"/>
            </a:solidFill>
            <a:prstDash val="solid"/>
          </a:ln>
        </p:spPr>
      </p:sp>
      <p:sp>
        <p:nvSpPr>
          <p:cNvPr id="20" name="Shape 18"/>
          <p:cNvSpPr/>
          <p:nvPr/>
        </p:nvSpPr>
        <p:spPr>
          <a:xfrm>
            <a:off x="4809744" y="2157984"/>
            <a:ext cx="0" cy="82296"/>
          </a:xfrm>
          <a:prstGeom prst="line">
            <a:avLst/>
          </a:prstGeom>
          <a:noFill/>
          <a:ln w="12700">
            <a:solidFill>
              <a:srgbClr val="6E7699"/>
            </a:solidFill>
            <a:prstDash val="solid"/>
          </a:ln>
        </p:spPr>
      </p:sp>
      <p:sp>
        <p:nvSpPr>
          <p:cNvPr id="21" name="Shape 19"/>
          <p:cNvSpPr/>
          <p:nvPr/>
        </p:nvSpPr>
        <p:spPr>
          <a:xfrm>
            <a:off x="4910328" y="2157984"/>
            <a:ext cx="0" cy="82296"/>
          </a:xfrm>
          <a:prstGeom prst="line">
            <a:avLst/>
          </a:prstGeom>
          <a:noFill/>
          <a:ln w="12700">
            <a:solidFill>
              <a:srgbClr val="6E7699"/>
            </a:solidFill>
            <a:prstDash val="solid"/>
          </a:ln>
        </p:spPr>
      </p:sp>
      <p:sp>
        <p:nvSpPr>
          <p:cNvPr id="22" name="Shape 20"/>
          <p:cNvSpPr/>
          <p:nvPr/>
        </p:nvSpPr>
        <p:spPr>
          <a:xfrm>
            <a:off x="5010912" y="2157984"/>
            <a:ext cx="0" cy="82296"/>
          </a:xfrm>
          <a:prstGeom prst="line">
            <a:avLst/>
          </a:prstGeom>
          <a:noFill/>
          <a:ln w="12700">
            <a:solidFill>
              <a:srgbClr val="6E7699"/>
            </a:solidFill>
            <a:prstDash val="solid"/>
          </a:ln>
        </p:spPr>
      </p:sp>
      <p:sp>
        <p:nvSpPr>
          <p:cNvPr id="23" name="Shape 21"/>
          <p:cNvSpPr/>
          <p:nvPr/>
        </p:nvSpPr>
        <p:spPr>
          <a:xfrm>
            <a:off x="5111496" y="2157984"/>
            <a:ext cx="0" cy="82296"/>
          </a:xfrm>
          <a:prstGeom prst="line">
            <a:avLst/>
          </a:prstGeom>
          <a:noFill/>
          <a:ln w="12700">
            <a:solidFill>
              <a:srgbClr val="6E7699"/>
            </a:solidFill>
            <a:prstDash val="solid"/>
          </a:ln>
        </p:spPr>
      </p:sp>
      <p:sp>
        <p:nvSpPr>
          <p:cNvPr id="24" name="Text 22"/>
          <p:cNvSpPr txBox="1"/>
          <p:nvPr/>
        </p:nvSpPr>
        <p:spPr>
          <a:xfrm>
            <a:off x="4507992" y="2340864"/>
            <a:ext cx="3108960" cy="274320"/>
          </a:xfrm>
          <a:prstGeom prst="rect">
            <a:avLst/>
          </a:prstGeom>
          <a:noFill/>
          <a:ln/>
        </p:spPr>
        <p:txBody>
          <a:bodyPr wrap="square" lIns="0" tIns="0" rIns="0" bIns="0" rtlCol="0" anchor="ctr"/>
          <a:lstStyle/>
          <a:p>
            <a:pPr indent="0" marL="0">
              <a:buNone/>
            </a:pPr>
            <a:r>
              <a:rPr lang="en-US" sz="1400" b="1" dirty="0">
                <a:solidFill>
                  <a:srgbClr val="F2F3F8"/>
                </a:solidFill>
                <a:latin typeface="Arial" pitchFamily="34" charset="0"/>
                <a:ea typeface="Arial" pitchFamily="34" charset="-122"/>
                <a:cs typeface="Arial" pitchFamily="34" charset="-120"/>
              </a:rPr>
              <a:t>Hip / seat</a:t>
            </a:r>
            <a:endParaRPr lang="en-US" sz="1400" dirty="0"/>
          </a:p>
        </p:txBody>
      </p:sp>
      <p:sp>
        <p:nvSpPr>
          <p:cNvPr id="25" name="Text 23"/>
          <p:cNvSpPr txBox="1"/>
          <p:nvPr/>
        </p:nvSpPr>
        <p:spPr>
          <a:xfrm>
            <a:off x="4507992" y="2596896"/>
            <a:ext cx="3108960" cy="201168"/>
          </a:xfrm>
          <a:prstGeom prst="rect">
            <a:avLst/>
          </a:prstGeom>
          <a:noFill/>
          <a:ln/>
        </p:spPr>
        <p:txBody>
          <a:bodyPr wrap="square" lIns="0" tIns="0" rIns="0" bIns="0" rtlCol="0" anchor="ctr"/>
          <a:lstStyle/>
          <a:p>
            <a:pPr indent="0" marL="0">
              <a:buNone/>
            </a:pPr>
            <a:r>
              <a:rPr lang="en-US" sz="1000" b="1" spc="110" kern="0" dirty="0">
                <a:solidFill>
                  <a:srgbClr val="E0A458"/>
                </a:solidFill>
                <a:latin typeface="Arial" pitchFamily="34" charset="0"/>
                <a:ea typeface="Arial" pitchFamily="34" charset="-122"/>
                <a:cs typeface="Arial" pitchFamily="34" charset="-120"/>
              </a:rPr>
              <a:t>slice around the body</a:t>
            </a:r>
            <a:endParaRPr lang="en-US" sz="1000" dirty="0"/>
          </a:p>
        </p:txBody>
      </p:sp>
      <p:sp>
        <p:nvSpPr>
          <p:cNvPr id="26" name="Text 24"/>
          <p:cNvSpPr txBox="1"/>
          <p:nvPr/>
        </p:nvSpPr>
        <p:spPr>
          <a:xfrm>
            <a:off x="4507992" y="2761488"/>
            <a:ext cx="3108960" cy="201168"/>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widest point across the seat</a:t>
            </a:r>
            <a:endParaRPr lang="en-US" sz="1000" dirty="0"/>
          </a:p>
        </p:txBody>
      </p:sp>
      <p:sp>
        <p:nvSpPr>
          <p:cNvPr id="27" name="Shape 25"/>
          <p:cNvSpPr/>
          <p:nvPr/>
        </p:nvSpPr>
        <p:spPr>
          <a:xfrm>
            <a:off x="8037576" y="1938528"/>
            <a:ext cx="3547872" cy="1060704"/>
          </a:xfrm>
          <a:prstGeom prst="roundRect">
            <a:avLst>
              <a:gd name="adj" fmla="val 5172"/>
            </a:avLst>
          </a:prstGeom>
          <a:solidFill>
            <a:srgbClr val="252943"/>
          </a:solidFill>
          <a:ln w="12700">
            <a:solidFill>
              <a:srgbClr val="252943"/>
            </a:solidFill>
            <a:prstDash val="solid"/>
          </a:ln>
        </p:spPr>
      </p:sp>
      <p:sp>
        <p:nvSpPr>
          <p:cNvPr id="28" name="Shape 26"/>
          <p:cNvSpPr/>
          <p:nvPr/>
        </p:nvSpPr>
        <p:spPr>
          <a:xfrm>
            <a:off x="8275320" y="2157984"/>
            <a:ext cx="0" cy="146304"/>
          </a:xfrm>
          <a:prstGeom prst="line">
            <a:avLst/>
          </a:prstGeom>
          <a:noFill/>
          <a:ln w="12700">
            <a:solidFill>
              <a:srgbClr val="E0A458"/>
            </a:solidFill>
            <a:prstDash val="solid"/>
          </a:ln>
        </p:spPr>
      </p:sp>
      <p:sp>
        <p:nvSpPr>
          <p:cNvPr id="29" name="Shape 27"/>
          <p:cNvSpPr/>
          <p:nvPr/>
        </p:nvSpPr>
        <p:spPr>
          <a:xfrm>
            <a:off x="8375904" y="2157984"/>
            <a:ext cx="0" cy="82296"/>
          </a:xfrm>
          <a:prstGeom prst="line">
            <a:avLst/>
          </a:prstGeom>
          <a:noFill/>
          <a:ln w="12700">
            <a:solidFill>
              <a:srgbClr val="6E7699"/>
            </a:solidFill>
            <a:prstDash val="solid"/>
          </a:ln>
        </p:spPr>
      </p:sp>
      <p:sp>
        <p:nvSpPr>
          <p:cNvPr id="30" name="Shape 28"/>
          <p:cNvSpPr/>
          <p:nvPr/>
        </p:nvSpPr>
        <p:spPr>
          <a:xfrm>
            <a:off x="8476488" y="2157984"/>
            <a:ext cx="0" cy="82296"/>
          </a:xfrm>
          <a:prstGeom prst="line">
            <a:avLst/>
          </a:prstGeom>
          <a:noFill/>
          <a:ln w="12700">
            <a:solidFill>
              <a:srgbClr val="6E7699"/>
            </a:solidFill>
            <a:prstDash val="solid"/>
          </a:ln>
        </p:spPr>
      </p:sp>
      <p:sp>
        <p:nvSpPr>
          <p:cNvPr id="31" name="Shape 29"/>
          <p:cNvSpPr/>
          <p:nvPr/>
        </p:nvSpPr>
        <p:spPr>
          <a:xfrm>
            <a:off x="8577072" y="2157984"/>
            <a:ext cx="0" cy="82296"/>
          </a:xfrm>
          <a:prstGeom prst="line">
            <a:avLst/>
          </a:prstGeom>
          <a:noFill/>
          <a:ln w="12700">
            <a:solidFill>
              <a:srgbClr val="6E7699"/>
            </a:solidFill>
            <a:prstDash val="solid"/>
          </a:ln>
        </p:spPr>
      </p:sp>
      <p:sp>
        <p:nvSpPr>
          <p:cNvPr id="32" name="Shape 30"/>
          <p:cNvSpPr/>
          <p:nvPr/>
        </p:nvSpPr>
        <p:spPr>
          <a:xfrm>
            <a:off x="8677656" y="2157984"/>
            <a:ext cx="0" cy="82296"/>
          </a:xfrm>
          <a:prstGeom prst="line">
            <a:avLst/>
          </a:prstGeom>
          <a:noFill/>
          <a:ln w="12700">
            <a:solidFill>
              <a:srgbClr val="6E7699"/>
            </a:solidFill>
            <a:prstDash val="solid"/>
          </a:ln>
        </p:spPr>
      </p:sp>
      <p:sp>
        <p:nvSpPr>
          <p:cNvPr id="33" name="Shape 31"/>
          <p:cNvSpPr/>
          <p:nvPr/>
        </p:nvSpPr>
        <p:spPr>
          <a:xfrm>
            <a:off x="8778240" y="2157984"/>
            <a:ext cx="0" cy="82296"/>
          </a:xfrm>
          <a:prstGeom prst="line">
            <a:avLst/>
          </a:prstGeom>
          <a:noFill/>
          <a:ln w="12700">
            <a:solidFill>
              <a:srgbClr val="6E7699"/>
            </a:solidFill>
            <a:prstDash val="solid"/>
          </a:ln>
        </p:spPr>
      </p:sp>
      <p:sp>
        <p:nvSpPr>
          <p:cNvPr id="34" name="Shape 32"/>
          <p:cNvSpPr/>
          <p:nvPr/>
        </p:nvSpPr>
        <p:spPr>
          <a:xfrm>
            <a:off x="8878824" y="2157984"/>
            <a:ext cx="0" cy="82296"/>
          </a:xfrm>
          <a:prstGeom prst="line">
            <a:avLst/>
          </a:prstGeom>
          <a:noFill/>
          <a:ln w="12700">
            <a:solidFill>
              <a:srgbClr val="6E7699"/>
            </a:solidFill>
            <a:prstDash val="solid"/>
          </a:ln>
        </p:spPr>
      </p:sp>
      <p:sp>
        <p:nvSpPr>
          <p:cNvPr id="35" name="Text 33"/>
          <p:cNvSpPr txBox="1"/>
          <p:nvPr/>
        </p:nvSpPr>
        <p:spPr>
          <a:xfrm>
            <a:off x="8275320" y="2340864"/>
            <a:ext cx="3108960" cy="274320"/>
          </a:xfrm>
          <a:prstGeom prst="rect">
            <a:avLst/>
          </a:prstGeom>
          <a:noFill/>
          <a:ln/>
        </p:spPr>
        <p:txBody>
          <a:bodyPr wrap="square" lIns="0" tIns="0" rIns="0" bIns="0" rtlCol="0" anchor="ctr"/>
          <a:lstStyle/>
          <a:p>
            <a:pPr indent="0" marL="0">
              <a:buNone/>
            </a:pPr>
            <a:r>
              <a:rPr lang="en-US" sz="1400" b="1" dirty="0">
                <a:solidFill>
                  <a:srgbClr val="F2F3F8"/>
                </a:solidFill>
                <a:latin typeface="Arial" pitchFamily="34" charset="0"/>
                <a:ea typeface="Arial" pitchFamily="34" charset="-122"/>
                <a:cs typeface="Arial" pitchFamily="34" charset="-120"/>
              </a:rPr>
              <a:t>Thigh</a:t>
            </a:r>
            <a:endParaRPr lang="en-US" sz="1400" dirty="0"/>
          </a:p>
        </p:txBody>
      </p:sp>
      <p:sp>
        <p:nvSpPr>
          <p:cNvPr id="36" name="Text 34"/>
          <p:cNvSpPr txBox="1"/>
          <p:nvPr/>
        </p:nvSpPr>
        <p:spPr>
          <a:xfrm>
            <a:off x="8275320" y="2596896"/>
            <a:ext cx="3108960" cy="201168"/>
          </a:xfrm>
          <a:prstGeom prst="rect">
            <a:avLst/>
          </a:prstGeom>
          <a:noFill/>
          <a:ln/>
        </p:spPr>
        <p:txBody>
          <a:bodyPr wrap="square" lIns="0" tIns="0" rIns="0" bIns="0" rtlCol="0" anchor="ctr"/>
          <a:lstStyle/>
          <a:p>
            <a:pPr indent="0" marL="0">
              <a:buNone/>
            </a:pPr>
            <a:r>
              <a:rPr lang="en-US" sz="1000" b="1" spc="110" kern="0" dirty="0">
                <a:solidFill>
                  <a:srgbClr val="E0A458"/>
                </a:solidFill>
                <a:latin typeface="Arial" pitchFamily="34" charset="0"/>
                <a:ea typeface="Arial" pitchFamily="34" charset="-122"/>
                <a:cs typeface="Arial" pitchFamily="34" charset="-120"/>
              </a:rPr>
              <a:t>slice around the leg</a:t>
            </a:r>
            <a:endParaRPr lang="en-US" sz="1000" dirty="0"/>
          </a:p>
        </p:txBody>
      </p:sp>
      <p:sp>
        <p:nvSpPr>
          <p:cNvPr id="37" name="Text 35"/>
          <p:cNvSpPr txBox="1"/>
          <p:nvPr/>
        </p:nvSpPr>
        <p:spPr>
          <a:xfrm>
            <a:off x="8275320" y="2761488"/>
            <a:ext cx="3108960" cy="201168"/>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just below the crotch</a:t>
            </a:r>
            <a:endParaRPr lang="en-US" sz="1000" dirty="0"/>
          </a:p>
        </p:txBody>
      </p:sp>
      <p:sp>
        <p:nvSpPr>
          <p:cNvPr id="38" name="Shape 36"/>
          <p:cNvSpPr/>
          <p:nvPr/>
        </p:nvSpPr>
        <p:spPr>
          <a:xfrm>
            <a:off x="502920" y="3163824"/>
            <a:ext cx="3547872" cy="1060704"/>
          </a:xfrm>
          <a:prstGeom prst="roundRect">
            <a:avLst>
              <a:gd name="adj" fmla="val 5172"/>
            </a:avLst>
          </a:prstGeom>
          <a:solidFill>
            <a:srgbClr val="252943"/>
          </a:solidFill>
          <a:ln w="12700">
            <a:solidFill>
              <a:srgbClr val="252943"/>
            </a:solidFill>
            <a:prstDash val="solid"/>
          </a:ln>
        </p:spPr>
      </p:sp>
      <p:sp>
        <p:nvSpPr>
          <p:cNvPr id="39" name="Shape 37"/>
          <p:cNvSpPr/>
          <p:nvPr/>
        </p:nvSpPr>
        <p:spPr>
          <a:xfrm>
            <a:off x="740664" y="3383280"/>
            <a:ext cx="0" cy="146304"/>
          </a:xfrm>
          <a:prstGeom prst="line">
            <a:avLst/>
          </a:prstGeom>
          <a:noFill/>
          <a:ln w="12700">
            <a:solidFill>
              <a:srgbClr val="E0A458"/>
            </a:solidFill>
            <a:prstDash val="solid"/>
          </a:ln>
        </p:spPr>
      </p:sp>
      <p:sp>
        <p:nvSpPr>
          <p:cNvPr id="40" name="Shape 38"/>
          <p:cNvSpPr/>
          <p:nvPr/>
        </p:nvSpPr>
        <p:spPr>
          <a:xfrm>
            <a:off x="841248" y="3383280"/>
            <a:ext cx="0" cy="82296"/>
          </a:xfrm>
          <a:prstGeom prst="line">
            <a:avLst/>
          </a:prstGeom>
          <a:noFill/>
          <a:ln w="12700">
            <a:solidFill>
              <a:srgbClr val="6E7699"/>
            </a:solidFill>
            <a:prstDash val="solid"/>
          </a:ln>
        </p:spPr>
      </p:sp>
      <p:sp>
        <p:nvSpPr>
          <p:cNvPr id="41" name="Shape 39"/>
          <p:cNvSpPr/>
          <p:nvPr/>
        </p:nvSpPr>
        <p:spPr>
          <a:xfrm>
            <a:off x="941832" y="3383280"/>
            <a:ext cx="0" cy="82296"/>
          </a:xfrm>
          <a:prstGeom prst="line">
            <a:avLst/>
          </a:prstGeom>
          <a:noFill/>
          <a:ln w="12700">
            <a:solidFill>
              <a:srgbClr val="6E7699"/>
            </a:solidFill>
            <a:prstDash val="solid"/>
          </a:ln>
        </p:spPr>
      </p:sp>
      <p:sp>
        <p:nvSpPr>
          <p:cNvPr id="42" name="Shape 40"/>
          <p:cNvSpPr/>
          <p:nvPr/>
        </p:nvSpPr>
        <p:spPr>
          <a:xfrm>
            <a:off x="1042416" y="3383280"/>
            <a:ext cx="0" cy="82296"/>
          </a:xfrm>
          <a:prstGeom prst="line">
            <a:avLst/>
          </a:prstGeom>
          <a:noFill/>
          <a:ln w="12700">
            <a:solidFill>
              <a:srgbClr val="6E7699"/>
            </a:solidFill>
            <a:prstDash val="solid"/>
          </a:ln>
        </p:spPr>
      </p:sp>
      <p:sp>
        <p:nvSpPr>
          <p:cNvPr id="43" name="Shape 41"/>
          <p:cNvSpPr/>
          <p:nvPr/>
        </p:nvSpPr>
        <p:spPr>
          <a:xfrm>
            <a:off x="1143000" y="3383280"/>
            <a:ext cx="0" cy="82296"/>
          </a:xfrm>
          <a:prstGeom prst="line">
            <a:avLst/>
          </a:prstGeom>
          <a:noFill/>
          <a:ln w="12700">
            <a:solidFill>
              <a:srgbClr val="6E7699"/>
            </a:solidFill>
            <a:prstDash val="solid"/>
          </a:ln>
        </p:spPr>
      </p:sp>
      <p:sp>
        <p:nvSpPr>
          <p:cNvPr id="44" name="Shape 42"/>
          <p:cNvSpPr/>
          <p:nvPr/>
        </p:nvSpPr>
        <p:spPr>
          <a:xfrm>
            <a:off x="1243584" y="3383280"/>
            <a:ext cx="0" cy="82296"/>
          </a:xfrm>
          <a:prstGeom prst="line">
            <a:avLst/>
          </a:prstGeom>
          <a:noFill/>
          <a:ln w="12700">
            <a:solidFill>
              <a:srgbClr val="6E7699"/>
            </a:solidFill>
            <a:prstDash val="solid"/>
          </a:ln>
        </p:spPr>
      </p:sp>
      <p:sp>
        <p:nvSpPr>
          <p:cNvPr id="45" name="Shape 43"/>
          <p:cNvSpPr/>
          <p:nvPr/>
        </p:nvSpPr>
        <p:spPr>
          <a:xfrm>
            <a:off x="1344168" y="3383280"/>
            <a:ext cx="0" cy="82296"/>
          </a:xfrm>
          <a:prstGeom prst="line">
            <a:avLst/>
          </a:prstGeom>
          <a:noFill/>
          <a:ln w="12700">
            <a:solidFill>
              <a:srgbClr val="6E7699"/>
            </a:solidFill>
            <a:prstDash val="solid"/>
          </a:ln>
        </p:spPr>
      </p:sp>
      <p:sp>
        <p:nvSpPr>
          <p:cNvPr id="46" name="Text 44"/>
          <p:cNvSpPr txBox="1"/>
          <p:nvPr/>
        </p:nvSpPr>
        <p:spPr>
          <a:xfrm>
            <a:off x="740664" y="3566160"/>
            <a:ext cx="3108960" cy="274320"/>
          </a:xfrm>
          <a:prstGeom prst="rect">
            <a:avLst/>
          </a:prstGeom>
          <a:noFill/>
          <a:ln/>
        </p:spPr>
        <p:txBody>
          <a:bodyPr wrap="square" lIns="0" tIns="0" rIns="0" bIns="0" rtlCol="0" anchor="ctr"/>
          <a:lstStyle/>
          <a:p>
            <a:pPr indent="0" marL="0">
              <a:buNone/>
            </a:pPr>
            <a:r>
              <a:rPr lang="en-US" sz="1400" b="1" dirty="0">
                <a:solidFill>
                  <a:srgbClr val="F2F3F8"/>
                </a:solidFill>
                <a:latin typeface="Arial" pitchFamily="34" charset="0"/>
                <a:ea typeface="Arial" pitchFamily="34" charset="-122"/>
                <a:cs typeface="Arial" pitchFamily="34" charset="-120"/>
              </a:rPr>
              <a:t>Knee</a:t>
            </a:r>
            <a:endParaRPr lang="en-US" sz="1400" dirty="0"/>
          </a:p>
        </p:txBody>
      </p:sp>
      <p:sp>
        <p:nvSpPr>
          <p:cNvPr id="47" name="Text 45"/>
          <p:cNvSpPr txBox="1"/>
          <p:nvPr/>
        </p:nvSpPr>
        <p:spPr>
          <a:xfrm>
            <a:off x="740664" y="3822192"/>
            <a:ext cx="3108960" cy="201168"/>
          </a:xfrm>
          <a:prstGeom prst="rect">
            <a:avLst/>
          </a:prstGeom>
          <a:noFill/>
          <a:ln/>
        </p:spPr>
        <p:txBody>
          <a:bodyPr wrap="square" lIns="0" tIns="0" rIns="0" bIns="0" rtlCol="0" anchor="ctr"/>
          <a:lstStyle/>
          <a:p>
            <a:pPr indent="0" marL="0">
              <a:buNone/>
            </a:pPr>
            <a:r>
              <a:rPr lang="en-US" sz="1000" b="1" spc="110" kern="0" dirty="0">
                <a:solidFill>
                  <a:srgbClr val="E0A458"/>
                </a:solidFill>
                <a:latin typeface="Arial" pitchFamily="34" charset="0"/>
                <a:ea typeface="Arial" pitchFamily="34" charset="-122"/>
                <a:cs typeface="Arial" pitchFamily="34" charset="-120"/>
              </a:rPr>
              <a:t>slice around the leg</a:t>
            </a:r>
            <a:endParaRPr lang="en-US" sz="1000" dirty="0"/>
          </a:p>
        </p:txBody>
      </p:sp>
      <p:sp>
        <p:nvSpPr>
          <p:cNvPr id="48" name="Text 46"/>
          <p:cNvSpPr txBox="1"/>
          <p:nvPr/>
        </p:nvSpPr>
        <p:spPr>
          <a:xfrm>
            <a:off x="740664" y="3986784"/>
            <a:ext cx="3108960" cy="201168"/>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at the kneecap</a:t>
            </a:r>
            <a:endParaRPr lang="en-US" sz="1000" dirty="0"/>
          </a:p>
        </p:txBody>
      </p:sp>
      <p:sp>
        <p:nvSpPr>
          <p:cNvPr id="49" name="Shape 47"/>
          <p:cNvSpPr/>
          <p:nvPr/>
        </p:nvSpPr>
        <p:spPr>
          <a:xfrm>
            <a:off x="4270248" y="3163824"/>
            <a:ext cx="3547872" cy="1060704"/>
          </a:xfrm>
          <a:prstGeom prst="roundRect">
            <a:avLst>
              <a:gd name="adj" fmla="val 5172"/>
            </a:avLst>
          </a:prstGeom>
          <a:solidFill>
            <a:srgbClr val="252943"/>
          </a:solidFill>
          <a:ln w="12700">
            <a:solidFill>
              <a:srgbClr val="252943"/>
            </a:solidFill>
            <a:prstDash val="solid"/>
          </a:ln>
        </p:spPr>
      </p:sp>
      <p:sp>
        <p:nvSpPr>
          <p:cNvPr id="50" name="Shape 48"/>
          <p:cNvSpPr/>
          <p:nvPr/>
        </p:nvSpPr>
        <p:spPr>
          <a:xfrm>
            <a:off x="4507992" y="3383280"/>
            <a:ext cx="0" cy="146304"/>
          </a:xfrm>
          <a:prstGeom prst="line">
            <a:avLst/>
          </a:prstGeom>
          <a:noFill/>
          <a:ln w="12700">
            <a:solidFill>
              <a:srgbClr val="E0A458"/>
            </a:solidFill>
            <a:prstDash val="solid"/>
          </a:ln>
        </p:spPr>
      </p:sp>
      <p:sp>
        <p:nvSpPr>
          <p:cNvPr id="51" name="Shape 49"/>
          <p:cNvSpPr/>
          <p:nvPr/>
        </p:nvSpPr>
        <p:spPr>
          <a:xfrm>
            <a:off x="4608576" y="3383280"/>
            <a:ext cx="0" cy="82296"/>
          </a:xfrm>
          <a:prstGeom prst="line">
            <a:avLst/>
          </a:prstGeom>
          <a:noFill/>
          <a:ln w="12700">
            <a:solidFill>
              <a:srgbClr val="6E7699"/>
            </a:solidFill>
            <a:prstDash val="solid"/>
          </a:ln>
        </p:spPr>
      </p:sp>
      <p:sp>
        <p:nvSpPr>
          <p:cNvPr id="52" name="Shape 50"/>
          <p:cNvSpPr/>
          <p:nvPr/>
        </p:nvSpPr>
        <p:spPr>
          <a:xfrm>
            <a:off x="4709160" y="3383280"/>
            <a:ext cx="0" cy="82296"/>
          </a:xfrm>
          <a:prstGeom prst="line">
            <a:avLst/>
          </a:prstGeom>
          <a:noFill/>
          <a:ln w="12700">
            <a:solidFill>
              <a:srgbClr val="6E7699"/>
            </a:solidFill>
            <a:prstDash val="solid"/>
          </a:ln>
        </p:spPr>
      </p:sp>
      <p:sp>
        <p:nvSpPr>
          <p:cNvPr id="53" name="Shape 51"/>
          <p:cNvSpPr/>
          <p:nvPr/>
        </p:nvSpPr>
        <p:spPr>
          <a:xfrm>
            <a:off x="4809744" y="3383280"/>
            <a:ext cx="0" cy="82296"/>
          </a:xfrm>
          <a:prstGeom prst="line">
            <a:avLst/>
          </a:prstGeom>
          <a:noFill/>
          <a:ln w="12700">
            <a:solidFill>
              <a:srgbClr val="6E7699"/>
            </a:solidFill>
            <a:prstDash val="solid"/>
          </a:ln>
        </p:spPr>
      </p:sp>
      <p:sp>
        <p:nvSpPr>
          <p:cNvPr id="54" name="Shape 52"/>
          <p:cNvSpPr/>
          <p:nvPr/>
        </p:nvSpPr>
        <p:spPr>
          <a:xfrm>
            <a:off x="4910328" y="3383280"/>
            <a:ext cx="0" cy="82296"/>
          </a:xfrm>
          <a:prstGeom prst="line">
            <a:avLst/>
          </a:prstGeom>
          <a:noFill/>
          <a:ln w="12700">
            <a:solidFill>
              <a:srgbClr val="6E7699"/>
            </a:solidFill>
            <a:prstDash val="solid"/>
          </a:ln>
        </p:spPr>
      </p:sp>
      <p:sp>
        <p:nvSpPr>
          <p:cNvPr id="55" name="Shape 53"/>
          <p:cNvSpPr/>
          <p:nvPr/>
        </p:nvSpPr>
        <p:spPr>
          <a:xfrm>
            <a:off x="5010912" y="3383280"/>
            <a:ext cx="0" cy="82296"/>
          </a:xfrm>
          <a:prstGeom prst="line">
            <a:avLst/>
          </a:prstGeom>
          <a:noFill/>
          <a:ln w="12700">
            <a:solidFill>
              <a:srgbClr val="6E7699"/>
            </a:solidFill>
            <a:prstDash val="solid"/>
          </a:ln>
        </p:spPr>
      </p:sp>
      <p:sp>
        <p:nvSpPr>
          <p:cNvPr id="56" name="Shape 54"/>
          <p:cNvSpPr/>
          <p:nvPr/>
        </p:nvSpPr>
        <p:spPr>
          <a:xfrm>
            <a:off x="5111496" y="3383280"/>
            <a:ext cx="0" cy="82296"/>
          </a:xfrm>
          <a:prstGeom prst="line">
            <a:avLst/>
          </a:prstGeom>
          <a:noFill/>
          <a:ln w="12700">
            <a:solidFill>
              <a:srgbClr val="6E7699"/>
            </a:solidFill>
            <a:prstDash val="solid"/>
          </a:ln>
        </p:spPr>
      </p:sp>
      <p:sp>
        <p:nvSpPr>
          <p:cNvPr id="57" name="Text 55"/>
          <p:cNvSpPr txBox="1"/>
          <p:nvPr/>
        </p:nvSpPr>
        <p:spPr>
          <a:xfrm>
            <a:off x="4507992" y="3566160"/>
            <a:ext cx="3108960" cy="274320"/>
          </a:xfrm>
          <a:prstGeom prst="rect">
            <a:avLst/>
          </a:prstGeom>
          <a:noFill/>
          <a:ln/>
        </p:spPr>
        <p:txBody>
          <a:bodyPr wrap="square" lIns="0" tIns="0" rIns="0" bIns="0" rtlCol="0" anchor="ctr"/>
          <a:lstStyle/>
          <a:p>
            <a:pPr indent="0" marL="0">
              <a:buNone/>
            </a:pPr>
            <a:r>
              <a:rPr lang="en-US" sz="1400" b="1" dirty="0">
                <a:solidFill>
                  <a:srgbClr val="F2F3F8"/>
                </a:solidFill>
                <a:latin typeface="Arial" pitchFamily="34" charset="0"/>
                <a:ea typeface="Arial" pitchFamily="34" charset="-122"/>
                <a:cs typeface="Arial" pitchFamily="34" charset="-120"/>
              </a:rPr>
              <a:t>Calf</a:t>
            </a:r>
            <a:endParaRPr lang="en-US" sz="1400" dirty="0"/>
          </a:p>
        </p:txBody>
      </p:sp>
      <p:sp>
        <p:nvSpPr>
          <p:cNvPr id="58" name="Text 56"/>
          <p:cNvSpPr txBox="1"/>
          <p:nvPr/>
        </p:nvSpPr>
        <p:spPr>
          <a:xfrm>
            <a:off x="4507992" y="3822192"/>
            <a:ext cx="3108960" cy="201168"/>
          </a:xfrm>
          <a:prstGeom prst="rect">
            <a:avLst/>
          </a:prstGeom>
          <a:noFill/>
          <a:ln/>
        </p:spPr>
        <p:txBody>
          <a:bodyPr wrap="square" lIns="0" tIns="0" rIns="0" bIns="0" rtlCol="0" anchor="ctr"/>
          <a:lstStyle/>
          <a:p>
            <a:pPr indent="0" marL="0">
              <a:buNone/>
            </a:pPr>
            <a:r>
              <a:rPr lang="en-US" sz="1000" b="1" spc="110" kern="0" dirty="0">
                <a:solidFill>
                  <a:srgbClr val="E0A458"/>
                </a:solidFill>
                <a:latin typeface="Arial" pitchFamily="34" charset="0"/>
                <a:ea typeface="Arial" pitchFamily="34" charset="-122"/>
                <a:cs typeface="Arial" pitchFamily="34" charset="-120"/>
              </a:rPr>
              <a:t>slice around the leg</a:t>
            </a:r>
            <a:endParaRPr lang="en-US" sz="1000" dirty="0"/>
          </a:p>
        </p:txBody>
      </p:sp>
      <p:sp>
        <p:nvSpPr>
          <p:cNvPr id="59" name="Text 57"/>
          <p:cNvSpPr txBox="1"/>
          <p:nvPr/>
        </p:nvSpPr>
        <p:spPr>
          <a:xfrm>
            <a:off x="4507992" y="3986784"/>
            <a:ext cx="3108960" cy="201168"/>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widest point below the knee</a:t>
            </a:r>
            <a:endParaRPr lang="en-US" sz="1000" dirty="0"/>
          </a:p>
        </p:txBody>
      </p:sp>
      <p:sp>
        <p:nvSpPr>
          <p:cNvPr id="60" name="Shape 58"/>
          <p:cNvSpPr/>
          <p:nvPr/>
        </p:nvSpPr>
        <p:spPr>
          <a:xfrm>
            <a:off x="8037576" y="3163824"/>
            <a:ext cx="3547872" cy="1060704"/>
          </a:xfrm>
          <a:prstGeom prst="roundRect">
            <a:avLst>
              <a:gd name="adj" fmla="val 5172"/>
            </a:avLst>
          </a:prstGeom>
          <a:solidFill>
            <a:srgbClr val="252943"/>
          </a:solidFill>
          <a:ln w="12700">
            <a:solidFill>
              <a:srgbClr val="252943"/>
            </a:solidFill>
            <a:prstDash val="solid"/>
          </a:ln>
        </p:spPr>
      </p:sp>
      <p:sp>
        <p:nvSpPr>
          <p:cNvPr id="61" name="Shape 59"/>
          <p:cNvSpPr/>
          <p:nvPr/>
        </p:nvSpPr>
        <p:spPr>
          <a:xfrm>
            <a:off x="8275320" y="3383280"/>
            <a:ext cx="0" cy="146304"/>
          </a:xfrm>
          <a:prstGeom prst="line">
            <a:avLst/>
          </a:prstGeom>
          <a:noFill/>
          <a:ln w="12700">
            <a:solidFill>
              <a:srgbClr val="E0A458"/>
            </a:solidFill>
            <a:prstDash val="solid"/>
          </a:ln>
        </p:spPr>
      </p:sp>
      <p:sp>
        <p:nvSpPr>
          <p:cNvPr id="62" name="Shape 60"/>
          <p:cNvSpPr/>
          <p:nvPr/>
        </p:nvSpPr>
        <p:spPr>
          <a:xfrm>
            <a:off x="8375904" y="3383280"/>
            <a:ext cx="0" cy="82296"/>
          </a:xfrm>
          <a:prstGeom prst="line">
            <a:avLst/>
          </a:prstGeom>
          <a:noFill/>
          <a:ln w="12700">
            <a:solidFill>
              <a:srgbClr val="6E7699"/>
            </a:solidFill>
            <a:prstDash val="solid"/>
          </a:ln>
        </p:spPr>
      </p:sp>
      <p:sp>
        <p:nvSpPr>
          <p:cNvPr id="63" name="Shape 61"/>
          <p:cNvSpPr/>
          <p:nvPr/>
        </p:nvSpPr>
        <p:spPr>
          <a:xfrm>
            <a:off x="8476488" y="3383280"/>
            <a:ext cx="0" cy="82296"/>
          </a:xfrm>
          <a:prstGeom prst="line">
            <a:avLst/>
          </a:prstGeom>
          <a:noFill/>
          <a:ln w="12700">
            <a:solidFill>
              <a:srgbClr val="6E7699"/>
            </a:solidFill>
            <a:prstDash val="solid"/>
          </a:ln>
        </p:spPr>
      </p:sp>
      <p:sp>
        <p:nvSpPr>
          <p:cNvPr id="64" name="Shape 62"/>
          <p:cNvSpPr/>
          <p:nvPr/>
        </p:nvSpPr>
        <p:spPr>
          <a:xfrm>
            <a:off x="8577072" y="3383280"/>
            <a:ext cx="0" cy="82296"/>
          </a:xfrm>
          <a:prstGeom prst="line">
            <a:avLst/>
          </a:prstGeom>
          <a:noFill/>
          <a:ln w="12700">
            <a:solidFill>
              <a:srgbClr val="6E7699"/>
            </a:solidFill>
            <a:prstDash val="solid"/>
          </a:ln>
        </p:spPr>
      </p:sp>
      <p:sp>
        <p:nvSpPr>
          <p:cNvPr id="65" name="Shape 63"/>
          <p:cNvSpPr/>
          <p:nvPr/>
        </p:nvSpPr>
        <p:spPr>
          <a:xfrm>
            <a:off x="8677656" y="3383280"/>
            <a:ext cx="0" cy="82296"/>
          </a:xfrm>
          <a:prstGeom prst="line">
            <a:avLst/>
          </a:prstGeom>
          <a:noFill/>
          <a:ln w="12700">
            <a:solidFill>
              <a:srgbClr val="6E7699"/>
            </a:solidFill>
            <a:prstDash val="solid"/>
          </a:ln>
        </p:spPr>
      </p:sp>
      <p:sp>
        <p:nvSpPr>
          <p:cNvPr id="66" name="Shape 64"/>
          <p:cNvSpPr/>
          <p:nvPr/>
        </p:nvSpPr>
        <p:spPr>
          <a:xfrm>
            <a:off x="8778240" y="3383280"/>
            <a:ext cx="0" cy="82296"/>
          </a:xfrm>
          <a:prstGeom prst="line">
            <a:avLst/>
          </a:prstGeom>
          <a:noFill/>
          <a:ln w="12700">
            <a:solidFill>
              <a:srgbClr val="6E7699"/>
            </a:solidFill>
            <a:prstDash val="solid"/>
          </a:ln>
        </p:spPr>
      </p:sp>
      <p:sp>
        <p:nvSpPr>
          <p:cNvPr id="67" name="Shape 65"/>
          <p:cNvSpPr/>
          <p:nvPr/>
        </p:nvSpPr>
        <p:spPr>
          <a:xfrm>
            <a:off x="8878824" y="3383280"/>
            <a:ext cx="0" cy="82296"/>
          </a:xfrm>
          <a:prstGeom prst="line">
            <a:avLst/>
          </a:prstGeom>
          <a:noFill/>
          <a:ln w="12700">
            <a:solidFill>
              <a:srgbClr val="6E7699"/>
            </a:solidFill>
            <a:prstDash val="solid"/>
          </a:ln>
        </p:spPr>
      </p:sp>
      <p:sp>
        <p:nvSpPr>
          <p:cNvPr id="68" name="Text 66"/>
          <p:cNvSpPr txBox="1"/>
          <p:nvPr/>
        </p:nvSpPr>
        <p:spPr>
          <a:xfrm>
            <a:off x="8275320" y="3566160"/>
            <a:ext cx="3108960" cy="274320"/>
          </a:xfrm>
          <a:prstGeom prst="rect">
            <a:avLst/>
          </a:prstGeom>
          <a:noFill/>
          <a:ln/>
        </p:spPr>
        <p:txBody>
          <a:bodyPr wrap="square" lIns="0" tIns="0" rIns="0" bIns="0" rtlCol="0" anchor="ctr"/>
          <a:lstStyle/>
          <a:p>
            <a:pPr indent="0" marL="0">
              <a:buNone/>
            </a:pPr>
            <a:r>
              <a:rPr lang="en-US" sz="1400" b="1" dirty="0">
                <a:solidFill>
                  <a:srgbClr val="F2F3F8"/>
                </a:solidFill>
                <a:latin typeface="Arial" pitchFamily="34" charset="0"/>
                <a:ea typeface="Arial" pitchFamily="34" charset="-122"/>
                <a:cs typeface="Arial" pitchFamily="34" charset="-120"/>
              </a:rPr>
              <a:t>Ankle</a:t>
            </a:r>
            <a:endParaRPr lang="en-US" sz="1400" dirty="0"/>
          </a:p>
        </p:txBody>
      </p:sp>
      <p:sp>
        <p:nvSpPr>
          <p:cNvPr id="69" name="Text 67"/>
          <p:cNvSpPr txBox="1"/>
          <p:nvPr/>
        </p:nvSpPr>
        <p:spPr>
          <a:xfrm>
            <a:off x="8275320" y="3822192"/>
            <a:ext cx="3108960" cy="201168"/>
          </a:xfrm>
          <a:prstGeom prst="rect">
            <a:avLst/>
          </a:prstGeom>
          <a:noFill/>
          <a:ln/>
        </p:spPr>
        <p:txBody>
          <a:bodyPr wrap="square" lIns="0" tIns="0" rIns="0" bIns="0" rtlCol="0" anchor="ctr"/>
          <a:lstStyle/>
          <a:p>
            <a:pPr indent="0" marL="0">
              <a:buNone/>
            </a:pPr>
            <a:r>
              <a:rPr lang="en-US" sz="1000" b="1" spc="110" kern="0" dirty="0">
                <a:solidFill>
                  <a:srgbClr val="E0A458"/>
                </a:solidFill>
                <a:latin typeface="Arial" pitchFamily="34" charset="0"/>
                <a:ea typeface="Arial" pitchFamily="34" charset="-122"/>
                <a:cs typeface="Arial" pitchFamily="34" charset="-120"/>
              </a:rPr>
              <a:t>slice around the leg</a:t>
            </a:r>
            <a:endParaRPr lang="en-US" sz="1000" dirty="0"/>
          </a:p>
        </p:txBody>
      </p:sp>
      <p:sp>
        <p:nvSpPr>
          <p:cNvPr id="70" name="Text 68"/>
          <p:cNvSpPr txBox="1"/>
          <p:nvPr/>
        </p:nvSpPr>
        <p:spPr>
          <a:xfrm>
            <a:off x="8275320" y="3986784"/>
            <a:ext cx="3108960" cy="201168"/>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narrowest point above the foot</a:t>
            </a:r>
            <a:endParaRPr lang="en-US" sz="1000" dirty="0"/>
          </a:p>
        </p:txBody>
      </p:sp>
      <p:sp>
        <p:nvSpPr>
          <p:cNvPr id="71" name="Shape 69"/>
          <p:cNvSpPr/>
          <p:nvPr/>
        </p:nvSpPr>
        <p:spPr>
          <a:xfrm>
            <a:off x="502920" y="4389120"/>
            <a:ext cx="3547872" cy="1060704"/>
          </a:xfrm>
          <a:prstGeom prst="roundRect">
            <a:avLst>
              <a:gd name="adj" fmla="val 5172"/>
            </a:avLst>
          </a:prstGeom>
          <a:solidFill>
            <a:srgbClr val="252943"/>
          </a:solidFill>
          <a:ln w="12700">
            <a:solidFill>
              <a:srgbClr val="252943"/>
            </a:solidFill>
            <a:prstDash val="solid"/>
          </a:ln>
        </p:spPr>
      </p:sp>
      <p:sp>
        <p:nvSpPr>
          <p:cNvPr id="72" name="Shape 70"/>
          <p:cNvSpPr/>
          <p:nvPr/>
        </p:nvSpPr>
        <p:spPr>
          <a:xfrm>
            <a:off x="740664" y="4608576"/>
            <a:ext cx="0" cy="146304"/>
          </a:xfrm>
          <a:prstGeom prst="line">
            <a:avLst/>
          </a:prstGeom>
          <a:noFill/>
          <a:ln w="12700">
            <a:solidFill>
              <a:srgbClr val="E0A458"/>
            </a:solidFill>
            <a:prstDash val="solid"/>
          </a:ln>
        </p:spPr>
      </p:sp>
      <p:sp>
        <p:nvSpPr>
          <p:cNvPr id="73" name="Shape 71"/>
          <p:cNvSpPr/>
          <p:nvPr/>
        </p:nvSpPr>
        <p:spPr>
          <a:xfrm>
            <a:off x="841248" y="4608576"/>
            <a:ext cx="0" cy="82296"/>
          </a:xfrm>
          <a:prstGeom prst="line">
            <a:avLst/>
          </a:prstGeom>
          <a:noFill/>
          <a:ln w="12700">
            <a:solidFill>
              <a:srgbClr val="6E7699"/>
            </a:solidFill>
            <a:prstDash val="solid"/>
          </a:ln>
        </p:spPr>
      </p:sp>
      <p:sp>
        <p:nvSpPr>
          <p:cNvPr id="74" name="Shape 72"/>
          <p:cNvSpPr/>
          <p:nvPr/>
        </p:nvSpPr>
        <p:spPr>
          <a:xfrm>
            <a:off x="941832" y="4608576"/>
            <a:ext cx="0" cy="82296"/>
          </a:xfrm>
          <a:prstGeom prst="line">
            <a:avLst/>
          </a:prstGeom>
          <a:noFill/>
          <a:ln w="12700">
            <a:solidFill>
              <a:srgbClr val="6E7699"/>
            </a:solidFill>
            <a:prstDash val="solid"/>
          </a:ln>
        </p:spPr>
      </p:sp>
      <p:sp>
        <p:nvSpPr>
          <p:cNvPr id="75" name="Shape 73"/>
          <p:cNvSpPr/>
          <p:nvPr/>
        </p:nvSpPr>
        <p:spPr>
          <a:xfrm>
            <a:off x="1042416" y="4608576"/>
            <a:ext cx="0" cy="82296"/>
          </a:xfrm>
          <a:prstGeom prst="line">
            <a:avLst/>
          </a:prstGeom>
          <a:noFill/>
          <a:ln w="12700">
            <a:solidFill>
              <a:srgbClr val="6E7699"/>
            </a:solidFill>
            <a:prstDash val="solid"/>
          </a:ln>
        </p:spPr>
      </p:sp>
      <p:sp>
        <p:nvSpPr>
          <p:cNvPr id="76" name="Shape 74"/>
          <p:cNvSpPr/>
          <p:nvPr/>
        </p:nvSpPr>
        <p:spPr>
          <a:xfrm>
            <a:off x="1143000" y="4608576"/>
            <a:ext cx="0" cy="82296"/>
          </a:xfrm>
          <a:prstGeom prst="line">
            <a:avLst/>
          </a:prstGeom>
          <a:noFill/>
          <a:ln w="12700">
            <a:solidFill>
              <a:srgbClr val="6E7699"/>
            </a:solidFill>
            <a:prstDash val="solid"/>
          </a:ln>
        </p:spPr>
      </p:sp>
      <p:sp>
        <p:nvSpPr>
          <p:cNvPr id="77" name="Shape 75"/>
          <p:cNvSpPr/>
          <p:nvPr/>
        </p:nvSpPr>
        <p:spPr>
          <a:xfrm>
            <a:off x="1243584" y="4608576"/>
            <a:ext cx="0" cy="82296"/>
          </a:xfrm>
          <a:prstGeom prst="line">
            <a:avLst/>
          </a:prstGeom>
          <a:noFill/>
          <a:ln w="12700">
            <a:solidFill>
              <a:srgbClr val="6E7699"/>
            </a:solidFill>
            <a:prstDash val="solid"/>
          </a:ln>
        </p:spPr>
      </p:sp>
      <p:sp>
        <p:nvSpPr>
          <p:cNvPr id="78" name="Shape 76"/>
          <p:cNvSpPr/>
          <p:nvPr/>
        </p:nvSpPr>
        <p:spPr>
          <a:xfrm>
            <a:off x="1344168" y="4608576"/>
            <a:ext cx="0" cy="82296"/>
          </a:xfrm>
          <a:prstGeom prst="line">
            <a:avLst/>
          </a:prstGeom>
          <a:noFill/>
          <a:ln w="12700">
            <a:solidFill>
              <a:srgbClr val="6E7699"/>
            </a:solidFill>
            <a:prstDash val="solid"/>
          </a:ln>
        </p:spPr>
      </p:sp>
      <p:sp>
        <p:nvSpPr>
          <p:cNvPr id="79" name="Text 77"/>
          <p:cNvSpPr txBox="1"/>
          <p:nvPr/>
        </p:nvSpPr>
        <p:spPr>
          <a:xfrm>
            <a:off x="740664" y="4791456"/>
            <a:ext cx="3108960" cy="274320"/>
          </a:xfrm>
          <a:prstGeom prst="rect">
            <a:avLst/>
          </a:prstGeom>
          <a:noFill/>
          <a:ln/>
        </p:spPr>
        <p:txBody>
          <a:bodyPr wrap="square" lIns="0" tIns="0" rIns="0" bIns="0" rtlCol="0" anchor="ctr"/>
          <a:lstStyle/>
          <a:p>
            <a:pPr indent="0" marL="0">
              <a:buNone/>
            </a:pPr>
            <a:r>
              <a:rPr lang="en-US" sz="1400" b="1" dirty="0">
                <a:solidFill>
                  <a:srgbClr val="F2F3F8"/>
                </a:solidFill>
                <a:latin typeface="Arial" pitchFamily="34" charset="0"/>
                <a:ea typeface="Arial" pitchFamily="34" charset="-122"/>
                <a:cs typeface="Arial" pitchFamily="34" charset="-120"/>
              </a:rPr>
              <a:t>Inseam</a:t>
            </a:r>
            <a:endParaRPr lang="en-US" sz="1400" dirty="0"/>
          </a:p>
        </p:txBody>
      </p:sp>
      <p:sp>
        <p:nvSpPr>
          <p:cNvPr id="80" name="Text 78"/>
          <p:cNvSpPr txBox="1"/>
          <p:nvPr/>
        </p:nvSpPr>
        <p:spPr>
          <a:xfrm>
            <a:off x="740664" y="5047488"/>
            <a:ext cx="3108960" cy="201168"/>
          </a:xfrm>
          <a:prstGeom prst="rect">
            <a:avLst/>
          </a:prstGeom>
          <a:noFill/>
          <a:ln/>
        </p:spPr>
        <p:txBody>
          <a:bodyPr wrap="square" lIns="0" tIns="0" rIns="0" bIns="0" rtlCol="0" anchor="ctr"/>
          <a:lstStyle/>
          <a:p>
            <a:pPr indent="0" marL="0">
              <a:buNone/>
            </a:pPr>
            <a:r>
              <a:rPr lang="en-US" sz="1000" b="1" spc="110" kern="0" dirty="0">
                <a:solidFill>
                  <a:srgbClr val="E0A458"/>
                </a:solidFill>
                <a:latin typeface="Arial" pitchFamily="34" charset="0"/>
                <a:ea typeface="Arial" pitchFamily="34" charset="-122"/>
                <a:cs typeface="Arial" pitchFamily="34" charset="-120"/>
              </a:rPr>
              <a:t>along the body</a:t>
            </a:r>
            <a:endParaRPr lang="en-US" sz="1000" dirty="0"/>
          </a:p>
        </p:txBody>
      </p:sp>
      <p:sp>
        <p:nvSpPr>
          <p:cNvPr id="81" name="Text 79"/>
          <p:cNvSpPr txBox="1"/>
          <p:nvPr/>
        </p:nvSpPr>
        <p:spPr>
          <a:xfrm>
            <a:off x="740664" y="5212080"/>
            <a:ext cx="3108960" cy="201168"/>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crotch to inner ankle</a:t>
            </a:r>
            <a:endParaRPr lang="en-US" sz="1000" dirty="0"/>
          </a:p>
        </p:txBody>
      </p:sp>
      <p:sp>
        <p:nvSpPr>
          <p:cNvPr id="82" name="Shape 80"/>
          <p:cNvSpPr/>
          <p:nvPr/>
        </p:nvSpPr>
        <p:spPr>
          <a:xfrm>
            <a:off x="4270248" y="4389120"/>
            <a:ext cx="3547872" cy="1060704"/>
          </a:xfrm>
          <a:prstGeom prst="roundRect">
            <a:avLst>
              <a:gd name="adj" fmla="val 5172"/>
            </a:avLst>
          </a:prstGeom>
          <a:solidFill>
            <a:srgbClr val="252943"/>
          </a:solidFill>
          <a:ln w="12700">
            <a:solidFill>
              <a:srgbClr val="252943"/>
            </a:solidFill>
            <a:prstDash val="solid"/>
          </a:ln>
        </p:spPr>
      </p:sp>
      <p:sp>
        <p:nvSpPr>
          <p:cNvPr id="83" name="Shape 81"/>
          <p:cNvSpPr/>
          <p:nvPr/>
        </p:nvSpPr>
        <p:spPr>
          <a:xfrm>
            <a:off x="4507992" y="4608576"/>
            <a:ext cx="0" cy="146304"/>
          </a:xfrm>
          <a:prstGeom prst="line">
            <a:avLst/>
          </a:prstGeom>
          <a:noFill/>
          <a:ln w="12700">
            <a:solidFill>
              <a:srgbClr val="E0A458"/>
            </a:solidFill>
            <a:prstDash val="solid"/>
          </a:ln>
        </p:spPr>
      </p:sp>
      <p:sp>
        <p:nvSpPr>
          <p:cNvPr id="84" name="Shape 82"/>
          <p:cNvSpPr/>
          <p:nvPr/>
        </p:nvSpPr>
        <p:spPr>
          <a:xfrm>
            <a:off x="4608576" y="4608576"/>
            <a:ext cx="0" cy="82296"/>
          </a:xfrm>
          <a:prstGeom prst="line">
            <a:avLst/>
          </a:prstGeom>
          <a:noFill/>
          <a:ln w="12700">
            <a:solidFill>
              <a:srgbClr val="6E7699"/>
            </a:solidFill>
            <a:prstDash val="solid"/>
          </a:ln>
        </p:spPr>
      </p:sp>
      <p:sp>
        <p:nvSpPr>
          <p:cNvPr id="85" name="Shape 83"/>
          <p:cNvSpPr/>
          <p:nvPr/>
        </p:nvSpPr>
        <p:spPr>
          <a:xfrm>
            <a:off x="4709160" y="4608576"/>
            <a:ext cx="0" cy="82296"/>
          </a:xfrm>
          <a:prstGeom prst="line">
            <a:avLst/>
          </a:prstGeom>
          <a:noFill/>
          <a:ln w="12700">
            <a:solidFill>
              <a:srgbClr val="6E7699"/>
            </a:solidFill>
            <a:prstDash val="solid"/>
          </a:ln>
        </p:spPr>
      </p:sp>
      <p:sp>
        <p:nvSpPr>
          <p:cNvPr id="86" name="Shape 84"/>
          <p:cNvSpPr/>
          <p:nvPr/>
        </p:nvSpPr>
        <p:spPr>
          <a:xfrm>
            <a:off x="4809744" y="4608576"/>
            <a:ext cx="0" cy="82296"/>
          </a:xfrm>
          <a:prstGeom prst="line">
            <a:avLst/>
          </a:prstGeom>
          <a:noFill/>
          <a:ln w="12700">
            <a:solidFill>
              <a:srgbClr val="6E7699"/>
            </a:solidFill>
            <a:prstDash val="solid"/>
          </a:ln>
        </p:spPr>
      </p:sp>
      <p:sp>
        <p:nvSpPr>
          <p:cNvPr id="87" name="Shape 85"/>
          <p:cNvSpPr/>
          <p:nvPr/>
        </p:nvSpPr>
        <p:spPr>
          <a:xfrm>
            <a:off x="4910328" y="4608576"/>
            <a:ext cx="0" cy="82296"/>
          </a:xfrm>
          <a:prstGeom prst="line">
            <a:avLst/>
          </a:prstGeom>
          <a:noFill/>
          <a:ln w="12700">
            <a:solidFill>
              <a:srgbClr val="6E7699"/>
            </a:solidFill>
            <a:prstDash val="solid"/>
          </a:ln>
        </p:spPr>
      </p:sp>
      <p:sp>
        <p:nvSpPr>
          <p:cNvPr id="88" name="Shape 86"/>
          <p:cNvSpPr/>
          <p:nvPr/>
        </p:nvSpPr>
        <p:spPr>
          <a:xfrm>
            <a:off x="5010912" y="4608576"/>
            <a:ext cx="0" cy="82296"/>
          </a:xfrm>
          <a:prstGeom prst="line">
            <a:avLst/>
          </a:prstGeom>
          <a:noFill/>
          <a:ln w="12700">
            <a:solidFill>
              <a:srgbClr val="6E7699"/>
            </a:solidFill>
            <a:prstDash val="solid"/>
          </a:ln>
        </p:spPr>
      </p:sp>
      <p:sp>
        <p:nvSpPr>
          <p:cNvPr id="89" name="Shape 87"/>
          <p:cNvSpPr/>
          <p:nvPr/>
        </p:nvSpPr>
        <p:spPr>
          <a:xfrm>
            <a:off x="5111496" y="4608576"/>
            <a:ext cx="0" cy="82296"/>
          </a:xfrm>
          <a:prstGeom prst="line">
            <a:avLst/>
          </a:prstGeom>
          <a:noFill/>
          <a:ln w="12700">
            <a:solidFill>
              <a:srgbClr val="6E7699"/>
            </a:solidFill>
            <a:prstDash val="solid"/>
          </a:ln>
        </p:spPr>
      </p:sp>
      <p:sp>
        <p:nvSpPr>
          <p:cNvPr id="90" name="Text 88"/>
          <p:cNvSpPr txBox="1"/>
          <p:nvPr/>
        </p:nvSpPr>
        <p:spPr>
          <a:xfrm>
            <a:off x="4507992" y="4791456"/>
            <a:ext cx="3108960" cy="274320"/>
          </a:xfrm>
          <a:prstGeom prst="rect">
            <a:avLst/>
          </a:prstGeom>
          <a:noFill/>
          <a:ln/>
        </p:spPr>
        <p:txBody>
          <a:bodyPr wrap="square" lIns="0" tIns="0" rIns="0" bIns="0" rtlCol="0" anchor="ctr"/>
          <a:lstStyle/>
          <a:p>
            <a:pPr indent="0" marL="0">
              <a:buNone/>
            </a:pPr>
            <a:r>
              <a:rPr lang="en-US" sz="1400" b="1" dirty="0">
                <a:solidFill>
                  <a:srgbClr val="F2F3F8"/>
                </a:solidFill>
                <a:latin typeface="Arial" pitchFamily="34" charset="0"/>
                <a:ea typeface="Arial" pitchFamily="34" charset="-122"/>
                <a:cs typeface="Arial" pitchFamily="34" charset="-120"/>
              </a:rPr>
              <a:t>Outseam</a:t>
            </a:r>
            <a:endParaRPr lang="en-US" sz="1400" dirty="0"/>
          </a:p>
        </p:txBody>
      </p:sp>
      <p:sp>
        <p:nvSpPr>
          <p:cNvPr id="91" name="Text 89"/>
          <p:cNvSpPr txBox="1"/>
          <p:nvPr/>
        </p:nvSpPr>
        <p:spPr>
          <a:xfrm>
            <a:off x="4507992" y="5047488"/>
            <a:ext cx="3108960" cy="201168"/>
          </a:xfrm>
          <a:prstGeom prst="rect">
            <a:avLst/>
          </a:prstGeom>
          <a:noFill/>
          <a:ln/>
        </p:spPr>
        <p:txBody>
          <a:bodyPr wrap="square" lIns="0" tIns="0" rIns="0" bIns="0" rtlCol="0" anchor="ctr"/>
          <a:lstStyle/>
          <a:p>
            <a:pPr indent="0" marL="0">
              <a:buNone/>
            </a:pPr>
            <a:r>
              <a:rPr lang="en-US" sz="1000" b="1" spc="110" kern="0" dirty="0">
                <a:solidFill>
                  <a:srgbClr val="E0A458"/>
                </a:solidFill>
                <a:latin typeface="Arial" pitchFamily="34" charset="0"/>
                <a:ea typeface="Arial" pitchFamily="34" charset="-122"/>
                <a:cs typeface="Arial" pitchFamily="34" charset="-120"/>
              </a:rPr>
              <a:t>along the body</a:t>
            </a:r>
            <a:endParaRPr lang="en-US" sz="1000" dirty="0"/>
          </a:p>
        </p:txBody>
      </p:sp>
      <p:sp>
        <p:nvSpPr>
          <p:cNvPr id="92" name="Text 90"/>
          <p:cNvSpPr txBox="1"/>
          <p:nvPr/>
        </p:nvSpPr>
        <p:spPr>
          <a:xfrm>
            <a:off x="4507992" y="5212080"/>
            <a:ext cx="3108960" cy="201168"/>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waist to outer ankle</a:t>
            </a:r>
            <a:endParaRPr lang="en-US" sz="1000" dirty="0"/>
          </a:p>
        </p:txBody>
      </p:sp>
      <p:sp>
        <p:nvSpPr>
          <p:cNvPr id="93" name="Shape 91"/>
          <p:cNvSpPr/>
          <p:nvPr/>
        </p:nvSpPr>
        <p:spPr>
          <a:xfrm>
            <a:off x="8037576" y="4389120"/>
            <a:ext cx="3547872" cy="1060704"/>
          </a:xfrm>
          <a:prstGeom prst="roundRect">
            <a:avLst>
              <a:gd name="adj" fmla="val 5172"/>
            </a:avLst>
          </a:prstGeom>
          <a:solidFill>
            <a:srgbClr val="252943"/>
          </a:solidFill>
          <a:ln w="12700">
            <a:solidFill>
              <a:srgbClr val="252943"/>
            </a:solidFill>
            <a:prstDash val="solid"/>
          </a:ln>
        </p:spPr>
      </p:sp>
      <p:sp>
        <p:nvSpPr>
          <p:cNvPr id="94" name="Shape 92"/>
          <p:cNvSpPr/>
          <p:nvPr/>
        </p:nvSpPr>
        <p:spPr>
          <a:xfrm>
            <a:off x="8275320" y="4608576"/>
            <a:ext cx="0" cy="146304"/>
          </a:xfrm>
          <a:prstGeom prst="line">
            <a:avLst/>
          </a:prstGeom>
          <a:noFill/>
          <a:ln w="12700">
            <a:solidFill>
              <a:srgbClr val="E0A458"/>
            </a:solidFill>
            <a:prstDash val="solid"/>
          </a:ln>
        </p:spPr>
      </p:sp>
      <p:sp>
        <p:nvSpPr>
          <p:cNvPr id="95" name="Shape 93"/>
          <p:cNvSpPr/>
          <p:nvPr/>
        </p:nvSpPr>
        <p:spPr>
          <a:xfrm>
            <a:off x="8375904" y="4608576"/>
            <a:ext cx="0" cy="82296"/>
          </a:xfrm>
          <a:prstGeom prst="line">
            <a:avLst/>
          </a:prstGeom>
          <a:noFill/>
          <a:ln w="12700">
            <a:solidFill>
              <a:srgbClr val="6E7699"/>
            </a:solidFill>
            <a:prstDash val="solid"/>
          </a:ln>
        </p:spPr>
      </p:sp>
      <p:sp>
        <p:nvSpPr>
          <p:cNvPr id="96" name="Shape 94"/>
          <p:cNvSpPr/>
          <p:nvPr/>
        </p:nvSpPr>
        <p:spPr>
          <a:xfrm>
            <a:off x="8476488" y="4608576"/>
            <a:ext cx="0" cy="82296"/>
          </a:xfrm>
          <a:prstGeom prst="line">
            <a:avLst/>
          </a:prstGeom>
          <a:noFill/>
          <a:ln w="12700">
            <a:solidFill>
              <a:srgbClr val="6E7699"/>
            </a:solidFill>
            <a:prstDash val="solid"/>
          </a:ln>
        </p:spPr>
      </p:sp>
      <p:sp>
        <p:nvSpPr>
          <p:cNvPr id="97" name="Shape 95"/>
          <p:cNvSpPr/>
          <p:nvPr/>
        </p:nvSpPr>
        <p:spPr>
          <a:xfrm>
            <a:off x="8577072" y="4608576"/>
            <a:ext cx="0" cy="82296"/>
          </a:xfrm>
          <a:prstGeom prst="line">
            <a:avLst/>
          </a:prstGeom>
          <a:noFill/>
          <a:ln w="12700">
            <a:solidFill>
              <a:srgbClr val="6E7699"/>
            </a:solidFill>
            <a:prstDash val="solid"/>
          </a:ln>
        </p:spPr>
      </p:sp>
      <p:sp>
        <p:nvSpPr>
          <p:cNvPr id="98" name="Shape 96"/>
          <p:cNvSpPr/>
          <p:nvPr/>
        </p:nvSpPr>
        <p:spPr>
          <a:xfrm>
            <a:off x="8677656" y="4608576"/>
            <a:ext cx="0" cy="82296"/>
          </a:xfrm>
          <a:prstGeom prst="line">
            <a:avLst/>
          </a:prstGeom>
          <a:noFill/>
          <a:ln w="12700">
            <a:solidFill>
              <a:srgbClr val="6E7699"/>
            </a:solidFill>
            <a:prstDash val="solid"/>
          </a:ln>
        </p:spPr>
      </p:sp>
      <p:sp>
        <p:nvSpPr>
          <p:cNvPr id="99" name="Shape 97"/>
          <p:cNvSpPr/>
          <p:nvPr/>
        </p:nvSpPr>
        <p:spPr>
          <a:xfrm>
            <a:off x="8778240" y="4608576"/>
            <a:ext cx="0" cy="82296"/>
          </a:xfrm>
          <a:prstGeom prst="line">
            <a:avLst/>
          </a:prstGeom>
          <a:noFill/>
          <a:ln w="12700">
            <a:solidFill>
              <a:srgbClr val="6E7699"/>
            </a:solidFill>
            <a:prstDash val="solid"/>
          </a:ln>
        </p:spPr>
      </p:sp>
      <p:sp>
        <p:nvSpPr>
          <p:cNvPr id="100" name="Shape 98"/>
          <p:cNvSpPr/>
          <p:nvPr/>
        </p:nvSpPr>
        <p:spPr>
          <a:xfrm>
            <a:off x="8878824" y="4608576"/>
            <a:ext cx="0" cy="82296"/>
          </a:xfrm>
          <a:prstGeom prst="line">
            <a:avLst/>
          </a:prstGeom>
          <a:noFill/>
          <a:ln w="12700">
            <a:solidFill>
              <a:srgbClr val="6E7699"/>
            </a:solidFill>
            <a:prstDash val="solid"/>
          </a:ln>
        </p:spPr>
      </p:sp>
      <p:sp>
        <p:nvSpPr>
          <p:cNvPr id="101" name="Text 99"/>
          <p:cNvSpPr txBox="1"/>
          <p:nvPr/>
        </p:nvSpPr>
        <p:spPr>
          <a:xfrm>
            <a:off x="8275320" y="4791456"/>
            <a:ext cx="3108960" cy="274320"/>
          </a:xfrm>
          <a:prstGeom prst="rect">
            <a:avLst/>
          </a:prstGeom>
          <a:noFill/>
          <a:ln/>
        </p:spPr>
        <p:txBody>
          <a:bodyPr wrap="square" lIns="0" tIns="0" rIns="0" bIns="0" rtlCol="0" anchor="ctr"/>
          <a:lstStyle/>
          <a:p>
            <a:pPr indent="0" marL="0">
              <a:buNone/>
            </a:pPr>
            <a:r>
              <a:rPr lang="en-US" sz="1400" b="1" dirty="0">
                <a:solidFill>
                  <a:srgbClr val="F2F3F8"/>
                </a:solidFill>
                <a:latin typeface="Arial" pitchFamily="34" charset="0"/>
                <a:ea typeface="Arial" pitchFamily="34" charset="-122"/>
                <a:cs typeface="Arial" pitchFamily="34" charset="-120"/>
              </a:rPr>
              <a:t>Rise</a:t>
            </a:r>
            <a:endParaRPr lang="en-US" sz="1400" dirty="0"/>
          </a:p>
        </p:txBody>
      </p:sp>
      <p:sp>
        <p:nvSpPr>
          <p:cNvPr id="102" name="Text 100"/>
          <p:cNvSpPr txBox="1"/>
          <p:nvPr/>
        </p:nvSpPr>
        <p:spPr>
          <a:xfrm>
            <a:off x="8275320" y="5047488"/>
            <a:ext cx="3108960" cy="201168"/>
          </a:xfrm>
          <a:prstGeom prst="rect">
            <a:avLst/>
          </a:prstGeom>
          <a:noFill/>
          <a:ln/>
        </p:spPr>
        <p:txBody>
          <a:bodyPr wrap="square" lIns="0" tIns="0" rIns="0" bIns="0" rtlCol="0" anchor="ctr"/>
          <a:lstStyle/>
          <a:p>
            <a:pPr indent="0" marL="0">
              <a:buNone/>
            </a:pPr>
            <a:r>
              <a:rPr lang="en-US" sz="1000" b="1" spc="110" kern="0" dirty="0">
                <a:solidFill>
                  <a:srgbClr val="E0A458"/>
                </a:solidFill>
                <a:latin typeface="Arial" pitchFamily="34" charset="0"/>
                <a:ea typeface="Arial" pitchFamily="34" charset="-122"/>
                <a:cs typeface="Arial" pitchFamily="34" charset="-120"/>
              </a:rPr>
              <a:t>height difference</a:t>
            </a:r>
            <a:endParaRPr lang="en-US" sz="1000" dirty="0"/>
          </a:p>
        </p:txBody>
      </p:sp>
      <p:sp>
        <p:nvSpPr>
          <p:cNvPr id="103" name="Text 101"/>
          <p:cNvSpPr txBox="1"/>
          <p:nvPr/>
        </p:nvSpPr>
        <p:spPr>
          <a:xfrm>
            <a:off x="8275320" y="5212080"/>
            <a:ext cx="3108960" cy="201168"/>
          </a:xfrm>
          <a:prstGeom prst="rect">
            <a:avLst/>
          </a:prstGeom>
          <a:noFill/>
          <a:ln/>
        </p:spPr>
        <p:txBody>
          <a:bodyPr wrap="square" lIns="0" tIns="0" rIns="0" bIns="0" rtlCol="0" anchor="ctr"/>
          <a:lstStyle/>
          <a:p>
            <a:pPr indent="0" marL="0">
              <a:buNone/>
            </a:pPr>
            <a:r>
              <a:rPr lang="en-US" sz="1000" dirty="0">
                <a:solidFill>
                  <a:srgbClr val="9BA1C1"/>
                </a:solidFill>
                <a:latin typeface="Arial" pitchFamily="34" charset="0"/>
                <a:ea typeface="Arial" pitchFamily="34" charset="-122"/>
                <a:cs typeface="Arial" pitchFamily="34" charset="-120"/>
              </a:rPr>
              <a:t>waist down to the crotch</a:t>
            </a:r>
            <a:endParaRPr lang="en-US" sz="1000" dirty="0"/>
          </a:p>
        </p:txBody>
      </p:sp>
      <p:sp>
        <p:nvSpPr>
          <p:cNvPr id="104" name="Text 102"/>
          <p:cNvSpPr txBox="1"/>
          <p:nvPr/>
        </p:nvSpPr>
        <p:spPr>
          <a:xfrm>
            <a:off x="502920" y="5806440"/>
            <a:ext cx="11185855" cy="310896"/>
          </a:xfrm>
          <a:prstGeom prst="rect">
            <a:avLst/>
          </a:prstGeom>
          <a:noFill/>
          <a:ln/>
        </p:spPr>
        <p:txBody>
          <a:bodyPr wrap="square" lIns="0" tIns="0" rIns="0" bIns="0" rtlCol="0" anchor="ctr"/>
          <a:lstStyle/>
          <a:p>
            <a:pPr indent="0" marL="0">
              <a:buNone/>
            </a:pPr>
            <a:r>
              <a:rPr lang="en-US" sz="1050" i="1" dirty="0">
                <a:solidFill>
                  <a:srgbClr val="6E7699"/>
                </a:solidFill>
                <a:latin typeface="Arial" pitchFamily="34" charset="0"/>
                <a:ea typeface="Arial" pitchFamily="34" charset="-122"/>
                <a:cs typeface="Arial" pitchFamily="34" charset="-120"/>
              </a:rPr>
              <a:t>Expect to land within 1.5–3 cm, when one size step is about 4 cm. The crotch is the hardest point to place, and baggy clothes are the biggest source of error.</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EVALUATION</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Three test sets, one results file, nothing hand-waved</a:t>
            </a:r>
            <a:endParaRPr lang="en-US" sz="3000" dirty="0"/>
          </a:p>
        </p:txBody>
      </p:sp>
      <p:sp>
        <p:nvSpPr>
          <p:cNvPr id="4" name="Shape 2"/>
          <p:cNvSpPr/>
          <p:nvPr/>
        </p:nvSpPr>
        <p:spPr>
          <a:xfrm>
            <a:off x="502920" y="1572768"/>
            <a:ext cx="3547872" cy="3986784"/>
          </a:xfrm>
          <a:prstGeom prst="roundRect">
            <a:avLst>
              <a:gd name="adj" fmla="val 1546"/>
            </a:avLst>
          </a:prstGeom>
          <a:solidFill>
            <a:srgbClr val="252943"/>
          </a:solidFill>
          <a:ln w="12700">
            <a:solidFill>
              <a:srgbClr val="252943"/>
            </a:solidFill>
            <a:prstDash val="solid"/>
          </a:ln>
        </p:spPr>
      </p:sp>
      <p:sp>
        <p:nvSpPr>
          <p:cNvPr id="5" name="Shape 3"/>
          <p:cNvSpPr/>
          <p:nvPr/>
        </p:nvSpPr>
        <p:spPr>
          <a:xfrm>
            <a:off x="777240" y="1810512"/>
            <a:ext cx="402336" cy="402336"/>
          </a:xfrm>
          <a:prstGeom prst="ellipse">
            <a:avLst/>
          </a:prstGeom>
          <a:solidFill>
            <a:srgbClr val="83B4DE"/>
          </a:solidFill>
          <a:ln w="12700">
            <a:solidFill>
              <a:srgbClr val="83B4DE"/>
            </a:solidFill>
            <a:prstDash val="solid"/>
          </a:ln>
        </p:spPr>
      </p:sp>
      <p:sp>
        <p:nvSpPr>
          <p:cNvPr id="6" name="Text 4"/>
          <p:cNvSpPr txBox="1"/>
          <p:nvPr/>
        </p:nvSpPr>
        <p:spPr>
          <a:xfrm>
            <a:off x="777240" y="1810512"/>
            <a:ext cx="402336" cy="402336"/>
          </a:xfrm>
          <a:prstGeom prst="rect">
            <a:avLst/>
          </a:prstGeom>
          <a:noFill/>
          <a:ln/>
        </p:spPr>
        <p:txBody>
          <a:bodyPr wrap="square" lIns="0" tIns="0" rIns="0" bIns="0" rtlCol="0" anchor="ctr"/>
          <a:lstStyle/>
          <a:p>
            <a:pPr algn="ctr" indent="0" marL="0">
              <a:buNone/>
            </a:pPr>
            <a:r>
              <a:rPr lang="en-US" sz="1500" b="1" dirty="0">
                <a:solidFill>
                  <a:srgbClr val="1B1D33"/>
                </a:solidFill>
                <a:latin typeface="Arial" pitchFamily="34" charset="0"/>
                <a:ea typeface="Arial" pitchFamily="34" charset="-122"/>
                <a:cs typeface="Arial" pitchFamily="34" charset="-120"/>
              </a:rPr>
              <a:t>A</a:t>
            </a:r>
            <a:endParaRPr lang="en-US" sz="1500" dirty="0"/>
          </a:p>
        </p:txBody>
      </p:sp>
      <p:sp>
        <p:nvSpPr>
          <p:cNvPr id="7" name="Text 5"/>
          <p:cNvSpPr txBox="1"/>
          <p:nvPr/>
        </p:nvSpPr>
        <p:spPr>
          <a:xfrm>
            <a:off x="1307592" y="1810512"/>
            <a:ext cx="2560320" cy="402336"/>
          </a:xfrm>
          <a:prstGeom prst="rect">
            <a:avLst/>
          </a:prstGeom>
          <a:noFill/>
          <a:ln/>
        </p:spPr>
        <p:txBody>
          <a:bodyPr wrap="square" lIns="0" tIns="0" rIns="0" bIns="0" rtlCol="0" anchor="ctr"/>
          <a:lstStyle/>
          <a:p>
            <a:pPr indent="0" marL="0">
              <a:buNone/>
            </a:pPr>
            <a:r>
              <a:rPr lang="en-US" sz="1700" b="1" dirty="0">
                <a:solidFill>
                  <a:srgbClr val="83B4DE"/>
                </a:solidFill>
                <a:latin typeface="Arial" pitchFamily="34" charset="0"/>
                <a:ea typeface="Arial" pitchFamily="34" charset="-122"/>
                <a:cs typeface="Arial" pitchFamily="34" charset="-120"/>
              </a:rPr>
              <a:t>The measurements</a:t>
            </a:r>
            <a:endParaRPr lang="en-US" sz="1700" dirty="0"/>
          </a:p>
        </p:txBody>
      </p:sp>
      <p:sp>
        <p:nvSpPr>
          <p:cNvPr id="8" name="Text 6"/>
          <p:cNvSpPr txBox="1"/>
          <p:nvPr/>
        </p:nvSpPr>
        <p:spPr>
          <a:xfrm>
            <a:off x="777240" y="2395728"/>
            <a:ext cx="3017520" cy="3017520"/>
          </a:xfrm>
          <a:prstGeom prst="rect">
            <a:avLst/>
          </a:prstGeom>
          <a:noFill/>
          <a:ln/>
        </p:spPr>
        <p:txBody>
          <a:bodyPr wrap="square" lIns="0" tIns="0" rIns="0" bIns="0" rtlCol="0" anchor="t"/>
          <a:lstStyle/>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Average error per measurement on real people, and how often we land within 1 cm and 2 cm</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Best case on computer-made bodies: how much error is ours even with a perfect 3D fit</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The key experiment: how the error falls as more frames are combined</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What happens if the person mistypes their height by 1, 2 or 3 cm</a:t>
            </a:r>
            <a:endParaRPr lang="en-US" sz="1150" dirty="0"/>
          </a:p>
        </p:txBody>
      </p:sp>
      <p:sp>
        <p:nvSpPr>
          <p:cNvPr id="9" name="Shape 7"/>
          <p:cNvSpPr/>
          <p:nvPr/>
        </p:nvSpPr>
        <p:spPr>
          <a:xfrm>
            <a:off x="4270248" y="1572768"/>
            <a:ext cx="3547872" cy="3986784"/>
          </a:xfrm>
          <a:prstGeom prst="roundRect">
            <a:avLst>
              <a:gd name="adj" fmla="val 1546"/>
            </a:avLst>
          </a:prstGeom>
          <a:solidFill>
            <a:srgbClr val="252943"/>
          </a:solidFill>
          <a:ln w="12700">
            <a:solidFill>
              <a:srgbClr val="252943"/>
            </a:solidFill>
            <a:prstDash val="solid"/>
          </a:ln>
        </p:spPr>
      </p:sp>
      <p:sp>
        <p:nvSpPr>
          <p:cNvPr id="10" name="Shape 8"/>
          <p:cNvSpPr/>
          <p:nvPr/>
        </p:nvSpPr>
        <p:spPr>
          <a:xfrm>
            <a:off x="4544568" y="1810512"/>
            <a:ext cx="402336" cy="402336"/>
          </a:xfrm>
          <a:prstGeom prst="ellipse">
            <a:avLst/>
          </a:prstGeom>
          <a:solidFill>
            <a:srgbClr val="E0A458"/>
          </a:solidFill>
          <a:ln w="12700">
            <a:solidFill>
              <a:srgbClr val="E0A458"/>
            </a:solidFill>
            <a:prstDash val="solid"/>
          </a:ln>
        </p:spPr>
      </p:sp>
      <p:sp>
        <p:nvSpPr>
          <p:cNvPr id="11" name="Text 9"/>
          <p:cNvSpPr txBox="1"/>
          <p:nvPr/>
        </p:nvSpPr>
        <p:spPr>
          <a:xfrm>
            <a:off x="4544568" y="1810512"/>
            <a:ext cx="402336" cy="402336"/>
          </a:xfrm>
          <a:prstGeom prst="rect">
            <a:avLst/>
          </a:prstGeom>
          <a:noFill/>
          <a:ln/>
        </p:spPr>
        <p:txBody>
          <a:bodyPr wrap="square" lIns="0" tIns="0" rIns="0" bIns="0" rtlCol="0" anchor="ctr"/>
          <a:lstStyle/>
          <a:p>
            <a:pPr algn="ctr" indent="0" marL="0">
              <a:buNone/>
            </a:pPr>
            <a:r>
              <a:rPr lang="en-US" sz="1500" b="1" dirty="0">
                <a:solidFill>
                  <a:srgbClr val="1B1D33"/>
                </a:solidFill>
                <a:latin typeface="Arial" pitchFamily="34" charset="0"/>
                <a:ea typeface="Arial" pitchFamily="34" charset="-122"/>
                <a:cs typeface="Arial" pitchFamily="34" charset="-120"/>
              </a:rPr>
              <a:t>B</a:t>
            </a:r>
            <a:endParaRPr lang="en-US" sz="1500" dirty="0"/>
          </a:p>
        </p:txBody>
      </p:sp>
      <p:sp>
        <p:nvSpPr>
          <p:cNvPr id="12" name="Text 10"/>
          <p:cNvSpPr txBox="1"/>
          <p:nvPr/>
        </p:nvSpPr>
        <p:spPr>
          <a:xfrm>
            <a:off x="5074920" y="1810512"/>
            <a:ext cx="2560320" cy="402336"/>
          </a:xfrm>
          <a:prstGeom prst="rect">
            <a:avLst/>
          </a:prstGeom>
          <a:noFill/>
          <a:ln/>
        </p:spPr>
        <p:txBody>
          <a:bodyPr wrap="square" lIns="0" tIns="0" rIns="0" bIns="0" rtlCol="0" anchor="ctr"/>
          <a:lstStyle/>
          <a:p>
            <a:pPr indent="0" marL="0">
              <a:buNone/>
            </a:pPr>
            <a:r>
              <a:rPr lang="en-US" sz="1700" b="1" dirty="0">
                <a:solidFill>
                  <a:srgbClr val="E0A458"/>
                </a:solidFill>
                <a:latin typeface="Arial" pitchFamily="34" charset="0"/>
                <a:ea typeface="Arial" pitchFamily="34" charset="-122"/>
                <a:cs typeface="Arial" pitchFamily="34" charset="-120"/>
              </a:rPr>
              <a:t>Reading size charts</a:t>
            </a:r>
            <a:endParaRPr lang="en-US" sz="1700" dirty="0"/>
          </a:p>
        </p:txBody>
      </p:sp>
      <p:sp>
        <p:nvSpPr>
          <p:cNvPr id="13" name="Text 11"/>
          <p:cNvSpPr txBox="1"/>
          <p:nvPr/>
        </p:nvSpPr>
        <p:spPr>
          <a:xfrm>
            <a:off x="4544568" y="2395728"/>
            <a:ext cx="3017520" cy="3017520"/>
          </a:xfrm>
          <a:prstGeom prst="rect">
            <a:avLst/>
          </a:prstGeom>
          <a:noFill/>
          <a:ln/>
        </p:spPr>
        <p:txBody>
          <a:bodyPr wrap="square" lIns="0" tIns="0" rIns="0" bIns="0" rtlCol="0" anchor="t"/>
          <a:lstStyle/>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50 hand-labelled charts, ~10 brands across 5 categories</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How many values we read correctly, and how often we botch inches into centimetres</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Body chart or garment laid flat — the one field that matters most</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Rows the AI invented that are not on the page: must be zero, or explained</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A page rigged to give the AI instructions, to prove it ignores them</a:t>
            </a:r>
            <a:endParaRPr lang="en-US" sz="1150" dirty="0"/>
          </a:p>
        </p:txBody>
      </p:sp>
      <p:sp>
        <p:nvSpPr>
          <p:cNvPr id="14" name="Shape 12"/>
          <p:cNvSpPr/>
          <p:nvPr/>
        </p:nvSpPr>
        <p:spPr>
          <a:xfrm>
            <a:off x="8037576" y="1572768"/>
            <a:ext cx="3547872" cy="3986784"/>
          </a:xfrm>
          <a:prstGeom prst="roundRect">
            <a:avLst>
              <a:gd name="adj" fmla="val 1546"/>
            </a:avLst>
          </a:prstGeom>
          <a:solidFill>
            <a:srgbClr val="252943"/>
          </a:solidFill>
          <a:ln w="12700">
            <a:solidFill>
              <a:srgbClr val="252943"/>
            </a:solidFill>
            <a:prstDash val="solid"/>
          </a:ln>
        </p:spPr>
      </p:sp>
      <p:sp>
        <p:nvSpPr>
          <p:cNvPr id="15" name="Shape 13"/>
          <p:cNvSpPr/>
          <p:nvPr/>
        </p:nvSpPr>
        <p:spPr>
          <a:xfrm>
            <a:off x="8311896" y="1810512"/>
            <a:ext cx="402336" cy="402336"/>
          </a:xfrm>
          <a:prstGeom prst="ellipse">
            <a:avLst/>
          </a:prstGeom>
          <a:solidFill>
            <a:srgbClr val="6FC095"/>
          </a:solidFill>
          <a:ln w="12700">
            <a:solidFill>
              <a:srgbClr val="6FC095"/>
            </a:solidFill>
            <a:prstDash val="solid"/>
          </a:ln>
        </p:spPr>
      </p:sp>
      <p:sp>
        <p:nvSpPr>
          <p:cNvPr id="16" name="Text 14"/>
          <p:cNvSpPr txBox="1"/>
          <p:nvPr/>
        </p:nvSpPr>
        <p:spPr>
          <a:xfrm>
            <a:off x="8311896" y="1810512"/>
            <a:ext cx="402336" cy="402336"/>
          </a:xfrm>
          <a:prstGeom prst="rect">
            <a:avLst/>
          </a:prstGeom>
          <a:noFill/>
          <a:ln/>
        </p:spPr>
        <p:txBody>
          <a:bodyPr wrap="square" lIns="0" tIns="0" rIns="0" bIns="0" rtlCol="0" anchor="ctr"/>
          <a:lstStyle/>
          <a:p>
            <a:pPr algn="ctr" indent="0" marL="0">
              <a:buNone/>
            </a:pPr>
            <a:r>
              <a:rPr lang="en-US" sz="1500" b="1" dirty="0">
                <a:solidFill>
                  <a:srgbClr val="1B1D33"/>
                </a:solidFill>
                <a:latin typeface="Arial" pitchFamily="34" charset="0"/>
                <a:ea typeface="Arial" pitchFamily="34" charset="-122"/>
                <a:cs typeface="Arial" pitchFamily="34" charset="-120"/>
              </a:rPr>
              <a:t>C</a:t>
            </a:r>
            <a:endParaRPr lang="en-US" sz="1500" dirty="0"/>
          </a:p>
        </p:txBody>
      </p:sp>
      <p:sp>
        <p:nvSpPr>
          <p:cNvPr id="17" name="Text 15"/>
          <p:cNvSpPr txBox="1"/>
          <p:nvPr/>
        </p:nvSpPr>
        <p:spPr>
          <a:xfrm>
            <a:off x="8842248" y="1810512"/>
            <a:ext cx="2560320" cy="402336"/>
          </a:xfrm>
          <a:prstGeom prst="rect">
            <a:avLst/>
          </a:prstGeom>
          <a:noFill/>
          <a:ln/>
        </p:spPr>
        <p:txBody>
          <a:bodyPr wrap="square" lIns="0" tIns="0" rIns="0" bIns="0" rtlCol="0" anchor="ctr"/>
          <a:lstStyle/>
          <a:p>
            <a:pPr indent="0" marL="0">
              <a:buNone/>
            </a:pPr>
            <a:r>
              <a:rPr lang="en-US" sz="1700" b="1" dirty="0">
                <a:solidFill>
                  <a:srgbClr val="6FC095"/>
                </a:solidFill>
                <a:latin typeface="Arial" pitchFamily="34" charset="0"/>
                <a:ea typeface="Arial" pitchFamily="34" charset="-122"/>
                <a:cs typeface="Arial" pitchFamily="34" charset="-120"/>
              </a:rPr>
              <a:t>How the agents behave</a:t>
            </a:r>
            <a:endParaRPr lang="en-US" sz="1700" dirty="0"/>
          </a:p>
        </p:txBody>
      </p:sp>
      <p:sp>
        <p:nvSpPr>
          <p:cNvPr id="18" name="Text 16"/>
          <p:cNvSpPr txBox="1"/>
          <p:nvPr/>
        </p:nvSpPr>
        <p:spPr>
          <a:xfrm>
            <a:off x="8311896" y="2395728"/>
            <a:ext cx="3017520" cy="3017520"/>
          </a:xfrm>
          <a:prstGeom prst="rect">
            <a:avLst/>
          </a:prstGeom>
          <a:noFill/>
          <a:ln/>
        </p:spPr>
        <p:txBody>
          <a:bodyPr wrap="square" lIns="0" tIns="0" rIns="0" bIns="0" rtlCol="0" anchor="t"/>
          <a:lstStyle/>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A set of deliberately bad clips: does it reach the right verdict every time</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Message quality: does it name the cause and one action?</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Is the explanation true to the calculation, is it useful, and does our AI grader agree with people</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Did it pick the right tools, how often did it retry, what did it cost, how long did it take</a:t>
            </a:r>
            <a:endParaRPr lang="en-US" sz="1150" dirty="0"/>
          </a:p>
          <a:p>
            <a:pPr marL="342900" indent="-342900">
              <a:spcAft>
                <a:spcPts val="900"/>
              </a:spcAft>
              <a:buSzPct val="100000"/>
              <a:buChar char="•"/>
            </a:pPr>
            <a:r>
              <a:rPr lang="en-US" sz="1150" dirty="0">
                <a:solidFill>
                  <a:srgbClr val="F2F3F8"/>
                </a:solidFill>
                <a:latin typeface="Arial" pitchFamily="34" charset="0"/>
                <a:ea typeface="Arial" pitchFamily="34" charset="-122"/>
                <a:cs typeface="Arial" pitchFamily="34" charset="-120"/>
              </a:rPr>
              <a:t>One big prompt, then a simple chain, then all six agents — to prove the complexity earns its place</a:t>
            </a:r>
            <a:endParaRPr lang="en-US" sz="1150" dirty="0"/>
          </a:p>
        </p:txBody>
      </p:sp>
      <p:sp>
        <p:nvSpPr>
          <p:cNvPr id="19" name="Text 17"/>
          <p:cNvSpPr txBox="1"/>
          <p:nvPr/>
        </p:nvSpPr>
        <p:spPr>
          <a:xfrm>
            <a:off x="502920" y="5742432"/>
            <a:ext cx="11185855" cy="548640"/>
          </a:xfrm>
          <a:prstGeom prst="rect">
            <a:avLst/>
          </a:prstGeom>
          <a:noFill/>
          <a:ln/>
        </p:spPr>
        <p:txBody>
          <a:bodyPr wrap="square" lIns="0" tIns="0" rIns="0" bIns="0" rtlCol="0" anchor="ctr"/>
          <a:lstStyle/>
          <a:p>
            <a:pPr indent="0" marL="0">
              <a:lnSpc>
                <a:spcPct val="115000"/>
              </a:lnSpc>
              <a:buNone/>
            </a:pPr>
            <a:r>
              <a:rPr lang="en-US" sz="1250" i="1" dirty="0">
                <a:solidFill>
                  <a:srgbClr val="9BA1C1"/>
                </a:solidFill>
                <a:latin typeface="Arial" pitchFamily="34" charset="0"/>
                <a:ea typeface="Arial" pitchFamily="34" charset="-122"/>
                <a:cs typeface="Arial" pitchFamily="34" charset="-120"/>
              </a:rPr>
              <a:t>Which model does which job is itself a result: a small fast one for the repetitive reading (agents 3 and 5), a large one for the reasoning and grading (1, 4 and 6) — with the cost of each reported.</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1D33"/>
        </a:solidFill>
      </p:bgPr>
    </p:bg>
    <p:spTree>
      <p:nvGrpSpPr>
        <p:cNvPr id="1" name=""/>
        <p:cNvGrpSpPr/>
        <p:nvPr/>
      </p:nvGrpSpPr>
      <p:grpSpPr>
        <a:xfrm>
          <a:off x="0" y="0"/>
          <a:ext cx="0" cy="0"/>
          <a:chOff x="0" y="0"/>
          <a:chExt cx="0" cy="0"/>
        </a:xfrm>
      </p:grpSpPr>
      <p:sp>
        <p:nvSpPr>
          <p:cNvPr id="2" name="Text 0"/>
          <p:cNvSpPr txBox="1"/>
          <p:nvPr/>
        </p:nvSpPr>
        <p:spPr>
          <a:xfrm>
            <a:off x="502920" y="146304"/>
            <a:ext cx="11185855" cy="219456"/>
          </a:xfrm>
          <a:prstGeom prst="rect">
            <a:avLst/>
          </a:prstGeom>
          <a:noFill/>
          <a:ln/>
        </p:spPr>
        <p:txBody>
          <a:bodyPr wrap="square" lIns="0" tIns="0" rIns="0" bIns="0" rtlCol="0" anchor="ctr"/>
          <a:lstStyle/>
          <a:p>
            <a:pPr indent="0" marL="0">
              <a:buNone/>
            </a:pPr>
            <a:r>
              <a:rPr lang="en-US" sz="950" b="1" spc="220" kern="0" dirty="0">
                <a:solidFill>
                  <a:srgbClr val="E0A458"/>
                </a:solidFill>
                <a:latin typeface="Arial" pitchFamily="34" charset="0"/>
                <a:ea typeface="Arial" pitchFamily="34" charset="-122"/>
                <a:cs typeface="Arial" pitchFamily="34" charset="-120"/>
              </a:rPr>
              <a:t>DATA STRATEGY</a:t>
            </a:r>
            <a:endParaRPr lang="en-US" sz="950" dirty="0"/>
          </a:p>
        </p:txBody>
      </p:sp>
      <p:sp>
        <p:nvSpPr>
          <p:cNvPr id="3" name="Text 1"/>
          <p:cNvSpPr txBox="1"/>
          <p:nvPr/>
        </p:nvSpPr>
        <p:spPr>
          <a:xfrm>
            <a:off x="502920" y="384048"/>
            <a:ext cx="11185855" cy="658368"/>
          </a:xfrm>
          <a:prstGeom prst="rect">
            <a:avLst/>
          </a:prstGeom>
          <a:noFill/>
          <a:ln/>
        </p:spPr>
        <p:txBody>
          <a:bodyPr wrap="square" lIns="0" tIns="0" rIns="0" bIns="0" rtlCol="0" anchor="ctr"/>
          <a:lstStyle/>
          <a:p>
            <a:pPr algn="l" indent="0" marL="0">
              <a:buNone/>
            </a:pPr>
            <a:r>
              <a:rPr lang="en-US" sz="3000" b="1" dirty="0">
                <a:solidFill>
                  <a:srgbClr val="F2F3F8"/>
                </a:solidFill>
                <a:latin typeface="Arial" pitchFamily="34" charset="0"/>
                <a:ea typeface="Arial" pitchFamily="34" charset="-122"/>
                <a:cs typeface="Arial" pitchFamily="34" charset="-120"/>
              </a:rPr>
              <a:t>We invent data only where we can be certain it is true</a:t>
            </a:r>
            <a:endParaRPr lang="en-US" sz="3000" dirty="0"/>
          </a:p>
        </p:txBody>
      </p:sp>
      <p:sp>
        <p:nvSpPr>
          <p:cNvPr id="4" name="Shape 2"/>
          <p:cNvSpPr/>
          <p:nvPr/>
        </p:nvSpPr>
        <p:spPr>
          <a:xfrm>
            <a:off x="502920" y="1463040"/>
            <a:ext cx="11185855" cy="658368"/>
          </a:xfrm>
          <a:prstGeom prst="roundRect">
            <a:avLst>
              <a:gd name="adj" fmla="val 8333"/>
            </a:avLst>
          </a:prstGeom>
          <a:solidFill>
            <a:srgbClr val="3A2530"/>
          </a:solidFill>
          <a:ln w="19050">
            <a:solidFill>
              <a:srgbClr val="EC8079"/>
            </a:solidFill>
            <a:prstDash val="solid"/>
          </a:ln>
        </p:spPr>
      </p:sp>
      <p:sp>
        <p:nvSpPr>
          <p:cNvPr id="5" name="Text 3"/>
          <p:cNvSpPr txBox="1"/>
          <p:nvPr/>
        </p:nvSpPr>
        <p:spPr>
          <a:xfrm>
            <a:off x="777240" y="1463040"/>
            <a:ext cx="10637215" cy="658368"/>
          </a:xfrm>
          <a:prstGeom prst="rect">
            <a:avLst/>
          </a:prstGeom>
          <a:noFill/>
          <a:ln/>
        </p:spPr>
        <p:txBody>
          <a:bodyPr wrap="square" lIns="0" tIns="0" rIns="0" bIns="0" rtlCol="0" anchor="ctr"/>
          <a:lstStyle/>
          <a:p>
            <a:pPr indent="0" marL="0">
              <a:buNone/>
            </a:pPr>
            <a:r>
              <a:rPr lang="en-US" sz="1300" dirty="0">
                <a:solidFill>
                  <a:srgbClr val="F2F3F8"/>
                </a:solidFill>
                <a:latin typeface="Arial" pitchFamily="34" charset="0"/>
                <a:ea typeface="Arial" pitchFamily="34" charset="-122"/>
                <a:cs typeface="Arial" pitchFamily="34" charset="-120"/>
              </a:rPr>
              <a:t>The trap: make up the answers with a rule, train a model to find that rule again, then report how accurate it is. That only measures the model against your own invention. It proves nothing.</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2340864"/>
          <a:ext cx="11185855" cy="914400"/>
        </p:xfrm>
        <a:graphic>
          <a:graphicData uri="http://schemas.openxmlformats.org/drawingml/2006/table">
            <a:tbl>
              <a:tblPr/>
              <a:tblGrid>
                <a:gridCol w="2743200"/>
                <a:gridCol w="3108960"/>
                <a:gridCol w="5333695"/>
              </a:tblGrid>
              <a:tr h="457200">
                <a:tc>
                  <a:txBody>
                    <a:bodyPr/>
                    <a:lstStyle/>
                    <a:p>
                      <a:pPr indent="0" marL="0">
                        <a:buNone/>
                      </a:pPr>
                      <a:r>
                        <a:rPr lang="en-US" sz="1200" b="1" dirty="0">
                          <a:solidFill>
                            <a:srgbClr val="F2F3F8"/>
                          </a:solidFill>
                          <a:latin typeface="Arial" pitchFamily="34" charset="0"/>
                          <a:ea typeface="Arial" pitchFamily="34" charset="-122"/>
                          <a:cs typeface="Arial" pitchFamily="34" charset="-120"/>
                        </a:rPr>
                        <a:t>Source</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b="1" dirty="0">
                          <a:solidFill>
                            <a:srgbClr val="F2F3F8"/>
                          </a:solidFill>
                          <a:latin typeface="Arial" pitchFamily="34" charset="0"/>
                          <a:ea typeface="Arial" pitchFamily="34" charset="-122"/>
                          <a:cs typeface="Arial" pitchFamily="34" charset="-120"/>
                        </a:rPr>
                        <a:t>Role</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b="1" dirty="0">
                          <a:solidFill>
                            <a:srgbClr val="F2F3F8"/>
                          </a:solidFill>
                          <a:latin typeface="Arial" pitchFamily="34" charset="0"/>
                          <a:ea typeface="Arial" pitchFamily="34" charset="-122"/>
                          <a:cs typeface="Arial" pitchFamily="34" charset="-120"/>
                        </a:rPr>
                        <a:t>Why this is honest</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57200">
                <a:tc>
                  <a:txBody>
                    <a:bodyPr/>
                    <a:lstStyle/>
                    <a:p>
                      <a:pPr indent="0" marL="0">
                        <a:buNone/>
                      </a:pPr>
                      <a:r>
                        <a:rPr lang="en-US" sz="1200" dirty="0">
                          <a:solidFill>
                            <a:srgbClr val="F2F3F8"/>
                          </a:solidFill>
                          <a:latin typeface="Arial" pitchFamily="34" charset="0"/>
                          <a:ea typeface="Arial" pitchFamily="34" charset="-122"/>
                          <a:cs typeface="Arial" pitchFamily="34" charset="-120"/>
                        </a:rPr>
                        <a:t>SURREAL — computer-made bodies</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Build and tune the measuring step</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Generated from known shapes, so their true measurements are known exactly</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57200">
                <a:tc>
                  <a:txBody>
                    <a:bodyPr/>
                    <a:lstStyle/>
                    <a:p>
                      <a:pPr indent="0" marL="0">
                        <a:buNone/>
                      </a:pPr>
                      <a:r>
                        <a:rPr lang="en-US" sz="1200" dirty="0">
                          <a:solidFill>
                            <a:srgbClr val="F2F3F8"/>
                          </a:solidFill>
                          <a:latin typeface="Arial" pitchFamily="34" charset="0"/>
                          <a:ea typeface="Arial" pitchFamily="34" charset="-122"/>
                          <a:cs typeface="Arial" pitchFamily="34" charset="-120"/>
                        </a:rPr>
                        <a:t>AMASS</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Realistic movement</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Real motion capture, so the generated videos move like a person</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57200">
                <a:tc>
                  <a:txBody>
                    <a:bodyPr/>
                    <a:lstStyle/>
                    <a:p>
                      <a:pPr indent="0" marL="0">
                        <a:buNone/>
                      </a:pPr>
                      <a:r>
                        <a:rPr lang="en-US" sz="1200" dirty="0">
                          <a:solidFill>
                            <a:srgbClr val="F2F3F8"/>
                          </a:solidFill>
                          <a:latin typeface="Arial" pitchFamily="34" charset="0"/>
                          <a:ea typeface="Arial" pitchFamily="34" charset="-122"/>
                          <a:cs typeface="Arial" pitchFamily="34" charset="-120"/>
                        </a:rPr>
                        <a:t>BodyM</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Checking against real people</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Real photos of real people, measured with a tape. This is where the reported numbers come from</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57200">
                <a:tc>
                  <a:txBody>
                    <a:bodyPr/>
                    <a:lstStyle/>
                    <a:p>
                      <a:pPr indent="0" marL="0">
                        <a:buNone/>
                      </a:pPr>
                      <a:r>
                        <a:rPr lang="en-US" sz="1200" dirty="0">
                          <a:solidFill>
                            <a:srgbClr val="F2F3F8"/>
                          </a:solidFill>
                          <a:latin typeface="Arial" pitchFamily="34" charset="0"/>
                          <a:ea typeface="Arial" pitchFamily="34" charset="-122"/>
                          <a:cs typeface="Arial" pitchFamily="34" charset="-120"/>
                        </a:rPr>
                        <a:t>ANSUR II</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Sanity check</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A public database of real body measurements, so we know which combinations actually occur</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57200">
                <a:tc>
                  <a:txBody>
                    <a:bodyPr/>
                    <a:lstStyle/>
                    <a:p>
                      <a:pPr indent="0" marL="0">
                        <a:buNone/>
                      </a:pPr>
                      <a:r>
                        <a:rPr lang="en-US" sz="1200" dirty="0">
                          <a:solidFill>
                            <a:srgbClr val="F2F3F8"/>
                          </a:solidFill>
                          <a:latin typeface="Arial" pitchFamily="34" charset="0"/>
                          <a:ea typeface="Arial" pitchFamily="34" charset="-122"/>
                          <a:cs typeface="Arial" pitchFamily="34" charset="-120"/>
                        </a:rPr>
                        <a:t>RentTheRunway · ModCloth</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Real feedback on real purchases</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Customers said whether it ran small, true to size or large — plus what they wrote</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r h="457200">
                <a:tc>
                  <a:txBody>
                    <a:bodyPr/>
                    <a:lstStyle/>
                    <a:p>
                      <a:pPr indent="0" marL="0">
                        <a:buNone/>
                      </a:pPr>
                      <a:r>
                        <a:rPr lang="en-US" sz="1200" dirty="0">
                          <a:solidFill>
                            <a:srgbClr val="F2F3F8"/>
                          </a:solidFill>
                          <a:latin typeface="Arial" pitchFamily="34" charset="0"/>
                          <a:ea typeface="Arial" pitchFamily="34" charset="-122"/>
                          <a:cs typeface="Arial" pitchFamily="34" charset="-120"/>
                        </a:rPr>
                        <a:t>Brands' size charts</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Input and test set for agent 3</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c>
                  <a:txBody>
                    <a:bodyPr/>
                    <a:lstStyle/>
                    <a:p>
                      <a:pPr indent="0" marL="0">
                        <a:buNone/>
                      </a:pPr>
                      <a:r>
                        <a:rPr lang="en-US" sz="1200" dirty="0">
                          <a:solidFill>
                            <a:srgbClr val="F2F3F8"/>
                          </a:solidFill>
                          <a:latin typeface="Arial" pitchFamily="34" charset="0"/>
                          <a:ea typeface="Arial" pitchFamily="34" charset="-122"/>
                          <a:cs typeface="Arial" pitchFamily="34" charset="-120"/>
                        </a:rPr>
                        <a:t>Public, no personal data, small volumes. EU copyright law allows this for research</a:t>
                      </a:r>
                      <a:endParaRPr lang="en-US" sz="1200" dirty="0">
                        <a:latin typeface="Arial" charset="0"/>
                        <a:ea typeface="Arial" charset="0"/>
                        <a:cs typeface="Arial" charset="0"/>
                      </a:endParaRPr>
                    </a:p>
                  </a:txBody>
                  <a:tcPr marL="128016" marR="128016" marT="54864" marB="54864" anchor="ctr">
                    <a:lnL w="12700" cap="flat" cmpd="sng" algn="ctr">
                      <a:solidFill>
                        <a:srgbClr val="3A3F63"/>
                      </a:solidFill>
                      <a:prstDash val="solid"/>
                      <a:round/>
                      <a:headEnd type="none" w="med" len="med"/>
                      <a:tailEnd type="none" w="med" len="med"/>
                    </a:lnL>
                    <a:lnR w="12700" cap="flat" cmpd="sng" algn="ctr">
                      <a:solidFill>
                        <a:srgbClr val="3A3F63"/>
                      </a:solidFill>
                      <a:prstDash val="solid"/>
                      <a:round/>
                      <a:headEnd type="none" w="med" len="med"/>
                      <a:tailEnd type="none" w="med" len="med"/>
                    </a:lnR>
                    <a:lnT w="12700" cap="flat" cmpd="sng" algn="ctr">
                      <a:solidFill>
                        <a:srgbClr val="3A3F63"/>
                      </a:solidFill>
                      <a:prstDash val="solid"/>
                      <a:round/>
                      <a:headEnd type="none" w="med" len="med"/>
                      <a:tailEnd type="none" w="med" len="med"/>
                    </a:lnT>
                    <a:lnB w="12700" cap="flat" cmpd="sng" algn="ctr">
                      <a:solidFill>
                        <a:srgbClr val="3A3F63"/>
                      </a:solidFill>
                      <a:prstDash val="solid"/>
                      <a:round/>
                      <a:headEnd type="none" w="med" len="med"/>
                      <a:tailEnd type="none" w="med" len="med"/>
                    </a:lnB>
                    <a:solidFill>
                      <a:srgbClr val="252943"/>
                    </a:solidFill>
                  </a:tcPr>
                </a:tc>
              </a:tr>
            </a:tbl>
          </a:graphicData>
        </a:graphic>
      </p:graphicFrame>
      <p:sp>
        <p:nvSpPr>
          <p:cNvPr id="7" name="Shape 4"/>
          <p:cNvSpPr/>
          <p:nvPr/>
        </p:nvSpPr>
        <p:spPr>
          <a:xfrm>
            <a:off x="502920" y="5541264"/>
            <a:ext cx="11185855" cy="749808"/>
          </a:xfrm>
          <a:prstGeom prst="roundRect">
            <a:avLst>
              <a:gd name="adj" fmla="val 7317"/>
            </a:avLst>
          </a:prstGeom>
          <a:solidFill>
            <a:srgbClr val="2F3355"/>
          </a:solidFill>
          <a:ln w="19050">
            <a:solidFill>
              <a:srgbClr val="E0A458"/>
            </a:solidFill>
            <a:prstDash val="solid"/>
          </a:ln>
        </p:spPr>
      </p:sp>
      <p:sp>
        <p:nvSpPr>
          <p:cNvPr id="8" name="Text 5"/>
          <p:cNvSpPr txBox="1"/>
          <p:nvPr/>
        </p:nvSpPr>
        <p:spPr>
          <a:xfrm>
            <a:off x="777240" y="5614416"/>
            <a:ext cx="3931920" cy="274320"/>
          </a:xfrm>
          <a:prstGeom prst="rect">
            <a:avLst/>
          </a:prstGeom>
          <a:noFill/>
          <a:ln/>
        </p:spPr>
        <p:txBody>
          <a:bodyPr wrap="square" lIns="0" tIns="0" rIns="0" bIns="0" rtlCol="0" anchor="ctr"/>
          <a:lstStyle/>
          <a:p>
            <a:pPr indent="0" marL="0">
              <a:buNone/>
            </a:pPr>
            <a:r>
              <a:rPr lang="en-US" sz="1200" b="1" dirty="0">
                <a:solidFill>
                  <a:srgbClr val="E0A458"/>
                </a:solidFill>
                <a:latin typeface="Arial" pitchFamily="34" charset="0"/>
                <a:ea typeface="Arial" pitchFamily="34" charset="-122"/>
                <a:cs typeface="Arial" pitchFamily="34" charset="-120"/>
              </a:rPr>
              <a:t>Limitation to state, not to discover in the viva:</a:t>
            </a:r>
            <a:endParaRPr lang="en-US" sz="1200" dirty="0"/>
          </a:p>
        </p:txBody>
      </p:sp>
      <p:sp>
        <p:nvSpPr>
          <p:cNvPr id="9" name="Text 6"/>
          <p:cNvSpPr txBox="1"/>
          <p:nvPr/>
        </p:nvSpPr>
        <p:spPr>
          <a:xfrm>
            <a:off x="777240" y="5888736"/>
            <a:ext cx="10607040" cy="274320"/>
          </a:xfrm>
          <a:prstGeom prst="rect">
            <a:avLst/>
          </a:prstGeom>
          <a:noFill/>
          <a:ln/>
        </p:spPr>
        <p:txBody>
          <a:bodyPr wrap="square" lIns="0" tIns="0" rIns="0" bIns="0" rtlCol="0" anchor="ctr"/>
          <a:lstStyle/>
          <a:p>
            <a:pPr indent="0" marL="0">
              <a:buNone/>
            </a:pPr>
            <a:r>
              <a:rPr lang="en-US" sz="1200" dirty="0">
                <a:solidFill>
                  <a:srgbClr val="F2F3F8"/>
                </a:solidFill>
                <a:latin typeface="Arial" pitchFamily="34" charset="0"/>
                <a:ea typeface="Arial" pitchFamily="34" charset="-122"/>
                <a:cs typeface="Arial" pitchFamily="34" charset="-120"/>
              </a:rPr>
              <a:t>these datasets say whether an item fitted, not whether it was kept or sent back. We stand in for the real outcome with what the customer said.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SartorIA</dc:title>
  <dc:subject>PptxGenJS Presentation</dc:subject>
  <dc:creator>SartorIA</dc:creator>
  <cp:lastModifiedBy>SartorIA</cp:lastModifiedBy>
  <cp:revision>1</cp:revision>
  <dcterms:created xsi:type="dcterms:W3CDTF">2026-09-14T12:43:48Z</dcterms:created>
  <dcterms:modified xsi:type="dcterms:W3CDTF">2026-09-14T12:43:48Z</dcterms:modified>
</cp:coreProperties>
</file>