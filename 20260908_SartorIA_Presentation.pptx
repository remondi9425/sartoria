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deck in one sentence: the graded contribution is not a size recommender and not a body scanner, it is the division of labour between agents and deterministic code. Everything that follows defends that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land hard. The division of labour is the thesis. If the committee remembers one thing, it should be that the project can say why each agent is an agent, and why the scorer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here. Once the room has these five words, no later slide needs explaining twice — and the two on the right, the calculator and the check, are the ones that carry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in the viva and answer it before it is asked. The two 'No' rows are the credibility rows: a project that uses an LLM for everything has not thought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entry points, then point at the core: every agent reaches it through tools, never by reimplementing it. Then point at the red path and say that escalation is a designed output, not an error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3 is the one to dwell on: the body-versus-flat classification is a single field that silently inverts every recommendation if it is wrong, which is why the schema forces a verbatim quote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6 is the differentiator against typical student projects: prompt versioning with a regression gate. Mention that the judge itself is validated against human ratings and the agreement is reported as Cohen's kappa.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exits, both explicit and both carrying a reason. This closes the dead-end scan-fail loop found in the original process diagram, which returned only to the capture step and offered no manual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this is a precondition, not a quality metric. No amount of extra footage repairs it, because the scale factor has no other source. Message quality is scored in Suite C, not left to taste — a clip with the head cropped must produce a re-capture verdict that names the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asymmetry: blocking checks end the session, coaching signals only change what the agent says next. Mixing the two is how capture flows become frustrating.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accuracy here rather than in the questions. Measurement error consuming a quarter to a half of a size step is exactly why the outcome-learning loop matters — the two halves of the project support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in one line: made-up data may generate the inputs, never the answer you then report as a result. SURREAL passes because the measurements come from the geometry itself, not from a model we are trying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is the weakest part of most agentic projects, so it is the place to be strongest. Note that the judge is itself validated: agreement with human ratings reported as Cohen's kappa on a held-out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for only one technical slide beyond the topology, make it this one. Verifiable hallucination detection is unusual in a student project and it follows directly from the architectural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on the right is the point: because LangGraph checkpoints to Supabase Postgres, the browser can subscribe to the graph's own state over Realtime. That is what makes a live agent console possible instead of a progress spinner.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colleague pushes back that this is over-engineered for a consumer, agree — and say the exam version and the shipped version can differ by a feature flag. That is slide 8's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walking order, then go screen by screen. Do not linger — the detail is on the next five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1 — Capture. Ask the amber question out loud and write the answer on the slide; that is the output of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2 — Profile. Ask the amber question out loud and write the answer on the slide; that is the output of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3 — Recommendation. Ask the amber question out loud and write the answer on the slide; that is the output of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4 — Agent console. Ask the amber question out loud and write the answer on the slide; that is the output of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5 — Learning loop. Ask the amber question out loud and write the answer on the slide; that is the output of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row is the project-management point: the computer-vision risk is concentrated in the first three weeks and has a pre-agreed fallback that leaves the agentic layer — the graded part —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gate means the whole body, face included, passes through the pipeline — so say plainly that the privacy claim is a retention claim, which is verifiable in the schema rather than asserted. Top-of-head detection needs no facial features, so face masking at ingest is compatible with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next step: with these five answers, the scaffold is a Next.js repo on Vercel, the Supabase schema with RLS and Realtime, and the Modal app with stub endpoints and a compiling LangGraph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demo rather than on a summary slide. Rehearse it until it runs in three minutes without narration — the moment the recommendation shifts after a typed return reason is when the whole architecture becomes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33"/>
        </a:solidFill>
      </p:bgPr>
    </p:bg>
    <p:spTree>
      <p:nvGrpSpPr>
        <p:cNvPr id="1" name=""/>
        <p:cNvGrpSpPr/>
        <p:nvPr/>
      </p:nvGrpSpPr>
      <p:grpSpPr>
        <a:xfrm>
          <a:off x="0" y="0"/>
          <a:ext cx="0" cy="0"/>
          <a:chOff x="0" y="0"/>
          <a:chExt cx="0" cy="0"/>
        </a:xfrm>
      </p:grpSpPr>
      <p:sp>
        <p:nvSpPr>
          <p:cNvPr id="2" name="Shape 0"/>
          <p:cNvSpPr/>
          <p:nvPr/>
        </p:nvSpPr>
        <p:spPr>
          <a:xfrm>
            <a:off x="502920" y="1335024"/>
            <a:ext cx="0" cy="146304"/>
          </a:xfrm>
          <a:prstGeom prst="line">
            <a:avLst/>
          </a:prstGeom>
          <a:noFill/>
          <a:ln w="12700">
            <a:solidFill>
              <a:srgbClr val="E0A458"/>
            </a:solidFill>
            <a:prstDash val="solid"/>
          </a:ln>
        </p:spPr>
      </p:sp>
      <p:sp>
        <p:nvSpPr>
          <p:cNvPr id="3" name="Shape 1"/>
          <p:cNvSpPr/>
          <p:nvPr/>
        </p:nvSpPr>
        <p:spPr>
          <a:xfrm>
            <a:off x="685800" y="1408176"/>
            <a:ext cx="0" cy="73152"/>
          </a:xfrm>
          <a:prstGeom prst="line">
            <a:avLst/>
          </a:prstGeom>
          <a:noFill/>
          <a:ln w="12700">
            <a:solidFill>
              <a:srgbClr val="6E7699"/>
            </a:solidFill>
            <a:prstDash val="solid"/>
          </a:ln>
        </p:spPr>
      </p:sp>
      <p:sp>
        <p:nvSpPr>
          <p:cNvPr id="4" name="Shape 2"/>
          <p:cNvSpPr/>
          <p:nvPr/>
        </p:nvSpPr>
        <p:spPr>
          <a:xfrm>
            <a:off x="868680" y="1408176"/>
            <a:ext cx="0" cy="73152"/>
          </a:xfrm>
          <a:prstGeom prst="line">
            <a:avLst/>
          </a:prstGeom>
          <a:noFill/>
          <a:ln w="12700">
            <a:solidFill>
              <a:srgbClr val="6E7699"/>
            </a:solidFill>
            <a:prstDash val="solid"/>
          </a:ln>
        </p:spPr>
      </p:sp>
      <p:sp>
        <p:nvSpPr>
          <p:cNvPr id="5" name="Shape 3"/>
          <p:cNvSpPr/>
          <p:nvPr/>
        </p:nvSpPr>
        <p:spPr>
          <a:xfrm>
            <a:off x="1051560" y="1408176"/>
            <a:ext cx="0" cy="73152"/>
          </a:xfrm>
          <a:prstGeom prst="line">
            <a:avLst/>
          </a:prstGeom>
          <a:noFill/>
          <a:ln w="12700">
            <a:solidFill>
              <a:srgbClr val="6E7699"/>
            </a:solidFill>
            <a:prstDash val="solid"/>
          </a:ln>
        </p:spPr>
      </p:sp>
      <p:sp>
        <p:nvSpPr>
          <p:cNvPr id="6" name="Shape 4"/>
          <p:cNvSpPr/>
          <p:nvPr/>
        </p:nvSpPr>
        <p:spPr>
          <a:xfrm>
            <a:off x="1234440" y="1408176"/>
            <a:ext cx="0" cy="73152"/>
          </a:xfrm>
          <a:prstGeom prst="line">
            <a:avLst/>
          </a:prstGeom>
          <a:noFill/>
          <a:ln w="12700">
            <a:solidFill>
              <a:srgbClr val="6E7699"/>
            </a:solidFill>
            <a:prstDash val="solid"/>
          </a:ln>
        </p:spPr>
      </p:sp>
      <p:sp>
        <p:nvSpPr>
          <p:cNvPr id="7" name="Shape 5"/>
          <p:cNvSpPr/>
          <p:nvPr/>
        </p:nvSpPr>
        <p:spPr>
          <a:xfrm>
            <a:off x="1417320" y="1335024"/>
            <a:ext cx="0" cy="146304"/>
          </a:xfrm>
          <a:prstGeom prst="line">
            <a:avLst/>
          </a:prstGeom>
          <a:noFill/>
          <a:ln w="12700">
            <a:solidFill>
              <a:srgbClr val="E0A458"/>
            </a:solidFill>
            <a:prstDash val="solid"/>
          </a:ln>
        </p:spPr>
      </p:sp>
      <p:sp>
        <p:nvSpPr>
          <p:cNvPr id="8" name="Shape 6"/>
          <p:cNvSpPr/>
          <p:nvPr/>
        </p:nvSpPr>
        <p:spPr>
          <a:xfrm>
            <a:off x="1600200" y="1408176"/>
            <a:ext cx="0" cy="73152"/>
          </a:xfrm>
          <a:prstGeom prst="line">
            <a:avLst/>
          </a:prstGeom>
          <a:noFill/>
          <a:ln w="12700">
            <a:solidFill>
              <a:srgbClr val="6E7699"/>
            </a:solidFill>
            <a:prstDash val="solid"/>
          </a:ln>
        </p:spPr>
      </p:sp>
      <p:sp>
        <p:nvSpPr>
          <p:cNvPr id="9" name="Shape 7"/>
          <p:cNvSpPr/>
          <p:nvPr/>
        </p:nvSpPr>
        <p:spPr>
          <a:xfrm>
            <a:off x="1783080" y="1408176"/>
            <a:ext cx="0" cy="73152"/>
          </a:xfrm>
          <a:prstGeom prst="line">
            <a:avLst/>
          </a:prstGeom>
          <a:noFill/>
          <a:ln w="12700">
            <a:solidFill>
              <a:srgbClr val="6E7699"/>
            </a:solidFill>
            <a:prstDash val="solid"/>
          </a:ln>
        </p:spPr>
      </p:sp>
      <p:sp>
        <p:nvSpPr>
          <p:cNvPr id="10" name="Shape 8"/>
          <p:cNvSpPr/>
          <p:nvPr/>
        </p:nvSpPr>
        <p:spPr>
          <a:xfrm>
            <a:off x="1965960" y="1408176"/>
            <a:ext cx="0" cy="73152"/>
          </a:xfrm>
          <a:prstGeom prst="line">
            <a:avLst/>
          </a:prstGeom>
          <a:noFill/>
          <a:ln w="12700">
            <a:solidFill>
              <a:srgbClr val="6E7699"/>
            </a:solidFill>
            <a:prstDash val="solid"/>
          </a:ln>
        </p:spPr>
      </p:sp>
      <p:sp>
        <p:nvSpPr>
          <p:cNvPr id="11" name="Shape 9"/>
          <p:cNvSpPr/>
          <p:nvPr/>
        </p:nvSpPr>
        <p:spPr>
          <a:xfrm>
            <a:off x="2148840" y="1408176"/>
            <a:ext cx="0" cy="73152"/>
          </a:xfrm>
          <a:prstGeom prst="line">
            <a:avLst/>
          </a:prstGeom>
          <a:noFill/>
          <a:ln w="12700">
            <a:solidFill>
              <a:srgbClr val="6E7699"/>
            </a:solidFill>
            <a:prstDash val="solid"/>
          </a:ln>
        </p:spPr>
      </p:sp>
      <p:sp>
        <p:nvSpPr>
          <p:cNvPr id="12" name="Shape 10"/>
          <p:cNvSpPr/>
          <p:nvPr/>
        </p:nvSpPr>
        <p:spPr>
          <a:xfrm>
            <a:off x="2331720" y="1335024"/>
            <a:ext cx="0" cy="146304"/>
          </a:xfrm>
          <a:prstGeom prst="line">
            <a:avLst/>
          </a:prstGeom>
          <a:noFill/>
          <a:ln w="12700">
            <a:solidFill>
              <a:srgbClr val="E0A458"/>
            </a:solidFill>
            <a:prstDash val="solid"/>
          </a:ln>
        </p:spPr>
      </p:sp>
      <p:sp>
        <p:nvSpPr>
          <p:cNvPr id="13" name="Shape 11"/>
          <p:cNvSpPr/>
          <p:nvPr/>
        </p:nvSpPr>
        <p:spPr>
          <a:xfrm>
            <a:off x="2514600" y="1408176"/>
            <a:ext cx="0" cy="73152"/>
          </a:xfrm>
          <a:prstGeom prst="line">
            <a:avLst/>
          </a:prstGeom>
          <a:noFill/>
          <a:ln w="12700">
            <a:solidFill>
              <a:srgbClr val="6E7699"/>
            </a:solidFill>
            <a:prstDash val="solid"/>
          </a:ln>
        </p:spPr>
      </p:sp>
      <p:sp>
        <p:nvSpPr>
          <p:cNvPr id="14" name="Shape 12"/>
          <p:cNvSpPr/>
          <p:nvPr/>
        </p:nvSpPr>
        <p:spPr>
          <a:xfrm>
            <a:off x="2697480" y="1408176"/>
            <a:ext cx="0" cy="73152"/>
          </a:xfrm>
          <a:prstGeom prst="line">
            <a:avLst/>
          </a:prstGeom>
          <a:noFill/>
          <a:ln w="12700">
            <a:solidFill>
              <a:srgbClr val="6E7699"/>
            </a:solidFill>
            <a:prstDash val="solid"/>
          </a:ln>
        </p:spPr>
      </p:sp>
      <p:sp>
        <p:nvSpPr>
          <p:cNvPr id="15" name="Shape 13"/>
          <p:cNvSpPr/>
          <p:nvPr/>
        </p:nvSpPr>
        <p:spPr>
          <a:xfrm>
            <a:off x="2880360" y="1408176"/>
            <a:ext cx="0" cy="73152"/>
          </a:xfrm>
          <a:prstGeom prst="line">
            <a:avLst/>
          </a:prstGeom>
          <a:noFill/>
          <a:ln w="12700">
            <a:solidFill>
              <a:srgbClr val="6E7699"/>
            </a:solidFill>
            <a:prstDash val="solid"/>
          </a:ln>
        </p:spPr>
      </p:sp>
      <p:sp>
        <p:nvSpPr>
          <p:cNvPr id="16" name="Shape 14"/>
          <p:cNvSpPr/>
          <p:nvPr/>
        </p:nvSpPr>
        <p:spPr>
          <a:xfrm>
            <a:off x="3063240" y="1408176"/>
            <a:ext cx="0" cy="73152"/>
          </a:xfrm>
          <a:prstGeom prst="line">
            <a:avLst/>
          </a:prstGeom>
          <a:noFill/>
          <a:ln w="12700">
            <a:solidFill>
              <a:srgbClr val="6E7699"/>
            </a:solidFill>
            <a:prstDash val="solid"/>
          </a:ln>
        </p:spPr>
      </p:sp>
      <p:sp>
        <p:nvSpPr>
          <p:cNvPr id="17" name="Shape 15"/>
          <p:cNvSpPr/>
          <p:nvPr/>
        </p:nvSpPr>
        <p:spPr>
          <a:xfrm>
            <a:off x="3246120" y="1335024"/>
            <a:ext cx="0" cy="146304"/>
          </a:xfrm>
          <a:prstGeom prst="line">
            <a:avLst/>
          </a:prstGeom>
          <a:noFill/>
          <a:ln w="12700">
            <a:solidFill>
              <a:srgbClr val="E0A458"/>
            </a:solidFill>
            <a:prstDash val="solid"/>
          </a:ln>
        </p:spPr>
      </p:sp>
      <p:sp>
        <p:nvSpPr>
          <p:cNvPr id="18" name="Shape 16"/>
          <p:cNvSpPr/>
          <p:nvPr/>
        </p:nvSpPr>
        <p:spPr>
          <a:xfrm>
            <a:off x="3429000" y="1408176"/>
            <a:ext cx="0" cy="73152"/>
          </a:xfrm>
          <a:prstGeom prst="line">
            <a:avLst/>
          </a:prstGeom>
          <a:noFill/>
          <a:ln w="12700">
            <a:solidFill>
              <a:srgbClr val="6E7699"/>
            </a:solidFill>
            <a:prstDash val="solid"/>
          </a:ln>
        </p:spPr>
      </p:sp>
      <p:sp>
        <p:nvSpPr>
          <p:cNvPr id="19" name="Shape 17"/>
          <p:cNvSpPr/>
          <p:nvPr/>
        </p:nvSpPr>
        <p:spPr>
          <a:xfrm>
            <a:off x="3611880" y="1408176"/>
            <a:ext cx="0" cy="73152"/>
          </a:xfrm>
          <a:prstGeom prst="line">
            <a:avLst/>
          </a:prstGeom>
          <a:noFill/>
          <a:ln w="12700">
            <a:solidFill>
              <a:srgbClr val="6E7699"/>
            </a:solidFill>
            <a:prstDash val="solid"/>
          </a:ln>
        </p:spPr>
      </p:sp>
      <p:sp>
        <p:nvSpPr>
          <p:cNvPr id="20" name="Shape 18"/>
          <p:cNvSpPr/>
          <p:nvPr/>
        </p:nvSpPr>
        <p:spPr>
          <a:xfrm>
            <a:off x="3794760" y="1408176"/>
            <a:ext cx="0" cy="73152"/>
          </a:xfrm>
          <a:prstGeom prst="line">
            <a:avLst/>
          </a:prstGeom>
          <a:noFill/>
          <a:ln w="12700">
            <a:solidFill>
              <a:srgbClr val="6E7699"/>
            </a:solidFill>
            <a:prstDash val="solid"/>
          </a:ln>
        </p:spPr>
      </p:sp>
      <p:sp>
        <p:nvSpPr>
          <p:cNvPr id="21" name="Shape 19"/>
          <p:cNvSpPr/>
          <p:nvPr/>
        </p:nvSpPr>
        <p:spPr>
          <a:xfrm>
            <a:off x="3977640" y="1408176"/>
            <a:ext cx="0" cy="73152"/>
          </a:xfrm>
          <a:prstGeom prst="line">
            <a:avLst/>
          </a:prstGeom>
          <a:noFill/>
          <a:ln w="12700">
            <a:solidFill>
              <a:srgbClr val="6E7699"/>
            </a:solidFill>
            <a:prstDash val="solid"/>
          </a:ln>
        </p:spPr>
      </p:sp>
      <p:sp>
        <p:nvSpPr>
          <p:cNvPr id="22" name="Shape 20"/>
          <p:cNvSpPr/>
          <p:nvPr/>
        </p:nvSpPr>
        <p:spPr>
          <a:xfrm>
            <a:off x="4160520" y="1335024"/>
            <a:ext cx="0" cy="146304"/>
          </a:xfrm>
          <a:prstGeom prst="line">
            <a:avLst/>
          </a:prstGeom>
          <a:noFill/>
          <a:ln w="12700">
            <a:solidFill>
              <a:srgbClr val="E0A458"/>
            </a:solidFill>
            <a:prstDash val="solid"/>
          </a:ln>
        </p:spPr>
      </p:sp>
      <p:sp>
        <p:nvSpPr>
          <p:cNvPr id="23" name="Shape 21"/>
          <p:cNvSpPr/>
          <p:nvPr/>
        </p:nvSpPr>
        <p:spPr>
          <a:xfrm>
            <a:off x="4343400" y="1408176"/>
            <a:ext cx="0" cy="73152"/>
          </a:xfrm>
          <a:prstGeom prst="line">
            <a:avLst/>
          </a:prstGeom>
          <a:noFill/>
          <a:ln w="12700">
            <a:solidFill>
              <a:srgbClr val="6E7699"/>
            </a:solidFill>
            <a:prstDash val="solid"/>
          </a:ln>
        </p:spPr>
      </p:sp>
      <p:sp>
        <p:nvSpPr>
          <p:cNvPr id="24" name="Shape 22"/>
          <p:cNvSpPr/>
          <p:nvPr/>
        </p:nvSpPr>
        <p:spPr>
          <a:xfrm>
            <a:off x="4526280" y="1408176"/>
            <a:ext cx="0" cy="73152"/>
          </a:xfrm>
          <a:prstGeom prst="line">
            <a:avLst/>
          </a:prstGeom>
          <a:noFill/>
          <a:ln w="12700">
            <a:solidFill>
              <a:srgbClr val="6E7699"/>
            </a:solidFill>
            <a:prstDash val="solid"/>
          </a:ln>
        </p:spPr>
      </p:sp>
      <p:sp>
        <p:nvSpPr>
          <p:cNvPr id="25" name="Shape 23"/>
          <p:cNvSpPr/>
          <p:nvPr/>
        </p:nvSpPr>
        <p:spPr>
          <a:xfrm>
            <a:off x="4709160" y="1408176"/>
            <a:ext cx="0" cy="73152"/>
          </a:xfrm>
          <a:prstGeom prst="line">
            <a:avLst/>
          </a:prstGeom>
          <a:noFill/>
          <a:ln w="12700">
            <a:solidFill>
              <a:srgbClr val="6E7699"/>
            </a:solidFill>
            <a:prstDash val="solid"/>
          </a:ln>
        </p:spPr>
      </p:sp>
      <p:sp>
        <p:nvSpPr>
          <p:cNvPr id="26" name="Shape 24"/>
          <p:cNvSpPr/>
          <p:nvPr/>
        </p:nvSpPr>
        <p:spPr>
          <a:xfrm>
            <a:off x="4892040" y="1408176"/>
            <a:ext cx="0" cy="73152"/>
          </a:xfrm>
          <a:prstGeom prst="line">
            <a:avLst/>
          </a:prstGeom>
          <a:noFill/>
          <a:ln w="12700">
            <a:solidFill>
              <a:srgbClr val="6E7699"/>
            </a:solidFill>
            <a:prstDash val="solid"/>
          </a:ln>
        </p:spPr>
      </p:sp>
      <p:sp>
        <p:nvSpPr>
          <p:cNvPr id="27" name="Shape 25"/>
          <p:cNvSpPr/>
          <p:nvPr/>
        </p:nvSpPr>
        <p:spPr>
          <a:xfrm>
            <a:off x="5074920" y="1335024"/>
            <a:ext cx="0" cy="146304"/>
          </a:xfrm>
          <a:prstGeom prst="line">
            <a:avLst/>
          </a:prstGeom>
          <a:noFill/>
          <a:ln w="12700">
            <a:solidFill>
              <a:srgbClr val="E0A458"/>
            </a:solidFill>
            <a:prstDash val="solid"/>
          </a:ln>
        </p:spPr>
      </p:sp>
      <p:sp>
        <p:nvSpPr>
          <p:cNvPr id="28" name="Shape 26"/>
          <p:cNvSpPr/>
          <p:nvPr/>
        </p:nvSpPr>
        <p:spPr>
          <a:xfrm>
            <a:off x="5257800" y="1408176"/>
            <a:ext cx="0" cy="73152"/>
          </a:xfrm>
          <a:prstGeom prst="line">
            <a:avLst/>
          </a:prstGeom>
          <a:noFill/>
          <a:ln w="12700">
            <a:solidFill>
              <a:srgbClr val="6E7699"/>
            </a:solidFill>
            <a:prstDash val="solid"/>
          </a:ln>
        </p:spPr>
      </p:sp>
      <p:sp>
        <p:nvSpPr>
          <p:cNvPr id="29" name="Shape 27"/>
          <p:cNvSpPr/>
          <p:nvPr/>
        </p:nvSpPr>
        <p:spPr>
          <a:xfrm>
            <a:off x="5440680" y="1408176"/>
            <a:ext cx="0" cy="73152"/>
          </a:xfrm>
          <a:prstGeom prst="line">
            <a:avLst/>
          </a:prstGeom>
          <a:noFill/>
          <a:ln w="12700">
            <a:solidFill>
              <a:srgbClr val="6E7699"/>
            </a:solidFill>
            <a:prstDash val="solid"/>
          </a:ln>
        </p:spPr>
      </p:sp>
      <p:sp>
        <p:nvSpPr>
          <p:cNvPr id="30" name="Shape 28"/>
          <p:cNvSpPr/>
          <p:nvPr/>
        </p:nvSpPr>
        <p:spPr>
          <a:xfrm>
            <a:off x="5623560" y="1408176"/>
            <a:ext cx="0" cy="73152"/>
          </a:xfrm>
          <a:prstGeom prst="line">
            <a:avLst/>
          </a:prstGeom>
          <a:noFill/>
          <a:ln w="12700">
            <a:solidFill>
              <a:srgbClr val="6E7699"/>
            </a:solidFill>
            <a:prstDash val="solid"/>
          </a:ln>
        </p:spPr>
      </p:sp>
      <p:sp>
        <p:nvSpPr>
          <p:cNvPr id="31" name="Shape 29"/>
          <p:cNvSpPr/>
          <p:nvPr/>
        </p:nvSpPr>
        <p:spPr>
          <a:xfrm>
            <a:off x="5806440" y="1408176"/>
            <a:ext cx="0" cy="73152"/>
          </a:xfrm>
          <a:prstGeom prst="line">
            <a:avLst/>
          </a:prstGeom>
          <a:noFill/>
          <a:ln w="12700">
            <a:solidFill>
              <a:srgbClr val="6E7699"/>
            </a:solidFill>
            <a:prstDash val="solid"/>
          </a:ln>
        </p:spPr>
      </p:sp>
      <p:sp>
        <p:nvSpPr>
          <p:cNvPr id="32" name="Shape 30"/>
          <p:cNvSpPr/>
          <p:nvPr/>
        </p:nvSpPr>
        <p:spPr>
          <a:xfrm>
            <a:off x="5989320" y="1335024"/>
            <a:ext cx="0" cy="146304"/>
          </a:xfrm>
          <a:prstGeom prst="line">
            <a:avLst/>
          </a:prstGeom>
          <a:noFill/>
          <a:ln w="12700">
            <a:solidFill>
              <a:srgbClr val="E0A458"/>
            </a:solidFill>
            <a:prstDash val="solid"/>
          </a:ln>
        </p:spPr>
      </p:sp>
      <p:sp>
        <p:nvSpPr>
          <p:cNvPr id="33" name="Shape 31"/>
          <p:cNvSpPr/>
          <p:nvPr/>
        </p:nvSpPr>
        <p:spPr>
          <a:xfrm>
            <a:off x="6172200" y="1408176"/>
            <a:ext cx="0" cy="73152"/>
          </a:xfrm>
          <a:prstGeom prst="line">
            <a:avLst/>
          </a:prstGeom>
          <a:noFill/>
          <a:ln w="12700">
            <a:solidFill>
              <a:srgbClr val="6E7699"/>
            </a:solidFill>
            <a:prstDash val="solid"/>
          </a:ln>
        </p:spPr>
      </p:sp>
      <p:sp>
        <p:nvSpPr>
          <p:cNvPr id="34" name="Shape 32"/>
          <p:cNvSpPr/>
          <p:nvPr/>
        </p:nvSpPr>
        <p:spPr>
          <a:xfrm>
            <a:off x="6355080" y="1408176"/>
            <a:ext cx="0" cy="73152"/>
          </a:xfrm>
          <a:prstGeom prst="line">
            <a:avLst/>
          </a:prstGeom>
          <a:noFill/>
          <a:ln w="12700">
            <a:solidFill>
              <a:srgbClr val="6E7699"/>
            </a:solidFill>
            <a:prstDash val="solid"/>
          </a:ln>
        </p:spPr>
      </p:sp>
      <p:sp>
        <p:nvSpPr>
          <p:cNvPr id="35" name="Shape 33"/>
          <p:cNvSpPr/>
          <p:nvPr/>
        </p:nvSpPr>
        <p:spPr>
          <a:xfrm>
            <a:off x="6537960" y="1408176"/>
            <a:ext cx="0" cy="73152"/>
          </a:xfrm>
          <a:prstGeom prst="line">
            <a:avLst/>
          </a:prstGeom>
          <a:noFill/>
          <a:ln w="12700">
            <a:solidFill>
              <a:srgbClr val="6E7699"/>
            </a:solidFill>
            <a:prstDash val="solid"/>
          </a:ln>
        </p:spPr>
      </p:sp>
      <p:sp>
        <p:nvSpPr>
          <p:cNvPr id="36" name="Shape 34"/>
          <p:cNvSpPr/>
          <p:nvPr/>
        </p:nvSpPr>
        <p:spPr>
          <a:xfrm>
            <a:off x="6720840" y="1408176"/>
            <a:ext cx="0" cy="73152"/>
          </a:xfrm>
          <a:prstGeom prst="line">
            <a:avLst/>
          </a:prstGeom>
          <a:noFill/>
          <a:ln w="12700">
            <a:solidFill>
              <a:srgbClr val="6E7699"/>
            </a:solidFill>
            <a:prstDash val="solid"/>
          </a:ln>
        </p:spPr>
      </p:sp>
      <p:sp>
        <p:nvSpPr>
          <p:cNvPr id="37" name="Shape 35"/>
          <p:cNvSpPr/>
          <p:nvPr/>
        </p:nvSpPr>
        <p:spPr>
          <a:xfrm>
            <a:off x="6903720" y="1335024"/>
            <a:ext cx="0" cy="146304"/>
          </a:xfrm>
          <a:prstGeom prst="line">
            <a:avLst/>
          </a:prstGeom>
          <a:noFill/>
          <a:ln w="12700">
            <a:solidFill>
              <a:srgbClr val="E0A458"/>
            </a:solidFill>
            <a:prstDash val="solid"/>
          </a:ln>
        </p:spPr>
      </p:sp>
      <p:sp>
        <p:nvSpPr>
          <p:cNvPr id="38" name="Shape 36"/>
          <p:cNvSpPr/>
          <p:nvPr/>
        </p:nvSpPr>
        <p:spPr>
          <a:xfrm>
            <a:off x="7086600" y="1408176"/>
            <a:ext cx="0" cy="73152"/>
          </a:xfrm>
          <a:prstGeom prst="line">
            <a:avLst/>
          </a:prstGeom>
          <a:noFill/>
          <a:ln w="12700">
            <a:solidFill>
              <a:srgbClr val="6E7699"/>
            </a:solidFill>
            <a:prstDash val="solid"/>
          </a:ln>
        </p:spPr>
      </p:sp>
      <p:sp>
        <p:nvSpPr>
          <p:cNvPr id="39" name="Shape 37"/>
          <p:cNvSpPr/>
          <p:nvPr/>
        </p:nvSpPr>
        <p:spPr>
          <a:xfrm>
            <a:off x="7269480" y="1408176"/>
            <a:ext cx="0" cy="73152"/>
          </a:xfrm>
          <a:prstGeom prst="line">
            <a:avLst/>
          </a:prstGeom>
          <a:noFill/>
          <a:ln w="12700">
            <a:solidFill>
              <a:srgbClr val="6E7699"/>
            </a:solidFill>
            <a:prstDash val="solid"/>
          </a:ln>
        </p:spPr>
      </p:sp>
      <p:sp>
        <p:nvSpPr>
          <p:cNvPr id="40" name="Shape 38"/>
          <p:cNvSpPr/>
          <p:nvPr/>
        </p:nvSpPr>
        <p:spPr>
          <a:xfrm>
            <a:off x="7452360" y="1408176"/>
            <a:ext cx="0" cy="73152"/>
          </a:xfrm>
          <a:prstGeom prst="line">
            <a:avLst/>
          </a:prstGeom>
          <a:noFill/>
          <a:ln w="12700">
            <a:solidFill>
              <a:srgbClr val="6E7699"/>
            </a:solidFill>
            <a:prstDash val="solid"/>
          </a:ln>
        </p:spPr>
      </p:sp>
      <p:sp>
        <p:nvSpPr>
          <p:cNvPr id="41" name="Shape 39"/>
          <p:cNvSpPr/>
          <p:nvPr/>
        </p:nvSpPr>
        <p:spPr>
          <a:xfrm>
            <a:off x="7635240" y="1408176"/>
            <a:ext cx="0" cy="73152"/>
          </a:xfrm>
          <a:prstGeom prst="line">
            <a:avLst/>
          </a:prstGeom>
          <a:noFill/>
          <a:ln w="12700">
            <a:solidFill>
              <a:srgbClr val="6E7699"/>
            </a:solidFill>
            <a:prstDash val="solid"/>
          </a:ln>
        </p:spPr>
      </p:sp>
      <p:sp>
        <p:nvSpPr>
          <p:cNvPr id="42" name="Shape 40"/>
          <p:cNvSpPr/>
          <p:nvPr/>
        </p:nvSpPr>
        <p:spPr>
          <a:xfrm>
            <a:off x="7818120" y="1335024"/>
            <a:ext cx="0" cy="146304"/>
          </a:xfrm>
          <a:prstGeom prst="line">
            <a:avLst/>
          </a:prstGeom>
          <a:noFill/>
          <a:ln w="12700">
            <a:solidFill>
              <a:srgbClr val="E0A458"/>
            </a:solidFill>
            <a:prstDash val="solid"/>
          </a:ln>
        </p:spPr>
      </p:sp>
      <p:sp>
        <p:nvSpPr>
          <p:cNvPr id="43" name="Shape 41"/>
          <p:cNvSpPr/>
          <p:nvPr/>
        </p:nvSpPr>
        <p:spPr>
          <a:xfrm>
            <a:off x="8001000" y="1408176"/>
            <a:ext cx="0" cy="73152"/>
          </a:xfrm>
          <a:prstGeom prst="line">
            <a:avLst/>
          </a:prstGeom>
          <a:noFill/>
          <a:ln w="12700">
            <a:solidFill>
              <a:srgbClr val="6E7699"/>
            </a:solidFill>
            <a:prstDash val="solid"/>
          </a:ln>
        </p:spPr>
      </p:sp>
      <p:sp>
        <p:nvSpPr>
          <p:cNvPr id="44" name="Shape 42"/>
          <p:cNvSpPr/>
          <p:nvPr/>
        </p:nvSpPr>
        <p:spPr>
          <a:xfrm>
            <a:off x="8183880" y="1408176"/>
            <a:ext cx="0" cy="73152"/>
          </a:xfrm>
          <a:prstGeom prst="line">
            <a:avLst/>
          </a:prstGeom>
          <a:noFill/>
          <a:ln w="12700">
            <a:solidFill>
              <a:srgbClr val="6E7699"/>
            </a:solidFill>
            <a:prstDash val="solid"/>
          </a:ln>
        </p:spPr>
      </p:sp>
      <p:sp>
        <p:nvSpPr>
          <p:cNvPr id="45" name="Shape 43"/>
          <p:cNvSpPr/>
          <p:nvPr/>
        </p:nvSpPr>
        <p:spPr>
          <a:xfrm>
            <a:off x="8366760" y="1408176"/>
            <a:ext cx="0" cy="73152"/>
          </a:xfrm>
          <a:prstGeom prst="line">
            <a:avLst/>
          </a:prstGeom>
          <a:noFill/>
          <a:ln w="12700">
            <a:solidFill>
              <a:srgbClr val="6E7699"/>
            </a:solidFill>
            <a:prstDash val="solid"/>
          </a:ln>
        </p:spPr>
      </p:sp>
      <p:sp>
        <p:nvSpPr>
          <p:cNvPr id="46" name="Shape 44"/>
          <p:cNvSpPr/>
          <p:nvPr/>
        </p:nvSpPr>
        <p:spPr>
          <a:xfrm>
            <a:off x="8549640" y="1408176"/>
            <a:ext cx="0" cy="73152"/>
          </a:xfrm>
          <a:prstGeom prst="line">
            <a:avLst/>
          </a:prstGeom>
          <a:noFill/>
          <a:ln w="12700">
            <a:solidFill>
              <a:srgbClr val="6E7699"/>
            </a:solidFill>
            <a:prstDash val="solid"/>
          </a:ln>
        </p:spPr>
      </p:sp>
      <p:sp>
        <p:nvSpPr>
          <p:cNvPr id="47" name="Shape 45"/>
          <p:cNvSpPr/>
          <p:nvPr/>
        </p:nvSpPr>
        <p:spPr>
          <a:xfrm>
            <a:off x="8732520" y="1335024"/>
            <a:ext cx="0" cy="146304"/>
          </a:xfrm>
          <a:prstGeom prst="line">
            <a:avLst/>
          </a:prstGeom>
          <a:noFill/>
          <a:ln w="12700">
            <a:solidFill>
              <a:srgbClr val="E0A458"/>
            </a:solidFill>
            <a:prstDash val="solid"/>
          </a:ln>
        </p:spPr>
      </p:sp>
      <p:sp>
        <p:nvSpPr>
          <p:cNvPr id="48" name="Text 46"/>
          <p:cNvSpPr txBox="1"/>
          <p:nvPr/>
        </p:nvSpPr>
        <p:spPr>
          <a:xfrm>
            <a:off x="502920" y="777240"/>
            <a:ext cx="11185855" cy="274320"/>
          </a:xfrm>
          <a:prstGeom prst="rect">
            <a:avLst/>
          </a:prstGeom>
          <a:noFill/>
          <a:ln/>
        </p:spPr>
        <p:txBody>
          <a:bodyPr wrap="square" lIns="0" tIns="0" rIns="0" bIns="0" rtlCol="0" anchor="ctr"/>
          <a:lstStyle/>
          <a:p>
            <a:pPr indent="0" marL="0">
              <a:buNone/>
            </a:pPr>
            <a:r>
              <a:rPr lang="en-US" sz="1100" b="1" spc="240" kern="0" dirty="0">
                <a:solidFill>
                  <a:srgbClr val="E0A458"/>
                </a:solidFill>
                <a:latin typeface="Arial" pitchFamily="34" charset="0"/>
                <a:ea typeface="Arial" pitchFamily="34" charset="-122"/>
                <a:cs typeface="Arial" pitchFamily="34" charset="-120"/>
              </a:rPr>
              <a:t>Master's MVP · system, plan and interface · v0.1</a:t>
            </a:r>
            <a:endParaRPr lang="en-US" sz="1100" dirty="0"/>
          </a:p>
        </p:txBody>
      </p:sp>
      <p:sp>
        <p:nvSpPr>
          <p:cNvPr id="49" name="Text 47"/>
          <p:cNvSpPr txBox="1"/>
          <p:nvPr/>
        </p:nvSpPr>
        <p:spPr>
          <a:xfrm>
            <a:off x="502920" y="1783080"/>
            <a:ext cx="11185855" cy="960120"/>
          </a:xfrm>
          <a:prstGeom prst="rect">
            <a:avLst/>
          </a:prstGeom>
          <a:noFill/>
          <a:ln/>
        </p:spPr>
        <p:txBody>
          <a:bodyPr wrap="square" lIns="0" tIns="0" rIns="0" bIns="0" rtlCol="0" anchor="ctr"/>
          <a:lstStyle/>
          <a:p>
            <a:pPr indent="0" marL="0">
              <a:buNone/>
            </a:pPr>
            <a:r>
              <a:rPr lang="en-US" sz="4600" b="1" dirty="0">
                <a:solidFill>
                  <a:srgbClr val="F2F3F8"/>
                </a:solidFill>
                <a:latin typeface="Arial" pitchFamily="34" charset="0"/>
                <a:ea typeface="Arial" pitchFamily="34" charset="-122"/>
                <a:cs typeface="Arial" pitchFamily="34" charset="-120"/>
              </a:rPr>
              <a:t>SartorIA</a:t>
            </a:r>
            <a:endParaRPr lang="en-US" sz="4600" dirty="0"/>
          </a:p>
        </p:txBody>
      </p:sp>
      <p:sp>
        <p:nvSpPr>
          <p:cNvPr id="50" name="Text 48"/>
          <p:cNvSpPr txBox="1"/>
          <p:nvPr/>
        </p:nvSpPr>
        <p:spPr>
          <a:xfrm>
            <a:off x="502920" y="2743200"/>
            <a:ext cx="9692640" cy="1060704"/>
          </a:xfrm>
          <a:prstGeom prst="rect">
            <a:avLst/>
          </a:prstGeom>
          <a:noFill/>
          <a:ln/>
        </p:spPr>
        <p:txBody>
          <a:bodyPr wrap="square" lIns="0" tIns="0" rIns="0" bIns="0" rtlCol="0" anchor="ctr"/>
          <a:lstStyle/>
          <a:p>
            <a:pPr indent="0" marL="0">
              <a:lnSpc>
                <a:spcPct val="125000"/>
              </a:lnSpc>
              <a:buNone/>
            </a:pPr>
            <a:r>
              <a:rPr lang="en-US" sz="1550" dirty="0">
                <a:solidFill>
                  <a:srgbClr val="9BA1C1"/>
                </a:solidFill>
                <a:latin typeface="Arial" pitchFamily="34" charset="0"/>
                <a:ea typeface="Arial" pitchFamily="34" charset="-122"/>
                <a:cs typeface="Arial" pitchFamily="34" charset="-120"/>
              </a:rPr>
              <a:t>Six AI agents that turn a phone video into leg measurements, tidy up brands' size charts,</a:t>
            </a:r>
            <a:endParaRPr lang="en-US" sz="1550" dirty="0"/>
          </a:p>
          <a:p>
            <a:pPr indent="0" marL="0">
              <a:lnSpc>
                <a:spcPct val="125000"/>
              </a:lnSpc>
              <a:buNone/>
            </a:pPr>
            <a:r>
              <a:rPr lang="en-US" sz="1550" dirty="0">
                <a:solidFill>
                  <a:srgbClr val="9BA1C1"/>
                </a:solidFill>
                <a:latin typeface="Arial" pitchFamily="34" charset="0"/>
                <a:ea typeface="Arial" pitchFamily="34" charset="-122"/>
                <a:cs typeface="Arial" pitchFamily="34" charset="-120"/>
              </a:rPr>
              <a:t>recommend a trouser size, and learn from what people send back — plus the five screens that show it working.</a:t>
            </a:r>
            <a:endParaRPr lang="en-US" sz="1550" dirty="0"/>
          </a:p>
        </p:txBody>
      </p:sp>
      <p:sp>
        <p:nvSpPr>
          <p:cNvPr id="51" name="Text 49"/>
          <p:cNvSpPr txBox="1"/>
          <p:nvPr/>
        </p:nvSpPr>
        <p:spPr>
          <a:xfrm>
            <a:off x="502920"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13–14</a:t>
            </a:r>
            <a:endParaRPr lang="en-US" sz="4000" dirty="0"/>
          </a:p>
        </p:txBody>
      </p:sp>
      <p:sp>
        <p:nvSpPr>
          <p:cNvPr id="52" name="Text 50"/>
          <p:cNvSpPr txBox="1"/>
          <p:nvPr/>
        </p:nvSpPr>
        <p:spPr>
          <a:xfrm>
            <a:off x="502920"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weeks part-time</a:t>
            </a:r>
            <a:endParaRPr lang="en-US" sz="1150" dirty="0"/>
          </a:p>
        </p:txBody>
      </p:sp>
      <p:sp>
        <p:nvSpPr>
          <p:cNvPr id="53" name="Text 51"/>
          <p:cNvSpPr txBox="1"/>
          <p:nvPr/>
        </p:nvSpPr>
        <p:spPr>
          <a:xfrm>
            <a:off x="3300984"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6</a:t>
            </a:r>
            <a:endParaRPr lang="en-US" sz="4000" dirty="0"/>
          </a:p>
        </p:txBody>
      </p:sp>
      <p:sp>
        <p:nvSpPr>
          <p:cNvPr id="54" name="Text 52"/>
          <p:cNvSpPr txBox="1"/>
          <p:nvPr/>
        </p:nvSpPr>
        <p:spPr>
          <a:xfrm>
            <a:off x="3300984"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agents</a:t>
            </a:r>
            <a:endParaRPr lang="en-US" sz="1150" dirty="0"/>
          </a:p>
        </p:txBody>
      </p:sp>
      <p:sp>
        <p:nvSpPr>
          <p:cNvPr id="55" name="Text 53"/>
          <p:cNvSpPr txBox="1"/>
          <p:nvPr/>
        </p:nvSpPr>
        <p:spPr>
          <a:xfrm>
            <a:off x="6099048"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5</a:t>
            </a:r>
            <a:endParaRPr lang="en-US" sz="4000" dirty="0"/>
          </a:p>
        </p:txBody>
      </p:sp>
      <p:sp>
        <p:nvSpPr>
          <p:cNvPr id="56" name="Text 54"/>
          <p:cNvSpPr txBox="1"/>
          <p:nvPr/>
        </p:nvSpPr>
        <p:spPr>
          <a:xfrm>
            <a:off x="6099048"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screens</a:t>
            </a:r>
            <a:endParaRPr lang="en-US" sz="1150" dirty="0"/>
          </a:p>
        </p:txBody>
      </p:sp>
      <p:sp>
        <p:nvSpPr>
          <p:cNvPr id="57" name="Text 55"/>
          <p:cNvSpPr txBox="1"/>
          <p:nvPr/>
        </p:nvSpPr>
        <p:spPr>
          <a:xfrm>
            <a:off x="8897112" y="4114800"/>
            <a:ext cx="2468880" cy="658368"/>
          </a:xfrm>
          <a:prstGeom prst="rect">
            <a:avLst/>
          </a:prstGeom>
          <a:noFill/>
          <a:ln/>
        </p:spPr>
        <p:txBody>
          <a:bodyPr wrap="square" lIns="0" tIns="0" rIns="0" bIns="0" rtlCol="0" anchor="b"/>
          <a:lstStyle/>
          <a:p>
            <a:pPr indent="0" marL="0">
              <a:buNone/>
            </a:pPr>
            <a:r>
              <a:rPr lang="en-US" sz="4000" b="1" dirty="0">
                <a:solidFill>
                  <a:srgbClr val="E0A458"/>
                </a:solidFill>
                <a:latin typeface="Arial" pitchFamily="34" charset="0"/>
                <a:ea typeface="Arial" pitchFamily="34" charset="-122"/>
                <a:cs typeface="Arial" pitchFamily="34" charset="-120"/>
              </a:rPr>
              <a:t>9</a:t>
            </a:r>
            <a:endParaRPr lang="en-US" sz="4000" dirty="0"/>
          </a:p>
        </p:txBody>
      </p:sp>
      <p:sp>
        <p:nvSpPr>
          <p:cNvPr id="58" name="Text 56"/>
          <p:cNvSpPr txBox="1"/>
          <p:nvPr/>
        </p:nvSpPr>
        <p:spPr>
          <a:xfrm>
            <a:off x="8897112"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measurements</a:t>
            </a:r>
            <a:endParaRPr lang="en-US" sz="1150" dirty="0"/>
          </a:p>
        </p:txBody>
      </p:sp>
      <p:sp>
        <p:nvSpPr>
          <p:cNvPr id="59" name="Text 57"/>
          <p:cNvSpPr txBox="1"/>
          <p:nvPr/>
        </p:nvSpPr>
        <p:spPr>
          <a:xfrm>
            <a:off x="502920" y="5943600"/>
            <a:ext cx="11185855" cy="274320"/>
          </a:xfrm>
          <a:prstGeom prst="rect">
            <a:avLst/>
          </a:prstGeom>
          <a:noFill/>
          <a:ln/>
        </p:spPr>
        <p:txBody>
          <a:bodyPr wrap="square" lIns="0" tIns="0" rIns="0" bIns="0" rtlCol="0" anchor="ctr"/>
          <a:lstStyle/>
          <a:p>
            <a:pPr indent="0" marL="0">
              <a:buNone/>
            </a:pPr>
            <a:r>
              <a:rPr lang="en-US" sz="1200" i="1" dirty="0">
                <a:solidFill>
                  <a:srgbClr val="6E7699"/>
                </a:solidFill>
                <a:latin typeface="Arial" pitchFamily="34" charset="0"/>
                <a:ea typeface="Arial" pitchFamily="34" charset="-122"/>
                <a:cs typeface="Arial" pitchFamily="34" charset="-120"/>
              </a:rPr>
              <a:t>Part one is the system and the plan. Part two is the interface, and it carries the questions I need answered.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CLAIM</a:t>
            </a:r>
            <a:endParaRPr lang="en-US" sz="950" dirty="0"/>
          </a:p>
        </p:txBody>
      </p:sp>
      <p:sp>
        <p:nvSpPr>
          <p:cNvPr id="3" name="Text 1"/>
          <p:cNvSpPr txBox="1"/>
          <p:nvPr/>
        </p:nvSpPr>
        <p:spPr>
          <a:xfrm>
            <a:off x="502920" y="914400"/>
            <a:ext cx="10607040" cy="1371600"/>
          </a:xfrm>
          <a:prstGeom prst="rect">
            <a:avLst/>
          </a:prstGeom>
          <a:noFill/>
          <a:ln/>
        </p:spPr>
        <p:txBody>
          <a:bodyPr wrap="square" lIns="0" tIns="0" rIns="0" bIns="0" rtlCol="0" anchor="ctr"/>
          <a:lstStyle/>
          <a:p>
            <a:pPr indent="0" marL="0">
              <a:lnSpc>
                <a:spcPct val="112000"/>
              </a:lnSpc>
              <a:buNone/>
            </a:pPr>
            <a:r>
              <a:rPr lang="en-US" sz="3200" b="1" dirty="0">
                <a:solidFill>
                  <a:srgbClr val="F2F3F8"/>
                </a:solidFill>
                <a:latin typeface="Arial" pitchFamily="34" charset="0"/>
                <a:ea typeface="Arial" pitchFamily="34" charset="-122"/>
                <a:cs typeface="Arial" pitchFamily="34" charset="-120"/>
              </a:rPr>
              <a:t>The AI handles the messy parts.</a:t>
            </a:r>
            <a:endParaRPr lang="en-US" sz="3200" dirty="0"/>
          </a:p>
          <a:p>
            <a:pPr indent="0" marL="0">
              <a:lnSpc>
                <a:spcPct val="112000"/>
              </a:lnSpc>
              <a:buNone/>
            </a:pPr>
            <a:r>
              <a:rPr lang="en-US" sz="3200" b="1" dirty="0">
                <a:solidFill>
                  <a:srgbClr val="F2F3F8"/>
                </a:solidFill>
                <a:latin typeface="Arial" pitchFamily="34" charset="0"/>
                <a:ea typeface="Arial" pitchFamily="34" charset="-122"/>
                <a:cs typeface="Arial" pitchFamily="34" charset="-120"/>
              </a:rPr>
              <a:t>The maths stays ordinary code.</a:t>
            </a:r>
            <a:endParaRPr lang="en-US" sz="3200" dirty="0"/>
          </a:p>
        </p:txBody>
      </p:sp>
      <p:sp>
        <p:nvSpPr>
          <p:cNvPr id="4" name="Shape 2"/>
          <p:cNvSpPr/>
          <p:nvPr/>
        </p:nvSpPr>
        <p:spPr>
          <a:xfrm>
            <a:off x="502920" y="2606040"/>
            <a:ext cx="5394960" cy="3017520"/>
          </a:xfrm>
          <a:prstGeom prst="roundRect">
            <a:avLst>
              <a:gd name="adj" fmla="val 1818"/>
            </a:avLst>
          </a:prstGeom>
          <a:solidFill>
            <a:srgbClr val="252943"/>
          </a:solidFill>
          <a:ln w="12700">
            <a:solidFill>
              <a:srgbClr val="252943"/>
            </a:solidFill>
            <a:prstDash val="solid"/>
          </a:ln>
        </p:spPr>
      </p:sp>
      <p:sp>
        <p:nvSpPr>
          <p:cNvPr id="5" name="Shape 3"/>
          <p:cNvSpPr/>
          <p:nvPr/>
        </p:nvSpPr>
        <p:spPr>
          <a:xfrm>
            <a:off x="868680" y="2889504"/>
            <a:ext cx="146304" cy="146304"/>
          </a:xfrm>
          <a:prstGeom prst="ellipse">
            <a:avLst/>
          </a:prstGeom>
          <a:solidFill>
            <a:srgbClr val="E0A458"/>
          </a:solidFill>
          <a:ln w="12700">
            <a:solidFill>
              <a:srgbClr val="E0A458"/>
            </a:solidFill>
            <a:prstDash val="solid"/>
          </a:ln>
        </p:spPr>
      </p:sp>
      <p:sp>
        <p:nvSpPr>
          <p:cNvPr id="6" name="Text 4"/>
          <p:cNvSpPr txBox="1"/>
          <p:nvPr/>
        </p:nvSpPr>
        <p:spPr>
          <a:xfrm>
            <a:off x="1124712" y="2816352"/>
            <a:ext cx="4480560" cy="292608"/>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Where the AI works</a:t>
            </a:r>
            <a:endParaRPr lang="en-US" sz="1700" dirty="0"/>
          </a:p>
        </p:txBody>
      </p:sp>
      <p:sp>
        <p:nvSpPr>
          <p:cNvPr id="7" name="Text 5"/>
          <p:cNvSpPr txBox="1"/>
          <p:nvPr/>
        </p:nvSpPr>
        <p:spPr>
          <a:xfrm>
            <a:off x="868680" y="3310128"/>
            <a:ext cx="4663440" cy="21031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Messy input: video, web pages, PDFs, sentences people type</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Writing in plain language, and answering follow-up questions</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Deciding how many steps to take, when to stop, when to give up</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Knowing when it is not sure</a:t>
            </a:r>
            <a:endParaRPr lang="en-US" sz="1250" dirty="0"/>
          </a:p>
        </p:txBody>
      </p:sp>
      <p:sp>
        <p:nvSpPr>
          <p:cNvPr id="8" name="Shape 6"/>
          <p:cNvSpPr/>
          <p:nvPr/>
        </p:nvSpPr>
        <p:spPr>
          <a:xfrm>
            <a:off x="6281928" y="2606040"/>
            <a:ext cx="5394960" cy="3017520"/>
          </a:xfrm>
          <a:prstGeom prst="roundRect">
            <a:avLst>
              <a:gd name="adj" fmla="val 1818"/>
            </a:avLst>
          </a:prstGeom>
          <a:solidFill>
            <a:srgbClr val="252943"/>
          </a:solidFill>
          <a:ln w="12700">
            <a:solidFill>
              <a:srgbClr val="252943"/>
            </a:solidFill>
            <a:prstDash val="solid"/>
          </a:ln>
        </p:spPr>
      </p:sp>
      <p:sp>
        <p:nvSpPr>
          <p:cNvPr id="9" name="Shape 7"/>
          <p:cNvSpPr/>
          <p:nvPr/>
        </p:nvSpPr>
        <p:spPr>
          <a:xfrm>
            <a:off x="6647688" y="2889504"/>
            <a:ext cx="146304" cy="146304"/>
          </a:xfrm>
          <a:prstGeom prst="ellipse">
            <a:avLst/>
          </a:prstGeom>
          <a:solidFill>
            <a:srgbClr val="83B4DE"/>
          </a:solidFill>
          <a:ln w="12700">
            <a:solidFill>
              <a:srgbClr val="83B4DE"/>
            </a:solidFill>
            <a:prstDash val="solid"/>
          </a:ln>
        </p:spPr>
      </p:sp>
      <p:sp>
        <p:nvSpPr>
          <p:cNvPr id="10" name="Text 8"/>
          <p:cNvSpPr txBox="1"/>
          <p:nvPr/>
        </p:nvSpPr>
        <p:spPr>
          <a:xfrm>
            <a:off x="6903720" y="2816352"/>
            <a:ext cx="4480560" cy="292608"/>
          </a:xfrm>
          <a:prstGeom prst="rect">
            <a:avLst/>
          </a:prstGeom>
          <a:noFill/>
          <a:ln/>
        </p:spPr>
        <p:txBody>
          <a:bodyPr wrap="square" lIns="0" tIns="0" rIns="0" bIns="0" rtlCol="0" anchor="ctr"/>
          <a:lstStyle/>
          <a:p>
            <a:pPr indent="0" marL="0">
              <a:buNone/>
            </a:pPr>
            <a:r>
              <a:rPr lang="en-US" sz="1700" b="1" dirty="0">
                <a:solidFill>
                  <a:srgbClr val="83B4DE"/>
                </a:solidFill>
                <a:latin typeface="Arial" pitchFamily="34" charset="0"/>
                <a:ea typeface="Arial" pitchFamily="34" charset="-122"/>
                <a:cs typeface="Arial" pitchFamily="34" charset="-120"/>
              </a:rPr>
              <a:t>Where ordinary code works</a:t>
            </a:r>
            <a:endParaRPr lang="en-US" sz="1700" dirty="0"/>
          </a:p>
        </p:txBody>
      </p:sp>
      <p:sp>
        <p:nvSpPr>
          <p:cNvPr id="11" name="Text 9"/>
          <p:cNvSpPr txBox="1"/>
          <p:nvPr/>
        </p:nvSpPr>
        <p:spPr>
          <a:xfrm>
            <a:off x="6647688" y="3310128"/>
            <a:ext cx="4663440" cy="21031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Taking measurements off the 3D body model</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Comparing each measurement with what the size allows</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Correcting each brand once we know how its clothes really fit</a:t>
            </a:r>
            <a:endParaRPr lang="en-US" sz="1250" dirty="0"/>
          </a:p>
          <a:p>
            <a:pPr marL="342900" indent="-342900">
              <a:spcAft>
                <a:spcPts val="900"/>
              </a:spcAft>
              <a:buSzPct val="100000"/>
              <a:buChar char="•"/>
            </a:pPr>
            <a:r>
              <a:rPr lang="en-US" sz="1250" dirty="0">
                <a:solidFill>
                  <a:srgbClr val="F2F3F8"/>
                </a:solidFill>
                <a:latin typeface="Arial" pitchFamily="34" charset="0"/>
                <a:ea typeface="Arial" pitchFamily="34" charset="-122"/>
                <a:cs typeface="Arial" pitchFamily="34" charset="-120"/>
              </a:rPr>
              <a:t>Same answer every time, testable, free to run</a:t>
            </a:r>
            <a:endParaRPr lang="en-US" sz="1250" dirty="0"/>
          </a:p>
        </p:txBody>
      </p:sp>
      <p:sp>
        <p:nvSpPr>
          <p:cNvPr id="12" name="Text 10"/>
          <p:cNvSpPr txBox="1"/>
          <p:nvPr/>
        </p:nvSpPr>
        <p:spPr>
          <a:xfrm>
            <a:off x="502920" y="5870448"/>
            <a:ext cx="11185855" cy="310896"/>
          </a:xfrm>
          <a:prstGeom prst="rect">
            <a:avLst/>
          </a:prstGeom>
          <a:noFill/>
          <a:ln/>
        </p:spPr>
        <p:txBody>
          <a:bodyPr wrap="square" lIns="0" tIns="0" rIns="0" bIns="0" rtlCol="0" anchor="ctr"/>
          <a:lstStyle/>
          <a:p>
            <a:pPr indent="0" marL="0">
              <a:buNone/>
            </a:pPr>
            <a:r>
              <a:rPr lang="en-US" sz="1300" i="1" dirty="0">
                <a:solidFill>
                  <a:srgbClr val="E0A458"/>
                </a:solidFill>
                <a:latin typeface="Arial" pitchFamily="34" charset="0"/>
                <a:ea typeface="Arial" pitchFamily="34" charset="-122"/>
                <a:cs typeface="Arial" pitchFamily="34" charset="-120"/>
              </a:rPr>
              <a:t>Picking the size is arithmetic. Letting the AI do the arithmetic would be a bug, not a feature.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GLOSSARY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Five words, defined once</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These five come up on every slide from here on. Nothing else in the deck needs a definition.</a:t>
            </a:r>
            <a:endParaRPr lang="en-US" sz="1300" dirty="0"/>
          </a:p>
        </p:txBody>
      </p:sp>
      <p:sp>
        <p:nvSpPr>
          <p:cNvPr id="5" name="Shape 3"/>
          <p:cNvSpPr/>
          <p:nvPr/>
        </p:nvSpPr>
        <p:spPr>
          <a:xfrm>
            <a:off x="502920" y="1572768"/>
            <a:ext cx="11185855" cy="822960"/>
          </a:xfrm>
          <a:prstGeom prst="roundRect">
            <a:avLst>
              <a:gd name="adj" fmla="val 6667"/>
            </a:avLst>
          </a:prstGeom>
          <a:solidFill>
            <a:srgbClr val="252943"/>
          </a:solidFill>
          <a:ln w="12700">
            <a:solidFill>
              <a:srgbClr val="252943"/>
            </a:solidFill>
            <a:prstDash val="solid"/>
          </a:ln>
        </p:spPr>
      </p:sp>
      <p:sp>
        <p:nvSpPr>
          <p:cNvPr id="6" name="Shape 4"/>
          <p:cNvSpPr/>
          <p:nvPr/>
        </p:nvSpPr>
        <p:spPr>
          <a:xfrm>
            <a:off x="740664" y="1810512"/>
            <a:ext cx="347472" cy="347472"/>
          </a:xfrm>
          <a:prstGeom prst="ellipse">
            <a:avLst/>
          </a:prstGeom>
          <a:solidFill>
            <a:srgbClr val="83B4DE"/>
          </a:solidFill>
          <a:ln w="12700">
            <a:solidFill>
              <a:srgbClr val="83B4DE"/>
            </a:solidFill>
            <a:prstDash val="solid"/>
          </a:ln>
        </p:spPr>
      </p:sp>
      <p:sp>
        <p:nvSpPr>
          <p:cNvPr id="7" name="Text 5"/>
          <p:cNvSpPr txBox="1"/>
          <p:nvPr/>
        </p:nvSpPr>
        <p:spPr>
          <a:xfrm>
            <a:off x="740664" y="1810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289304" y="1847088"/>
            <a:ext cx="246888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Agent</a:t>
            </a:r>
            <a:endParaRPr lang="en-US" sz="1500" dirty="0"/>
          </a:p>
        </p:txBody>
      </p:sp>
      <p:sp>
        <p:nvSpPr>
          <p:cNvPr id="9" name="Text 7"/>
          <p:cNvSpPr txBox="1"/>
          <p:nvPr/>
        </p:nvSpPr>
        <p:spPr>
          <a:xfrm>
            <a:off x="3941064" y="1572768"/>
            <a:ext cx="7452360" cy="822960"/>
          </a:xfrm>
          <a:prstGeom prst="rect">
            <a:avLst/>
          </a:prstGeom>
          <a:noFill/>
          <a:ln/>
        </p:spPr>
        <p:txBody>
          <a:bodyPr wrap="square" lIns="0" tIns="0" rIns="0" bIns="0" rtlCol="0" anchor="ctr"/>
          <a:lstStyle/>
          <a:p>
            <a:pPr indent="0" marL="0">
              <a:lnSpc>
                <a:spcPct val="116000"/>
              </a:lnSpc>
              <a:buNone/>
            </a:pPr>
            <a:r>
              <a:rPr lang="en-US" sz="1250" dirty="0">
                <a:solidFill>
                  <a:srgbClr val="F2F3F8"/>
                </a:solidFill>
                <a:latin typeface="Arial" pitchFamily="34" charset="0"/>
                <a:ea typeface="Arial" pitchFamily="34" charset="-122"/>
                <a:cs typeface="Arial" pitchFamily="34" charset="-120"/>
              </a:rPr>
              <a:t>A piece of AI that decides its own next step and can use tools, instead of answering once and stopping. This project has six.</a:t>
            </a:r>
            <a:endParaRPr lang="en-US" sz="1250" dirty="0"/>
          </a:p>
        </p:txBody>
      </p:sp>
      <p:sp>
        <p:nvSpPr>
          <p:cNvPr id="10" name="Shape 8"/>
          <p:cNvSpPr/>
          <p:nvPr/>
        </p:nvSpPr>
        <p:spPr>
          <a:xfrm>
            <a:off x="502920" y="2487168"/>
            <a:ext cx="11185855" cy="822960"/>
          </a:xfrm>
          <a:prstGeom prst="roundRect">
            <a:avLst>
              <a:gd name="adj" fmla="val 6667"/>
            </a:avLst>
          </a:prstGeom>
          <a:solidFill>
            <a:srgbClr val="252943"/>
          </a:solidFill>
          <a:ln w="12700">
            <a:solidFill>
              <a:srgbClr val="252943"/>
            </a:solidFill>
            <a:prstDash val="solid"/>
          </a:ln>
        </p:spPr>
      </p:sp>
      <p:sp>
        <p:nvSpPr>
          <p:cNvPr id="11" name="Shape 9"/>
          <p:cNvSpPr/>
          <p:nvPr/>
        </p:nvSpPr>
        <p:spPr>
          <a:xfrm>
            <a:off x="740664" y="2724912"/>
            <a:ext cx="347472" cy="347472"/>
          </a:xfrm>
          <a:prstGeom prst="ellipse">
            <a:avLst/>
          </a:prstGeom>
          <a:solidFill>
            <a:srgbClr val="83B4DE"/>
          </a:solidFill>
          <a:ln w="12700">
            <a:solidFill>
              <a:srgbClr val="83B4DE"/>
            </a:solidFill>
            <a:prstDash val="solid"/>
          </a:ln>
        </p:spPr>
      </p:sp>
      <p:sp>
        <p:nvSpPr>
          <p:cNvPr id="12" name="Text 10"/>
          <p:cNvSpPr txBox="1"/>
          <p:nvPr/>
        </p:nvSpPr>
        <p:spPr>
          <a:xfrm>
            <a:off x="740664" y="27249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1289304" y="2761488"/>
            <a:ext cx="246888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Tool</a:t>
            </a:r>
            <a:endParaRPr lang="en-US" sz="1500" dirty="0"/>
          </a:p>
        </p:txBody>
      </p:sp>
      <p:sp>
        <p:nvSpPr>
          <p:cNvPr id="14" name="Text 12"/>
          <p:cNvSpPr txBox="1"/>
          <p:nvPr/>
        </p:nvSpPr>
        <p:spPr>
          <a:xfrm>
            <a:off x="3941064" y="2487168"/>
            <a:ext cx="7452360" cy="822960"/>
          </a:xfrm>
          <a:prstGeom prst="rect">
            <a:avLst/>
          </a:prstGeom>
          <a:noFill/>
          <a:ln/>
        </p:spPr>
        <p:txBody>
          <a:bodyPr wrap="square" lIns="0" tIns="0" rIns="0" bIns="0" rtlCol="0" anchor="ctr"/>
          <a:lstStyle/>
          <a:p>
            <a:pPr indent="0" marL="0">
              <a:lnSpc>
                <a:spcPct val="116000"/>
              </a:lnSpc>
              <a:buNone/>
            </a:pPr>
            <a:r>
              <a:rPr lang="en-US" sz="1250" dirty="0">
                <a:solidFill>
                  <a:srgbClr val="F2F3F8"/>
                </a:solidFill>
                <a:latin typeface="Arial" pitchFamily="34" charset="0"/>
                <a:ea typeface="Arial" pitchFamily="34" charset="-122"/>
                <a:cs typeface="Arial" pitchFamily="34" charset="-120"/>
              </a:rPr>
              <a:t>Something an agent is allowed to call: fetch a web page, convert inches to centimetres, run the size calculator.</a:t>
            </a:r>
            <a:endParaRPr lang="en-US" sz="1250" dirty="0"/>
          </a:p>
        </p:txBody>
      </p:sp>
      <p:sp>
        <p:nvSpPr>
          <p:cNvPr id="15" name="Shape 13"/>
          <p:cNvSpPr/>
          <p:nvPr/>
        </p:nvSpPr>
        <p:spPr>
          <a:xfrm>
            <a:off x="502920" y="3401568"/>
            <a:ext cx="11185855" cy="822960"/>
          </a:xfrm>
          <a:prstGeom prst="roundRect">
            <a:avLst>
              <a:gd name="adj" fmla="val 6667"/>
            </a:avLst>
          </a:prstGeom>
          <a:solidFill>
            <a:srgbClr val="252943"/>
          </a:solidFill>
          <a:ln w="12700">
            <a:solidFill>
              <a:srgbClr val="252943"/>
            </a:solidFill>
            <a:prstDash val="solid"/>
          </a:ln>
        </p:spPr>
      </p:sp>
      <p:sp>
        <p:nvSpPr>
          <p:cNvPr id="16" name="Shape 14"/>
          <p:cNvSpPr/>
          <p:nvPr/>
        </p:nvSpPr>
        <p:spPr>
          <a:xfrm>
            <a:off x="740664" y="3639312"/>
            <a:ext cx="347472" cy="347472"/>
          </a:xfrm>
          <a:prstGeom prst="ellipse">
            <a:avLst/>
          </a:prstGeom>
          <a:solidFill>
            <a:srgbClr val="83B4DE"/>
          </a:solidFill>
          <a:ln w="12700">
            <a:solidFill>
              <a:srgbClr val="83B4DE"/>
            </a:solidFill>
            <a:prstDash val="solid"/>
          </a:ln>
        </p:spPr>
      </p:sp>
      <p:sp>
        <p:nvSpPr>
          <p:cNvPr id="17" name="Text 15"/>
          <p:cNvSpPr txBox="1"/>
          <p:nvPr/>
        </p:nvSpPr>
        <p:spPr>
          <a:xfrm>
            <a:off x="740664" y="36393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289304" y="3529584"/>
            <a:ext cx="246888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The calculator</a:t>
            </a:r>
            <a:endParaRPr lang="en-US" sz="1500" dirty="0"/>
          </a:p>
        </p:txBody>
      </p:sp>
      <p:sp>
        <p:nvSpPr>
          <p:cNvPr id="19" name="Text 17"/>
          <p:cNvSpPr txBox="1"/>
          <p:nvPr/>
        </p:nvSpPr>
        <p:spPr>
          <a:xfrm>
            <a:off x="1289304" y="3822192"/>
            <a:ext cx="2468880" cy="237744"/>
          </a:xfrm>
          <a:prstGeom prst="rect">
            <a:avLst/>
          </a:prstGeom>
          <a:noFill/>
          <a:ln/>
        </p:spPr>
        <p:txBody>
          <a:bodyPr wrap="square" lIns="0" tIns="0" rIns="0" bIns="0" rtlCol="0" anchor="ctr"/>
          <a:lstStyle/>
          <a:p>
            <a:pPr indent="0" marL="0">
              <a:buNone/>
            </a:pPr>
            <a:r>
              <a:rPr lang="en-US" sz="950" dirty="0">
                <a:solidFill>
                  <a:srgbClr val="6E7699"/>
                </a:solidFill>
                <a:latin typeface="Arial" pitchFamily="34" charset="0"/>
                <a:ea typeface="Arial" pitchFamily="34" charset="-122"/>
                <a:cs typeface="Arial" pitchFamily="34" charset="-120"/>
              </a:rPr>
              <a:t>in the code: fit engine</a:t>
            </a:r>
            <a:endParaRPr lang="en-US" sz="950" dirty="0"/>
          </a:p>
        </p:txBody>
      </p:sp>
      <p:sp>
        <p:nvSpPr>
          <p:cNvPr id="20" name="Text 18"/>
          <p:cNvSpPr txBox="1"/>
          <p:nvPr/>
        </p:nvSpPr>
        <p:spPr>
          <a:xfrm>
            <a:off x="3941064" y="3401568"/>
            <a:ext cx="7452360" cy="822960"/>
          </a:xfrm>
          <a:prstGeom prst="rect">
            <a:avLst/>
          </a:prstGeom>
          <a:noFill/>
          <a:ln/>
        </p:spPr>
        <p:txBody>
          <a:bodyPr wrap="square" lIns="0" tIns="0" rIns="0" bIns="0" rtlCol="0" anchor="ctr"/>
          <a:lstStyle/>
          <a:p>
            <a:pPr indent="0" marL="0">
              <a:lnSpc>
                <a:spcPct val="116000"/>
              </a:lnSpc>
              <a:buNone/>
            </a:pPr>
            <a:r>
              <a:rPr lang="en-US" sz="1250" dirty="0">
                <a:solidFill>
                  <a:srgbClr val="F2F3F8"/>
                </a:solidFill>
                <a:latin typeface="Arial" pitchFamily="34" charset="0"/>
                <a:ea typeface="Arial" pitchFamily="34" charset="-122"/>
                <a:cs typeface="Arial" pitchFamily="34" charset="-120"/>
              </a:rPr>
              <a:t>Ordinary code that actually picks the size. Same input, same answer, every time. The AI never does this arithmetic.</a:t>
            </a:r>
            <a:endParaRPr lang="en-US" sz="1250" dirty="0"/>
          </a:p>
        </p:txBody>
      </p:sp>
      <p:sp>
        <p:nvSpPr>
          <p:cNvPr id="21" name="Shape 19"/>
          <p:cNvSpPr/>
          <p:nvPr/>
        </p:nvSpPr>
        <p:spPr>
          <a:xfrm>
            <a:off x="502920" y="4315968"/>
            <a:ext cx="11185855" cy="822960"/>
          </a:xfrm>
          <a:prstGeom prst="roundRect">
            <a:avLst>
              <a:gd name="adj" fmla="val 6667"/>
            </a:avLst>
          </a:prstGeom>
          <a:solidFill>
            <a:srgbClr val="252943"/>
          </a:solidFill>
          <a:ln w="12700">
            <a:solidFill>
              <a:srgbClr val="252943"/>
            </a:solidFill>
            <a:prstDash val="solid"/>
          </a:ln>
        </p:spPr>
      </p:sp>
      <p:sp>
        <p:nvSpPr>
          <p:cNvPr id="22" name="Shape 20"/>
          <p:cNvSpPr/>
          <p:nvPr/>
        </p:nvSpPr>
        <p:spPr>
          <a:xfrm>
            <a:off x="740664" y="4553712"/>
            <a:ext cx="347472" cy="347472"/>
          </a:xfrm>
          <a:prstGeom prst="ellipse">
            <a:avLst/>
          </a:prstGeom>
          <a:solidFill>
            <a:srgbClr val="83B4DE"/>
          </a:solidFill>
          <a:ln w="12700">
            <a:solidFill>
              <a:srgbClr val="83B4DE"/>
            </a:solidFill>
            <a:prstDash val="solid"/>
          </a:ln>
        </p:spPr>
      </p:sp>
      <p:sp>
        <p:nvSpPr>
          <p:cNvPr id="23" name="Text 21"/>
          <p:cNvSpPr txBox="1"/>
          <p:nvPr/>
        </p:nvSpPr>
        <p:spPr>
          <a:xfrm>
            <a:off x="740664" y="45537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4" name="Text 22"/>
          <p:cNvSpPr txBox="1"/>
          <p:nvPr/>
        </p:nvSpPr>
        <p:spPr>
          <a:xfrm>
            <a:off x="1289304" y="4443984"/>
            <a:ext cx="246888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A check</a:t>
            </a:r>
            <a:endParaRPr lang="en-US" sz="1500" dirty="0"/>
          </a:p>
        </p:txBody>
      </p:sp>
      <p:sp>
        <p:nvSpPr>
          <p:cNvPr id="25" name="Text 23"/>
          <p:cNvSpPr txBox="1"/>
          <p:nvPr/>
        </p:nvSpPr>
        <p:spPr>
          <a:xfrm>
            <a:off x="1289304" y="4736592"/>
            <a:ext cx="2468880" cy="237744"/>
          </a:xfrm>
          <a:prstGeom prst="rect">
            <a:avLst/>
          </a:prstGeom>
          <a:noFill/>
          <a:ln/>
        </p:spPr>
        <p:txBody>
          <a:bodyPr wrap="square" lIns="0" tIns="0" rIns="0" bIns="0" rtlCol="0" anchor="ctr"/>
          <a:lstStyle/>
          <a:p>
            <a:pPr indent="0" marL="0">
              <a:buNone/>
            </a:pPr>
            <a:r>
              <a:rPr lang="en-US" sz="950" dirty="0">
                <a:solidFill>
                  <a:srgbClr val="6E7699"/>
                </a:solidFill>
                <a:latin typeface="Arial" pitchFamily="34" charset="0"/>
                <a:ea typeface="Arial" pitchFamily="34" charset="-122"/>
                <a:cs typeface="Arial" pitchFamily="34" charset="-120"/>
              </a:rPr>
              <a:t>in the code: gate</a:t>
            </a:r>
            <a:endParaRPr lang="en-US" sz="950" dirty="0"/>
          </a:p>
        </p:txBody>
      </p:sp>
      <p:sp>
        <p:nvSpPr>
          <p:cNvPr id="26" name="Text 24"/>
          <p:cNvSpPr txBox="1"/>
          <p:nvPr/>
        </p:nvSpPr>
        <p:spPr>
          <a:xfrm>
            <a:off x="3941064" y="4315968"/>
            <a:ext cx="7452360" cy="822960"/>
          </a:xfrm>
          <a:prstGeom prst="rect">
            <a:avLst/>
          </a:prstGeom>
          <a:noFill/>
          <a:ln/>
        </p:spPr>
        <p:txBody>
          <a:bodyPr wrap="square" lIns="0" tIns="0" rIns="0" bIns="0" rtlCol="0" anchor="ctr"/>
          <a:lstStyle/>
          <a:p>
            <a:pPr indent="0" marL="0">
              <a:lnSpc>
                <a:spcPct val="116000"/>
              </a:lnSpc>
              <a:buNone/>
            </a:pPr>
            <a:r>
              <a:rPr lang="en-US" sz="1250" dirty="0">
                <a:solidFill>
                  <a:srgbClr val="F2F3F8"/>
                </a:solidFill>
                <a:latin typeface="Arial" pitchFamily="34" charset="0"/>
                <a:ea typeface="Arial" pitchFamily="34" charset="-122"/>
                <a:cs typeface="Arial" pitchFamily="34" charset="-120"/>
              </a:rPr>
              <a:t>A test that has to pass, or the session stops and the person is told exactly what went wrong.</a:t>
            </a:r>
            <a:endParaRPr lang="en-US" sz="1250" dirty="0"/>
          </a:p>
        </p:txBody>
      </p:sp>
      <p:sp>
        <p:nvSpPr>
          <p:cNvPr id="27" name="Shape 25"/>
          <p:cNvSpPr/>
          <p:nvPr/>
        </p:nvSpPr>
        <p:spPr>
          <a:xfrm>
            <a:off x="502920" y="5230368"/>
            <a:ext cx="11185855" cy="822960"/>
          </a:xfrm>
          <a:prstGeom prst="roundRect">
            <a:avLst>
              <a:gd name="adj" fmla="val 6667"/>
            </a:avLst>
          </a:prstGeom>
          <a:solidFill>
            <a:srgbClr val="252943"/>
          </a:solidFill>
          <a:ln w="12700">
            <a:solidFill>
              <a:srgbClr val="252943"/>
            </a:solidFill>
            <a:prstDash val="solid"/>
          </a:ln>
        </p:spPr>
      </p:sp>
      <p:sp>
        <p:nvSpPr>
          <p:cNvPr id="28" name="Shape 26"/>
          <p:cNvSpPr/>
          <p:nvPr/>
        </p:nvSpPr>
        <p:spPr>
          <a:xfrm>
            <a:off x="740664" y="5468112"/>
            <a:ext cx="347472" cy="347472"/>
          </a:xfrm>
          <a:prstGeom prst="ellipse">
            <a:avLst/>
          </a:prstGeom>
          <a:solidFill>
            <a:srgbClr val="83B4DE"/>
          </a:solidFill>
          <a:ln w="12700">
            <a:solidFill>
              <a:srgbClr val="83B4DE"/>
            </a:solidFill>
            <a:prstDash val="solid"/>
          </a:ln>
        </p:spPr>
      </p:sp>
      <p:sp>
        <p:nvSpPr>
          <p:cNvPr id="29" name="Text 27"/>
          <p:cNvSpPr txBox="1"/>
          <p:nvPr/>
        </p:nvSpPr>
        <p:spPr>
          <a:xfrm>
            <a:off x="740664" y="54681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30" name="Text 28"/>
          <p:cNvSpPr txBox="1"/>
          <p:nvPr/>
        </p:nvSpPr>
        <p:spPr>
          <a:xfrm>
            <a:off x="1289304" y="5358384"/>
            <a:ext cx="246888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Measurement point</a:t>
            </a:r>
            <a:endParaRPr lang="en-US" sz="1500" dirty="0"/>
          </a:p>
        </p:txBody>
      </p:sp>
      <p:sp>
        <p:nvSpPr>
          <p:cNvPr id="31" name="Text 29"/>
          <p:cNvSpPr txBox="1"/>
          <p:nvPr/>
        </p:nvSpPr>
        <p:spPr>
          <a:xfrm>
            <a:off x="1289304" y="5650992"/>
            <a:ext cx="2468880" cy="237744"/>
          </a:xfrm>
          <a:prstGeom prst="rect">
            <a:avLst/>
          </a:prstGeom>
          <a:noFill/>
          <a:ln/>
        </p:spPr>
        <p:txBody>
          <a:bodyPr wrap="square" lIns="0" tIns="0" rIns="0" bIns="0" rtlCol="0" anchor="ctr"/>
          <a:lstStyle/>
          <a:p>
            <a:pPr indent="0" marL="0">
              <a:buNone/>
            </a:pPr>
            <a:r>
              <a:rPr lang="en-US" sz="950" dirty="0">
                <a:solidFill>
                  <a:srgbClr val="6E7699"/>
                </a:solidFill>
                <a:latin typeface="Arial" pitchFamily="34" charset="0"/>
                <a:ea typeface="Arial" pitchFamily="34" charset="-122"/>
                <a:cs typeface="Arial" pitchFamily="34" charset="-120"/>
              </a:rPr>
              <a:t>in the code: landmark</a:t>
            </a:r>
            <a:endParaRPr lang="en-US" sz="950" dirty="0"/>
          </a:p>
        </p:txBody>
      </p:sp>
      <p:sp>
        <p:nvSpPr>
          <p:cNvPr id="32" name="Text 30"/>
          <p:cNvSpPr txBox="1"/>
          <p:nvPr/>
        </p:nvSpPr>
        <p:spPr>
          <a:xfrm>
            <a:off x="3941064" y="5230368"/>
            <a:ext cx="7452360" cy="822960"/>
          </a:xfrm>
          <a:prstGeom prst="rect">
            <a:avLst/>
          </a:prstGeom>
          <a:noFill/>
          <a:ln/>
        </p:spPr>
        <p:txBody>
          <a:bodyPr wrap="square" lIns="0" tIns="0" rIns="0" bIns="0" rtlCol="0" anchor="ctr"/>
          <a:lstStyle/>
          <a:p>
            <a:pPr indent="0" marL="0">
              <a:lnSpc>
                <a:spcPct val="116000"/>
              </a:lnSpc>
              <a:buNone/>
            </a:pPr>
            <a:r>
              <a:rPr lang="en-US" sz="1250" dirty="0">
                <a:solidFill>
                  <a:srgbClr val="F2F3F8"/>
                </a:solidFill>
                <a:latin typeface="Arial" pitchFamily="34" charset="0"/>
                <a:ea typeface="Arial" pitchFamily="34" charset="-122"/>
                <a:cs typeface="Arial" pitchFamily="34" charset="-120"/>
              </a:rPr>
              <a:t>A place on the body we measure — waist, thigh, knee, ankle. Nine of them for trousers.</a:t>
            </a:r>
            <a:endParaRPr lang="en-US" sz="1250" dirty="0"/>
          </a:p>
        </p:txBody>
      </p:sp>
      <p:sp>
        <p:nvSpPr>
          <p:cNvPr id="33" name="Text 31"/>
          <p:cNvSpPr txBox="1"/>
          <p:nvPr/>
        </p:nvSpPr>
        <p:spPr>
          <a:xfrm>
            <a:off x="502920" y="6236208"/>
            <a:ext cx="11185855" cy="310896"/>
          </a:xfrm>
          <a:prstGeom prst="rect">
            <a:avLst/>
          </a:prstGeom>
          <a:noFill/>
          <a:ln/>
        </p:spPr>
        <p:txBody>
          <a:bodyPr wrap="square" lIns="0" tIns="0" rIns="0" bIns="0" rtlCol="0" anchor="ctr"/>
          <a:lstStyle/>
          <a:p>
            <a:pPr indent="0" marL="0">
              <a:buNone/>
            </a:pPr>
            <a:r>
              <a:rPr lang="en-US" sz="1250" i="1" dirty="0">
                <a:solidFill>
                  <a:srgbClr val="9BA1C1"/>
                </a:solidFill>
                <a:latin typeface="Arial" pitchFamily="34" charset="0"/>
                <a:ea typeface="Arial" pitchFamily="34" charset="-122"/>
                <a:cs typeface="Arial" pitchFamily="34" charset="-120"/>
              </a:rPr>
              <a:t>Everything else on the slides is either a brand name, a dataset name, or a number.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3F8"/>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TEST WE APPLY TO EVERY STEP</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1B1D33"/>
                </a:solidFill>
                <a:latin typeface="Arial" pitchFamily="34" charset="0"/>
                <a:ea typeface="Arial" pitchFamily="34" charset="-122"/>
                <a:cs typeface="Arial" pitchFamily="34" charset="-120"/>
              </a:rPr>
              <a:t>Which steps actually need AI?</a:t>
            </a:r>
            <a:endParaRPr lang="en-US" sz="3000" dirty="0"/>
          </a:p>
        </p:txBody>
      </p:sp>
      <p:sp>
        <p:nvSpPr>
          <p:cNvPr id="4" name="Shape 2"/>
          <p:cNvSpPr/>
          <p:nvPr/>
        </p:nvSpPr>
        <p:spPr>
          <a:xfrm>
            <a:off x="502920" y="1572768"/>
            <a:ext cx="3529584" cy="1170432"/>
          </a:xfrm>
          <a:prstGeom prst="roundRect">
            <a:avLst>
              <a:gd name="adj" fmla="val 4688"/>
            </a:avLst>
          </a:prstGeom>
          <a:solidFill>
            <a:srgbClr val="FFFFFF"/>
          </a:solidFill>
          <a:ln w="12700">
            <a:solidFill>
              <a:srgbClr val="E2E6F0"/>
            </a:solidFill>
            <a:prstDash val="solid"/>
          </a:ln>
        </p:spPr>
      </p:sp>
      <p:sp>
        <p:nvSpPr>
          <p:cNvPr id="5" name="Shape 3"/>
          <p:cNvSpPr/>
          <p:nvPr/>
        </p:nvSpPr>
        <p:spPr>
          <a:xfrm>
            <a:off x="758952" y="1773936"/>
            <a:ext cx="329184" cy="329184"/>
          </a:xfrm>
          <a:prstGeom prst="ellipse">
            <a:avLst/>
          </a:prstGeom>
          <a:solidFill>
            <a:srgbClr val="C08A1E"/>
          </a:solidFill>
          <a:ln w="12700">
            <a:solidFill>
              <a:srgbClr val="C08A1E"/>
            </a:solidFill>
            <a:prstDash val="solid"/>
          </a:ln>
        </p:spPr>
      </p:sp>
      <p:sp>
        <p:nvSpPr>
          <p:cNvPr id="6" name="Text 4"/>
          <p:cNvSpPr txBox="1"/>
          <p:nvPr/>
        </p:nvSpPr>
        <p:spPr>
          <a:xfrm>
            <a:off x="758952"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216152" y="1737360"/>
            <a:ext cx="2651760" cy="841248"/>
          </a:xfrm>
          <a:prstGeom prst="rect">
            <a:avLst/>
          </a:prstGeom>
          <a:noFill/>
          <a:ln/>
        </p:spPr>
        <p:txBody>
          <a:bodyPr wrap="square" lIns="0" tIns="0" rIns="0" bIns="0" rtlCol="0" anchor="ctr"/>
          <a:lstStyle/>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Is the input messy,</a:t>
            </a:r>
            <a:endParaRPr lang="en-US" sz="1250" dirty="0"/>
          </a:p>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and different every time?</a:t>
            </a:r>
            <a:endParaRPr lang="en-US" sz="1250" dirty="0"/>
          </a:p>
        </p:txBody>
      </p:sp>
      <p:sp>
        <p:nvSpPr>
          <p:cNvPr id="8" name="Shape 6"/>
          <p:cNvSpPr/>
          <p:nvPr/>
        </p:nvSpPr>
        <p:spPr>
          <a:xfrm>
            <a:off x="4288536" y="1572768"/>
            <a:ext cx="3529584" cy="1170432"/>
          </a:xfrm>
          <a:prstGeom prst="roundRect">
            <a:avLst>
              <a:gd name="adj" fmla="val 4688"/>
            </a:avLst>
          </a:prstGeom>
          <a:solidFill>
            <a:srgbClr val="FFFFFF"/>
          </a:solidFill>
          <a:ln w="12700">
            <a:solidFill>
              <a:srgbClr val="E2E6F0"/>
            </a:solidFill>
            <a:prstDash val="solid"/>
          </a:ln>
        </p:spPr>
      </p:sp>
      <p:sp>
        <p:nvSpPr>
          <p:cNvPr id="9" name="Shape 7"/>
          <p:cNvSpPr/>
          <p:nvPr/>
        </p:nvSpPr>
        <p:spPr>
          <a:xfrm>
            <a:off x="4544568" y="1773936"/>
            <a:ext cx="329184" cy="329184"/>
          </a:xfrm>
          <a:prstGeom prst="ellipse">
            <a:avLst/>
          </a:prstGeom>
          <a:solidFill>
            <a:srgbClr val="C08A1E"/>
          </a:solidFill>
          <a:ln w="12700">
            <a:solidFill>
              <a:srgbClr val="C08A1E"/>
            </a:solidFill>
            <a:prstDash val="solid"/>
          </a:ln>
        </p:spPr>
      </p:sp>
      <p:sp>
        <p:nvSpPr>
          <p:cNvPr id="10" name="Text 8"/>
          <p:cNvSpPr txBox="1"/>
          <p:nvPr/>
        </p:nvSpPr>
        <p:spPr>
          <a:xfrm>
            <a:off x="4544568"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5001768" y="1737360"/>
            <a:ext cx="2651760" cy="841248"/>
          </a:xfrm>
          <a:prstGeom prst="rect">
            <a:avLst/>
          </a:prstGeom>
          <a:noFill/>
          <a:ln/>
        </p:spPr>
        <p:txBody>
          <a:bodyPr wrap="square" lIns="0" tIns="0" rIns="0" bIns="0" rtlCol="0" anchor="ctr"/>
          <a:lstStyle/>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Does it have to judge</a:t>
            </a:r>
            <a:endParaRPr lang="en-US" sz="1250" dirty="0"/>
          </a:p>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how sure it is?</a:t>
            </a:r>
            <a:endParaRPr lang="en-US" sz="1250" dirty="0"/>
          </a:p>
        </p:txBody>
      </p:sp>
      <p:sp>
        <p:nvSpPr>
          <p:cNvPr id="12" name="Shape 10"/>
          <p:cNvSpPr/>
          <p:nvPr/>
        </p:nvSpPr>
        <p:spPr>
          <a:xfrm>
            <a:off x="8074152" y="1572768"/>
            <a:ext cx="3529584" cy="1170432"/>
          </a:xfrm>
          <a:prstGeom prst="roundRect">
            <a:avLst>
              <a:gd name="adj" fmla="val 4688"/>
            </a:avLst>
          </a:prstGeom>
          <a:solidFill>
            <a:srgbClr val="FFFFFF"/>
          </a:solidFill>
          <a:ln w="12700">
            <a:solidFill>
              <a:srgbClr val="E2E6F0"/>
            </a:solidFill>
            <a:prstDash val="solid"/>
          </a:ln>
        </p:spPr>
      </p:sp>
      <p:sp>
        <p:nvSpPr>
          <p:cNvPr id="13" name="Shape 11"/>
          <p:cNvSpPr/>
          <p:nvPr/>
        </p:nvSpPr>
        <p:spPr>
          <a:xfrm>
            <a:off x="8330184" y="1773936"/>
            <a:ext cx="329184" cy="329184"/>
          </a:xfrm>
          <a:prstGeom prst="ellipse">
            <a:avLst/>
          </a:prstGeom>
          <a:solidFill>
            <a:srgbClr val="C08A1E"/>
          </a:solidFill>
          <a:ln w="12700">
            <a:solidFill>
              <a:srgbClr val="C08A1E"/>
            </a:solidFill>
            <a:prstDash val="solid"/>
          </a:ln>
        </p:spPr>
      </p:sp>
      <p:sp>
        <p:nvSpPr>
          <p:cNvPr id="14" name="Text 12"/>
          <p:cNvSpPr txBox="1"/>
          <p:nvPr/>
        </p:nvSpPr>
        <p:spPr>
          <a:xfrm>
            <a:off x="8330184"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8787384" y="1737360"/>
            <a:ext cx="2651760" cy="841248"/>
          </a:xfrm>
          <a:prstGeom prst="rect">
            <a:avLst/>
          </a:prstGeom>
          <a:noFill/>
          <a:ln/>
        </p:spPr>
        <p:txBody>
          <a:bodyPr wrap="square" lIns="0" tIns="0" rIns="0" bIns="0" rtlCol="0" anchor="ctr"/>
          <a:lstStyle/>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Is it unknown in advance</a:t>
            </a:r>
            <a:endParaRPr lang="en-US" sz="1250" dirty="0"/>
          </a:p>
          <a:p>
            <a:pPr indent="0" marL="0">
              <a:lnSpc>
                <a:spcPct val="115000"/>
              </a:lnSpc>
              <a:buNone/>
            </a:pPr>
            <a:r>
              <a:rPr lang="en-US" sz="1250" b="1" dirty="0">
                <a:solidFill>
                  <a:srgbClr val="1B1D33"/>
                </a:solidFill>
                <a:latin typeface="Arial" pitchFamily="34" charset="0"/>
                <a:ea typeface="Arial" pitchFamily="34" charset="-122"/>
                <a:cs typeface="Arial" pitchFamily="34" charset="-120"/>
              </a:rPr>
              <a:t>how many steps it takes?</a:t>
            </a:r>
            <a:endParaRPr lang="en-US" sz="1250" dirty="0"/>
          </a:p>
        </p:txBody>
      </p:sp>
      <p:sp>
        <p:nvSpPr>
          <p:cNvPr id="16" name="Text 14"/>
          <p:cNvSpPr txBox="1"/>
          <p:nvPr/>
        </p:nvSpPr>
        <p:spPr>
          <a:xfrm>
            <a:off x="502920" y="2852928"/>
            <a:ext cx="11185855" cy="274320"/>
          </a:xfrm>
          <a:prstGeom prst="rect">
            <a:avLst/>
          </a:prstGeom>
          <a:noFill/>
          <a:ln/>
        </p:spPr>
        <p:txBody>
          <a:bodyPr wrap="square" lIns="0" tIns="0" rIns="0" bIns="0" rtlCol="0" anchor="ctr"/>
          <a:lstStyle/>
          <a:p>
            <a:pPr indent="0" marL="0">
              <a:buNone/>
            </a:pPr>
            <a:r>
              <a:rPr lang="en-US" sz="1250" i="1" dirty="0">
                <a:solidFill>
                  <a:srgbClr val="6A6F94"/>
                </a:solidFill>
                <a:latin typeface="Arial" pitchFamily="34" charset="0"/>
                <a:ea typeface="Arial" pitchFamily="34" charset="-122"/>
                <a:cs typeface="Arial" pitchFamily="34" charset="-120"/>
              </a:rPr>
              <a:t>At least one yes, or it is ordinary code.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3291840"/>
          <a:ext cx="11185855" cy="914400"/>
        </p:xfrm>
        <a:graphic>
          <a:graphicData uri="http://schemas.openxmlformats.org/drawingml/2006/table">
            <a:tbl>
              <a:tblPr/>
              <a:tblGrid>
                <a:gridCol w="3931920"/>
                <a:gridCol w="1005840"/>
                <a:gridCol w="6248095"/>
              </a:tblGrid>
              <a:tr h="365760">
                <a:tc>
                  <a:txBody>
                    <a:bodyPr/>
                    <a:lstStyle/>
                    <a:p>
                      <a:pPr indent="0" marL="0">
                        <a:buNone/>
                      </a:pPr>
                      <a:r>
                        <a:rPr lang="en-US" sz="1200" b="1" dirty="0">
                          <a:solidFill>
                            <a:srgbClr val="1B1D33"/>
                          </a:solidFill>
                          <a:latin typeface="Arial" pitchFamily="34" charset="0"/>
                          <a:ea typeface="Arial" pitchFamily="34" charset="-122"/>
                          <a:cs typeface="Arial" pitchFamily="34" charset="-120"/>
                        </a:rPr>
                        <a:t>Task</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b="1" dirty="0">
                          <a:solidFill>
                            <a:srgbClr val="1B1D33"/>
                          </a:solidFill>
                          <a:latin typeface="Arial" pitchFamily="34" charset="0"/>
                          <a:ea typeface="Arial" pitchFamily="34" charset="-122"/>
                          <a:cs typeface="Arial" pitchFamily="34" charset="-120"/>
                        </a:rPr>
                        <a:t>AI?</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b="1" dirty="0">
                          <a:solidFill>
                            <a:srgbClr val="1B1D33"/>
                          </a:solidFill>
                          <a:latin typeface="Arial" pitchFamily="34" charset="0"/>
                          <a:ea typeface="Arial" pitchFamily="34" charset="-122"/>
                          <a:cs typeface="Arial" pitchFamily="34" charset="-120"/>
                        </a:rPr>
                        <a:t>Why</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Tidy up a brand's size chart</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Messy input, and it has to admit when it is unsure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Read why someone sent an item back</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People write it however they like; we need it on a fixed list</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Guide the person filming</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We cannot know how many hints it will take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Explain the recommendation</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Writing, and answering follow-up questions</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Work out the fit score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No to all three. It must give the same answer every time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3"/>
                          </a:solidFill>
                          <a:latin typeface="Arial" pitchFamily="34" charset="0"/>
                          <a:ea typeface="Arial" pitchFamily="34" charset="-122"/>
                          <a:cs typeface="Arial" pitchFamily="34" charset="-120"/>
                        </a:rPr>
                        <a:t>Choose the size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indent="0" marL="0">
                        <a:buNone/>
                      </a:pPr>
                      <a:r>
                        <a:rPr lang="en-US" sz="1200" dirty="0">
                          <a:solidFill>
                            <a:srgbClr val="1B1D33"/>
                          </a:solidFill>
                          <a:latin typeface="Arial" pitchFamily="34" charset="0"/>
                          <a:ea typeface="Arial" pitchFamily="34" charset="-122"/>
                          <a:cs typeface="Arial" pitchFamily="34" charset="-120"/>
                        </a:rPr>
                        <a:t>No to all three. It must be checkable and testable</a:t>
                      </a:r>
                      <a:endParaRPr lang="en-US" sz="1200" dirty="0">
                        <a:latin typeface="Arial" charset="0"/>
                        <a:ea typeface="Arial" charset="0"/>
                        <a:cs typeface="Arial" charset="0"/>
                      </a:endParaRPr>
                    </a:p>
                  </a:txBody>
                  <a:tcPr marL="109728" marR="109728" marT="54864" marB="54864"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SYSTEM TOPOLOGY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Three ways in, one router, six agents, one calculator</a:t>
            </a:r>
            <a:endParaRPr lang="en-US" sz="3000" dirty="0"/>
          </a:p>
        </p:txBody>
      </p:sp>
      <p:sp>
        <p:nvSpPr>
          <p:cNvPr id="4" name="Shape 2"/>
          <p:cNvSpPr/>
          <p:nvPr/>
        </p:nvSpPr>
        <p:spPr>
          <a:xfrm>
            <a:off x="548640" y="1481328"/>
            <a:ext cx="3520440" cy="365760"/>
          </a:xfrm>
          <a:prstGeom prst="roundRect">
            <a:avLst>
              <a:gd name="adj" fmla="val 12500"/>
            </a:avLst>
          </a:prstGeom>
          <a:solidFill>
            <a:srgbClr val="252943"/>
          </a:solidFill>
          <a:ln w="12700">
            <a:solidFill>
              <a:srgbClr val="6E7699"/>
            </a:solidFill>
            <a:prstDash val="solid"/>
          </a:ln>
        </p:spPr>
      </p:sp>
      <p:sp>
        <p:nvSpPr>
          <p:cNvPr id="5" name="Text 3"/>
          <p:cNvSpPr txBox="1"/>
          <p:nvPr/>
        </p:nvSpPr>
        <p:spPr>
          <a:xfrm>
            <a:off x="548640" y="1481328"/>
            <a:ext cx="3520440" cy="365760"/>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New user · video + height</a:t>
            </a:r>
            <a:endParaRPr lang="en-US" sz="1100" dirty="0"/>
          </a:p>
        </p:txBody>
      </p:sp>
      <p:sp>
        <p:nvSpPr>
          <p:cNvPr id="6" name="Shape 4"/>
          <p:cNvSpPr/>
          <p:nvPr/>
        </p:nvSpPr>
        <p:spPr>
          <a:xfrm>
            <a:off x="4343400" y="1481328"/>
            <a:ext cx="3520440" cy="365760"/>
          </a:xfrm>
          <a:prstGeom prst="roundRect">
            <a:avLst>
              <a:gd name="adj" fmla="val 12500"/>
            </a:avLst>
          </a:prstGeom>
          <a:solidFill>
            <a:srgbClr val="252943"/>
          </a:solidFill>
          <a:ln w="12700">
            <a:solidFill>
              <a:srgbClr val="6E7699"/>
            </a:solidFill>
            <a:prstDash val="solid"/>
          </a:ln>
        </p:spPr>
      </p:sp>
      <p:sp>
        <p:nvSpPr>
          <p:cNvPr id="7" name="Text 5"/>
          <p:cNvSpPr txBox="1"/>
          <p:nvPr/>
        </p:nvSpPr>
        <p:spPr>
          <a:xfrm>
            <a:off x="4343400" y="1481328"/>
            <a:ext cx="3520440" cy="365760"/>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New brand · size chart URL</a:t>
            </a:r>
            <a:endParaRPr lang="en-US" sz="1100" dirty="0"/>
          </a:p>
        </p:txBody>
      </p:sp>
      <p:sp>
        <p:nvSpPr>
          <p:cNvPr id="8" name="Shape 6"/>
          <p:cNvSpPr/>
          <p:nvPr/>
        </p:nvSpPr>
        <p:spPr>
          <a:xfrm>
            <a:off x="8138160" y="1481328"/>
            <a:ext cx="3520440" cy="365760"/>
          </a:xfrm>
          <a:prstGeom prst="roundRect">
            <a:avLst>
              <a:gd name="adj" fmla="val 12500"/>
            </a:avLst>
          </a:prstGeom>
          <a:solidFill>
            <a:srgbClr val="252943"/>
          </a:solidFill>
          <a:ln w="12700">
            <a:solidFill>
              <a:srgbClr val="6E7699"/>
            </a:solidFill>
            <a:prstDash val="solid"/>
          </a:ln>
        </p:spPr>
      </p:sp>
      <p:sp>
        <p:nvSpPr>
          <p:cNvPr id="9" name="Text 7"/>
          <p:cNvSpPr txBox="1"/>
          <p:nvPr/>
        </p:nvSpPr>
        <p:spPr>
          <a:xfrm>
            <a:off x="8138160" y="1481328"/>
            <a:ext cx="3520440" cy="365760"/>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Return · free text</a:t>
            </a:r>
            <a:endParaRPr lang="en-US" sz="1100" dirty="0"/>
          </a:p>
        </p:txBody>
      </p:sp>
      <p:sp>
        <p:nvSpPr>
          <p:cNvPr id="10" name="Shape 8"/>
          <p:cNvSpPr/>
          <p:nvPr/>
        </p:nvSpPr>
        <p:spPr>
          <a:xfrm>
            <a:off x="4343400" y="2157984"/>
            <a:ext cx="3520440" cy="457200"/>
          </a:xfrm>
          <a:prstGeom prst="roundRect">
            <a:avLst>
              <a:gd name="adj" fmla="val 10000"/>
            </a:avLst>
          </a:prstGeom>
          <a:solidFill>
            <a:srgbClr val="3A3A62"/>
          </a:solidFill>
          <a:ln w="19050">
            <a:solidFill>
              <a:srgbClr val="E0A458"/>
            </a:solidFill>
            <a:prstDash val="solid"/>
          </a:ln>
        </p:spPr>
      </p:sp>
      <p:sp>
        <p:nvSpPr>
          <p:cNvPr id="11" name="Text 9"/>
          <p:cNvSpPr txBox="1"/>
          <p:nvPr/>
        </p:nvSpPr>
        <p:spPr>
          <a:xfrm>
            <a:off x="4343400" y="2157984"/>
            <a:ext cx="3520440" cy="457200"/>
          </a:xfrm>
          <a:prstGeom prst="rect">
            <a:avLst/>
          </a:prstGeom>
          <a:noFill/>
          <a:ln/>
        </p:spPr>
        <p:txBody>
          <a:bodyPr wrap="square" lIns="0" tIns="0" rIns="0" bIns="0" rtlCol="0" anchor="ctr"/>
          <a:lstStyle/>
          <a:p>
            <a:pPr algn="ctr" indent="0" marL="0">
              <a:buNone/>
            </a:pPr>
            <a:r>
              <a:rPr lang="en-US" sz="1300" b="1" dirty="0">
                <a:solidFill>
                  <a:srgbClr val="E0A458"/>
                </a:solidFill>
                <a:latin typeface="Arial" pitchFamily="34" charset="0"/>
                <a:ea typeface="Arial" pitchFamily="34" charset="-122"/>
                <a:cs typeface="Arial" pitchFamily="34" charset="-120"/>
              </a:rPr>
              <a:t>Router — decides who works next</a:t>
            </a:r>
            <a:endParaRPr lang="en-US" sz="1300" dirty="0"/>
          </a:p>
        </p:txBody>
      </p:sp>
      <p:sp>
        <p:nvSpPr>
          <p:cNvPr id="12" name="Shape 10"/>
          <p:cNvSpPr/>
          <p:nvPr/>
        </p:nvSpPr>
        <p:spPr>
          <a:xfrm>
            <a:off x="2308860" y="1847088"/>
            <a:ext cx="0" cy="128016"/>
          </a:xfrm>
          <a:prstGeom prst="line">
            <a:avLst/>
          </a:prstGeom>
          <a:noFill/>
          <a:ln w="15875">
            <a:solidFill>
              <a:srgbClr val="9BA1C1"/>
            </a:solidFill>
            <a:prstDash val="solid"/>
          </a:ln>
        </p:spPr>
      </p:sp>
      <p:sp>
        <p:nvSpPr>
          <p:cNvPr id="13" name="Shape 11"/>
          <p:cNvSpPr/>
          <p:nvPr/>
        </p:nvSpPr>
        <p:spPr>
          <a:xfrm>
            <a:off x="9898380" y="1847088"/>
            <a:ext cx="0" cy="128016"/>
          </a:xfrm>
          <a:prstGeom prst="line">
            <a:avLst/>
          </a:prstGeom>
          <a:noFill/>
          <a:ln w="15875">
            <a:solidFill>
              <a:srgbClr val="9BA1C1"/>
            </a:solidFill>
            <a:prstDash val="solid"/>
          </a:ln>
        </p:spPr>
      </p:sp>
      <p:sp>
        <p:nvSpPr>
          <p:cNvPr id="14" name="Shape 12"/>
          <p:cNvSpPr/>
          <p:nvPr/>
        </p:nvSpPr>
        <p:spPr>
          <a:xfrm>
            <a:off x="2308860" y="1975104"/>
            <a:ext cx="7589520" cy="0"/>
          </a:xfrm>
          <a:prstGeom prst="line">
            <a:avLst/>
          </a:prstGeom>
          <a:noFill/>
          <a:ln w="15875">
            <a:solidFill>
              <a:srgbClr val="9BA1C1"/>
            </a:solidFill>
            <a:prstDash val="solid"/>
          </a:ln>
        </p:spPr>
      </p:sp>
      <p:sp>
        <p:nvSpPr>
          <p:cNvPr id="15" name="Shape 13"/>
          <p:cNvSpPr/>
          <p:nvPr/>
        </p:nvSpPr>
        <p:spPr>
          <a:xfrm>
            <a:off x="6103620" y="1975104"/>
            <a:ext cx="0" cy="182880"/>
          </a:xfrm>
          <a:prstGeom prst="line">
            <a:avLst/>
          </a:prstGeom>
          <a:noFill/>
          <a:ln w="15875">
            <a:solidFill>
              <a:srgbClr val="9BA1C1"/>
            </a:solidFill>
            <a:prstDash val="solid"/>
            <a:tailEnd type="triangle"/>
          </a:ln>
        </p:spPr>
      </p:sp>
      <p:sp>
        <p:nvSpPr>
          <p:cNvPr id="16" name="Shape 14"/>
          <p:cNvSpPr/>
          <p:nvPr/>
        </p:nvSpPr>
        <p:spPr>
          <a:xfrm>
            <a:off x="6103620" y="2615184"/>
            <a:ext cx="0" cy="109728"/>
          </a:xfrm>
          <a:prstGeom prst="line">
            <a:avLst/>
          </a:prstGeom>
          <a:noFill/>
          <a:ln w="15875">
            <a:solidFill>
              <a:srgbClr val="E0A458"/>
            </a:solidFill>
            <a:prstDash val="solid"/>
          </a:ln>
        </p:spPr>
      </p:sp>
      <p:sp>
        <p:nvSpPr>
          <p:cNvPr id="17" name="Shape 15"/>
          <p:cNvSpPr/>
          <p:nvPr/>
        </p:nvSpPr>
        <p:spPr>
          <a:xfrm>
            <a:off x="2308860" y="2724912"/>
            <a:ext cx="7589520" cy="0"/>
          </a:xfrm>
          <a:prstGeom prst="line">
            <a:avLst/>
          </a:prstGeom>
          <a:noFill/>
          <a:ln w="15875">
            <a:solidFill>
              <a:srgbClr val="E0A458"/>
            </a:solidFill>
            <a:prstDash val="solid"/>
          </a:ln>
        </p:spPr>
      </p:sp>
      <p:sp>
        <p:nvSpPr>
          <p:cNvPr id="18" name="Shape 16"/>
          <p:cNvSpPr/>
          <p:nvPr/>
        </p:nvSpPr>
        <p:spPr>
          <a:xfrm>
            <a:off x="2308860" y="2724912"/>
            <a:ext cx="0" cy="73152"/>
          </a:xfrm>
          <a:prstGeom prst="line">
            <a:avLst/>
          </a:prstGeom>
          <a:noFill/>
          <a:ln w="15875">
            <a:solidFill>
              <a:srgbClr val="E0A458"/>
            </a:solidFill>
            <a:prstDash val="solid"/>
            <a:tailEnd type="triangle"/>
          </a:ln>
        </p:spPr>
      </p:sp>
      <p:sp>
        <p:nvSpPr>
          <p:cNvPr id="19" name="Shape 17"/>
          <p:cNvSpPr/>
          <p:nvPr/>
        </p:nvSpPr>
        <p:spPr>
          <a:xfrm>
            <a:off x="6103620" y="2724912"/>
            <a:ext cx="0" cy="73152"/>
          </a:xfrm>
          <a:prstGeom prst="line">
            <a:avLst/>
          </a:prstGeom>
          <a:noFill/>
          <a:ln w="15875">
            <a:solidFill>
              <a:srgbClr val="E0A458"/>
            </a:solidFill>
            <a:prstDash val="solid"/>
            <a:tailEnd type="triangle"/>
          </a:ln>
        </p:spPr>
      </p:sp>
      <p:sp>
        <p:nvSpPr>
          <p:cNvPr id="20" name="Shape 18"/>
          <p:cNvSpPr/>
          <p:nvPr/>
        </p:nvSpPr>
        <p:spPr>
          <a:xfrm>
            <a:off x="9898380" y="2724912"/>
            <a:ext cx="0" cy="73152"/>
          </a:xfrm>
          <a:prstGeom prst="line">
            <a:avLst/>
          </a:prstGeom>
          <a:noFill/>
          <a:ln w="15875">
            <a:solidFill>
              <a:srgbClr val="E0A458"/>
            </a:solidFill>
            <a:prstDash val="solid"/>
            <a:tailEnd type="triangle"/>
          </a:ln>
        </p:spPr>
      </p:sp>
      <p:sp>
        <p:nvSpPr>
          <p:cNvPr id="21" name="Shape 19"/>
          <p:cNvSpPr/>
          <p:nvPr/>
        </p:nvSpPr>
        <p:spPr>
          <a:xfrm>
            <a:off x="548640" y="2798064"/>
            <a:ext cx="3520440" cy="658368"/>
          </a:xfrm>
          <a:prstGeom prst="roundRect">
            <a:avLst>
              <a:gd name="adj" fmla="val 6944"/>
            </a:avLst>
          </a:prstGeom>
          <a:solidFill>
            <a:srgbClr val="252943"/>
          </a:solidFill>
          <a:ln w="12700">
            <a:solidFill>
              <a:srgbClr val="6E7699"/>
            </a:solidFill>
            <a:prstDash val="solid"/>
          </a:ln>
        </p:spPr>
      </p:sp>
      <p:sp>
        <p:nvSpPr>
          <p:cNvPr id="22" name="Shape 20"/>
          <p:cNvSpPr/>
          <p:nvPr/>
        </p:nvSpPr>
        <p:spPr>
          <a:xfrm>
            <a:off x="694944" y="2953512"/>
            <a:ext cx="347472" cy="347472"/>
          </a:xfrm>
          <a:prstGeom prst="ellipse">
            <a:avLst/>
          </a:prstGeom>
          <a:solidFill>
            <a:srgbClr val="E0A458"/>
          </a:solidFill>
          <a:ln w="12700">
            <a:solidFill>
              <a:srgbClr val="E0A458"/>
            </a:solidFill>
            <a:prstDash val="solid"/>
          </a:ln>
        </p:spPr>
      </p:sp>
      <p:sp>
        <p:nvSpPr>
          <p:cNvPr id="23" name="Text 21"/>
          <p:cNvSpPr txBox="1"/>
          <p:nvPr/>
        </p:nvSpPr>
        <p:spPr>
          <a:xfrm>
            <a:off x="694944" y="2953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24" name="Text 22"/>
          <p:cNvSpPr txBox="1"/>
          <p:nvPr/>
        </p:nvSpPr>
        <p:spPr>
          <a:xfrm>
            <a:off x="1133856" y="2889504"/>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Capture Coach</a:t>
            </a:r>
            <a:endParaRPr lang="en-US" sz="1300" dirty="0"/>
          </a:p>
        </p:txBody>
      </p:sp>
      <p:sp>
        <p:nvSpPr>
          <p:cNvPr id="25" name="Text 23"/>
          <p:cNvSpPr txBox="1"/>
          <p:nvPr/>
        </p:nvSpPr>
        <p:spPr>
          <a:xfrm>
            <a:off x="1133856" y="3145536"/>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checks the clip, gives hints</a:t>
            </a:r>
            <a:endParaRPr lang="en-US" sz="1000" dirty="0"/>
          </a:p>
        </p:txBody>
      </p:sp>
      <p:sp>
        <p:nvSpPr>
          <p:cNvPr id="26" name="Shape 24"/>
          <p:cNvSpPr/>
          <p:nvPr/>
        </p:nvSpPr>
        <p:spPr>
          <a:xfrm>
            <a:off x="3794760" y="2944368"/>
            <a:ext cx="128016" cy="128016"/>
          </a:xfrm>
          <a:prstGeom prst="ellipse">
            <a:avLst/>
          </a:prstGeom>
          <a:solidFill>
            <a:srgbClr val="EC8079"/>
          </a:solidFill>
          <a:ln w="12700">
            <a:solidFill>
              <a:srgbClr val="EC8079"/>
            </a:solidFill>
            <a:prstDash val="solid"/>
          </a:ln>
        </p:spPr>
      </p:sp>
      <p:sp>
        <p:nvSpPr>
          <p:cNvPr id="27" name="Shape 25"/>
          <p:cNvSpPr/>
          <p:nvPr/>
        </p:nvSpPr>
        <p:spPr>
          <a:xfrm>
            <a:off x="4343400" y="2798064"/>
            <a:ext cx="3520440" cy="658368"/>
          </a:xfrm>
          <a:prstGeom prst="roundRect">
            <a:avLst>
              <a:gd name="adj" fmla="val 6944"/>
            </a:avLst>
          </a:prstGeom>
          <a:solidFill>
            <a:srgbClr val="252943"/>
          </a:solidFill>
          <a:ln w="12700">
            <a:solidFill>
              <a:srgbClr val="6E7699"/>
            </a:solidFill>
            <a:prstDash val="solid"/>
          </a:ln>
        </p:spPr>
      </p:sp>
      <p:sp>
        <p:nvSpPr>
          <p:cNvPr id="28" name="Shape 26"/>
          <p:cNvSpPr/>
          <p:nvPr/>
        </p:nvSpPr>
        <p:spPr>
          <a:xfrm>
            <a:off x="4489704" y="2953512"/>
            <a:ext cx="347472" cy="347472"/>
          </a:xfrm>
          <a:prstGeom prst="ellipse">
            <a:avLst/>
          </a:prstGeom>
          <a:solidFill>
            <a:srgbClr val="E0A458"/>
          </a:solidFill>
          <a:ln w="12700">
            <a:solidFill>
              <a:srgbClr val="E0A458"/>
            </a:solidFill>
            <a:prstDash val="solid"/>
          </a:ln>
        </p:spPr>
      </p:sp>
      <p:sp>
        <p:nvSpPr>
          <p:cNvPr id="29" name="Text 27"/>
          <p:cNvSpPr txBox="1"/>
          <p:nvPr/>
        </p:nvSpPr>
        <p:spPr>
          <a:xfrm>
            <a:off x="4489704" y="2953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30" name="Text 28"/>
          <p:cNvSpPr txBox="1"/>
          <p:nvPr/>
        </p:nvSpPr>
        <p:spPr>
          <a:xfrm>
            <a:off x="4928616" y="2889504"/>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Catalog Ingestor</a:t>
            </a:r>
            <a:endParaRPr lang="en-US" sz="1300" dirty="0"/>
          </a:p>
        </p:txBody>
      </p:sp>
      <p:sp>
        <p:nvSpPr>
          <p:cNvPr id="31" name="Text 29"/>
          <p:cNvSpPr txBox="1"/>
          <p:nvPr/>
        </p:nvSpPr>
        <p:spPr>
          <a:xfrm>
            <a:off x="4928616" y="3145536"/>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reads brands' size charts</a:t>
            </a:r>
            <a:endParaRPr lang="en-US" sz="1000" dirty="0"/>
          </a:p>
        </p:txBody>
      </p:sp>
      <p:sp>
        <p:nvSpPr>
          <p:cNvPr id="32" name="Shape 30"/>
          <p:cNvSpPr/>
          <p:nvPr/>
        </p:nvSpPr>
        <p:spPr>
          <a:xfrm>
            <a:off x="7589520" y="2944368"/>
            <a:ext cx="128016" cy="128016"/>
          </a:xfrm>
          <a:prstGeom prst="ellipse">
            <a:avLst/>
          </a:prstGeom>
          <a:solidFill>
            <a:srgbClr val="EC8079"/>
          </a:solidFill>
          <a:ln w="12700">
            <a:solidFill>
              <a:srgbClr val="EC8079"/>
            </a:solidFill>
            <a:prstDash val="solid"/>
          </a:ln>
        </p:spPr>
      </p:sp>
      <p:sp>
        <p:nvSpPr>
          <p:cNvPr id="33" name="Shape 31"/>
          <p:cNvSpPr/>
          <p:nvPr/>
        </p:nvSpPr>
        <p:spPr>
          <a:xfrm>
            <a:off x="8138160" y="2798064"/>
            <a:ext cx="3520440" cy="658368"/>
          </a:xfrm>
          <a:prstGeom prst="roundRect">
            <a:avLst>
              <a:gd name="adj" fmla="val 6944"/>
            </a:avLst>
          </a:prstGeom>
          <a:solidFill>
            <a:srgbClr val="252943"/>
          </a:solidFill>
          <a:ln w="12700">
            <a:solidFill>
              <a:srgbClr val="6E7699"/>
            </a:solidFill>
            <a:prstDash val="solid"/>
          </a:ln>
        </p:spPr>
      </p:sp>
      <p:sp>
        <p:nvSpPr>
          <p:cNvPr id="34" name="Shape 32"/>
          <p:cNvSpPr/>
          <p:nvPr/>
        </p:nvSpPr>
        <p:spPr>
          <a:xfrm>
            <a:off x="8284464" y="2953512"/>
            <a:ext cx="347472" cy="347472"/>
          </a:xfrm>
          <a:prstGeom prst="ellipse">
            <a:avLst/>
          </a:prstGeom>
          <a:solidFill>
            <a:srgbClr val="E0A458"/>
          </a:solidFill>
          <a:ln w="12700">
            <a:solidFill>
              <a:srgbClr val="E0A458"/>
            </a:solidFill>
            <a:prstDash val="solid"/>
          </a:ln>
        </p:spPr>
      </p:sp>
      <p:sp>
        <p:nvSpPr>
          <p:cNvPr id="35" name="Text 33"/>
          <p:cNvSpPr txBox="1"/>
          <p:nvPr/>
        </p:nvSpPr>
        <p:spPr>
          <a:xfrm>
            <a:off x="8284464" y="295351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36" name="Text 34"/>
          <p:cNvSpPr txBox="1"/>
          <p:nvPr/>
        </p:nvSpPr>
        <p:spPr>
          <a:xfrm>
            <a:off x="8723376" y="2889504"/>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Return Analyst</a:t>
            </a:r>
            <a:endParaRPr lang="en-US" sz="1300" dirty="0"/>
          </a:p>
        </p:txBody>
      </p:sp>
      <p:sp>
        <p:nvSpPr>
          <p:cNvPr id="37" name="Text 35"/>
          <p:cNvSpPr txBox="1"/>
          <p:nvPr/>
        </p:nvSpPr>
        <p:spPr>
          <a:xfrm>
            <a:off x="8723376" y="3145536"/>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reads why items came back</a:t>
            </a:r>
            <a:endParaRPr lang="en-US" sz="1000" dirty="0"/>
          </a:p>
        </p:txBody>
      </p:sp>
      <p:sp>
        <p:nvSpPr>
          <p:cNvPr id="38" name="Shape 36"/>
          <p:cNvSpPr/>
          <p:nvPr/>
        </p:nvSpPr>
        <p:spPr>
          <a:xfrm>
            <a:off x="548640" y="3639312"/>
            <a:ext cx="3520440" cy="658368"/>
          </a:xfrm>
          <a:prstGeom prst="roundRect">
            <a:avLst>
              <a:gd name="adj" fmla="val 6944"/>
            </a:avLst>
          </a:prstGeom>
          <a:solidFill>
            <a:srgbClr val="252943"/>
          </a:solidFill>
          <a:ln w="12700">
            <a:solidFill>
              <a:srgbClr val="6E7699"/>
            </a:solidFill>
            <a:prstDash val="solid"/>
          </a:ln>
        </p:spPr>
      </p:sp>
      <p:sp>
        <p:nvSpPr>
          <p:cNvPr id="39" name="Shape 37"/>
          <p:cNvSpPr/>
          <p:nvPr/>
        </p:nvSpPr>
        <p:spPr>
          <a:xfrm>
            <a:off x="694944" y="3794760"/>
            <a:ext cx="347472" cy="347472"/>
          </a:xfrm>
          <a:prstGeom prst="ellipse">
            <a:avLst/>
          </a:prstGeom>
          <a:solidFill>
            <a:srgbClr val="E0A458"/>
          </a:solidFill>
          <a:ln w="12700">
            <a:solidFill>
              <a:srgbClr val="E0A458"/>
            </a:solidFill>
            <a:prstDash val="solid"/>
          </a:ln>
        </p:spPr>
      </p:sp>
      <p:sp>
        <p:nvSpPr>
          <p:cNvPr id="40" name="Text 38"/>
          <p:cNvSpPr txBox="1"/>
          <p:nvPr/>
        </p:nvSpPr>
        <p:spPr>
          <a:xfrm>
            <a:off x="694944" y="379476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41" name="Text 39"/>
          <p:cNvSpPr txBox="1"/>
          <p:nvPr/>
        </p:nvSpPr>
        <p:spPr>
          <a:xfrm>
            <a:off x="1133856" y="3730752"/>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Anthro Validator</a:t>
            </a:r>
            <a:endParaRPr lang="en-US" sz="1300" dirty="0"/>
          </a:p>
        </p:txBody>
      </p:sp>
      <p:sp>
        <p:nvSpPr>
          <p:cNvPr id="42" name="Text 40"/>
          <p:cNvSpPr txBox="1"/>
          <p:nvPr/>
        </p:nvSpPr>
        <p:spPr>
          <a:xfrm>
            <a:off x="1133856" y="3986784"/>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sanity-checks the numbers</a:t>
            </a:r>
            <a:endParaRPr lang="en-US" sz="1000" dirty="0"/>
          </a:p>
        </p:txBody>
      </p:sp>
      <p:sp>
        <p:nvSpPr>
          <p:cNvPr id="43" name="Shape 41"/>
          <p:cNvSpPr/>
          <p:nvPr/>
        </p:nvSpPr>
        <p:spPr>
          <a:xfrm>
            <a:off x="3794760" y="3785616"/>
            <a:ext cx="128016" cy="128016"/>
          </a:xfrm>
          <a:prstGeom prst="ellipse">
            <a:avLst/>
          </a:prstGeom>
          <a:solidFill>
            <a:srgbClr val="EC8079"/>
          </a:solidFill>
          <a:ln w="12700">
            <a:solidFill>
              <a:srgbClr val="EC8079"/>
            </a:solidFill>
            <a:prstDash val="solid"/>
          </a:ln>
        </p:spPr>
      </p:sp>
      <p:sp>
        <p:nvSpPr>
          <p:cNvPr id="44" name="Shape 42"/>
          <p:cNvSpPr/>
          <p:nvPr/>
        </p:nvSpPr>
        <p:spPr>
          <a:xfrm>
            <a:off x="4343400" y="3639312"/>
            <a:ext cx="3520440" cy="658368"/>
          </a:xfrm>
          <a:prstGeom prst="roundRect">
            <a:avLst>
              <a:gd name="adj" fmla="val 6944"/>
            </a:avLst>
          </a:prstGeom>
          <a:solidFill>
            <a:srgbClr val="252943"/>
          </a:solidFill>
          <a:ln w="12700">
            <a:solidFill>
              <a:srgbClr val="6E7699"/>
            </a:solidFill>
            <a:prstDash val="solid"/>
          </a:ln>
        </p:spPr>
      </p:sp>
      <p:sp>
        <p:nvSpPr>
          <p:cNvPr id="45" name="Shape 43"/>
          <p:cNvSpPr/>
          <p:nvPr/>
        </p:nvSpPr>
        <p:spPr>
          <a:xfrm>
            <a:off x="4489704" y="3794760"/>
            <a:ext cx="347472" cy="347472"/>
          </a:xfrm>
          <a:prstGeom prst="ellipse">
            <a:avLst/>
          </a:prstGeom>
          <a:solidFill>
            <a:srgbClr val="E0A458"/>
          </a:solidFill>
          <a:ln w="12700">
            <a:solidFill>
              <a:srgbClr val="E0A458"/>
            </a:solidFill>
            <a:prstDash val="solid"/>
          </a:ln>
        </p:spPr>
      </p:sp>
      <p:sp>
        <p:nvSpPr>
          <p:cNvPr id="46" name="Text 44"/>
          <p:cNvSpPr txBox="1"/>
          <p:nvPr/>
        </p:nvSpPr>
        <p:spPr>
          <a:xfrm>
            <a:off x="4489704" y="379476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47" name="Text 45"/>
          <p:cNvSpPr txBox="1"/>
          <p:nvPr/>
        </p:nvSpPr>
        <p:spPr>
          <a:xfrm>
            <a:off x="4928616" y="3730752"/>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Fit Advisor</a:t>
            </a:r>
            <a:endParaRPr lang="en-US" sz="1300" dirty="0"/>
          </a:p>
        </p:txBody>
      </p:sp>
      <p:sp>
        <p:nvSpPr>
          <p:cNvPr id="48" name="Text 46"/>
          <p:cNvSpPr txBox="1"/>
          <p:nvPr/>
        </p:nvSpPr>
        <p:spPr>
          <a:xfrm>
            <a:off x="4928616" y="3986784"/>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explains · never decides</a:t>
            </a:r>
            <a:endParaRPr lang="en-US" sz="1000" dirty="0"/>
          </a:p>
        </p:txBody>
      </p:sp>
      <p:sp>
        <p:nvSpPr>
          <p:cNvPr id="49" name="Shape 47"/>
          <p:cNvSpPr/>
          <p:nvPr/>
        </p:nvSpPr>
        <p:spPr>
          <a:xfrm>
            <a:off x="8138160" y="3639312"/>
            <a:ext cx="3520440" cy="658368"/>
          </a:xfrm>
          <a:prstGeom prst="roundRect">
            <a:avLst>
              <a:gd name="adj" fmla="val 6944"/>
            </a:avLst>
          </a:prstGeom>
          <a:solidFill>
            <a:srgbClr val="252943"/>
          </a:solidFill>
          <a:ln w="12700">
            <a:solidFill>
              <a:srgbClr val="6E7699"/>
            </a:solidFill>
            <a:prstDash val="solid"/>
          </a:ln>
        </p:spPr>
      </p:sp>
      <p:sp>
        <p:nvSpPr>
          <p:cNvPr id="50" name="Shape 48"/>
          <p:cNvSpPr/>
          <p:nvPr/>
        </p:nvSpPr>
        <p:spPr>
          <a:xfrm>
            <a:off x="8284464" y="3794760"/>
            <a:ext cx="347472" cy="347472"/>
          </a:xfrm>
          <a:prstGeom prst="ellipse">
            <a:avLst/>
          </a:prstGeom>
          <a:solidFill>
            <a:srgbClr val="E0A458"/>
          </a:solidFill>
          <a:ln w="12700">
            <a:solidFill>
              <a:srgbClr val="E0A458"/>
            </a:solidFill>
            <a:prstDash val="solid"/>
          </a:ln>
        </p:spPr>
      </p:sp>
      <p:sp>
        <p:nvSpPr>
          <p:cNvPr id="51" name="Text 49"/>
          <p:cNvSpPr txBox="1"/>
          <p:nvPr/>
        </p:nvSpPr>
        <p:spPr>
          <a:xfrm>
            <a:off x="8284464" y="379476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52" name="Text 50"/>
          <p:cNvSpPr txBox="1"/>
          <p:nvPr/>
        </p:nvSpPr>
        <p:spPr>
          <a:xfrm>
            <a:off x="8723376" y="3730752"/>
            <a:ext cx="2788920"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Review Agent</a:t>
            </a:r>
            <a:endParaRPr lang="en-US" sz="1300" dirty="0"/>
          </a:p>
        </p:txBody>
      </p:sp>
      <p:sp>
        <p:nvSpPr>
          <p:cNvPr id="53" name="Text 51"/>
          <p:cNvSpPr txBox="1"/>
          <p:nvPr/>
        </p:nvSpPr>
        <p:spPr>
          <a:xfrm>
            <a:off x="8723376" y="3986784"/>
            <a:ext cx="2788920" cy="219456"/>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tests everything, blocks bad changes</a:t>
            </a:r>
            <a:endParaRPr lang="en-US" sz="1000" dirty="0"/>
          </a:p>
        </p:txBody>
      </p:sp>
      <p:sp>
        <p:nvSpPr>
          <p:cNvPr id="54" name="Shape 52"/>
          <p:cNvSpPr/>
          <p:nvPr/>
        </p:nvSpPr>
        <p:spPr>
          <a:xfrm>
            <a:off x="2308860" y="3456432"/>
            <a:ext cx="0" cy="146304"/>
          </a:xfrm>
          <a:prstGeom prst="line">
            <a:avLst/>
          </a:prstGeom>
          <a:noFill/>
          <a:ln w="15875">
            <a:solidFill>
              <a:srgbClr val="9BA1C1"/>
            </a:solidFill>
            <a:prstDash val="solid"/>
            <a:tailEnd type="triangle"/>
          </a:ln>
        </p:spPr>
      </p:sp>
      <p:sp>
        <p:nvSpPr>
          <p:cNvPr id="55" name="Shape 53"/>
          <p:cNvSpPr/>
          <p:nvPr/>
        </p:nvSpPr>
        <p:spPr>
          <a:xfrm>
            <a:off x="6103620" y="3456432"/>
            <a:ext cx="0" cy="146304"/>
          </a:xfrm>
          <a:prstGeom prst="line">
            <a:avLst/>
          </a:prstGeom>
          <a:noFill/>
          <a:ln w="15875">
            <a:solidFill>
              <a:srgbClr val="9BA1C1"/>
            </a:solidFill>
            <a:prstDash val="solid"/>
            <a:tailEnd type="triangle"/>
          </a:ln>
        </p:spPr>
      </p:sp>
      <p:sp>
        <p:nvSpPr>
          <p:cNvPr id="56" name="Shape 54"/>
          <p:cNvSpPr/>
          <p:nvPr/>
        </p:nvSpPr>
        <p:spPr>
          <a:xfrm>
            <a:off x="9898380" y="3456432"/>
            <a:ext cx="0" cy="146304"/>
          </a:xfrm>
          <a:prstGeom prst="line">
            <a:avLst/>
          </a:prstGeom>
          <a:noFill/>
          <a:ln w="15875">
            <a:solidFill>
              <a:srgbClr val="9BA1C1"/>
            </a:solidFill>
            <a:prstDash val="solid"/>
            <a:tailEnd type="triangle"/>
          </a:ln>
        </p:spPr>
      </p:sp>
      <p:sp>
        <p:nvSpPr>
          <p:cNvPr id="57" name="Shape 55"/>
          <p:cNvSpPr/>
          <p:nvPr/>
        </p:nvSpPr>
        <p:spPr>
          <a:xfrm>
            <a:off x="548640" y="4681728"/>
            <a:ext cx="7315200" cy="713232"/>
          </a:xfrm>
          <a:prstGeom prst="roundRect">
            <a:avLst>
              <a:gd name="adj" fmla="val 6410"/>
            </a:avLst>
          </a:prstGeom>
          <a:solidFill>
            <a:srgbClr val="223050"/>
          </a:solidFill>
          <a:ln w="19050">
            <a:solidFill>
              <a:srgbClr val="83B4DE"/>
            </a:solidFill>
            <a:prstDash val="solid"/>
          </a:ln>
        </p:spPr>
      </p:sp>
      <p:sp>
        <p:nvSpPr>
          <p:cNvPr id="58" name="Text 56"/>
          <p:cNvSpPr txBox="1"/>
          <p:nvPr/>
        </p:nvSpPr>
        <p:spPr>
          <a:xfrm>
            <a:off x="731520" y="4791456"/>
            <a:ext cx="6949440" cy="274320"/>
          </a:xfrm>
          <a:prstGeom prst="rect">
            <a:avLst/>
          </a:prstGeom>
          <a:noFill/>
          <a:ln/>
        </p:spPr>
        <p:txBody>
          <a:bodyPr wrap="square" lIns="0" tIns="0" rIns="0" bIns="0" rtlCol="0" anchor="ctr"/>
          <a:lstStyle/>
          <a:p>
            <a:pPr indent="0" marL="0">
              <a:buNone/>
            </a:pPr>
            <a:r>
              <a:rPr lang="en-US" sz="1350" b="1" dirty="0">
                <a:solidFill>
                  <a:srgbClr val="83B4DE"/>
                </a:solidFill>
                <a:latin typeface="Arial" pitchFamily="34" charset="0"/>
                <a:ea typeface="Arial" pitchFamily="34" charset="-122"/>
                <a:cs typeface="Arial" pitchFamily="34" charset="-120"/>
              </a:rPr>
              <a:t>The calculator — one shared toolbox for all six</a:t>
            </a:r>
            <a:endParaRPr lang="en-US" sz="1350" dirty="0"/>
          </a:p>
        </p:txBody>
      </p:sp>
      <p:sp>
        <p:nvSpPr>
          <p:cNvPr id="59" name="Text 57"/>
          <p:cNvSpPr txBox="1"/>
          <p:nvPr/>
        </p:nvSpPr>
        <p:spPr>
          <a:xfrm>
            <a:off x="731520" y="5065776"/>
            <a:ext cx="6949440" cy="237744"/>
          </a:xfrm>
          <a:prstGeom prst="rect">
            <a:avLst/>
          </a:prstGeom>
          <a:noFill/>
          <a:ln/>
        </p:spPr>
        <p:txBody>
          <a:bodyPr wrap="square" lIns="0" tIns="0" rIns="0" bIns="0" rtlCol="0" anchor="ctr"/>
          <a:lstStyle/>
          <a:p>
            <a:pPr indent="0" marL="0">
              <a:buNone/>
            </a:pPr>
            <a:r>
              <a:rPr lang="en-US" sz="1050" dirty="0">
                <a:solidFill>
                  <a:srgbClr val="9BA1C1"/>
                </a:solidFill>
                <a:latin typeface="Arial" pitchFamily="34" charset="0"/>
                <a:ea typeface="Arial" pitchFamily="34" charset="-122"/>
                <a:cs typeface="Arial" pitchFamily="34" charset="-120"/>
              </a:rPr>
              <a:t>takes measurements · picks the size · learns per brand · database</a:t>
            </a:r>
            <a:endParaRPr lang="en-US" sz="1050" dirty="0"/>
          </a:p>
        </p:txBody>
      </p:sp>
      <p:sp>
        <p:nvSpPr>
          <p:cNvPr id="60" name="Shape 58"/>
          <p:cNvSpPr/>
          <p:nvPr/>
        </p:nvSpPr>
        <p:spPr>
          <a:xfrm>
            <a:off x="2308860" y="4297680"/>
            <a:ext cx="0" cy="365760"/>
          </a:xfrm>
          <a:prstGeom prst="line">
            <a:avLst/>
          </a:prstGeom>
          <a:noFill/>
          <a:ln w="15875">
            <a:solidFill>
              <a:srgbClr val="83B4DE"/>
            </a:solidFill>
            <a:prstDash val="solid"/>
            <a:tailEnd type="triangle"/>
          </a:ln>
        </p:spPr>
      </p:sp>
      <p:sp>
        <p:nvSpPr>
          <p:cNvPr id="61" name="Shape 59"/>
          <p:cNvSpPr/>
          <p:nvPr/>
        </p:nvSpPr>
        <p:spPr>
          <a:xfrm>
            <a:off x="6103620" y="4297680"/>
            <a:ext cx="0" cy="365760"/>
          </a:xfrm>
          <a:prstGeom prst="line">
            <a:avLst/>
          </a:prstGeom>
          <a:noFill/>
          <a:ln w="15875">
            <a:solidFill>
              <a:srgbClr val="83B4DE"/>
            </a:solidFill>
            <a:prstDash val="solid"/>
            <a:tailEnd type="triangle"/>
          </a:ln>
        </p:spPr>
      </p:sp>
      <p:sp>
        <p:nvSpPr>
          <p:cNvPr id="62" name="Shape 60"/>
          <p:cNvSpPr/>
          <p:nvPr/>
        </p:nvSpPr>
        <p:spPr>
          <a:xfrm>
            <a:off x="8138160" y="4681728"/>
            <a:ext cx="3520440" cy="713232"/>
          </a:xfrm>
          <a:prstGeom prst="roundRect">
            <a:avLst>
              <a:gd name="adj" fmla="val 6410"/>
            </a:avLst>
          </a:prstGeom>
          <a:solidFill>
            <a:srgbClr val="3A2530"/>
          </a:solidFill>
          <a:ln w="19050">
            <a:solidFill>
              <a:srgbClr val="EC8079"/>
            </a:solidFill>
            <a:prstDash val="solid"/>
          </a:ln>
        </p:spPr>
      </p:sp>
      <p:sp>
        <p:nvSpPr>
          <p:cNvPr id="63" name="Text 61"/>
          <p:cNvSpPr txBox="1"/>
          <p:nvPr/>
        </p:nvSpPr>
        <p:spPr>
          <a:xfrm>
            <a:off x="8321040" y="4791456"/>
            <a:ext cx="3200400" cy="274320"/>
          </a:xfrm>
          <a:prstGeom prst="rect">
            <a:avLst/>
          </a:prstGeom>
          <a:noFill/>
          <a:ln/>
        </p:spPr>
        <p:txBody>
          <a:bodyPr wrap="square" lIns="0" tIns="0" rIns="0" bIns="0" rtlCol="0" anchor="ctr"/>
          <a:lstStyle/>
          <a:p>
            <a:pPr indent="0" marL="0">
              <a:buNone/>
            </a:pPr>
            <a:r>
              <a:rPr lang="en-US" sz="1350" b="1" dirty="0">
                <a:solidFill>
                  <a:srgbClr val="EC8079"/>
                </a:solidFill>
                <a:latin typeface="Arial" pitchFamily="34" charset="0"/>
                <a:ea typeface="Arial" pitchFamily="34" charset="-122"/>
                <a:cs typeface="Arial" pitchFamily="34" charset="-120"/>
              </a:rPr>
              <a:t>Human review queue</a:t>
            </a:r>
            <a:endParaRPr lang="en-US" sz="1350" dirty="0"/>
          </a:p>
        </p:txBody>
      </p:sp>
      <p:sp>
        <p:nvSpPr>
          <p:cNvPr id="64" name="Text 62"/>
          <p:cNvSpPr txBox="1"/>
          <p:nvPr/>
        </p:nvSpPr>
        <p:spPr>
          <a:xfrm>
            <a:off x="8321040" y="5065776"/>
            <a:ext cx="3200400" cy="237744"/>
          </a:xfrm>
          <a:prstGeom prst="rect">
            <a:avLst/>
          </a:prstGeom>
          <a:noFill/>
          <a:ln/>
        </p:spPr>
        <p:txBody>
          <a:bodyPr wrap="square" lIns="0" tIns="0" rIns="0" bIns="0" rtlCol="0" anchor="ctr"/>
          <a:lstStyle/>
          <a:p>
            <a:pPr indent="0" marL="0">
              <a:buNone/>
            </a:pPr>
            <a:r>
              <a:rPr lang="en-US" sz="1050" dirty="0">
                <a:solidFill>
                  <a:srgbClr val="9BA1C1"/>
                </a:solidFill>
                <a:latin typeface="Arial" pitchFamily="34" charset="0"/>
                <a:ea typeface="Arial" pitchFamily="34" charset="-122"/>
                <a:cs typeface="Arial" pitchFamily="34" charset="-120"/>
              </a:rPr>
              <a:t>fed by agents 1 · 2 · 3</a:t>
            </a:r>
            <a:endParaRPr lang="en-US" sz="1050" dirty="0"/>
          </a:p>
        </p:txBody>
      </p:sp>
      <p:sp>
        <p:nvSpPr>
          <p:cNvPr id="65" name="Text 63"/>
          <p:cNvSpPr txBox="1"/>
          <p:nvPr/>
        </p:nvSpPr>
        <p:spPr>
          <a:xfrm>
            <a:off x="502920" y="5897880"/>
            <a:ext cx="11185855" cy="310896"/>
          </a:xfrm>
          <a:prstGeom prst="rect">
            <a:avLst/>
          </a:prstGeom>
          <a:noFill/>
          <a:ln/>
        </p:spPr>
        <p:txBody>
          <a:bodyPr wrap="square" lIns="0" tIns="0" rIns="0" bIns="0" rtlCol="0" anchor="ctr"/>
          <a:lstStyle/>
          <a:p>
            <a:pPr indent="0" marL="0">
              <a:buNone/>
            </a:pPr>
            <a:r>
              <a:rPr lang="en-US" sz="1050" i="1" dirty="0">
                <a:solidFill>
                  <a:srgbClr val="6E7699"/>
                </a:solidFill>
                <a:latin typeface="Arial" pitchFamily="34" charset="0"/>
                <a:ea typeface="Arial" pitchFamily="34" charset="-122"/>
                <a:cs typeface="Arial" pitchFamily="34" charset="-120"/>
              </a:rPr>
              <a:t>Agents 1, 2 and 3 hand anything they are unsure about to a person — the red path. Nothing uncertain is stored as if it were fact.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AGENT REGISTER</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Filming, checking, reading size charts</a:t>
            </a:r>
            <a:endParaRPr lang="en-US" sz="3000" dirty="0"/>
          </a:p>
        </p:txBody>
      </p:sp>
      <p:sp>
        <p:nvSpPr>
          <p:cNvPr id="4" name="Shape 2"/>
          <p:cNvSpPr/>
          <p:nvPr/>
        </p:nvSpPr>
        <p:spPr>
          <a:xfrm>
            <a:off x="502920" y="1481328"/>
            <a:ext cx="11185855" cy="1463040"/>
          </a:xfrm>
          <a:prstGeom prst="roundRect">
            <a:avLst>
              <a:gd name="adj" fmla="val 3750"/>
            </a:avLst>
          </a:prstGeom>
          <a:solidFill>
            <a:srgbClr val="252943"/>
          </a:solidFill>
          <a:ln w="12700">
            <a:solidFill>
              <a:srgbClr val="252943"/>
            </a:solidFill>
            <a:prstDash val="solid"/>
          </a:ln>
        </p:spPr>
      </p:sp>
      <p:sp>
        <p:nvSpPr>
          <p:cNvPr id="5" name="Shape 3"/>
          <p:cNvSpPr/>
          <p:nvPr/>
        </p:nvSpPr>
        <p:spPr>
          <a:xfrm>
            <a:off x="777240" y="1737360"/>
            <a:ext cx="384048" cy="384048"/>
          </a:xfrm>
          <a:prstGeom prst="ellipse">
            <a:avLst/>
          </a:prstGeom>
          <a:solidFill>
            <a:srgbClr val="E0A458"/>
          </a:solidFill>
          <a:ln w="12700">
            <a:solidFill>
              <a:srgbClr val="E0A458"/>
            </a:solidFill>
            <a:prstDash val="solid"/>
          </a:ln>
        </p:spPr>
      </p:sp>
      <p:sp>
        <p:nvSpPr>
          <p:cNvPr id="6" name="Text 4"/>
          <p:cNvSpPr txBox="1"/>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325880" y="1664208"/>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Capture Coach</a:t>
            </a:r>
            <a:endParaRPr lang="en-US" sz="1700" dirty="0"/>
          </a:p>
        </p:txBody>
      </p:sp>
      <p:sp>
        <p:nvSpPr>
          <p:cNvPr id="8" name="Text 6"/>
          <p:cNvSpPr txBox="1"/>
          <p:nvPr/>
        </p:nvSpPr>
        <p:spPr>
          <a:xfrm>
            <a:off x="1325880" y="1993392"/>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We cannot know in advance how many hints a person will need, the clues come from pictures and numbers at once, and the signal that says “enough” only appears as more frames arrive.</a:t>
            </a:r>
            <a:endParaRPr lang="en-US" sz="1150" dirty="0"/>
          </a:p>
        </p:txBody>
      </p:sp>
      <p:sp>
        <p:nvSpPr>
          <p:cNvPr id="9" name="Text 7"/>
          <p:cNvSpPr txBox="1"/>
          <p:nvPr/>
        </p:nvSpPr>
        <p:spPr>
          <a:xfrm>
            <a:off x="6812280" y="1664208"/>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0" name="Text 8"/>
          <p:cNvSpPr txBox="1"/>
          <p:nvPr/>
        </p:nvSpPr>
        <p:spPr>
          <a:xfrm>
            <a:off x="6812280" y="1883664"/>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head_visible · feet_visible · bbox_coverage · blur_variance</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pose_confidence · beta_variance · lighting · clothing_looseness</a:t>
            </a:r>
            <a:endParaRPr lang="en-US" sz="1050" dirty="0"/>
          </a:p>
        </p:txBody>
      </p:sp>
      <p:sp>
        <p:nvSpPr>
          <p:cNvPr id="11" name="Text 9"/>
          <p:cNvSpPr txBox="1"/>
          <p:nvPr/>
        </p:nvSpPr>
        <p:spPr>
          <a:xfrm>
            <a:off x="6812280" y="2395728"/>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OUTPUT</a:t>
            </a:r>
            <a:endParaRPr lang="en-US" sz="850" dirty="0"/>
          </a:p>
        </p:txBody>
      </p:sp>
      <p:sp>
        <p:nvSpPr>
          <p:cNvPr id="12" name="Text 10"/>
          <p:cNvSpPr txBox="1"/>
          <p:nvPr/>
        </p:nvSpPr>
        <p:spPr>
          <a:xfrm>
            <a:off x="8092440" y="2395728"/>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CaptureAssessment</a:t>
            </a:r>
            <a:endParaRPr lang="en-US" sz="1050" dirty="0"/>
          </a:p>
        </p:txBody>
      </p:sp>
      <p:sp>
        <p:nvSpPr>
          <p:cNvPr id="13" name="Shape 11"/>
          <p:cNvSpPr/>
          <p:nvPr/>
        </p:nvSpPr>
        <p:spPr>
          <a:xfrm>
            <a:off x="502920" y="3108960"/>
            <a:ext cx="11185855" cy="1463040"/>
          </a:xfrm>
          <a:prstGeom prst="roundRect">
            <a:avLst>
              <a:gd name="adj" fmla="val 3750"/>
            </a:avLst>
          </a:prstGeom>
          <a:solidFill>
            <a:srgbClr val="252943"/>
          </a:solidFill>
          <a:ln w="12700">
            <a:solidFill>
              <a:srgbClr val="252943"/>
            </a:solidFill>
            <a:prstDash val="solid"/>
          </a:ln>
        </p:spPr>
      </p:sp>
      <p:sp>
        <p:nvSpPr>
          <p:cNvPr id="14" name="Shape 12"/>
          <p:cNvSpPr/>
          <p:nvPr/>
        </p:nvSpPr>
        <p:spPr>
          <a:xfrm>
            <a:off x="777240" y="3364992"/>
            <a:ext cx="384048" cy="384048"/>
          </a:xfrm>
          <a:prstGeom prst="ellipse">
            <a:avLst/>
          </a:prstGeom>
          <a:solidFill>
            <a:srgbClr val="E0A458"/>
          </a:solidFill>
          <a:ln w="12700">
            <a:solidFill>
              <a:srgbClr val="E0A458"/>
            </a:solidFill>
            <a:prstDash val="solid"/>
          </a:ln>
        </p:spPr>
      </p:sp>
      <p:sp>
        <p:nvSpPr>
          <p:cNvPr id="15" name="Text 13"/>
          <p:cNvSpPr txBox="1"/>
          <p:nvPr/>
        </p:nvSpPr>
        <p:spPr>
          <a:xfrm>
            <a:off x="777240" y="3364992"/>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6" name="Text 14"/>
          <p:cNvSpPr txBox="1"/>
          <p:nvPr/>
        </p:nvSpPr>
        <p:spPr>
          <a:xfrm>
            <a:off x="1325880" y="3291840"/>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Anthropometric Validator</a:t>
            </a:r>
            <a:endParaRPr lang="en-US" sz="1700" dirty="0"/>
          </a:p>
        </p:txBody>
      </p:sp>
      <p:sp>
        <p:nvSpPr>
          <p:cNvPr id="17" name="Text 15"/>
          <p:cNvSpPr txBox="1"/>
          <p:nvPr/>
        </p:nvSpPr>
        <p:spPr>
          <a:xfrm>
            <a:off x="1325880" y="3621024"/>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Numbers come out wrong for several different reasons — a mistyped height, baggy clothes, a bad 3D fit — and each one needs a different fix.</a:t>
            </a:r>
            <a:endParaRPr lang="en-US" sz="1150" dirty="0"/>
          </a:p>
        </p:txBody>
      </p:sp>
      <p:sp>
        <p:nvSpPr>
          <p:cNvPr id="18" name="Text 16"/>
          <p:cNvSpPr txBox="1"/>
          <p:nvPr/>
        </p:nvSpPr>
        <p:spPr>
          <a:xfrm>
            <a:off x="6812280" y="3291840"/>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9" name="Text 17"/>
          <p:cNvSpPr txBox="1"/>
          <p:nvPr/>
        </p:nvSpPr>
        <p:spPr>
          <a:xfrm>
            <a:off x="6812280" y="3511296"/>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mahalanobis_vs_ansur · marginal_percentile</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ratio_checks · recompute_with_scale</a:t>
            </a:r>
            <a:endParaRPr lang="en-US" sz="1050" dirty="0"/>
          </a:p>
        </p:txBody>
      </p:sp>
      <p:sp>
        <p:nvSpPr>
          <p:cNvPr id="20" name="Text 18"/>
          <p:cNvSpPr txBox="1"/>
          <p:nvPr/>
        </p:nvSpPr>
        <p:spPr>
          <a:xfrm>
            <a:off x="6812280" y="4023360"/>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OUTPUT</a:t>
            </a:r>
            <a:endParaRPr lang="en-US" sz="850" dirty="0"/>
          </a:p>
        </p:txBody>
      </p:sp>
      <p:sp>
        <p:nvSpPr>
          <p:cNvPr id="21" name="Text 19"/>
          <p:cNvSpPr txBox="1"/>
          <p:nvPr/>
        </p:nvSpPr>
        <p:spPr>
          <a:xfrm>
            <a:off x="8092440" y="4023360"/>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ValidationVerdict</a:t>
            </a:r>
            <a:endParaRPr lang="en-US" sz="1050" dirty="0"/>
          </a:p>
        </p:txBody>
      </p:sp>
      <p:sp>
        <p:nvSpPr>
          <p:cNvPr id="22" name="Shape 20"/>
          <p:cNvSpPr/>
          <p:nvPr/>
        </p:nvSpPr>
        <p:spPr>
          <a:xfrm>
            <a:off x="502920" y="4736592"/>
            <a:ext cx="11185855" cy="1463040"/>
          </a:xfrm>
          <a:prstGeom prst="roundRect">
            <a:avLst>
              <a:gd name="adj" fmla="val 3750"/>
            </a:avLst>
          </a:prstGeom>
          <a:solidFill>
            <a:srgbClr val="252943"/>
          </a:solidFill>
          <a:ln w="12700">
            <a:solidFill>
              <a:srgbClr val="252943"/>
            </a:solidFill>
            <a:prstDash val="solid"/>
          </a:ln>
        </p:spPr>
      </p:sp>
      <p:sp>
        <p:nvSpPr>
          <p:cNvPr id="23" name="Shape 21"/>
          <p:cNvSpPr/>
          <p:nvPr/>
        </p:nvSpPr>
        <p:spPr>
          <a:xfrm>
            <a:off x="777240" y="4992624"/>
            <a:ext cx="384048" cy="384048"/>
          </a:xfrm>
          <a:prstGeom prst="ellipse">
            <a:avLst/>
          </a:prstGeom>
          <a:solidFill>
            <a:srgbClr val="E0A458"/>
          </a:solidFill>
          <a:ln w="12700">
            <a:solidFill>
              <a:srgbClr val="E0A458"/>
            </a:solidFill>
            <a:prstDash val="solid"/>
          </a:ln>
        </p:spPr>
      </p:sp>
      <p:sp>
        <p:nvSpPr>
          <p:cNvPr id="24" name="Text 22"/>
          <p:cNvSpPr txBox="1"/>
          <p:nvPr/>
        </p:nvSpPr>
        <p:spPr>
          <a:xfrm>
            <a:off x="777240" y="4992624"/>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25" name="Text 23"/>
          <p:cNvSpPr txBox="1"/>
          <p:nvPr/>
        </p:nvSpPr>
        <p:spPr>
          <a:xfrm>
            <a:off x="1325880" y="4919472"/>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Catalog Ingestor</a:t>
            </a:r>
            <a:endParaRPr lang="en-US" sz="1700" dirty="0"/>
          </a:p>
        </p:txBody>
      </p:sp>
      <p:sp>
        <p:nvSpPr>
          <p:cNvPr id="26" name="Text 24"/>
          <p:cNvSpPr txBox="1"/>
          <p:nvPr/>
        </p:nvSpPr>
        <p:spPr>
          <a:xfrm>
            <a:off x="1325880" y="5248656"/>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The clearest case for AI. Every brand publishes its sizes differently, in web pages, PDFs and pictures — and one question decides everything: is the chart the body, or the garment laid flat?</a:t>
            </a:r>
            <a:endParaRPr lang="en-US" sz="1150" dirty="0"/>
          </a:p>
        </p:txBody>
      </p:sp>
      <p:sp>
        <p:nvSpPr>
          <p:cNvPr id="27" name="Text 25"/>
          <p:cNvSpPr txBox="1"/>
          <p:nvPr/>
        </p:nvSpPr>
        <p:spPr>
          <a:xfrm>
            <a:off x="6812280" y="4919472"/>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28" name="Text 26"/>
          <p:cNvSpPr txBox="1"/>
          <p:nvPr/>
        </p:nvSpPr>
        <p:spPr>
          <a:xfrm>
            <a:off x="6812280" y="5138928"/>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fetch_page · html_to_text · ocr_image · convert_units</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lookup_existing_chart · validate_schema · write_garment_size</a:t>
            </a:r>
            <a:endParaRPr lang="en-US" sz="1050" dirty="0"/>
          </a:p>
        </p:txBody>
      </p:sp>
      <p:sp>
        <p:nvSpPr>
          <p:cNvPr id="29" name="Text 27"/>
          <p:cNvSpPr txBox="1"/>
          <p:nvPr/>
        </p:nvSpPr>
        <p:spPr>
          <a:xfrm>
            <a:off x="6812280" y="5650992"/>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OUTPUT</a:t>
            </a:r>
            <a:endParaRPr lang="en-US" sz="850" dirty="0"/>
          </a:p>
        </p:txBody>
      </p:sp>
      <p:sp>
        <p:nvSpPr>
          <p:cNvPr id="30" name="Text 28"/>
          <p:cNvSpPr txBox="1"/>
          <p:nvPr/>
        </p:nvSpPr>
        <p:spPr>
          <a:xfrm>
            <a:off x="8092440" y="5650992"/>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SizeChartExtraction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AGENT REGISTER</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Advising, labelling, testing</a:t>
            </a:r>
            <a:endParaRPr lang="en-US" sz="3000" dirty="0"/>
          </a:p>
        </p:txBody>
      </p:sp>
      <p:sp>
        <p:nvSpPr>
          <p:cNvPr id="4" name="Shape 2"/>
          <p:cNvSpPr/>
          <p:nvPr/>
        </p:nvSpPr>
        <p:spPr>
          <a:xfrm>
            <a:off x="502920" y="1481328"/>
            <a:ext cx="11185855" cy="1463040"/>
          </a:xfrm>
          <a:prstGeom prst="roundRect">
            <a:avLst>
              <a:gd name="adj" fmla="val 3750"/>
            </a:avLst>
          </a:prstGeom>
          <a:solidFill>
            <a:srgbClr val="252943"/>
          </a:solidFill>
          <a:ln w="12700">
            <a:solidFill>
              <a:srgbClr val="252943"/>
            </a:solidFill>
            <a:prstDash val="solid"/>
          </a:ln>
        </p:spPr>
      </p:sp>
      <p:sp>
        <p:nvSpPr>
          <p:cNvPr id="5" name="Shape 3"/>
          <p:cNvSpPr/>
          <p:nvPr/>
        </p:nvSpPr>
        <p:spPr>
          <a:xfrm>
            <a:off x="777240" y="1737360"/>
            <a:ext cx="384048" cy="384048"/>
          </a:xfrm>
          <a:prstGeom prst="ellipse">
            <a:avLst/>
          </a:prstGeom>
          <a:solidFill>
            <a:srgbClr val="E0A458"/>
          </a:solidFill>
          <a:ln w="12700">
            <a:solidFill>
              <a:srgbClr val="E0A458"/>
            </a:solidFill>
            <a:prstDash val="solid"/>
          </a:ln>
        </p:spPr>
      </p:sp>
      <p:sp>
        <p:nvSpPr>
          <p:cNvPr id="6" name="Text 4"/>
          <p:cNvSpPr txBox="1"/>
          <p:nvPr/>
        </p:nvSpPr>
        <p:spPr>
          <a:xfrm>
            <a:off x="777240" y="1737360"/>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7" name="Text 5"/>
          <p:cNvSpPr txBox="1"/>
          <p:nvPr/>
        </p:nvSpPr>
        <p:spPr>
          <a:xfrm>
            <a:off x="1325880" y="1664208"/>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Fit Advisor</a:t>
            </a:r>
            <a:endParaRPr lang="en-US" sz="1700" dirty="0"/>
          </a:p>
        </p:txBody>
      </p:sp>
      <p:sp>
        <p:nvSpPr>
          <p:cNvPr id="8" name="Text 6"/>
          <p:cNvSpPr txBox="1"/>
          <p:nvPr/>
        </p:nvSpPr>
        <p:spPr>
          <a:xfrm>
            <a:off x="1325880" y="1993392"/>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Writing and answering follow-ups is language work. Choosing the size is not, so it asks the calculator and explains the answer it gets back.</a:t>
            </a:r>
            <a:endParaRPr lang="en-US" sz="1150" dirty="0"/>
          </a:p>
        </p:txBody>
      </p:sp>
      <p:sp>
        <p:nvSpPr>
          <p:cNvPr id="9" name="Text 7"/>
          <p:cNvSpPr txBox="1"/>
          <p:nvPr/>
        </p:nvSpPr>
        <p:spPr>
          <a:xfrm>
            <a:off x="6812280" y="1664208"/>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0" name="Text 8"/>
          <p:cNvSpPr txBox="1"/>
          <p:nvPr/>
        </p:nvSpPr>
        <p:spPr>
          <a:xfrm>
            <a:off x="6812280" y="1883664"/>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run_fit_engine · get_body_profile</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retrieve_brand_notes · simulate_alternative</a:t>
            </a:r>
            <a:endParaRPr lang="en-US" sz="1050" dirty="0"/>
          </a:p>
        </p:txBody>
      </p:sp>
      <p:sp>
        <p:nvSpPr>
          <p:cNvPr id="11" name="Text 9"/>
          <p:cNvSpPr txBox="1"/>
          <p:nvPr/>
        </p:nvSpPr>
        <p:spPr>
          <a:xfrm>
            <a:off x="6812280" y="2395728"/>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OUTPUT</a:t>
            </a:r>
            <a:endParaRPr lang="en-US" sz="850" dirty="0"/>
          </a:p>
        </p:txBody>
      </p:sp>
      <p:sp>
        <p:nvSpPr>
          <p:cNvPr id="12" name="Text 10"/>
          <p:cNvSpPr txBox="1"/>
          <p:nvPr/>
        </p:nvSpPr>
        <p:spPr>
          <a:xfrm>
            <a:off x="8092440" y="2395728"/>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FitExplanation</a:t>
            </a:r>
            <a:endParaRPr lang="en-US" sz="1050" dirty="0"/>
          </a:p>
        </p:txBody>
      </p:sp>
      <p:sp>
        <p:nvSpPr>
          <p:cNvPr id="13" name="Shape 11"/>
          <p:cNvSpPr/>
          <p:nvPr/>
        </p:nvSpPr>
        <p:spPr>
          <a:xfrm>
            <a:off x="502920" y="3108960"/>
            <a:ext cx="11185855" cy="1463040"/>
          </a:xfrm>
          <a:prstGeom prst="roundRect">
            <a:avLst>
              <a:gd name="adj" fmla="val 3750"/>
            </a:avLst>
          </a:prstGeom>
          <a:solidFill>
            <a:srgbClr val="252943"/>
          </a:solidFill>
          <a:ln w="12700">
            <a:solidFill>
              <a:srgbClr val="252943"/>
            </a:solidFill>
            <a:prstDash val="solid"/>
          </a:ln>
        </p:spPr>
      </p:sp>
      <p:sp>
        <p:nvSpPr>
          <p:cNvPr id="14" name="Shape 12"/>
          <p:cNvSpPr/>
          <p:nvPr/>
        </p:nvSpPr>
        <p:spPr>
          <a:xfrm>
            <a:off x="777240" y="3364992"/>
            <a:ext cx="384048" cy="384048"/>
          </a:xfrm>
          <a:prstGeom prst="ellipse">
            <a:avLst/>
          </a:prstGeom>
          <a:solidFill>
            <a:srgbClr val="E0A458"/>
          </a:solidFill>
          <a:ln w="12700">
            <a:solidFill>
              <a:srgbClr val="E0A458"/>
            </a:solidFill>
            <a:prstDash val="solid"/>
          </a:ln>
        </p:spPr>
      </p:sp>
      <p:sp>
        <p:nvSpPr>
          <p:cNvPr id="15" name="Text 13"/>
          <p:cNvSpPr txBox="1"/>
          <p:nvPr/>
        </p:nvSpPr>
        <p:spPr>
          <a:xfrm>
            <a:off x="777240" y="3364992"/>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16" name="Text 14"/>
          <p:cNvSpPr txBox="1"/>
          <p:nvPr/>
        </p:nvSpPr>
        <p:spPr>
          <a:xfrm>
            <a:off x="1325880" y="3291840"/>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Return Analyst</a:t>
            </a:r>
            <a:endParaRPr lang="en-US" sz="1700" dirty="0"/>
          </a:p>
        </p:txBody>
      </p:sp>
      <p:sp>
        <p:nvSpPr>
          <p:cNvPr id="17" name="Text 15"/>
          <p:cNvSpPr txBox="1"/>
          <p:nvPr/>
        </p:nvSpPr>
        <p:spPr>
          <a:xfrm>
            <a:off x="1325880" y="3621024"/>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What people write when they send something back is exactly what the system needs to learn from. Turning it into a specific measurement point takes judgement.</a:t>
            </a:r>
            <a:endParaRPr lang="en-US" sz="1150" dirty="0"/>
          </a:p>
        </p:txBody>
      </p:sp>
      <p:sp>
        <p:nvSpPr>
          <p:cNvPr id="18" name="Text 16"/>
          <p:cNvSpPr txBox="1"/>
          <p:nvPr/>
        </p:nvSpPr>
        <p:spPr>
          <a:xfrm>
            <a:off x="6812280" y="3291840"/>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19" name="Text 17"/>
          <p:cNvSpPr txBox="1"/>
          <p:nvPr/>
        </p:nvSpPr>
        <p:spPr>
          <a:xfrm>
            <a:off x="6812280" y="3511296"/>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landmark_taxonomy · write_return_signal</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trained on real customer reviews, labelled by hand</a:t>
            </a:r>
            <a:endParaRPr lang="en-US" sz="1050" dirty="0"/>
          </a:p>
        </p:txBody>
      </p:sp>
      <p:sp>
        <p:nvSpPr>
          <p:cNvPr id="20" name="Text 18"/>
          <p:cNvSpPr txBox="1"/>
          <p:nvPr/>
        </p:nvSpPr>
        <p:spPr>
          <a:xfrm>
            <a:off x="6812280" y="4023360"/>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OUTPUT</a:t>
            </a:r>
            <a:endParaRPr lang="en-US" sz="850" dirty="0"/>
          </a:p>
        </p:txBody>
      </p:sp>
      <p:sp>
        <p:nvSpPr>
          <p:cNvPr id="21" name="Text 19"/>
          <p:cNvSpPr txBox="1"/>
          <p:nvPr/>
        </p:nvSpPr>
        <p:spPr>
          <a:xfrm>
            <a:off x="8092440" y="4023360"/>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ReturnSignal</a:t>
            </a:r>
            <a:endParaRPr lang="en-US" sz="1050" dirty="0"/>
          </a:p>
        </p:txBody>
      </p:sp>
      <p:sp>
        <p:nvSpPr>
          <p:cNvPr id="22" name="Shape 20"/>
          <p:cNvSpPr/>
          <p:nvPr/>
        </p:nvSpPr>
        <p:spPr>
          <a:xfrm>
            <a:off x="502920" y="4736592"/>
            <a:ext cx="11185855" cy="1463040"/>
          </a:xfrm>
          <a:prstGeom prst="roundRect">
            <a:avLst>
              <a:gd name="adj" fmla="val 3750"/>
            </a:avLst>
          </a:prstGeom>
          <a:solidFill>
            <a:srgbClr val="252943"/>
          </a:solidFill>
          <a:ln w="12700">
            <a:solidFill>
              <a:srgbClr val="252943"/>
            </a:solidFill>
            <a:prstDash val="solid"/>
          </a:ln>
        </p:spPr>
      </p:sp>
      <p:sp>
        <p:nvSpPr>
          <p:cNvPr id="23" name="Shape 21"/>
          <p:cNvSpPr/>
          <p:nvPr/>
        </p:nvSpPr>
        <p:spPr>
          <a:xfrm>
            <a:off x="777240" y="4992624"/>
            <a:ext cx="384048" cy="384048"/>
          </a:xfrm>
          <a:prstGeom prst="ellipse">
            <a:avLst/>
          </a:prstGeom>
          <a:solidFill>
            <a:srgbClr val="E0A458"/>
          </a:solidFill>
          <a:ln w="12700">
            <a:solidFill>
              <a:srgbClr val="E0A458"/>
            </a:solidFill>
            <a:prstDash val="solid"/>
          </a:ln>
        </p:spPr>
      </p:sp>
      <p:sp>
        <p:nvSpPr>
          <p:cNvPr id="24" name="Text 22"/>
          <p:cNvSpPr txBox="1"/>
          <p:nvPr/>
        </p:nvSpPr>
        <p:spPr>
          <a:xfrm>
            <a:off x="777240" y="4992624"/>
            <a:ext cx="384048" cy="384048"/>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25" name="Text 23"/>
          <p:cNvSpPr txBox="1"/>
          <p:nvPr/>
        </p:nvSpPr>
        <p:spPr>
          <a:xfrm>
            <a:off x="1325880" y="4919472"/>
            <a:ext cx="3840480" cy="31089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Review Agent</a:t>
            </a:r>
            <a:endParaRPr lang="en-US" sz="1700" dirty="0"/>
          </a:p>
        </p:txBody>
      </p:sp>
      <p:sp>
        <p:nvSpPr>
          <p:cNvPr id="26" name="Text 24"/>
          <p:cNvSpPr txBox="1"/>
          <p:nvPr/>
        </p:nvSpPr>
        <p:spPr>
          <a:xfrm>
            <a:off x="1325880" y="5248656"/>
            <a:ext cx="5120640" cy="786384"/>
          </a:xfrm>
          <a:prstGeom prst="rect">
            <a:avLst/>
          </a:prstGeom>
          <a:noFill/>
          <a:ln/>
        </p:spPr>
        <p:txBody>
          <a:bodyPr wrap="square" lIns="0" tIns="0" rIns="0" bIns="0" rtlCol="0" anchor="t"/>
          <a:lstStyle/>
          <a:p>
            <a:pPr indent="0" marL="0">
              <a:lnSpc>
                <a:spcPct val="116000"/>
              </a:lnSpc>
              <a:buNone/>
            </a:pPr>
            <a:r>
              <a:rPr lang="en-US" sz="1150" dirty="0">
                <a:solidFill>
                  <a:srgbClr val="9BA1C1"/>
                </a:solidFill>
                <a:latin typeface="Arial" pitchFamily="34" charset="0"/>
                <a:ea typeface="Arial" pitchFamily="34" charset="-122"/>
                <a:cs typeface="Arial" pitchFamily="34" charset="-120"/>
              </a:rPr>
              <a:t>Runs every test, grades the answers that have no single right answer, and blocks any change that makes things worse. This is what makes it a system rather than an experiment.</a:t>
            </a:r>
            <a:endParaRPr lang="en-US" sz="1150" dirty="0"/>
          </a:p>
        </p:txBody>
      </p:sp>
      <p:sp>
        <p:nvSpPr>
          <p:cNvPr id="27" name="Text 25"/>
          <p:cNvSpPr txBox="1"/>
          <p:nvPr/>
        </p:nvSpPr>
        <p:spPr>
          <a:xfrm>
            <a:off x="6812280" y="4919472"/>
            <a:ext cx="109728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TOOLS</a:t>
            </a:r>
            <a:endParaRPr lang="en-US" sz="850" dirty="0"/>
          </a:p>
        </p:txBody>
      </p:sp>
      <p:sp>
        <p:nvSpPr>
          <p:cNvPr id="28" name="Text 26"/>
          <p:cNvSpPr txBox="1"/>
          <p:nvPr/>
        </p:nvSpPr>
        <p:spPr>
          <a:xfrm>
            <a:off x="6812280" y="5138928"/>
            <a:ext cx="4663440" cy="475488"/>
          </a:xfrm>
          <a:prstGeom prst="rect">
            <a:avLst/>
          </a:prstGeom>
          <a:noFill/>
          <a:ln/>
        </p:spPr>
        <p:txBody>
          <a:bodyPr wrap="square" lIns="0" tIns="0" rIns="0" bIns="0" rtlCol="0" anchor="t"/>
          <a:lstStyle/>
          <a:p>
            <a:pPr indent="0" marL="0">
              <a:lnSpc>
                <a:spcPct val="112000"/>
              </a:lnSpc>
              <a:buNone/>
            </a:pPr>
            <a:r>
              <a:rPr lang="en-US" sz="1050" dirty="0">
                <a:solidFill>
                  <a:srgbClr val="F2F3F8"/>
                </a:solidFill>
                <a:latin typeface="Arial" pitchFamily="34" charset="0"/>
                <a:ea typeface="Arial" pitchFamily="34" charset="-122"/>
                <a:cs typeface="Arial" pitchFamily="34" charset="-120"/>
              </a:rPr>
              <a:t>run_suite · judge_explanation</a:t>
            </a:r>
            <a:endParaRPr lang="en-US" sz="1050" dirty="0"/>
          </a:p>
          <a:p>
            <a:pPr indent="0" marL="0">
              <a:lnSpc>
                <a:spcPct val="112000"/>
              </a:lnSpc>
              <a:buNone/>
            </a:pPr>
            <a:r>
              <a:rPr lang="en-US" sz="1050" dirty="0">
                <a:solidFill>
                  <a:srgbClr val="F2F3F8"/>
                </a:solidFill>
                <a:latin typeface="Arial" pitchFamily="34" charset="0"/>
                <a:ea typeface="Arial" pitchFamily="34" charset="-122"/>
                <a:cs typeface="Arial" pitchFamily="34" charset="-120"/>
              </a:rPr>
              <a:t>compare_to_baseline · promote_version</a:t>
            </a:r>
            <a:endParaRPr lang="en-US" sz="1050" dirty="0"/>
          </a:p>
        </p:txBody>
      </p:sp>
      <p:sp>
        <p:nvSpPr>
          <p:cNvPr id="29" name="Text 27"/>
          <p:cNvSpPr txBox="1"/>
          <p:nvPr/>
        </p:nvSpPr>
        <p:spPr>
          <a:xfrm>
            <a:off x="6812280" y="5650992"/>
            <a:ext cx="1280160" cy="219456"/>
          </a:xfrm>
          <a:prstGeom prst="rect">
            <a:avLst/>
          </a:prstGeom>
          <a:noFill/>
          <a:ln/>
        </p:spPr>
        <p:txBody>
          <a:bodyPr wrap="square" lIns="0" tIns="0" rIns="0" bIns="0" rtlCol="0" anchor="ctr"/>
          <a:lstStyle/>
          <a:p>
            <a:pPr indent="0" marL="0">
              <a:buNone/>
            </a:pPr>
            <a:r>
              <a:rPr lang="en-US" sz="850" b="1" spc="160" kern="0" dirty="0">
                <a:solidFill>
                  <a:srgbClr val="6E7699"/>
                </a:solidFill>
                <a:latin typeface="Arial" pitchFamily="34" charset="0"/>
                <a:ea typeface="Arial" pitchFamily="34" charset="-122"/>
                <a:cs typeface="Arial" pitchFamily="34" charset="-120"/>
              </a:rPr>
              <a:t>OUTPUT</a:t>
            </a:r>
            <a:endParaRPr lang="en-US" sz="850" dirty="0"/>
          </a:p>
        </p:txBody>
      </p:sp>
      <p:sp>
        <p:nvSpPr>
          <p:cNvPr id="30" name="Text 28"/>
          <p:cNvSpPr txBox="1"/>
          <p:nvPr/>
        </p:nvSpPr>
        <p:spPr>
          <a:xfrm>
            <a:off x="8092440" y="5650992"/>
            <a:ext cx="3383280" cy="219456"/>
          </a:xfrm>
          <a:prstGeom prst="rect">
            <a:avLst/>
          </a:prstGeom>
          <a:noFill/>
          <a:ln/>
        </p:spPr>
        <p:txBody>
          <a:bodyPr wrap="square" lIns="0" tIns="0" rIns="0" bIns="0" rtlCol="0" anchor="ctr"/>
          <a:lstStyle/>
          <a:p>
            <a:pPr indent="0" marL="0">
              <a:buNone/>
            </a:pPr>
            <a:r>
              <a:rPr lang="en-US" sz="1050" b="1" dirty="0">
                <a:solidFill>
                  <a:srgbClr val="83B4DE"/>
                </a:solidFill>
                <a:latin typeface="Arial" pitchFamily="34" charset="0"/>
                <a:ea typeface="Arial" pitchFamily="34" charset="-122"/>
                <a:cs typeface="Arial" pitchFamily="34" charset="-120"/>
              </a:rPr>
              <a:t>Scorecard + gate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CAPTURE PIPELINE</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Twelve seconds of video, plus one number</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The video is not a 3D scan. It helps because your body shape stays the same while you turn, so every extra frame narrows the estimate.</a:t>
            </a:r>
            <a:endParaRPr lang="en-US" sz="1300" dirty="0"/>
          </a:p>
        </p:txBody>
      </p:sp>
      <p:sp>
        <p:nvSpPr>
          <p:cNvPr id="5" name="Shape 3"/>
          <p:cNvSpPr/>
          <p:nvPr/>
        </p:nvSpPr>
        <p:spPr>
          <a:xfrm>
            <a:off x="502920" y="1883664"/>
            <a:ext cx="2002536" cy="786384"/>
          </a:xfrm>
          <a:prstGeom prst="roundRect">
            <a:avLst>
              <a:gd name="adj" fmla="val 5814"/>
            </a:avLst>
          </a:prstGeom>
          <a:solidFill>
            <a:srgbClr val="252943"/>
          </a:solidFill>
          <a:ln w="12700">
            <a:solidFill>
              <a:srgbClr val="6E7699"/>
            </a:solidFill>
            <a:prstDash val="solid"/>
          </a:ln>
        </p:spPr>
      </p:sp>
      <p:sp>
        <p:nvSpPr>
          <p:cNvPr id="6" name="Text 4"/>
          <p:cNvSpPr txBox="1"/>
          <p:nvPr/>
        </p:nvSpPr>
        <p:spPr>
          <a:xfrm>
            <a:off x="502920" y="2020824"/>
            <a:ext cx="2002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Video</a:t>
            </a:r>
            <a:endParaRPr lang="en-US" sz="1250" dirty="0"/>
          </a:p>
        </p:txBody>
      </p:sp>
      <p:sp>
        <p:nvSpPr>
          <p:cNvPr id="7" name="Text 5"/>
          <p:cNvSpPr txBox="1"/>
          <p:nvPr/>
        </p:nvSpPr>
        <p:spPr>
          <a:xfrm>
            <a:off x="502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10–15 s, half turn</a:t>
            </a:r>
            <a:endParaRPr lang="en-US" sz="950" dirty="0"/>
          </a:p>
        </p:txBody>
      </p:sp>
      <p:sp>
        <p:nvSpPr>
          <p:cNvPr id="8" name="Shape 6"/>
          <p:cNvSpPr/>
          <p:nvPr/>
        </p:nvSpPr>
        <p:spPr>
          <a:xfrm>
            <a:off x="2542032" y="2276856"/>
            <a:ext cx="210312" cy="0"/>
          </a:xfrm>
          <a:prstGeom prst="line">
            <a:avLst/>
          </a:prstGeom>
          <a:noFill/>
          <a:ln w="15875">
            <a:solidFill>
              <a:srgbClr val="9BA1C1"/>
            </a:solidFill>
            <a:prstDash val="solid"/>
            <a:tailEnd type="triangle"/>
          </a:ln>
        </p:spPr>
      </p:sp>
      <p:sp>
        <p:nvSpPr>
          <p:cNvPr id="9" name="Shape 7"/>
          <p:cNvSpPr/>
          <p:nvPr/>
        </p:nvSpPr>
        <p:spPr>
          <a:xfrm>
            <a:off x="2788920" y="1883664"/>
            <a:ext cx="2002536" cy="786384"/>
          </a:xfrm>
          <a:prstGeom prst="roundRect">
            <a:avLst>
              <a:gd name="adj" fmla="val 5814"/>
            </a:avLst>
          </a:prstGeom>
          <a:solidFill>
            <a:srgbClr val="252943"/>
          </a:solidFill>
          <a:ln w="12700">
            <a:solidFill>
              <a:srgbClr val="6E7699"/>
            </a:solidFill>
            <a:prstDash val="solid"/>
          </a:ln>
        </p:spPr>
      </p:sp>
      <p:sp>
        <p:nvSpPr>
          <p:cNvPr id="10" name="Text 8"/>
          <p:cNvSpPr txBox="1"/>
          <p:nvPr/>
        </p:nvSpPr>
        <p:spPr>
          <a:xfrm>
            <a:off x="2788920" y="2020824"/>
            <a:ext cx="2002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Each frame</a:t>
            </a:r>
            <a:endParaRPr lang="en-US" sz="1250" dirty="0"/>
          </a:p>
        </p:txBody>
      </p:sp>
      <p:sp>
        <p:nvSpPr>
          <p:cNvPr id="11" name="Text 9"/>
          <p:cNvSpPr txBox="1"/>
          <p:nvPr/>
        </p:nvSpPr>
        <p:spPr>
          <a:xfrm>
            <a:off x="2788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fitted to a 3D body</a:t>
            </a:r>
            <a:endParaRPr lang="en-US" sz="950" dirty="0"/>
          </a:p>
        </p:txBody>
      </p:sp>
      <p:sp>
        <p:nvSpPr>
          <p:cNvPr id="12" name="Shape 10"/>
          <p:cNvSpPr/>
          <p:nvPr/>
        </p:nvSpPr>
        <p:spPr>
          <a:xfrm>
            <a:off x="4828032" y="2276856"/>
            <a:ext cx="210312" cy="0"/>
          </a:xfrm>
          <a:prstGeom prst="line">
            <a:avLst/>
          </a:prstGeom>
          <a:noFill/>
          <a:ln w="15875">
            <a:solidFill>
              <a:srgbClr val="9BA1C1"/>
            </a:solidFill>
            <a:prstDash val="solid"/>
            <a:tailEnd type="triangle"/>
          </a:ln>
        </p:spPr>
      </p:sp>
      <p:sp>
        <p:nvSpPr>
          <p:cNvPr id="13" name="Shape 11"/>
          <p:cNvSpPr/>
          <p:nvPr/>
        </p:nvSpPr>
        <p:spPr>
          <a:xfrm>
            <a:off x="5074920" y="1883664"/>
            <a:ext cx="2002536" cy="786384"/>
          </a:xfrm>
          <a:prstGeom prst="roundRect">
            <a:avLst>
              <a:gd name="adj" fmla="val 5814"/>
            </a:avLst>
          </a:prstGeom>
          <a:solidFill>
            <a:srgbClr val="3A2530"/>
          </a:solidFill>
          <a:ln w="19050">
            <a:solidFill>
              <a:srgbClr val="EC8079"/>
            </a:solidFill>
            <a:prstDash val="solid"/>
          </a:ln>
        </p:spPr>
      </p:sp>
      <p:sp>
        <p:nvSpPr>
          <p:cNvPr id="14" name="Text 12"/>
          <p:cNvSpPr txBox="1"/>
          <p:nvPr/>
        </p:nvSpPr>
        <p:spPr>
          <a:xfrm>
            <a:off x="5074920" y="2020824"/>
            <a:ext cx="2002536" cy="237744"/>
          </a:xfrm>
          <a:prstGeom prst="rect">
            <a:avLst/>
          </a:prstGeom>
          <a:noFill/>
          <a:ln/>
        </p:spPr>
        <p:txBody>
          <a:bodyPr wrap="square" lIns="0" tIns="0" rIns="0" bIns="0" rtlCol="0" anchor="ctr"/>
          <a:lstStyle/>
          <a:p>
            <a:pPr algn="ctr" indent="0" marL="0">
              <a:buNone/>
            </a:pPr>
            <a:r>
              <a:rPr lang="en-US" sz="1250" b="1" dirty="0">
                <a:solidFill>
                  <a:srgbClr val="EC8079"/>
                </a:solidFill>
                <a:latin typeface="Arial" pitchFamily="34" charset="0"/>
                <a:ea typeface="Arial" pitchFamily="34" charset="-122"/>
                <a:cs typeface="Arial" pitchFamily="34" charset="-120"/>
              </a:rPr>
              <a:t>Checks</a:t>
            </a:r>
            <a:endParaRPr lang="en-US" sz="1250" dirty="0"/>
          </a:p>
        </p:txBody>
      </p:sp>
      <p:sp>
        <p:nvSpPr>
          <p:cNvPr id="15" name="Text 13"/>
          <p:cNvSpPr txBox="1"/>
          <p:nvPr/>
        </p:nvSpPr>
        <p:spPr>
          <a:xfrm>
            <a:off x="5074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head · feet · fully in frame</a:t>
            </a:r>
            <a:endParaRPr lang="en-US" sz="950" dirty="0"/>
          </a:p>
        </p:txBody>
      </p:sp>
      <p:sp>
        <p:nvSpPr>
          <p:cNvPr id="16" name="Shape 14"/>
          <p:cNvSpPr/>
          <p:nvPr/>
        </p:nvSpPr>
        <p:spPr>
          <a:xfrm>
            <a:off x="7114032" y="2276856"/>
            <a:ext cx="210312" cy="0"/>
          </a:xfrm>
          <a:prstGeom prst="line">
            <a:avLst/>
          </a:prstGeom>
          <a:noFill/>
          <a:ln w="15875">
            <a:solidFill>
              <a:srgbClr val="9BA1C1"/>
            </a:solidFill>
            <a:prstDash val="solid"/>
            <a:tailEnd type="triangle"/>
          </a:ln>
        </p:spPr>
      </p:sp>
      <p:sp>
        <p:nvSpPr>
          <p:cNvPr id="17" name="Shape 15"/>
          <p:cNvSpPr/>
          <p:nvPr/>
        </p:nvSpPr>
        <p:spPr>
          <a:xfrm>
            <a:off x="7360920" y="1883664"/>
            <a:ext cx="2002536" cy="786384"/>
          </a:xfrm>
          <a:prstGeom prst="roundRect">
            <a:avLst>
              <a:gd name="adj" fmla="val 5814"/>
            </a:avLst>
          </a:prstGeom>
          <a:solidFill>
            <a:srgbClr val="3A3A62"/>
          </a:solidFill>
          <a:ln w="19050">
            <a:solidFill>
              <a:srgbClr val="E0A458"/>
            </a:solidFill>
            <a:prstDash val="solid"/>
          </a:ln>
        </p:spPr>
      </p:sp>
      <p:sp>
        <p:nvSpPr>
          <p:cNvPr id="18" name="Text 16"/>
          <p:cNvSpPr txBox="1"/>
          <p:nvPr/>
        </p:nvSpPr>
        <p:spPr>
          <a:xfrm>
            <a:off x="7360920" y="2020824"/>
            <a:ext cx="2002536" cy="237744"/>
          </a:xfrm>
          <a:prstGeom prst="rect">
            <a:avLst/>
          </a:prstGeom>
          <a:noFill/>
          <a:ln/>
        </p:spPr>
        <p:txBody>
          <a:bodyPr wrap="square" lIns="0" tIns="0" rIns="0" bIns="0" rtlCol="0" anchor="ctr"/>
          <a:lstStyle/>
          <a:p>
            <a:pPr algn="ctr" indent="0" marL="0">
              <a:buNone/>
            </a:pPr>
            <a:r>
              <a:rPr lang="en-US" sz="1250" b="1" dirty="0">
                <a:solidFill>
                  <a:srgbClr val="E0A458"/>
                </a:solidFill>
                <a:latin typeface="Arial" pitchFamily="34" charset="0"/>
                <a:ea typeface="Arial" pitchFamily="34" charset="-122"/>
                <a:cs typeface="Arial" pitchFamily="34" charset="-120"/>
              </a:rPr>
              <a:t>Combine frames</a:t>
            </a:r>
            <a:endParaRPr lang="en-US" sz="1250" dirty="0"/>
          </a:p>
        </p:txBody>
      </p:sp>
      <p:sp>
        <p:nvSpPr>
          <p:cNvPr id="19" name="Text 17"/>
          <p:cNvSpPr txBox="1"/>
          <p:nvPr/>
        </p:nvSpPr>
        <p:spPr>
          <a:xfrm>
            <a:off x="7360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one body, many angles</a:t>
            </a:r>
            <a:endParaRPr lang="en-US" sz="950" dirty="0"/>
          </a:p>
        </p:txBody>
      </p:sp>
      <p:sp>
        <p:nvSpPr>
          <p:cNvPr id="20" name="Shape 18"/>
          <p:cNvSpPr/>
          <p:nvPr/>
        </p:nvSpPr>
        <p:spPr>
          <a:xfrm>
            <a:off x="9400032" y="2276856"/>
            <a:ext cx="210312" cy="0"/>
          </a:xfrm>
          <a:prstGeom prst="line">
            <a:avLst/>
          </a:prstGeom>
          <a:noFill/>
          <a:ln w="15875">
            <a:solidFill>
              <a:srgbClr val="9BA1C1"/>
            </a:solidFill>
            <a:prstDash val="solid"/>
            <a:tailEnd type="triangle"/>
          </a:ln>
        </p:spPr>
      </p:sp>
      <p:sp>
        <p:nvSpPr>
          <p:cNvPr id="21" name="Shape 19"/>
          <p:cNvSpPr/>
          <p:nvPr/>
        </p:nvSpPr>
        <p:spPr>
          <a:xfrm>
            <a:off x="9646920" y="1883664"/>
            <a:ext cx="2002536" cy="786384"/>
          </a:xfrm>
          <a:prstGeom prst="roundRect">
            <a:avLst>
              <a:gd name="adj" fmla="val 5814"/>
            </a:avLst>
          </a:prstGeom>
          <a:solidFill>
            <a:srgbClr val="252943"/>
          </a:solidFill>
          <a:ln w="12700">
            <a:solidFill>
              <a:srgbClr val="6E7699"/>
            </a:solidFill>
            <a:prstDash val="solid"/>
          </a:ln>
        </p:spPr>
      </p:sp>
      <p:sp>
        <p:nvSpPr>
          <p:cNvPr id="22" name="Text 20"/>
          <p:cNvSpPr txBox="1"/>
          <p:nvPr/>
        </p:nvSpPr>
        <p:spPr>
          <a:xfrm>
            <a:off x="9646920" y="2020824"/>
            <a:ext cx="2002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Settled?</a:t>
            </a:r>
            <a:endParaRPr lang="en-US" sz="1250" dirty="0"/>
          </a:p>
        </p:txBody>
      </p:sp>
      <p:sp>
        <p:nvSpPr>
          <p:cNvPr id="23" name="Text 21"/>
          <p:cNvSpPr txBox="1"/>
          <p:nvPr/>
        </p:nvSpPr>
        <p:spPr>
          <a:xfrm>
            <a:off x="9646920" y="2258568"/>
            <a:ext cx="2002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estimate stopped moving</a:t>
            </a:r>
            <a:endParaRPr lang="en-US" sz="950" dirty="0"/>
          </a:p>
        </p:txBody>
      </p:sp>
      <p:sp>
        <p:nvSpPr>
          <p:cNvPr id="24" name="Shape 22"/>
          <p:cNvSpPr/>
          <p:nvPr/>
        </p:nvSpPr>
        <p:spPr>
          <a:xfrm>
            <a:off x="10648188" y="2670048"/>
            <a:ext cx="0" cy="384048"/>
          </a:xfrm>
          <a:prstGeom prst="line">
            <a:avLst/>
          </a:prstGeom>
          <a:noFill/>
          <a:ln w="15875">
            <a:solidFill>
              <a:srgbClr val="9BA1C1"/>
            </a:solidFill>
            <a:prstDash val="dash"/>
          </a:ln>
        </p:spPr>
      </p:sp>
      <p:sp>
        <p:nvSpPr>
          <p:cNvPr id="25" name="Shape 23"/>
          <p:cNvSpPr/>
          <p:nvPr/>
        </p:nvSpPr>
        <p:spPr>
          <a:xfrm>
            <a:off x="3790188" y="3054096"/>
            <a:ext cx="6858000" cy="0"/>
          </a:xfrm>
          <a:prstGeom prst="line">
            <a:avLst/>
          </a:prstGeom>
          <a:noFill/>
          <a:ln w="15875">
            <a:solidFill>
              <a:srgbClr val="9BA1C1"/>
            </a:solidFill>
            <a:prstDash val="dash"/>
          </a:ln>
        </p:spPr>
      </p:sp>
      <p:sp>
        <p:nvSpPr>
          <p:cNvPr id="26" name="Shape 24"/>
          <p:cNvSpPr/>
          <p:nvPr/>
        </p:nvSpPr>
        <p:spPr>
          <a:xfrm>
            <a:off x="3790188" y="2798064"/>
            <a:ext cx="0" cy="256032"/>
          </a:xfrm>
          <a:prstGeom prst="line">
            <a:avLst/>
          </a:prstGeom>
          <a:noFill/>
          <a:ln w="15875">
            <a:solidFill>
              <a:srgbClr val="9BA1C1"/>
            </a:solidFill>
            <a:prstDash val="solid"/>
            <a:headEnd type="triangle"/>
          </a:ln>
        </p:spPr>
      </p:sp>
      <p:sp>
        <p:nvSpPr>
          <p:cNvPr id="27" name="Text 25"/>
          <p:cNvSpPr txBox="1"/>
          <p:nvPr/>
        </p:nvSpPr>
        <p:spPr>
          <a:xfrm>
            <a:off x="3927348" y="3072384"/>
            <a:ext cx="7498080" cy="256032"/>
          </a:xfrm>
          <a:prstGeom prst="rect">
            <a:avLst/>
          </a:prstGeom>
          <a:noFill/>
          <a:ln/>
        </p:spPr>
        <p:txBody>
          <a:bodyPr wrap="square" lIns="0" tIns="0" rIns="0" bIns="0" rtlCol="0" anchor="ctr"/>
          <a:lstStyle/>
          <a:p>
            <a:pPr indent="0" marL="0">
              <a:buNone/>
            </a:pPr>
            <a:r>
              <a:rPr lang="en-US" sz="1050" i="1" dirty="0">
                <a:solidFill>
                  <a:srgbClr val="9BA1C1"/>
                </a:solidFill>
                <a:latin typeface="Arial" pitchFamily="34" charset="0"/>
                <a:ea typeface="Arial" pitchFamily="34" charset="-122"/>
                <a:cs typeface="Arial" pitchFamily="34" charset="-120"/>
              </a:rPr>
              <a:t>no — the coach asks for a wider turn, better light, or a steadier hand</a:t>
            </a:r>
            <a:endParaRPr lang="en-US" sz="1050" dirty="0"/>
          </a:p>
        </p:txBody>
      </p:sp>
      <p:sp>
        <p:nvSpPr>
          <p:cNvPr id="28" name="Shape 26"/>
          <p:cNvSpPr/>
          <p:nvPr/>
        </p:nvSpPr>
        <p:spPr>
          <a:xfrm>
            <a:off x="7818120" y="3712464"/>
            <a:ext cx="3840480" cy="786384"/>
          </a:xfrm>
          <a:prstGeom prst="roundRect">
            <a:avLst>
              <a:gd name="adj" fmla="val 5814"/>
            </a:avLst>
          </a:prstGeom>
          <a:solidFill>
            <a:srgbClr val="3A3A62"/>
          </a:solidFill>
          <a:ln w="19050">
            <a:solidFill>
              <a:srgbClr val="E0A458"/>
            </a:solidFill>
            <a:prstDash val="solid"/>
          </a:ln>
        </p:spPr>
      </p:sp>
      <p:sp>
        <p:nvSpPr>
          <p:cNvPr id="29" name="Text 27"/>
          <p:cNvSpPr txBox="1"/>
          <p:nvPr/>
        </p:nvSpPr>
        <p:spPr>
          <a:xfrm>
            <a:off x="7818120" y="3849624"/>
            <a:ext cx="3840480" cy="237744"/>
          </a:xfrm>
          <a:prstGeom prst="rect">
            <a:avLst/>
          </a:prstGeom>
          <a:noFill/>
          <a:ln/>
        </p:spPr>
        <p:txBody>
          <a:bodyPr wrap="square" lIns="0" tIns="0" rIns="0" bIns="0" rtlCol="0" anchor="ctr"/>
          <a:lstStyle/>
          <a:p>
            <a:pPr algn="ctr" indent="0" marL="0">
              <a:buNone/>
            </a:pPr>
            <a:r>
              <a:rPr lang="en-US" sz="1250" b="1" dirty="0">
                <a:solidFill>
                  <a:srgbClr val="E0A458"/>
                </a:solidFill>
                <a:latin typeface="Arial" pitchFamily="34" charset="0"/>
                <a:ea typeface="Arial" pitchFamily="34" charset="-122"/>
                <a:cs typeface="Arial" pitchFamily="34" charset="-120"/>
              </a:rPr>
              <a:t>Turn into centimetres</a:t>
            </a:r>
            <a:endParaRPr lang="en-US" sz="1250" dirty="0"/>
          </a:p>
        </p:txBody>
      </p:sp>
      <p:sp>
        <p:nvSpPr>
          <p:cNvPr id="30" name="Text 28"/>
          <p:cNvSpPr txBox="1"/>
          <p:nvPr/>
        </p:nvSpPr>
        <p:spPr>
          <a:xfrm>
            <a:off x="7818120" y="4087368"/>
            <a:ext cx="3840480" cy="219456"/>
          </a:xfrm>
          <a:prstGeom prst="rect">
            <a:avLst/>
          </a:prstGeom>
          <a:noFill/>
          <a:ln/>
        </p:spPr>
        <p:txBody>
          <a:bodyPr wrap="square" lIns="0" tIns="0" rIns="0" bIns="0" rtlCol="0" anchor="ctr"/>
          <a:lstStyle/>
          <a:p>
            <a:pPr algn="ctr" indent="0" marL="0">
              <a:buNone/>
            </a:pPr>
            <a:r>
              <a:rPr lang="en-US" sz="1000" dirty="0">
                <a:solidFill>
                  <a:srgbClr val="9BA1C1"/>
                </a:solidFill>
                <a:latin typeface="Arial" pitchFamily="34" charset="0"/>
                <a:ea typeface="Arial" pitchFamily="34" charset="-122"/>
                <a:cs typeface="Arial" pitchFamily="34" charset="-120"/>
              </a:rPr>
              <a:t>using the height you typed</a:t>
            </a:r>
            <a:endParaRPr lang="en-US" sz="1000" dirty="0"/>
          </a:p>
        </p:txBody>
      </p:sp>
      <p:sp>
        <p:nvSpPr>
          <p:cNvPr id="31" name="Shape 29"/>
          <p:cNvSpPr/>
          <p:nvPr/>
        </p:nvSpPr>
        <p:spPr>
          <a:xfrm>
            <a:off x="3950208" y="3712464"/>
            <a:ext cx="3566160" cy="786384"/>
          </a:xfrm>
          <a:prstGeom prst="roundRect">
            <a:avLst>
              <a:gd name="adj" fmla="val 5814"/>
            </a:avLst>
          </a:prstGeom>
          <a:solidFill>
            <a:srgbClr val="252943"/>
          </a:solidFill>
          <a:ln w="12700">
            <a:solidFill>
              <a:srgbClr val="6E7699"/>
            </a:solidFill>
            <a:prstDash val="solid"/>
          </a:ln>
        </p:spPr>
      </p:sp>
      <p:sp>
        <p:nvSpPr>
          <p:cNvPr id="32" name="Text 30"/>
          <p:cNvSpPr txBox="1"/>
          <p:nvPr/>
        </p:nvSpPr>
        <p:spPr>
          <a:xfrm>
            <a:off x="3950208" y="3849624"/>
            <a:ext cx="3566160"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Leg measurements</a:t>
            </a:r>
            <a:endParaRPr lang="en-US" sz="1250" dirty="0"/>
          </a:p>
        </p:txBody>
      </p:sp>
      <p:sp>
        <p:nvSpPr>
          <p:cNvPr id="33" name="Text 31"/>
          <p:cNvSpPr txBox="1"/>
          <p:nvPr/>
        </p:nvSpPr>
        <p:spPr>
          <a:xfrm>
            <a:off x="3950208" y="4087368"/>
            <a:ext cx="3566160"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nine points, in centimetres</a:t>
            </a:r>
            <a:endParaRPr lang="en-US" sz="950" dirty="0"/>
          </a:p>
        </p:txBody>
      </p:sp>
      <p:sp>
        <p:nvSpPr>
          <p:cNvPr id="34" name="Shape 32"/>
          <p:cNvSpPr/>
          <p:nvPr/>
        </p:nvSpPr>
        <p:spPr>
          <a:xfrm>
            <a:off x="502920" y="3712464"/>
            <a:ext cx="3145536" cy="786384"/>
          </a:xfrm>
          <a:prstGeom prst="roundRect">
            <a:avLst>
              <a:gd name="adj" fmla="val 5814"/>
            </a:avLst>
          </a:prstGeom>
          <a:solidFill>
            <a:srgbClr val="252943"/>
          </a:solidFill>
          <a:ln w="12700">
            <a:solidFill>
              <a:srgbClr val="6E7699"/>
            </a:solidFill>
            <a:prstDash val="solid"/>
          </a:ln>
        </p:spPr>
      </p:sp>
      <p:sp>
        <p:nvSpPr>
          <p:cNvPr id="35" name="Text 33"/>
          <p:cNvSpPr txBox="1"/>
          <p:nvPr/>
        </p:nvSpPr>
        <p:spPr>
          <a:xfrm>
            <a:off x="502920" y="3849624"/>
            <a:ext cx="3145536" cy="237744"/>
          </a:xfrm>
          <a:prstGeom prst="rect">
            <a:avLst/>
          </a:prstGeom>
          <a:noFill/>
          <a:ln/>
        </p:spPr>
        <p:txBody>
          <a:bodyPr wrap="square" lIns="0" tIns="0" rIns="0" bIns="0" rtlCol="0" anchor="ctr"/>
          <a:lstStyle/>
          <a:p>
            <a:pPr algn="ctr" indent="0" marL="0">
              <a:buNone/>
            </a:pPr>
            <a:r>
              <a:rPr lang="en-US" sz="1250" b="1" dirty="0">
                <a:solidFill>
                  <a:srgbClr val="F2F3F8"/>
                </a:solidFill>
                <a:latin typeface="Arial" pitchFamily="34" charset="0"/>
                <a:ea typeface="Arial" pitchFamily="34" charset="-122"/>
                <a:cs typeface="Arial" pitchFamily="34" charset="-120"/>
              </a:rPr>
              <a:t>Sanity check — agent 2</a:t>
            </a:r>
            <a:endParaRPr lang="en-US" sz="1250" dirty="0"/>
          </a:p>
        </p:txBody>
      </p:sp>
      <p:sp>
        <p:nvSpPr>
          <p:cNvPr id="36" name="Text 34"/>
          <p:cNvSpPr txBox="1"/>
          <p:nvPr/>
        </p:nvSpPr>
        <p:spPr>
          <a:xfrm>
            <a:off x="502920" y="4087368"/>
            <a:ext cx="3145536" cy="219456"/>
          </a:xfrm>
          <a:prstGeom prst="rect">
            <a:avLst/>
          </a:prstGeom>
          <a:noFill/>
          <a:ln/>
        </p:spPr>
        <p:txBody>
          <a:bodyPr wrap="square" lIns="0" tIns="0" rIns="0" bIns="0" rtlCol="0" anchor="ctr"/>
          <a:lstStyle/>
          <a:p>
            <a:pPr algn="ctr" indent="0" marL="0">
              <a:buNone/>
            </a:pPr>
            <a:r>
              <a:rPr lang="en-US" sz="950" dirty="0">
                <a:solidFill>
                  <a:srgbClr val="9BA1C1"/>
                </a:solidFill>
                <a:latin typeface="Arial" pitchFamily="34" charset="0"/>
                <a:ea typeface="Arial" pitchFamily="34" charset="-122"/>
                <a:cs typeface="Arial" pitchFamily="34" charset="-120"/>
              </a:rPr>
              <a:t>against real body data</a:t>
            </a:r>
            <a:endParaRPr lang="en-US" sz="950" dirty="0"/>
          </a:p>
        </p:txBody>
      </p:sp>
      <p:sp>
        <p:nvSpPr>
          <p:cNvPr id="37" name="Shape 35"/>
          <p:cNvSpPr/>
          <p:nvPr/>
        </p:nvSpPr>
        <p:spPr>
          <a:xfrm>
            <a:off x="11484864" y="2670048"/>
            <a:ext cx="0" cy="566928"/>
          </a:xfrm>
          <a:prstGeom prst="line">
            <a:avLst/>
          </a:prstGeom>
          <a:noFill/>
          <a:ln w="15875">
            <a:solidFill>
              <a:srgbClr val="E0A458"/>
            </a:solidFill>
            <a:prstDash val="solid"/>
          </a:ln>
        </p:spPr>
      </p:sp>
      <p:sp>
        <p:nvSpPr>
          <p:cNvPr id="38" name="Shape 36"/>
          <p:cNvSpPr/>
          <p:nvPr/>
        </p:nvSpPr>
        <p:spPr>
          <a:xfrm>
            <a:off x="9738360" y="3236976"/>
            <a:ext cx="1746504" cy="0"/>
          </a:xfrm>
          <a:prstGeom prst="line">
            <a:avLst/>
          </a:prstGeom>
          <a:noFill/>
          <a:ln w="15875">
            <a:solidFill>
              <a:srgbClr val="E0A458"/>
            </a:solidFill>
            <a:prstDash val="solid"/>
          </a:ln>
        </p:spPr>
      </p:sp>
      <p:sp>
        <p:nvSpPr>
          <p:cNvPr id="39" name="Shape 37"/>
          <p:cNvSpPr/>
          <p:nvPr/>
        </p:nvSpPr>
        <p:spPr>
          <a:xfrm>
            <a:off x="9738360" y="3236976"/>
            <a:ext cx="0" cy="438912"/>
          </a:xfrm>
          <a:prstGeom prst="line">
            <a:avLst/>
          </a:prstGeom>
          <a:noFill/>
          <a:ln w="15875">
            <a:solidFill>
              <a:srgbClr val="E0A458"/>
            </a:solidFill>
            <a:prstDash val="solid"/>
            <a:tailEnd type="triangle"/>
          </a:ln>
        </p:spPr>
      </p:sp>
      <p:sp>
        <p:nvSpPr>
          <p:cNvPr id="40" name="Text 38"/>
          <p:cNvSpPr txBox="1"/>
          <p:nvPr/>
        </p:nvSpPr>
        <p:spPr>
          <a:xfrm>
            <a:off x="10424160" y="2999232"/>
            <a:ext cx="822960" cy="219456"/>
          </a:xfrm>
          <a:prstGeom prst="rect">
            <a:avLst/>
          </a:prstGeom>
          <a:noFill/>
          <a:ln/>
        </p:spPr>
        <p:txBody>
          <a:bodyPr wrap="square" lIns="0" tIns="0" rIns="0" bIns="0" rtlCol="0" anchor="ctr"/>
          <a:lstStyle/>
          <a:p>
            <a:pPr indent="0" marL="0">
              <a:buNone/>
            </a:pPr>
            <a:r>
              <a:rPr lang="en-US" sz="1050" i="1" dirty="0">
                <a:solidFill>
                  <a:srgbClr val="E0A458"/>
                </a:solidFill>
                <a:latin typeface="Arial" pitchFamily="34" charset="0"/>
                <a:ea typeface="Arial" pitchFamily="34" charset="-122"/>
                <a:cs typeface="Arial" pitchFamily="34" charset="-120"/>
              </a:rPr>
              <a:t>yes</a:t>
            </a:r>
            <a:endParaRPr lang="en-US" sz="1050" dirty="0"/>
          </a:p>
        </p:txBody>
      </p:sp>
      <p:sp>
        <p:nvSpPr>
          <p:cNvPr id="41" name="Shape 39"/>
          <p:cNvSpPr/>
          <p:nvPr/>
        </p:nvSpPr>
        <p:spPr>
          <a:xfrm>
            <a:off x="7552944" y="4105656"/>
            <a:ext cx="228600" cy="0"/>
          </a:xfrm>
          <a:prstGeom prst="line">
            <a:avLst/>
          </a:prstGeom>
          <a:noFill/>
          <a:ln w="15875">
            <a:solidFill>
              <a:srgbClr val="E0A458"/>
            </a:solidFill>
            <a:prstDash val="solid"/>
            <a:headEnd type="triangle"/>
          </a:ln>
        </p:spPr>
      </p:sp>
      <p:sp>
        <p:nvSpPr>
          <p:cNvPr id="42" name="Shape 40"/>
          <p:cNvSpPr/>
          <p:nvPr/>
        </p:nvSpPr>
        <p:spPr>
          <a:xfrm>
            <a:off x="3685032" y="4105656"/>
            <a:ext cx="228600" cy="0"/>
          </a:xfrm>
          <a:prstGeom prst="line">
            <a:avLst/>
          </a:prstGeom>
          <a:noFill/>
          <a:ln w="15875">
            <a:solidFill>
              <a:srgbClr val="9BA1C1"/>
            </a:solidFill>
            <a:prstDash val="solid"/>
            <a:headEnd type="triangle"/>
          </a:ln>
        </p:spPr>
      </p:sp>
      <p:sp>
        <p:nvSpPr>
          <p:cNvPr id="43" name="Shape 41"/>
          <p:cNvSpPr/>
          <p:nvPr/>
        </p:nvSpPr>
        <p:spPr>
          <a:xfrm>
            <a:off x="7818120" y="4864608"/>
            <a:ext cx="3840480" cy="566928"/>
          </a:xfrm>
          <a:prstGeom prst="roundRect">
            <a:avLst>
              <a:gd name="adj" fmla="val 8065"/>
            </a:avLst>
          </a:prstGeom>
          <a:solidFill>
            <a:srgbClr val="3A2530"/>
          </a:solidFill>
          <a:ln w="19050">
            <a:solidFill>
              <a:srgbClr val="EC8079"/>
            </a:solidFill>
            <a:prstDash val="solid"/>
          </a:ln>
        </p:spPr>
      </p:sp>
      <p:sp>
        <p:nvSpPr>
          <p:cNvPr id="44" name="Text 42"/>
          <p:cNvSpPr txBox="1"/>
          <p:nvPr/>
        </p:nvSpPr>
        <p:spPr>
          <a:xfrm>
            <a:off x="7818120" y="4864608"/>
            <a:ext cx="3840480" cy="566928"/>
          </a:xfrm>
          <a:prstGeom prst="rect">
            <a:avLst/>
          </a:prstGeom>
          <a:noFill/>
          <a:ln/>
        </p:spPr>
        <p:txBody>
          <a:bodyPr wrap="square" lIns="0" tIns="0" rIns="0" bIns="0" rtlCol="0" anchor="ctr"/>
          <a:lstStyle/>
          <a:p>
            <a:pPr algn="ctr" indent="0" marL="0">
              <a:buNone/>
            </a:pPr>
            <a:r>
              <a:rPr lang="en-US" sz="1200" b="1" dirty="0">
                <a:solidFill>
                  <a:srgbClr val="EC8079"/>
                </a:solidFill>
                <a:latin typeface="Arial" pitchFamily="34" charset="0"/>
                <a:ea typeface="Arial" pitchFamily="34" charset="-122"/>
                <a:cs typeface="Arial" pitchFamily="34" charset="-120"/>
              </a:rPr>
              <a:t>Re-capture, with the reason named</a:t>
            </a:r>
            <a:endParaRPr lang="en-US" sz="1200" dirty="0"/>
          </a:p>
        </p:txBody>
      </p:sp>
      <p:sp>
        <p:nvSpPr>
          <p:cNvPr id="45" name="Shape 43"/>
          <p:cNvSpPr/>
          <p:nvPr/>
        </p:nvSpPr>
        <p:spPr>
          <a:xfrm>
            <a:off x="7818120" y="5614416"/>
            <a:ext cx="3840480" cy="566928"/>
          </a:xfrm>
          <a:prstGeom prst="roundRect">
            <a:avLst>
              <a:gd name="adj" fmla="val 8065"/>
            </a:avLst>
          </a:prstGeom>
          <a:solidFill>
            <a:srgbClr val="252943"/>
          </a:solidFill>
          <a:ln w="12700">
            <a:solidFill>
              <a:srgbClr val="6E7699"/>
            </a:solidFill>
            <a:prstDash val="solid"/>
          </a:ln>
        </p:spPr>
      </p:sp>
      <p:sp>
        <p:nvSpPr>
          <p:cNvPr id="46" name="Text 44"/>
          <p:cNvSpPr txBox="1"/>
          <p:nvPr/>
        </p:nvSpPr>
        <p:spPr>
          <a:xfrm>
            <a:off x="7818120" y="5614416"/>
            <a:ext cx="3840480" cy="566928"/>
          </a:xfrm>
          <a:prstGeom prst="rect">
            <a:avLst/>
          </a:prstGeom>
          <a:noFill/>
          <a:ln/>
        </p:spPr>
        <p:txBody>
          <a:bodyPr wrap="square" lIns="0" tIns="0" rIns="0" bIns="0" rtlCol="0" anchor="ctr"/>
          <a:lstStyle/>
          <a:p>
            <a:pPr algn="ctr" indent="0" marL="0">
              <a:buNone/>
            </a:pPr>
            <a:r>
              <a:rPr lang="en-US" sz="1200" b="1" dirty="0">
                <a:solidFill>
                  <a:srgbClr val="F2F3F8"/>
                </a:solidFill>
                <a:latin typeface="Arial" pitchFamily="34" charset="0"/>
                <a:ea typeface="Arial" pitchFamily="34" charset="-122"/>
                <a:cs typeface="Arial" pitchFamily="34" charset="-120"/>
              </a:rPr>
              <a:t>Manual entry — fallback</a:t>
            </a:r>
            <a:endParaRPr lang="en-US" sz="1200" dirty="0"/>
          </a:p>
        </p:txBody>
      </p:sp>
      <p:sp>
        <p:nvSpPr>
          <p:cNvPr id="47" name="Shape 45"/>
          <p:cNvSpPr/>
          <p:nvPr/>
        </p:nvSpPr>
        <p:spPr>
          <a:xfrm>
            <a:off x="6076188" y="2670048"/>
            <a:ext cx="0" cy="731520"/>
          </a:xfrm>
          <a:prstGeom prst="line">
            <a:avLst/>
          </a:prstGeom>
          <a:noFill/>
          <a:ln w="15875">
            <a:solidFill>
              <a:srgbClr val="EC8079"/>
            </a:solidFill>
            <a:prstDash val="solid"/>
          </a:ln>
        </p:spPr>
      </p:sp>
      <p:sp>
        <p:nvSpPr>
          <p:cNvPr id="48" name="Shape 46"/>
          <p:cNvSpPr/>
          <p:nvPr/>
        </p:nvSpPr>
        <p:spPr>
          <a:xfrm>
            <a:off x="3803904" y="3401568"/>
            <a:ext cx="2272284" cy="0"/>
          </a:xfrm>
          <a:prstGeom prst="line">
            <a:avLst/>
          </a:prstGeom>
          <a:noFill/>
          <a:ln w="15875">
            <a:solidFill>
              <a:srgbClr val="EC8079"/>
            </a:solidFill>
            <a:prstDash val="solid"/>
          </a:ln>
        </p:spPr>
      </p:sp>
      <p:sp>
        <p:nvSpPr>
          <p:cNvPr id="49" name="Shape 47"/>
          <p:cNvSpPr/>
          <p:nvPr/>
        </p:nvSpPr>
        <p:spPr>
          <a:xfrm>
            <a:off x="3803904" y="3401568"/>
            <a:ext cx="0" cy="1746504"/>
          </a:xfrm>
          <a:prstGeom prst="line">
            <a:avLst/>
          </a:prstGeom>
          <a:noFill/>
          <a:ln w="15875">
            <a:solidFill>
              <a:srgbClr val="EC8079"/>
            </a:solidFill>
            <a:prstDash val="solid"/>
          </a:ln>
        </p:spPr>
      </p:sp>
      <p:sp>
        <p:nvSpPr>
          <p:cNvPr id="50" name="Shape 48"/>
          <p:cNvSpPr/>
          <p:nvPr/>
        </p:nvSpPr>
        <p:spPr>
          <a:xfrm>
            <a:off x="3803904" y="5148072"/>
            <a:ext cx="3977640" cy="0"/>
          </a:xfrm>
          <a:prstGeom prst="line">
            <a:avLst/>
          </a:prstGeom>
          <a:noFill/>
          <a:ln w="15875">
            <a:solidFill>
              <a:srgbClr val="EC8079"/>
            </a:solidFill>
            <a:prstDash val="solid"/>
            <a:tailEnd type="triangle"/>
          </a:ln>
        </p:spPr>
      </p:sp>
      <p:sp>
        <p:nvSpPr>
          <p:cNvPr id="51" name="Text 49"/>
          <p:cNvSpPr txBox="1"/>
          <p:nvPr/>
        </p:nvSpPr>
        <p:spPr>
          <a:xfrm>
            <a:off x="3977640" y="4882896"/>
            <a:ext cx="1463040" cy="219456"/>
          </a:xfrm>
          <a:prstGeom prst="rect">
            <a:avLst/>
          </a:prstGeom>
          <a:noFill/>
          <a:ln/>
        </p:spPr>
        <p:txBody>
          <a:bodyPr wrap="square" lIns="0" tIns="0" rIns="0" bIns="0" rtlCol="0" anchor="ctr"/>
          <a:lstStyle/>
          <a:p>
            <a:pPr indent="0" marL="0">
              <a:buNone/>
            </a:pPr>
            <a:r>
              <a:rPr lang="en-US" sz="1050" i="1" dirty="0">
                <a:solidFill>
                  <a:srgbClr val="EC8079"/>
                </a:solidFill>
                <a:latin typeface="Arial" pitchFamily="34" charset="0"/>
                <a:ea typeface="Arial" pitchFamily="34" charset="-122"/>
                <a:cs typeface="Arial" pitchFamily="34" charset="-120"/>
              </a:rPr>
              <a:t>gate failed</a:t>
            </a:r>
            <a:endParaRPr lang="en-US" sz="1050" dirty="0"/>
          </a:p>
        </p:txBody>
      </p:sp>
      <p:sp>
        <p:nvSpPr>
          <p:cNvPr id="52" name="Shape 50"/>
          <p:cNvSpPr/>
          <p:nvPr/>
        </p:nvSpPr>
        <p:spPr>
          <a:xfrm>
            <a:off x="822960" y="4498848"/>
            <a:ext cx="0" cy="1399032"/>
          </a:xfrm>
          <a:prstGeom prst="line">
            <a:avLst/>
          </a:prstGeom>
          <a:noFill/>
          <a:ln w="15875">
            <a:solidFill>
              <a:srgbClr val="9BA1C1"/>
            </a:solidFill>
            <a:prstDash val="solid"/>
          </a:ln>
        </p:spPr>
      </p:sp>
      <p:sp>
        <p:nvSpPr>
          <p:cNvPr id="53" name="Shape 51"/>
          <p:cNvSpPr/>
          <p:nvPr/>
        </p:nvSpPr>
        <p:spPr>
          <a:xfrm>
            <a:off x="822960" y="5897880"/>
            <a:ext cx="6958584" cy="0"/>
          </a:xfrm>
          <a:prstGeom prst="line">
            <a:avLst/>
          </a:prstGeom>
          <a:noFill/>
          <a:ln w="15875">
            <a:solidFill>
              <a:srgbClr val="9BA1C1"/>
            </a:solidFill>
            <a:prstDash val="solid"/>
            <a:tailEnd type="triangle"/>
          </a:ln>
        </p:spPr>
      </p:sp>
      <p:sp>
        <p:nvSpPr>
          <p:cNvPr id="54" name="Text 52"/>
          <p:cNvSpPr txBox="1"/>
          <p:nvPr/>
        </p:nvSpPr>
        <p:spPr>
          <a:xfrm>
            <a:off x="1005840" y="5632704"/>
            <a:ext cx="3108960" cy="219456"/>
          </a:xfrm>
          <a:prstGeom prst="rect">
            <a:avLst/>
          </a:prstGeom>
          <a:noFill/>
          <a:ln/>
        </p:spPr>
        <p:txBody>
          <a:bodyPr wrap="square" lIns="0" tIns="0" rIns="0" bIns="0" rtlCol="0" anchor="ctr"/>
          <a:lstStyle/>
          <a:p>
            <a:pPr indent="0" marL="0">
              <a:buNone/>
            </a:pPr>
            <a:r>
              <a:rPr lang="en-US" sz="1050" i="1" dirty="0">
                <a:solidFill>
                  <a:srgbClr val="9BA1C1"/>
                </a:solidFill>
                <a:latin typeface="Arial" pitchFamily="34" charset="0"/>
                <a:ea typeface="Arial" pitchFamily="34" charset="-122"/>
                <a:cs typeface="Arial" pitchFamily="34" charset="-120"/>
              </a:rPr>
              <a:t>implausible after one retry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8"/>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ONE RULE WE CANNOT BEND</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1B1D33"/>
                </a:solidFill>
                <a:latin typeface="Arial" pitchFamily="34" charset="0"/>
                <a:ea typeface="Arial" pitchFamily="34" charset="-122"/>
                <a:cs typeface="Arial" pitchFamily="34" charset="-120"/>
              </a:rPr>
              <a:t>No head in frame, no centimetres</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4E5470"/>
                </a:solidFill>
                <a:latin typeface="Arial" pitchFamily="34" charset="0"/>
                <a:ea typeface="Arial" pitchFamily="34" charset="-122"/>
                <a:cs typeface="Arial" pitchFamily="34" charset="-120"/>
              </a:rPr>
              <a:t>One camera gets your proportions right, but not your size. The centimetres have to come from somewhere else.</a:t>
            </a:r>
            <a:endParaRPr lang="en-US" sz="1300" dirty="0"/>
          </a:p>
        </p:txBody>
      </p:sp>
      <p:sp>
        <p:nvSpPr>
          <p:cNvPr id="5" name="Shape 3"/>
          <p:cNvSpPr/>
          <p:nvPr/>
        </p:nvSpPr>
        <p:spPr>
          <a:xfrm>
            <a:off x="502920" y="1792224"/>
            <a:ext cx="11185855" cy="713232"/>
          </a:xfrm>
          <a:prstGeom prst="roundRect">
            <a:avLst>
              <a:gd name="adj" fmla="val 7692"/>
            </a:avLst>
          </a:prstGeom>
          <a:solidFill>
            <a:srgbClr val="FFFFFF"/>
          </a:solidFill>
          <a:ln w="12700">
            <a:solidFill>
              <a:srgbClr val="E2E6F0"/>
            </a:solidFill>
            <a:prstDash val="solid"/>
          </a:ln>
        </p:spPr>
      </p:sp>
      <p:sp>
        <p:nvSpPr>
          <p:cNvPr id="6" name="Text 4"/>
          <p:cNvSpPr txBox="1"/>
          <p:nvPr/>
        </p:nvSpPr>
        <p:spPr>
          <a:xfrm>
            <a:off x="502920" y="1792224"/>
            <a:ext cx="11185855" cy="713232"/>
          </a:xfrm>
          <a:prstGeom prst="rect">
            <a:avLst/>
          </a:prstGeom>
          <a:noFill/>
          <a:ln/>
        </p:spPr>
        <p:txBody>
          <a:bodyPr wrap="square" lIns="0" tIns="0" rIns="0" bIns="0" rtlCol="0" anchor="ctr"/>
          <a:lstStyle/>
          <a:p>
            <a:pPr algn="ctr" indent="0" marL="0">
              <a:buNone/>
            </a:pPr>
            <a:r>
              <a:rPr lang="en-US" sz="2100" b="1" dirty="0">
                <a:solidFill>
                  <a:srgbClr val="1B1D33"/>
                </a:solidFill>
                <a:latin typeface="Arial" pitchFamily="34" charset="0"/>
                <a:ea typeface="Arial" pitchFamily="34" charset="-122"/>
                <a:cs typeface="Arial" pitchFamily="34" charset="-120"/>
              </a:rPr>
              <a:t>your height in cm   ÷   head-to-heel in the picture   =   the scale</a:t>
            </a:r>
            <a:endParaRPr lang="en-US" sz="2100" dirty="0"/>
          </a:p>
        </p:txBody>
      </p:sp>
      <p:sp>
        <p:nvSpPr>
          <p:cNvPr id="7" name="Shape 5"/>
          <p:cNvSpPr/>
          <p:nvPr/>
        </p:nvSpPr>
        <p:spPr>
          <a:xfrm>
            <a:off x="502920" y="2743200"/>
            <a:ext cx="5394960" cy="2212848"/>
          </a:xfrm>
          <a:prstGeom prst="roundRect">
            <a:avLst>
              <a:gd name="adj" fmla="val 2479"/>
            </a:avLst>
          </a:prstGeom>
          <a:solidFill>
            <a:srgbClr val="E8F1EC"/>
          </a:solidFill>
          <a:ln w="19050">
            <a:solidFill>
              <a:srgbClr val="1B6440"/>
            </a:solidFill>
            <a:prstDash val="solid"/>
          </a:ln>
        </p:spPr>
      </p:sp>
      <p:sp>
        <p:nvSpPr>
          <p:cNvPr id="8" name="Text 6"/>
          <p:cNvSpPr txBox="1"/>
          <p:nvPr/>
        </p:nvSpPr>
        <p:spPr>
          <a:xfrm>
            <a:off x="850392" y="2944368"/>
            <a:ext cx="4663440" cy="329184"/>
          </a:xfrm>
          <a:prstGeom prst="rect">
            <a:avLst/>
          </a:prstGeom>
          <a:noFill/>
          <a:ln/>
        </p:spPr>
        <p:txBody>
          <a:bodyPr wrap="square" lIns="0" tIns="0" rIns="0" bIns="0" rtlCol="0" anchor="ctr"/>
          <a:lstStyle/>
          <a:p>
            <a:pPr indent="0" marL="0">
              <a:buNone/>
            </a:pPr>
            <a:r>
              <a:rPr lang="en-US" sz="1800" b="1" dirty="0">
                <a:solidFill>
                  <a:srgbClr val="1B6440"/>
                </a:solidFill>
                <a:latin typeface="Arial" pitchFamily="34" charset="0"/>
                <a:ea typeface="Arial" pitchFamily="34" charset="-122"/>
                <a:cs typeface="Arial" pitchFamily="34" charset="-120"/>
              </a:rPr>
              <a:t>Head in frame</a:t>
            </a:r>
            <a:endParaRPr lang="en-US" sz="1800" dirty="0"/>
          </a:p>
        </p:txBody>
      </p:sp>
      <p:sp>
        <p:nvSpPr>
          <p:cNvPr id="9" name="Text 7"/>
          <p:cNvSpPr txBox="1"/>
          <p:nvPr/>
        </p:nvSpPr>
        <p:spPr>
          <a:xfrm>
            <a:off x="850392" y="3401568"/>
            <a:ext cx="466344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we can see head to heel</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the scale works out</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measurements come out in centimetres</a:t>
            </a:r>
            <a:endParaRPr lang="en-US" sz="1300" dirty="0"/>
          </a:p>
        </p:txBody>
      </p:sp>
      <p:sp>
        <p:nvSpPr>
          <p:cNvPr id="10" name="Text 8"/>
          <p:cNvSpPr txBox="1"/>
          <p:nvPr/>
        </p:nvSpPr>
        <p:spPr>
          <a:xfrm>
            <a:off x="850392" y="4443984"/>
            <a:ext cx="4663440" cy="292608"/>
          </a:xfrm>
          <a:prstGeom prst="rect">
            <a:avLst/>
          </a:prstGeom>
          <a:noFill/>
          <a:ln/>
        </p:spPr>
        <p:txBody>
          <a:bodyPr wrap="square" lIns="0" tIns="0" rIns="0" bIns="0" rtlCol="0" anchor="ctr"/>
          <a:lstStyle/>
          <a:p>
            <a:pPr indent="0" marL="0">
              <a:buNone/>
            </a:pPr>
            <a:r>
              <a:rPr lang="en-US" sz="1200" b="1" spc="200" kern="0" dirty="0">
                <a:solidFill>
                  <a:srgbClr val="1B6440"/>
                </a:solidFill>
                <a:latin typeface="Arial" pitchFamily="34" charset="0"/>
                <a:ea typeface="Arial" pitchFamily="34" charset="-122"/>
                <a:cs typeface="Arial" pitchFamily="34" charset="-120"/>
              </a:rPr>
              <a:t>PROCEED</a:t>
            </a:r>
            <a:endParaRPr lang="en-US" sz="1200" dirty="0"/>
          </a:p>
        </p:txBody>
      </p:sp>
      <p:sp>
        <p:nvSpPr>
          <p:cNvPr id="11" name="Shape 9"/>
          <p:cNvSpPr/>
          <p:nvPr/>
        </p:nvSpPr>
        <p:spPr>
          <a:xfrm>
            <a:off x="6281928" y="2743200"/>
            <a:ext cx="5394960" cy="2212848"/>
          </a:xfrm>
          <a:prstGeom prst="roundRect">
            <a:avLst>
              <a:gd name="adj" fmla="val 2479"/>
            </a:avLst>
          </a:prstGeom>
          <a:solidFill>
            <a:srgbClr val="F7E5E4"/>
          </a:solidFill>
          <a:ln w="19050">
            <a:solidFill>
              <a:srgbClr val="A9302B"/>
            </a:solidFill>
            <a:prstDash val="solid"/>
          </a:ln>
        </p:spPr>
      </p:sp>
      <p:sp>
        <p:nvSpPr>
          <p:cNvPr id="12" name="Text 10"/>
          <p:cNvSpPr txBox="1"/>
          <p:nvPr/>
        </p:nvSpPr>
        <p:spPr>
          <a:xfrm>
            <a:off x="6629400" y="2944368"/>
            <a:ext cx="4663440" cy="329184"/>
          </a:xfrm>
          <a:prstGeom prst="rect">
            <a:avLst/>
          </a:prstGeom>
          <a:noFill/>
          <a:ln/>
        </p:spPr>
        <p:txBody>
          <a:bodyPr wrap="square" lIns="0" tIns="0" rIns="0" bIns="0" rtlCol="0" anchor="ctr"/>
          <a:lstStyle/>
          <a:p>
            <a:pPr indent="0" marL="0">
              <a:buNone/>
            </a:pPr>
            <a:r>
              <a:rPr lang="en-US" sz="1800" b="1" dirty="0">
                <a:solidFill>
                  <a:srgbClr val="A9302B"/>
                </a:solidFill>
                <a:latin typeface="Arial" pitchFamily="34" charset="0"/>
                <a:ea typeface="Arial" pitchFamily="34" charset="-122"/>
                <a:cs typeface="Arial" pitchFamily="34" charset="-120"/>
              </a:rPr>
              <a:t>Crown outside frame</a:t>
            </a:r>
            <a:endParaRPr lang="en-US" sz="1800" dirty="0"/>
          </a:p>
        </p:txBody>
      </p:sp>
      <p:sp>
        <p:nvSpPr>
          <p:cNvPr id="13" name="Text 11"/>
          <p:cNvSpPr txBox="1"/>
          <p:nvPr/>
        </p:nvSpPr>
        <p:spPr>
          <a:xfrm>
            <a:off x="6629400" y="3401568"/>
            <a:ext cx="466344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the top of the head is missing</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there is no way to work out the scale</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every measurement is just a ratio</a:t>
            </a:r>
            <a:endParaRPr lang="en-US" sz="1300" dirty="0"/>
          </a:p>
        </p:txBody>
      </p:sp>
      <p:sp>
        <p:nvSpPr>
          <p:cNvPr id="14" name="Text 12"/>
          <p:cNvSpPr txBox="1"/>
          <p:nvPr/>
        </p:nvSpPr>
        <p:spPr>
          <a:xfrm>
            <a:off x="6629400" y="4443984"/>
            <a:ext cx="4663440" cy="292608"/>
          </a:xfrm>
          <a:prstGeom prst="rect">
            <a:avLst/>
          </a:prstGeom>
          <a:noFill/>
          <a:ln/>
        </p:spPr>
        <p:txBody>
          <a:bodyPr wrap="square" lIns="0" tIns="0" rIns="0" bIns="0" rtlCol="0" anchor="ctr"/>
          <a:lstStyle/>
          <a:p>
            <a:pPr indent="0" marL="0">
              <a:buNone/>
            </a:pPr>
            <a:r>
              <a:rPr lang="en-US" sz="1200" b="1" spc="200" kern="0" dirty="0">
                <a:solidFill>
                  <a:srgbClr val="A9302B"/>
                </a:solidFill>
                <a:latin typeface="Arial" pitchFamily="34" charset="0"/>
                <a:ea typeface="Arial" pitchFamily="34" charset="-122"/>
                <a:cs typeface="Arial" pitchFamily="34" charset="-120"/>
              </a:rPr>
              <a:t>HARD FAILURE</a:t>
            </a:r>
            <a:endParaRPr lang="en-US" sz="1200" dirty="0"/>
          </a:p>
        </p:txBody>
      </p:sp>
      <p:sp>
        <p:nvSpPr>
          <p:cNvPr id="15" name="Shape 13"/>
          <p:cNvSpPr/>
          <p:nvPr/>
        </p:nvSpPr>
        <p:spPr>
          <a:xfrm>
            <a:off x="502920" y="5193792"/>
            <a:ext cx="11185855" cy="1042416"/>
          </a:xfrm>
          <a:prstGeom prst="roundRect">
            <a:avLst>
              <a:gd name="adj" fmla="val 5263"/>
            </a:avLst>
          </a:prstGeom>
          <a:solidFill>
            <a:srgbClr val="FFF6E6"/>
          </a:solidFill>
          <a:ln w="19050">
            <a:solidFill>
              <a:srgbClr val="C08A1E"/>
            </a:solidFill>
            <a:prstDash val="solid"/>
          </a:ln>
        </p:spPr>
      </p:sp>
      <p:sp>
        <p:nvSpPr>
          <p:cNvPr id="16" name="Text 14"/>
          <p:cNvSpPr txBox="1"/>
          <p:nvPr/>
        </p:nvSpPr>
        <p:spPr>
          <a:xfrm>
            <a:off x="813816" y="5321808"/>
            <a:ext cx="10515600" cy="274320"/>
          </a:xfrm>
          <a:prstGeom prst="rect">
            <a:avLst/>
          </a:prstGeom>
          <a:noFill/>
          <a:ln/>
        </p:spPr>
        <p:txBody>
          <a:bodyPr wrap="square" lIns="0" tIns="0" rIns="0" bIns="0" rtlCol="0" anchor="ctr"/>
          <a:lstStyle/>
          <a:p>
            <a:pPr indent="0" marL="0">
              <a:buNone/>
            </a:pPr>
            <a:r>
              <a:rPr lang="en-US" sz="1350" b="1" dirty="0">
                <a:solidFill>
                  <a:srgbClr val="7A5410"/>
                </a:solidFill>
                <a:latin typeface="Arial" pitchFamily="34" charset="0"/>
                <a:ea typeface="Arial" pitchFamily="34" charset="-122"/>
                <a:cs typeface="Arial" pitchFamily="34" charset="-120"/>
              </a:rPr>
              <a:t>Blocking gates return a cause, never a generic failure.</a:t>
            </a:r>
            <a:endParaRPr lang="en-US" sz="1350" dirty="0"/>
          </a:p>
        </p:txBody>
      </p:sp>
      <p:sp>
        <p:nvSpPr>
          <p:cNvPr id="17" name="Text 15"/>
          <p:cNvSpPr txBox="1"/>
          <p:nvPr/>
        </p:nvSpPr>
        <p:spPr>
          <a:xfrm>
            <a:off x="813816" y="5614416"/>
            <a:ext cx="10515600" cy="512064"/>
          </a:xfrm>
          <a:prstGeom prst="rect">
            <a:avLst/>
          </a:prstGeom>
          <a:noFill/>
          <a:ln/>
        </p:spPr>
        <p:txBody>
          <a:bodyPr wrap="square" lIns="0" tIns="0" rIns="0" bIns="0" rtlCol="0" anchor="t"/>
          <a:lstStyle/>
          <a:p>
            <a:pPr indent="0" marL="0">
              <a:lnSpc>
                <a:spcPct val="115000"/>
              </a:lnSpc>
              <a:buNone/>
            </a:pPr>
            <a:r>
              <a:rPr lang="en-US" sz="1250" i="1" dirty="0">
                <a:solidFill>
                  <a:srgbClr val="1B1D33"/>
                </a:solidFill>
                <a:latin typeface="Arial" pitchFamily="34" charset="0"/>
                <a:ea typeface="Arial" pitchFamily="34" charset="-122"/>
                <a:cs typeface="Arial" pitchFamily="34" charset="-120"/>
              </a:rPr>
              <a:t>“We can’t see the top of your head. We need your full body, head to feet, to turn the scan into centimetres — move the phone further away and record again.”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GATES AND SIGNALS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Four checks that stop everything, five that just give a hint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2651760"/>
                <a:gridCol w="1600200"/>
                <a:gridCol w="6933895"/>
              </a:tblGrid>
              <a:tr h="402336">
                <a:tc>
                  <a:txBody>
                    <a:bodyPr/>
                    <a:lstStyle/>
                    <a:p>
                      <a:pPr indent="0" marL="0">
                        <a:buNone/>
                      </a:pPr>
                      <a:r>
                        <a:rPr lang="en-US" sz="1250" b="1" dirty="0">
                          <a:solidFill>
                            <a:srgbClr val="F2F3F8"/>
                          </a:solidFill>
                          <a:latin typeface="Arial" pitchFamily="34" charset="0"/>
                          <a:ea typeface="Arial" pitchFamily="34" charset="-122"/>
                          <a:cs typeface="Arial" pitchFamily="34" charset="-120"/>
                        </a:rPr>
                        <a:t>Check</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b="1" dirty="0">
                          <a:solidFill>
                            <a:srgbClr val="F2F3F8"/>
                          </a:solidFill>
                          <a:latin typeface="Arial" pitchFamily="34" charset="0"/>
                          <a:ea typeface="Arial" pitchFamily="34" charset="-122"/>
                          <a:cs typeface="Arial" pitchFamily="34" charset="-120"/>
                        </a:rPr>
                        <a:t>Type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b="1" dirty="0">
                          <a:solidFill>
                            <a:srgbClr val="F2F3F8"/>
                          </a:solidFill>
                          <a:latin typeface="Arial" pitchFamily="34" charset="0"/>
                          <a:ea typeface="Arial" pitchFamily="34" charset="-122"/>
                          <a:cs typeface="Arial" pitchFamily="34" charset="-120"/>
                        </a:rPr>
                        <a:t>What happens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head_visible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No way to get centimetres. Session discarded, and the person is told why.</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feet_visible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The same problem at the other end of the body.</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body_in_frame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The 3D fit is unreliable when part of the body is missing.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min_frames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Too few usable frames to combine.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rotation_coverage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Keep filming; ask for a wider turn.</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blur_variance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Throw away the blurry frames, lower the confidence.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lighting_estimate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Ask the user to turn towards the light.</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clothing_looseness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confidence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Flagged — baggy clothes are the biggest source of error.</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beta_variance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stop rule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Estimate has settled: stop. Still moving: keep filming.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bl>
          </a:graphicData>
        </a:graphic>
      </p:graphicFrame>
      <p:sp>
        <p:nvSpPr>
          <p:cNvPr id="5" name="Text 2"/>
          <p:cNvSpPr txBox="1"/>
          <p:nvPr/>
        </p:nvSpPr>
        <p:spPr>
          <a:xfrm>
            <a:off x="502920" y="5705856"/>
            <a:ext cx="11185855" cy="585216"/>
          </a:xfrm>
          <a:prstGeom prst="rect">
            <a:avLst/>
          </a:prstGeom>
          <a:noFill/>
          <a:ln/>
        </p:spPr>
        <p:txBody>
          <a:bodyPr wrap="square" lIns="0" tIns="0" rIns="0" bIns="0" rtlCol="0" anchor="ctr"/>
          <a:lstStyle/>
          <a:p>
            <a:pPr indent="0" marL="0">
              <a:lnSpc>
                <a:spcPct val="115000"/>
              </a:lnSpc>
              <a:buNone/>
            </a:pPr>
            <a:r>
              <a:rPr lang="en-US" sz="1250" i="1" dirty="0">
                <a:solidFill>
                  <a:srgbClr val="E0A458"/>
                </a:solidFill>
                <a:latin typeface="Arial" pitchFamily="34" charset="0"/>
                <a:ea typeface="Arial" pitchFamily="34" charset="-122"/>
                <a:cs typeface="Arial" pitchFamily="34" charset="-120"/>
              </a:rPr>
              <a:t>“Scan failed, please try again” teaches the user nothing and guarantees a second failure. Every blocking message names the cause and the one physical action that fixes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MEASUREMENT ON FIXED TOPOLOGY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Nine measurement points, defined once, used for every body</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The 3D body model always has the same structure, so we say once where each measurement is taken and it holds for everyone.</a:t>
            </a:r>
            <a:endParaRPr lang="en-US" sz="1300" dirty="0"/>
          </a:p>
        </p:txBody>
      </p:sp>
      <p:sp>
        <p:nvSpPr>
          <p:cNvPr id="5" name="Shape 3"/>
          <p:cNvSpPr/>
          <p:nvPr/>
        </p:nvSpPr>
        <p:spPr>
          <a:xfrm>
            <a:off x="502920" y="1938528"/>
            <a:ext cx="3547872" cy="1060704"/>
          </a:xfrm>
          <a:prstGeom prst="roundRect">
            <a:avLst>
              <a:gd name="adj" fmla="val 5172"/>
            </a:avLst>
          </a:prstGeom>
          <a:solidFill>
            <a:srgbClr val="252943"/>
          </a:solidFill>
          <a:ln w="12700">
            <a:solidFill>
              <a:srgbClr val="252943"/>
            </a:solidFill>
            <a:prstDash val="solid"/>
          </a:ln>
        </p:spPr>
      </p:sp>
      <p:sp>
        <p:nvSpPr>
          <p:cNvPr id="6" name="Shape 4"/>
          <p:cNvSpPr/>
          <p:nvPr/>
        </p:nvSpPr>
        <p:spPr>
          <a:xfrm>
            <a:off x="740664" y="2157984"/>
            <a:ext cx="0" cy="146304"/>
          </a:xfrm>
          <a:prstGeom prst="line">
            <a:avLst/>
          </a:prstGeom>
          <a:noFill/>
          <a:ln w="12700">
            <a:solidFill>
              <a:srgbClr val="E0A458"/>
            </a:solidFill>
            <a:prstDash val="solid"/>
          </a:ln>
        </p:spPr>
      </p:sp>
      <p:sp>
        <p:nvSpPr>
          <p:cNvPr id="7" name="Shape 5"/>
          <p:cNvSpPr/>
          <p:nvPr/>
        </p:nvSpPr>
        <p:spPr>
          <a:xfrm>
            <a:off x="841248" y="2157984"/>
            <a:ext cx="0" cy="82296"/>
          </a:xfrm>
          <a:prstGeom prst="line">
            <a:avLst/>
          </a:prstGeom>
          <a:noFill/>
          <a:ln w="12700">
            <a:solidFill>
              <a:srgbClr val="6E7699"/>
            </a:solidFill>
            <a:prstDash val="solid"/>
          </a:ln>
        </p:spPr>
      </p:sp>
      <p:sp>
        <p:nvSpPr>
          <p:cNvPr id="8" name="Shape 6"/>
          <p:cNvSpPr/>
          <p:nvPr/>
        </p:nvSpPr>
        <p:spPr>
          <a:xfrm>
            <a:off x="941832" y="2157984"/>
            <a:ext cx="0" cy="82296"/>
          </a:xfrm>
          <a:prstGeom prst="line">
            <a:avLst/>
          </a:prstGeom>
          <a:noFill/>
          <a:ln w="12700">
            <a:solidFill>
              <a:srgbClr val="6E7699"/>
            </a:solidFill>
            <a:prstDash val="solid"/>
          </a:ln>
        </p:spPr>
      </p:sp>
      <p:sp>
        <p:nvSpPr>
          <p:cNvPr id="9" name="Shape 7"/>
          <p:cNvSpPr/>
          <p:nvPr/>
        </p:nvSpPr>
        <p:spPr>
          <a:xfrm>
            <a:off x="1042416" y="2157984"/>
            <a:ext cx="0" cy="82296"/>
          </a:xfrm>
          <a:prstGeom prst="line">
            <a:avLst/>
          </a:prstGeom>
          <a:noFill/>
          <a:ln w="12700">
            <a:solidFill>
              <a:srgbClr val="6E7699"/>
            </a:solidFill>
            <a:prstDash val="solid"/>
          </a:ln>
        </p:spPr>
      </p:sp>
      <p:sp>
        <p:nvSpPr>
          <p:cNvPr id="10" name="Shape 8"/>
          <p:cNvSpPr/>
          <p:nvPr/>
        </p:nvSpPr>
        <p:spPr>
          <a:xfrm>
            <a:off x="1143000" y="2157984"/>
            <a:ext cx="0" cy="82296"/>
          </a:xfrm>
          <a:prstGeom prst="line">
            <a:avLst/>
          </a:prstGeom>
          <a:noFill/>
          <a:ln w="12700">
            <a:solidFill>
              <a:srgbClr val="6E7699"/>
            </a:solidFill>
            <a:prstDash val="solid"/>
          </a:ln>
        </p:spPr>
      </p:sp>
      <p:sp>
        <p:nvSpPr>
          <p:cNvPr id="11" name="Shape 9"/>
          <p:cNvSpPr/>
          <p:nvPr/>
        </p:nvSpPr>
        <p:spPr>
          <a:xfrm>
            <a:off x="1243584" y="2157984"/>
            <a:ext cx="0" cy="82296"/>
          </a:xfrm>
          <a:prstGeom prst="line">
            <a:avLst/>
          </a:prstGeom>
          <a:noFill/>
          <a:ln w="12700">
            <a:solidFill>
              <a:srgbClr val="6E7699"/>
            </a:solidFill>
            <a:prstDash val="solid"/>
          </a:ln>
        </p:spPr>
      </p:sp>
      <p:sp>
        <p:nvSpPr>
          <p:cNvPr id="12" name="Shape 10"/>
          <p:cNvSpPr/>
          <p:nvPr/>
        </p:nvSpPr>
        <p:spPr>
          <a:xfrm>
            <a:off x="1344168" y="2157984"/>
            <a:ext cx="0" cy="82296"/>
          </a:xfrm>
          <a:prstGeom prst="line">
            <a:avLst/>
          </a:prstGeom>
          <a:noFill/>
          <a:ln w="12700">
            <a:solidFill>
              <a:srgbClr val="6E7699"/>
            </a:solidFill>
            <a:prstDash val="solid"/>
          </a:ln>
        </p:spPr>
      </p:sp>
      <p:sp>
        <p:nvSpPr>
          <p:cNvPr id="13" name="Text 11"/>
          <p:cNvSpPr txBox="1"/>
          <p:nvPr/>
        </p:nvSpPr>
        <p:spPr>
          <a:xfrm>
            <a:off x="740664"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Waist</a:t>
            </a:r>
            <a:endParaRPr lang="en-US" sz="1400" dirty="0"/>
          </a:p>
        </p:txBody>
      </p:sp>
      <p:sp>
        <p:nvSpPr>
          <p:cNvPr id="14" name="Text 12"/>
          <p:cNvSpPr txBox="1"/>
          <p:nvPr/>
        </p:nvSpPr>
        <p:spPr>
          <a:xfrm>
            <a:off x="740664"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body</a:t>
            </a:r>
            <a:endParaRPr lang="en-US" sz="1000" dirty="0"/>
          </a:p>
        </p:txBody>
      </p:sp>
      <p:sp>
        <p:nvSpPr>
          <p:cNvPr id="15" name="Text 13"/>
          <p:cNvSpPr txBox="1"/>
          <p:nvPr/>
        </p:nvSpPr>
        <p:spPr>
          <a:xfrm>
            <a:off x="740664"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narrowest point between ribs and hip</a:t>
            </a:r>
            <a:endParaRPr lang="en-US" sz="1000" dirty="0"/>
          </a:p>
        </p:txBody>
      </p:sp>
      <p:sp>
        <p:nvSpPr>
          <p:cNvPr id="16" name="Shape 14"/>
          <p:cNvSpPr/>
          <p:nvPr/>
        </p:nvSpPr>
        <p:spPr>
          <a:xfrm>
            <a:off x="4270248" y="1938528"/>
            <a:ext cx="3547872" cy="1060704"/>
          </a:xfrm>
          <a:prstGeom prst="roundRect">
            <a:avLst>
              <a:gd name="adj" fmla="val 5172"/>
            </a:avLst>
          </a:prstGeom>
          <a:solidFill>
            <a:srgbClr val="252943"/>
          </a:solidFill>
          <a:ln w="12700">
            <a:solidFill>
              <a:srgbClr val="252943"/>
            </a:solidFill>
            <a:prstDash val="solid"/>
          </a:ln>
        </p:spPr>
      </p:sp>
      <p:sp>
        <p:nvSpPr>
          <p:cNvPr id="17" name="Shape 15"/>
          <p:cNvSpPr/>
          <p:nvPr/>
        </p:nvSpPr>
        <p:spPr>
          <a:xfrm>
            <a:off x="4507992" y="2157984"/>
            <a:ext cx="0" cy="146304"/>
          </a:xfrm>
          <a:prstGeom prst="line">
            <a:avLst/>
          </a:prstGeom>
          <a:noFill/>
          <a:ln w="12700">
            <a:solidFill>
              <a:srgbClr val="E0A458"/>
            </a:solidFill>
            <a:prstDash val="solid"/>
          </a:ln>
        </p:spPr>
      </p:sp>
      <p:sp>
        <p:nvSpPr>
          <p:cNvPr id="18" name="Shape 16"/>
          <p:cNvSpPr/>
          <p:nvPr/>
        </p:nvSpPr>
        <p:spPr>
          <a:xfrm>
            <a:off x="4608576" y="2157984"/>
            <a:ext cx="0" cy="82296"/>
          </a:xfrm>
          <a:prstGeom prst="line">
            <a:avLst/>
          </a:prstGeom>
          <a:noFill/>
          <a:ln w="12700">
            <a:solidFill>
              <a:srgbClr val="6E7699"/>
            </a:solidFill>
            <a:prstDash val="solid"/>
          </a:ln>
        </p:spPr>
      </p:sp>
      <p:sp>
        <p:nvSpPr>
          <p:cNvPr id="19" name="Shape 17"/>
          <p:cNvSpPr/>
          <p:nvPr/>
        </p:nvSpPr>
        <p:spPr>
          <a:xfrm>
            <a:off x="4709160" y="2157984"/>
            <a:ext cx="0" cy="82296"/>
          </a:xfrm>
          <a:prstGeom prst="line">
            <a:avLst/>
          </a:prstGeom>
          <a:noFill/>
          <a:ln w="12700">
            <a:solidFill>
              <a:srgbClr val="6E7699"/>
            </a:solidFill>
            <a:prstDash val="solid"/>
          </a:ln>
        </p:spPr>
      </p:sp>
      <p:sp>
        <p:nvSpPr>
          <p:cNvPr id="20" name="Shape 18"/>
          <p:cNvSpPr/>
          <p:nvPr/>
        </p:nvSpPr>
        <p:spPr>
          <a:xfrm>
            <a:off x="4809744" y="2157984"/>
            <a:ext cx="0" cy="82296"/>
          </a:xfrm>
          <a:prstGeom prst="line">
            <a:avLst/>
          </a:prstGeom>
          <a:noFill/>
          <a:ln w="12700">
            <a:solidFill>
              <a:srgbClr val="6E7699"/>
            </a:solidFill>
            <a:prstDash val="solid"/>
          </a:ln>
        </p:spPr>
      </p:sp>
      <p:sp>
        <p:nvSpPr>
          <p:cNvPr id="21" name="Shape 19"/>
          <p:cNvSpPr/>
          <p:nvPr/>
        </p:nvSpPr>
        <p:spPr>
          <a:xfrm>
            <a:off x="4910328" y="2157984"/>
            <a:ext cx="0" cy="82296"/>
          </a:xfrm>
          <a:prstGeom prst="line">
            <a:avLst/>
          </a:prstGeom>
          <a:noFill/>
          <a:ln w="12700">
            <a:solidFill>
              <a:srgbClr val="6E7699"/>
            </a:solidFill>
            <a:prstDash val="solid"/>
          </a:ln>
        </p:spPr>
      </p:sp>
      <p:sp>
        <p:nvSpPr>
          <p:cNvPr id="22" name="Shape 20"/>
          <p:cNvSpPr/>
          <p:nvPr/>
        </p:nvSpPr>
        <p:spPr>
          <a:xfrm>
            <a:off x="5010912" y="2157984"/>
            <a:ext cx="0" cy="82296"/>
          </a:xfrm>
          <a:prstGeom prst="line">
            <a:avLst/>
          </a:prstGeom>
          <a:noFill/>
          <a:ln w="12700">
            <a:solidFill>
              <a:srgbClr val="6E7699"/>
            </a:solidFill>
            <a:prstDash val="solid"/>
          </a:ln>
        </p:spPr>
      </p:sp>
      <p:sp>
        <p:nvSpPr>
          <p:cNvPr id="23" name="Shape 21"/>
          <p:cNvSpPr/>
          <p:nvPr/>
        </p:nvSpPr>
        <p:spPr>
          <a:xfrm>
            <a:off x="5111496" y="2157984"/>
            <a:ext cx="0" cy="82296"/>
          </a:xfrm>
          <a:prstGeom prst="line">
            <a:avLst/>
          </a:prstGeom>
          <a:noFill/>
          <a:ln w="12700">
            <a:solidFill>
              <a:srgbClr val="6E7699"/>
            </a:solidFill>
            <a:prstDash val="solid"/>
          </a:ln>
        </p:spPr>
      </p:sp>
      <p:sp>
        <p:nvSpPr>
          <p:cNvPr id="24" name="Text 22"/>
          <p:cNvSpPr txBox="1"/>
          <p:nvPr/>
        </p:nvSpPr>
        <p:spPr>
          <a:xfrm>
            <a:off x="4507992"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Hip / seat</a:t>
            </a:r>
            <a:endParaRPr lang="en-US" sz="1400" dirty="0"/>
          </a:p>
        </p:txBody>
      </p:sp>
      <p:sp>
        <p:nvSpPr>
          <p:cNvPr id="25" name="Text 23"/>
          <p:cNvSpPr txBox="1"/>
          <p:nvPr/>
        </p:nvSpPr>
        <p:spPr>
          <a:xfrm>
            <a:off x="4507992"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body</a:t>
            </a:r>
            <a:endParaRPr lang="en-US" sz="1000" dirty="0"/>
          </a:p>
        </p:txBody>
      </p:sp>
      <p:sp>
        <p:nvSpPr>
          <p:cNvPr id="26" name="Text 24"/>
          <p:cNvSpPr txBox="1"/>
          <p:nvPr/>
        </p:nvSpPr>
        <p:spPr>
          <a:xfrm>
            <a:off x="4507992"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widest point across the seat</a:t>
            </a:r>
            <a:endParaRPr lang="en-US" sz="1000" dirty="0"/>
          </a:p>
        </p:txBody>
      </p:sp>
      <p:sp>
        <p:nvSpPr>
          <p:cNvPr id="27" name="Shape 25"/>
          <p:cNvSpPr/>
          <p:nvPr/>
        </p:nvSpPr>
        <p:spPr>
          <a:xfrm>
            <a:off x="8037576" y="1938528"/>
            <a:ext cx="3547872" cy="1060704"/>
          </a:xfrm>
          <a:prstGeom prst="roundRect">
            <a:avLst>
              <a:gd name="adj" fmla="val 5172"/>
            </a:avLst>
          </a:prstGeom>
          <a:solidFill>
            <a:srgbClr val="252943"/>
          </a:solidFill>
          <a:ln w="12700">
            <a:solidFill>
              <a:srgbClr val="252943"/>
            </a:solidFill>
            <a:prstDash val="solid"/>
          </a:ln>
        </p:spPr>
      </p:sp>
      <p:sp>
        <p:nvSpPr>
          <p:cNvPr id="28" name="Shape 26"/>
          <p:cNvSpPr/>
          <p:nvPr/>
        </p:nvSpPr>
        <p:spPr>
          <a:xfrm>
            <a:off x="8275320" y="2157984"/>
            <a:ext cx="0" cy="146304"/>
          </a:xfrm>
          <a:prstGeom prst="line">
            <a:avLst/>
          </a:prstGeom>
          <a:noFill/>
          <a:ln w="12700">
            <a:solidFill>
              <a:srgbClr val="E0A458"/>
            </a:solidFill>
            <a:prstDash val="solid"/>
          </a:ln>
        </p:spPr>
      </p:sp>
      <p:sp>
        <p:nvSpPr>
          <p:cNvPr id="29" name="Shape 27"/>
          <p:cNvSpPr/>
          <p:nvPr/>
        </p:nvSpPr>
        <p:spPr>
          <a:xfrm>
            <a:off x="8375904" y="2157984"/>
            <a:ext cx="0" cy="82296"/>
          </a:xfrm>
          <a:prstGeom prst="line">
            <a:avLst/>
          </a:prstGeom>
          <a:noFill/>
          <a:ln w="12700">
            <a:solidFill>
              <a:srgbClr val="6E7699"/>
            </a:solidFill>
            <a:prstDash val="solid"/>
          </a:ln>
        </p:spPr>
      </p:sp>
      <p:sp>
        <p:nvSpPr>
          <p:cNvPr id="30" name="Shape 28"/>
          <p:cNvSpPr/>
          <p:nvPr/>
        </p:nvSpPr>
        <p:spPr>
          <a:xfrm>
            <a:off x="8476488" y="2157984"/>
            <a:ext cx="0" cy="82296"/>
          </a:xfrm>
          <a:prstGeom prst="line">
            <a:avLst/>
          </a:prstGeom>
          <a:noFill/>
          <a:ln w="12700">
            <a:solidFill>
              <a:srgbClr val="6E7699"/>
            </a:solidFill>
            <a:prstDash val="solid"/>
          </a:ln>
        </p:spPr>
      </p:sp>
      <p:sp>
        <p:nvSpPr>
          <p:cNvPr id="31" name="Shape 29"/>
          <p:cNvSpPr/>
          <p:nvPr/>
        </p:nvSpPr>
        <p:spPr>
          <a:xfrm>
            <a:off x="8577072" y="2157984"/>
            <a:ext cx="0" cy="82296"/>
          </a:xfrm>
          <a:prstGeom prst="line">
            <a:avLst/>
          </a:prstGeom>
          <a:noFill/>
          <a:ln w="12700">
            <a:solidFill>
              <a:srgbClr val="6E7699"/>
            </a:solidFill>
            <a:prstDash val="solid"/>
          </a:ln>
        </p:spPr>
      </p:sp>
      <p:sp>
        <p:nvSpPr>
          <p:cNvPr id="32" name="Shape 30"/>
          <p:cNvSpPr/>
          <p:nvPr/>
        </p:nvSpPr>
        <p:spPr>
          <a:xfrm>
            <a:off x="8677656" y="2157984"/>
            <a:ext cx="0" cy="82296"/>
          </a:xfrm>
          <a:prstGeom prst="line">
            <a:avLst/>
          </a:prstGeom>
          <a:noFill/>
          <a:ln w="12700">
            <a:solidFill>
              <a:srgbClr val="6E7699"/>
            </a:solidFill>
            <a:prstDash val="solid"/>
          </a:ln>
        </p:spPr>
      </p:sp>
      <p:sp>
        <p:nvSpPr>
          <p:cNvPr id="33" name="Shape 31"/>
          <p:cNvSpPr/>
          <p:nvPr/>
        </p:nvSpPr>
        <p:spPr>
          <a:xfrm>
            <a:off x="8778240" y="2157984"/>
            <a:ext cx="0" cy="82296"/>
          </a:xfrm>
          <a:prstGeom prst="line">
            <a:avLst/>
          </a:prstGeom>
          <a:noFill/>
          <a:ln w="12700">
            <a:solidFill>
              <a:srgbClr val="6E7699"/>
            </a:solidFill>
            <a:prstDash val="solid"/>
          </a:ln>
        </p:spPr>
      </p:sp>
      <p:sp>
        <p:nvSpPr>
          <p:cNvPr id="34" name="Shape 32"/>
          <p:cNvSpPr/>
          <p:nvPr/>
        </p:nvSpPr>
        <p:spPr>
          <a:xfrm>
            <a:off x="8878824" y="2157984"/>
            <a:ext cx="0" cy="82296"/>
          </a:xfrm>
          <a:prstGeom prst="line">
            <a:avLst/>
          </a:prstGeom>
          <a:noFill/>
          <a:ln w="12700">
            <a:solidFill>
              <a:srgbClr val="6E7699"/>
            </a:solidFill>
            <a:prstDash val="solid"/>
          </a:ln>
        </p:spPr>
      </p:sp>
      <p:sp>
        <p:nvSpPr>
          <p:cNvPr id="35" name="Text 33"/>
          <p:cNvSpPr txBox="1"/>
          <p:nvPr/>
        </p:nvSpPr>
        <p:spPr>
          <a:xfrm>
            <a:off x="8275320"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Thigh</a:t>
            </a:r>
            <a:endParaRPr lang="en-US" sz="1400" dirty="0"/>
          </a:p>
        </p:txBody>
      </p:sp>
      <p:sp>
        <p:nvSpPr>
          <p:cNvPr id="36" name="Text 34"/>
          <p:cNvSpPr txBox="1"/>
          <p:nvPr/>
        </p:nvSpPr>
        <p:spPr>
          <a:xfrm>
            <a:off x="8275320"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37" name="Text 35"/>
          <p:cNvSpPr txBox="1"/>
          <p:nvPr/>
        </p:nvSpPr>
        <p:spPr>
          <a:xfrm>
            <a:off x="8275320"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just below the crotch</a:t>
            </a:r>
            <a:endParaRPr lang="en-US" sz="1000" dirty="0"/>
          </a:p>
        </p:txBody>
      </p:sp>
      <p:sp>
        <p:nvSpPr>
          <p:cNvPr id="38" name="Shape 36"/>
          <p:cNvSpPr/>
          <p:nvPr/>
        </p:nvSpPr>
        <p:spPr>
          <a:xfrm>
            <a:off x="502920" y="3163824"/>
            <a:ext cx="3547872" cy="1060704"/>
          </a:xfrm>
          <a:prstGeom prst="roundRect">
            <a:avLst>
              <a:gd name="adj" fmla="val 5172"/>
            </a:avLst>
          </a:prstGeom>
          <a:solidFill>
            <a:srgbClr val="252943"/>
          </a:solidFill>
          <a:ln w="12700">
            <a:solidFill>
              <a:srgbClr val="252943"/>
            </a:solidFill>
            <a:prstDash val="solid"/>
          </a:ln>
        </p:spPr>
      </p:sp>
      <p:sp>
        <p:nvSpPr>
          <p:cNvPr id="39" name="Shape 37"/>
          <p:cNvSpPr/>
          <p:nvPr/>
        </p:nvSpPr>
        <p:spPr>
          <a:xfrm>
            <a:off x="740664" y="3383280"/>
            <a:ext cx="0" cy="146304"/>
          </a:xfrm>
          <a:prstGeom prst="line">
            <a:avLst/>
          </a:prstGeom>
          <a:noFill/>
          <a:ln w="12700">
            <a:solidFill>
              <a:srgbClr val="E0A458"/>
            </a:solidFill>
            <a:prstDash val="solid"/>
          </a:ln>
        </p:spPr>
      </p:sp>
      <p:sp>
        <p:nvSpPr>
          <p:cNvPr id="40" name="Shape 38"/>
          <p:cNvSpPr/>
          <p:nvPr/>
        </p:nvSpPr>
        <p:spPr>
          <a:xfrm>
            <a:off x="841248" y="3383280"/>
            <a:ext cx="0" cy="82296"/>
          </a:xfrm>
          <a:prstGeom prst="line">
            <a:avLst/>
          </a:prstGeom>
          <a:noFill/>
          <a:ln w="12700">
            <a:solidFill>
              <a:srgbClr val="6E7699"/>
            </a:solidFill>
            <a:prstDash val="solid"/>
          </a:ln>
        </p:spPr>
      </p:sp>
      <p:sp>
        <p:nvSpPr>
          <p:cNvPr id="41" name="Shape 39"/>
          <p:cNvSpPr/>
          <p:nvPr/>
        </p:nvSpPr>
        <p:spPr>
          <a:xfrm>
            <a:off x="941832" y="3383280"/>
            <a:ext cx="0" cy="82296"/>
          </a:xfrm>
          <a:prstGeom prst="line">
            <a:avLst/>
          </a:prstGeom>
          <a:noFill/>
          <a:ln w="12700">
            <a:solidFill>
              <a:srgbClr val="6E7699"/>
            </a:solidFill>
            <a:prstDash val="solid"/>
          </a:ln>
        </p:spPr>
      </p:sp>
      <p:sp>
        <p:nvSpPr>
          <p:cNvPr id="42" name="Shape 40"/>
          <p:cNvSpPr/>
          <p:nvPr/>
        </p:nvSpPr>
        <p:spPr>
          <a:xfrm>
            <a:off x="1042416" y="3383280"/>
            <a:ext cx="0" cy="82296"/>
          </a:xfrm>
          <a:prstGeom prst="line">
            <a:avLst/>
          </a:prstGeom>
          <a:noFill/>
          <a:ln w="12700">
            <a:solidFill>
              <a:srgbClr val="6E7699"/>
            </a:solidFill>
            <a:prstDash val="solid"/>
          </a:ln>
        </p:spPr>
      </p:sp>
      <p:sp>
        <p:nvSpPr>
          <p:cNvPr id="43" name="Shape 41"/>
          <p:cNvSpPr/>
          <p:nvPr/>
        </p:nvSpPr>
        <p:spPr>
          <a:xfrm>
            <a:off x="1143000" y="3383280"/>
            <a:ext cx="0" cy="82296"/>
          </a:xfrm>
          <a:prstGeom prst="line">
            <a:avLst/>
          </a:prstGeom>
          <a:noFill/>
          <a:ln w="12700">
            <a:solidFill>
              <a:srgbClr val="6E7699"/>
            </a:solidFill>
            <a:prstDash val="solid"/>
          </a:ln>
        </p:spPr>
      </p:sp>
      <p:sp>
        <p:nvSpPr>
          <p:cNvPr id="44" name="Shape 42"/>
          <p:cNvSpPr/>
          <p:nvPr/>
        </p:nvSpPr>
        <p:spPr>
          <a:xfrm>
            <a:off x="1243584" y="3383280"/>
            <a:ext cx="0" cy="82296"/>
          </a:xfrm>
          <a:prstGeom prst="line">
            <a:avLst/>
          </a:prstGeom>
          <a:noFill/>
          <a:ln w="12700">
            <a:solidFill>
              <a:srgbClr val="6E7699"/>
            </a:solidFill>
            <a:prstDash val="solid"/>
          </a:ln>
        </p:spPr>
      </p:sp>
      <p:sp>
        <p:nvSpPr>
          <p:cNvPr id="45" name="Shape 43"/>
          <p:cNvSpPr/>
          <p:nvPr/>
        </p:nvSpPr>
        <p:spPr>
          <a:xfrm>
            <a:off x="1344168" y="3383280"/>
            <a:ext cx="0" cy="82296"/>
          </a:xfrm>
          <a:prstGeom prst="line">
            <a:avLst/>
          </a:prstGeom>
          <a:noFill/>
          <a:ln w="12700">
            <a:solidFill>
              <a:srgbClr val="6E7699"/>
            </a:solidFill>
            <a:prstDash val="solid"/>
          </a:ln>
        </p:spPr>
      </p:sp>
      <p:sp>
        <p:nvSpPr>
          <p:cNvPr id="46" name="Text 44"/>
          <p:cNvSpPr txBox="1"/>
          <p:nvPr/>
        </p:nvSpPr>
        <p:spPr>
          <a:xfrm>
            <a:off x="740664"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Knee</a:t>
            </a:r>
            <a:endParaRPr lang="en-US" sz="1400" dirty="0"/>
          </a:p>
        </p:txBody>
      </p:sp>
      <p:sp>
        <p:nvSpPr>
          <p:cNvPr id="47" name="Text 45"/>
          <p:cNvSpPr txBox="1"/>
          <p:nvPr/>
        </p:nvSpPr>
        <p:spPr>
          <a:xfrm>
            <a:off x="740664"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48" name="Text 46"/>
          <p:cNvSpPr txBox="1"/>
          <p:nvPr/>
        </p:nvSpPr>
        <p:spPr>
          <a:xfrm>
            <a:off x="740664"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at the kneecap</a:t>
            </a:r>
            <a:endParaRPr lang="en-US" sz="1000" dirty="0"/>
          </a:p>
        </p:txBody>
      </p:sp>
      <p:sp>
        <p:nvSpPr>
          <p:cNvPr id="49" name="Shape 47"/>
          <p:cNvSpPr/>
          <p:nvPr/>
        </p:nvSpPr>
        <p:spPr>
          <a:xfrm>
            <a:off x="4270248" y="3163824"/>
            <a:ext cx="3547872" cy="1060704"/>
          </a:xfrm>
          <a:prstGeom prst="roundRect">
            <a:avLst>
              <a:gd name="adj" fmla="val 5172"/>
            </a:avLst>
          </a:prstGeom>
          <a:solidFill>
            <a:srgbClr val="252943"/>
          </a:solidFill>
          <a:ln w="12700">
            <a:solidFill>
              <a:srgbClr val="252943"/>
            </a:solidFill>
            <a:prstDash val="solid"/>
          </a:ln>
        </p:spPr>
      </p:sp>
      <p:sp>
        <p:nvSpPr>
          <p:cNvPr id="50" name="Shape 48"/>
          <p:cNvSpPr/>
          <p:nvPr/>
        </p:nvSpPr>
        <p:spPr>
          <a:xfrm>
            <a:off x="4507992" y="3383280"/>
            <a:ext cx="0" cy="146304"/>
          </a:xfrm>
          <a:prstGeom prst="line">
            <a:avLst/>
          </a:prstGeom>
          <a:noFill/>
          <a:ln w="12700">
            <a:solidFill>
              <a:srgbClr val="E0A458"/>
            </a:solidFill>
            <a:prstDash val="solid"/>
          </a:ln>
        </p:spPr>
      </p:sp>
      <p:sp>
        <p:nvSpPr>
          <p:cNvPr id="51" name="Shape 49"/>
          <p:cNvSpPr/>
          <p:nvPr/>
        </p:nvSpPr>
        <p:spPr>
          <a:xfrm>
            <a:off x="4608576" y="3383280"/>
            <a:ext cx="0" cy="82296"/>
          </a:xfrm>
          <a:prstGeom prst="line">
            <a:avLst/>
          </a:prstGeom>
          <a:noFill/>
          <a:ln w="12700">
            <a:solidFill>
              <a:srgbClr val="6E7699"/>
            </a:solidFill>
            <a:prstDash val="solid"/>
          </a:ln>
        </p:spPr>
      </p:sp>
      <p:sp>
        <p:nvSpPr>
          <p:cNvPr id="52" name="Shape 50"/>
          <p:cNvSpPr/>
          <p:nvPr/>
        </p:nvSpPr>
        <p:spPr>
          <a:xfrm>
            <a:off x="4709160" y="3383280"/>
            <a:ext cx="0" cy="82296"/>
          </a:xfrm>
          <a:prstGeom prst="line">
            <a:avLst/>
          </a:prstGeom>
          <a:noFill/>
          <a:ln w="12700">
            <a:solidFill>
              <a:srgbClr val="6E7699"/>
            </a:solidFill>
            <a:prstDash val="solid"/>
          </a:ln>
        </p:spPr>
      </p:sp>
      <p:sp>
        <p:nvSpPr>
          <p:cNvPr id="53" name="Shape 51"/>
          <p:cNvSpPr/>
          <p:nvPr/>
        </p:nvSpPr>
        <p:spPr>
          <a:xfrm>
            <a:off x="4809744" y="3383280"/>
            <a:ext cx="0" cy="82296"/>
          </a:xfrm>
          <a:prstGeom prst="line">
            <a:avLst/>
          </a:prstGeom>
          <a:noFill/>
          <a:ln w="12700">
            <a:solidFill>
              <a:srgbClr val="6E7699"/>
            </a:solidFill>
            <a:prstDash val="solid"/>
          </a:ln>
        </p:spPr>
      </p:sp>
      <p:sp>
        <p:nvSpPr>
          <p:cNvPr id="54" name="Shape 52"/>
          <p:cNvSpPr/>
          <p:nvPr/>
        </p:nvSpPr>
        <p:spPr>
          <a:xfrm>
            <a:off x="4910328" y="3383280"/>
            <a:ext cx="0" cy="82296"/>
          </a:xfrm>
          <a:prstGeom prst="line">
            <a:avLst/>
          </a:prstGeom>
          <a:noFill/>
          <a:ln w="12700">
            <a:solidFill>
              <a:srgbClr val="6E7699"/>
            </a:solidFill>
            <a:prstDash val="solid"/>
          </a:ln>
        </p:spPr>
      </p:sp>
      <p:sp>
        <p:nvSpPr>
          <p:cNvPr id="55" name="Shape 53"/>
          <p:cNvSpPr/>
          <p:nvPr/>
        </p:nvSpPr>
        <p:spPr>
          <a:xfrm>
            <a:off x="5010912" y="3383280"/>
            <a:ext cx="0" cy="82296"/>
          </a:xfrm>
          <a:prstGeom prst="line">
            <a:avLst/>
          </a:prstGeom>
          <a:noFill/>
          <a:ln w="12700">
            <a:solidFill>
              <a:srgbClr val="6E7699"/>
            </a:solidFill>
            <a:prstDash val="solid"/>
          </a:ln>
        </p:spPr>
      </p:sp>
      <p:sp>
        <p:nvSpPr>
          <p:cNvPr id="56" name="Shape 54"/>
          <p:cNvSpPr/>
          <p:nvPr/>
        </p:nvSpPr>
        <p:spPr>
          <a:xfrm>
            <a:off x="5111496" y="3383280"/>
            <a:ext cx="0" cy="82296"/>
          </a:xfrm>
          <a:prstGeom prst="line">
            <a:avLst/>
          </a:prstGeom>
          <a:noFill/>
          <a:ln w="12700">
            <a:solidFill>
              <a:srgbClr val="6E7699"/>
            </a:solidFill>
            <a:prstDash val="solid"/>
          </a:ln>
        </p:spPr>
      </p:sp>
      <p:sp>
        <p:nvSpPr>
          <p:cNvPr id="57" name="Text 55"/>
          <p:cNvSpPr txBox="1"/>
          <p:nvPr/>
        </p:nvSpPr>
        <p:spPr>
          <a:xfrm>
            <a:off x="4507992"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Calf</a:t>
            </a:r>
            <a:endParaRPr lang="en-US" sz="1400" dirty="0"/>
          </a:p>
        </p:txBody>
      </p:sp>
      <p:sp>
        <p:nvSpPr>
          <p:cNvPr id="58" name="Text 56"/>
          <p:cNvSpPr txBox="1"/>
          <p:nvPr/>
        </p:nvSpPr>
        <p:spPr>
          <a:xfrm>
            <a:off x="4507992"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59" name="Text 57"/>
          <p:cNvSpPr txBox="1"/>
          <p:nvPr/>
        </p:nvSpPr>
        <p:spPr>
          <a:xfrm>
            <a:off x="4507992"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widest point below the knee</a:t>
            </a:r>
            <a:endParaRPr lang="en-US" sz="1000" dirty="0"/>
          </a:p>
        </p:txBody>
      </p:sp>
      <p:sp>
        <p:nvSpPr>
          <p:cNvPr id="60" name="Shape 58"/>
          <p:cNvSpPr/>
          <p:nvPr/>
        </p:nvSpPr>
        <p:spPr>
          <a:xfrm>
            <a:off x="8037576" y="3163824"/>
            <a:ext cx="3547872" cy="1060704"/>
          </a:xfrm>
          <a:prstGeom prst="roundRect">
            <a:avLst>
              <a:gd name="adj" fmla="val 5172"/>
            </a:avLst>
          </a:prstGeom>
          <a:solidFill>
            <a:srgbClr val="252943"/>
          </a:solidFill>
          <a:ln w="12700">
            <a:solidFill>
              <a:srgbClr val="252943"/>
            </a:solidFill>
            <a:prstDash val="solid"/>
          </a:ln>
        </p:spPr>
      </p:sp>
      <p:sp>
        <p:nvSpPr>
          <p:cNvPr id="61" name="Shape 59"/>
          <p:cNvSpPr/>
          <p:nvPr/>
        </p:nvSpPr>
        <p:spPr>
          <a:xfrm>
            <a:off x="8275320" y="3383280"/>
            <a:ext cx="0" cy="146304"/>
          </a:xfrm>
          <a:prstGeom prst="line">
            <a:avLst/>
          </a:prstGeom>
          <a:noFill/>
          <a:ln w="12700">
            <a:solidFill>
              <a:srgbClr val="E0A458"/>
            </a:solidFill>
            <a:prstDash val="solid"/>
          </a:ln>
        </p:spPr>
      </p:sp>
      <p:sp>
        <p:nvSpPr>
          <p:cNvPr id="62" name="Shape 60"/>
          <p:cNvSpPr/>
          <p:nvPr/>
        </p:nvSpPr>
        <p:spPr>
          <a:xfrm>
            <a:off x="8375904" y="3383280"/>
            <a:ext cx="0" cy="82296"/>
          </a:xfrm>
          <a:prstGeom prst="line">
            <a:avLst/>
          </a:prstGeom>
          <a:noFill/>
          <a:ln w="12700">
            <a:solidFill>
              <a:srgbClr val="6E7699"/>
            </a:solidFill>
            <a:prstDash val="solid"/>
          </a:ln>
        </p:spPr>
      </p:sp>
      <p:sp>
        <p:nvSpPr>
          <p:cNvPr id="63" name="Shape 61"/>
          <p:cNvSpPr/>
          <p:nvPr/>
        </p:nvSpPr>
        <p:spPr>
          <a:xfrm>
            <a:off x="8476488" y="3383280"/>
            <a:ext cx="0" cy="82296"/>
          </a:xfrm>
          <a:prstGeom prst="line">
            <a:avLst/>
          </a:prstGeom>
          <a:noFill/>
          <a:ln w="12700">
            <a:solidFill>
              <a:srgbClr val="6E7699"/>
            </a:solidFill>
            <a:prstDash val="solid"/>
          </a:ln>
        </p:spPr>
      </p:sp>
      <p:sp>
        <p:nvSpPr>
          <p:cNvPr id="64" name="Shape 62"/>
          <p:cNvSpPr/>
          <p:nvPr/>
        </p:nvSpPr>
        <p:spPr>
          <a:xfrm>
            <a:off x="8577072" y="3383280"/>
            <a:ext cx="0" cy="82296"/>
          </a:xfrm>
          <a:prstGeom prst="line">
            <a:avLst/>
          </a:prstGeom>
          <a:noFill/>
          <a:ln w="12700">
            <a:solidFill>
              <a:srgbClr val="6E7699"/>
            </a:solidFill>
            <a:prstDash val="solid"/>
          </a:ln>
        </p:spPr>
      </p:sp>
      <p:sp>
        <p:nvSpPr>
          <p:cNvPr id="65" name="Shape 63"/>
          <p:cNvSpPr/>
          <p:nvPr/>
        </p:nvSpPr>
        <p:spPr>
          <a:xfrm>
            <a:off x="8677656" y="3383280"/>
            <a:ext cx="0" cy="82296"/>
          </a:xfrm>
          <a:prstGeom prst="line">
            <a:avLst/>
          </a:prstGeom>
          <a:noFill/>
          <a:ln w="12700">
            <a:solidFill>
              <a:srgbClr val="6E7699"/>
            </a:solidFill>
            <a:prstDash val="solid"/>
          </a:ln>
        </p:spPr>
      </p:sp>
      <p:sp>
        <p:nvSpPr>
          <p:cNvPr id="66" name="Shape 64"/>
          <p:cNvSpPr/>
          <p:nvPr/>
        </p:nvSpPr>
        <p:spPr>
          <a:xfrm>
            <a:off x="8778240" y="3383280"/>
            <a:ext cx="0" cy="82296"/>
          </a:xfrm>
          <a:prstGeom prst="line">
            <a:avLst/>
          </a:prstGeom>
          <a:noFill/>
          <a:ln w="12700">
            <a:solidFill>
              <a:srgbClr val="6E7699"/>
            </a:solidFill>
            <a:prstDash val="solid"/>
          </a:ln>
        </p:spPr>
      </p:sp>
      <p:sp>
        <p:nvSpPr>
          <p:cNvPr id="67" name="Shape 65"/>
          <p:cNvSpPr/>
          <p:nvPr/>
        </p:nvSpPr>
        <p:spPr>
          <a:xfrm>
            <a:off x="8878824" y="3383280"/>
            <a:ext cx="0" cy="82296"/>
          </a:xfrm>
          <a:prstGeom prst="line">
            <a:avLst/>
          </a:prstGeom>
          <a:noFill/>
          <a:ln w="12700">
            <a:solidFill>
              <a:srgbClr val="6E7699"/>
            </a:solidFill>
            <a:prstDash val="solid"/>
          </a:ln>
        </p:spPr>
      </p:sp>
      <p:sp>
        <p:nvSpPr>
          <p:cNvPr id="68" name="Text 66"/>
          <p:cNvSpPr txBox="1"/>
          <p:nvPr/>
        </p:nvSpPr>
        <p:spPr>
          <a:xfrm>
            <a:off x="8275320"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Ankle</a:t>
            </a:r>
            <a:endParaRPr lang="en-US" sz="1400" dirty="0"/>
          </a:p>
        </p:txBody>
      </p:sp>
      <p:sp>
        <p:nvSpPr>
          <p:cNvPr id="69" name="Text 67"/>
          <p:cNvSpPr txBox="1"/>
          <p:nvPr/>
        </p:nvSpPr>
        <p:spPr>
          <a:xfrm>
            <a:off x="8275320"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70" name="Text 68"/>
          <p:cNvSpPr txBox="1"/>
          <p:nvPr/>
        </p:nvSpPr>
        <p:spPr>
          <a:xfrm>
            <a:off x="8275320"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narrowest point above the foot</a:t>
            </a:r>
            <a:endParaRPr lang="en-US" sz="1000" dirty="0"/>
          </a:p>
        </p:txBody>
      </p:sp>
      <p:sp>
        <p:nvSpPr>
          <p:cNvPr id="71" name="Shape 69"/>
          <p:cNvSpPr/>
          <p:nvPr/>
        </p:nvSpPr>
        <p:spPr>
          <a:xfrm>
            <a:off x="502920" y="4389120"/>
            <a:ext cx="3547872" cy="1060704"/>
          </a:xfrm>
          <a:prstGeom prst="roundRect">
            <a:avLst>
              <a:gd name="adj" fmla="val 5172"/>
            </a:avLst>
          </a:prstGeom>
          <a:solidFill>
            <a:srgbClr val="252943"/>
          </a:solidFill>
          <a:ln w="12700">
            <a:solidFill>
              <a:srgbClr val="252943"/>
            </a:solidFill>
            <a:prstDash val="solid"/>
          </a:ln>
        </p:spPr>
      </p:sp>
      <p:sp>
        <p:nvSpPr>
          <p:cNvPr id="72" name="Shape 70"/>
          <p:cNvSpPr/>
          <p:nvPr/>
        </p:nvSpPr>
        <p:spPr>
          <a:xfrm>
            <a:off x="740664" y="4608576"/>
            <a:ext cx="0" cy="146304"/>
          </a:xfrm>
          <a:prstGeom prst="line">
            <a:avLst/>
          </a:prstGeom>
          <a:noFill/>
          <a:ln w="12700">
            <a:solidFill>
              <a:srgbClr val="E0A458"/>
            </a:solidFill>
            <a:prstDash val="solid"/>
          </a:ln>
        </p:spPr>
      </p:sp>
      <p:sp>
        <p:nvSpPr>
          <p:cNvPr id="73" name="Shape 71"/>
          <p:cNvSpPr/>
          <p:nvPr/>
        </p:nvSpPr>
        <p:spPr>
          <a:xfrm>
            <a:off x="841248" y="4608576"/>
            <a:ext cx="0" cy="82296"/>
          </a:xfrm>
          <a:prstGeom prst="line">
            <a:avLst/>
          </a:prstGeom>
          <a:noFill/>
          <a:ln w="12700">
            <a:solidFill>
              <a:srgbClr val="6E7699"/>
            </a:solidFill>
            <a:prstDash val="solid"/>
          </a:ln>
        </p:spPr>
      </p:sp>
      <p:sp>
        <p:nvSpPr>
          <p:cNvPr id="74" name="Shape 72"/>
          <p:cNvSpPr/>
          <p:nvPr/>
        </p:nvSpPr>
        <p:spPr>
          <a:xfrm>
            <a:off x="941832" y="4608576"/>
            <a:ext cx="0" cy="82296"/>
          </a:xfrm>
          <a:prstGeom prst="line">
            <a:avLst/>
          </a:prstGeom>
          <a:noFill/>
          <a:ln w="12700">
            <a:solidFill>
              <a:srgbClr val="6E7699"/>
            </a:solidFill>
            <a:prstDash val="solid"/>
          </a:ln>
        </p:spPr>
      </p:sp>
      <p:sp>
        <p:nvSpPr>
          <p:cNvPr id="75" name="Shape 73"/>
          <p:cNvSpPr/>
          <p:nvPr/>
        </p:nvSpPr>
        <p:spPr>
          <a:xfrm>
            <a:off x="1042416" y="4608576"/>
            <a:ext cx="0" cy="82296"/>
          </a:xfrm>
          <a:prstGeom prst="line">
            <a:avLst/>
          </a:prstGeom>
          <a:noFill/>
          <a:ln w="12700">
            <a:solidFill>
              <a:srgbClr val="6E7699"/>
            </a:solidFill>
            <a:prstDash val="solid"/>
          </a:ln>
        </p:spPr>
      </p:sp>
      <p:sp>
        <p:nvSpPr>
          <p:cNvPr id="76" name="Shape 74"/>
          <p:cNvSpPr/>
          <p:nvPr/>
        </p:nvSpPr>
        <p:spPr>
          <a:xfrm>
            <a:off x="1143000" y="4608576"/>
            <a:ext cx="0" cy="82296"/>
          </a:xfrm>
          <a:prstGeom prst="line">
            <a:avLst/>
          </a:prstGeom>
          <a:noFill/>
          <a:ln w="12700">
            <a:solidFill>
              <a:srgbClr val="6E7699"/>
            </a:solidFill>
            <a:prstDash val="solid"/>
          </a:ln>
        </p:spPr>
      </p:sp>
      <p:sp>
        <p:nvSpPr>
          <p:cNvPr id="77" name="Shape 75"/>
          <p:cNvSpPr/>
          <p:nvPr/>
        </p:nvSpPr>
        <p:spPr>
          <a:xfrm>
            <a:off x="1243584" y="4608576"/>
            <a:ext cx="0" cy="82296"/>
          </a:xfrm>
          <a:prstGeom prst="line">
            <a:avLst/>
          </a:prstGeom>
          <a:noFill/>
          <a:ln w="12700">
            <a:solidFill>
              <a:srgbClr val="6E7699"/>
            </a:solidFill>
            <a:prstDash val="solid"/>
          </a:ln>
        </p:spPr>
      </p:sp>
      <p:sp>
        <p:nvSpPr>
          <p:cNvPr id="78" name="Shape 76"/>
          <p:cNvSpPr/>
          <p:nvPr/>
        </p:nvSpPr>
        <p:spPr>
          <a:xfrm>
            <a:off x="1344168" y="4608576"/>
            <a:ext cx="0" cy="82296"/>
          </a:xfrm>
          <a:prstGeom prst="line">
            <a:avLst/>
          </a:prstGeom>
          <a:noFill/>
          <a:ln w="12700">
            <a:solidFill>
              <a:srgbClr val="6E7699"/>
            </a:solidFill>
            <a:prstDash val="solid"/>
          </a:ln>
        </p:spPr>
      </p:sp>
      <p:sp>
        <p:nvSpPr>
          <p:cNvPr id="79" name="Text 77"/>
          <p:cNvSpPr txBox="1"/>
          <p:nvPr/>
        </p:nvSpPr>
        <p:spPr>
          <a:xfrm>
            <a:off x="740664"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Inseam</a:t>
            </a:r>
            <a:endParaRPr lang="en-US" sz="1400" dirty="0"/>
          </a:p>
        </p:txBody>
      </p:sp>
      <p:sp>
        <p:nvSpPr>
          <p:cNvPr id="80" name="Text 78"/>
          <p:cNvSpPr txBox="1"/>
          <p:nvPr/>
        </p:nvSpPr>
        <p:spPr>
          <a:xfrm>
            <a:off x="740664"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along the body</a:t>
            </a:r>
            <a:endParaRPr lang="en-US" sz="1000" dirty="0"/>
          </a:p>
        </p:txBody>
      </p:sp>
      <p:sp>
        <p:nvSpPr>
          <p:cNvPr id="81" name="Text 79"/>
          <p:cNvSpPr txBox="1"/>
          <p:nvPr/>
        </p:nvSpPr>
        <p:spPr>
          <a:xfrm>
            <a:off x="740664"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crotch to inner ankle</a:t>
            </a:r>
            <a:endParaRPr lang="en-US" sz="1000" dirty="0"/>
          </a:p>
        </p:txBody>
      </p:sp>
      <p:sp>
        <p:nvSpPr>
          <p:cNvPr id="82" name="Shape 80"/>
          <p:cNvSpPr/>
          <p:nvPr/>
        </p:nvSpPr>
        <p:spPr>
          <a:xfrm>
            <a:off x="4270248" y="4389120"/>
            <a:ext cx="3547872" cy="1060704"/>
          </a:xfrm>
          <a:prstGeom prst="roundRect">
            <a:avLst>
              <a:gd name="adj" fmla="val 5172"/>
            </a:avLst>
          </a:prstGeom>
          <a:solidFill>
            <a:srgbClr val="252943"/>
          </a:solidFill>
          <a:ln w="12700">
            <a:solidFill>
              <a:srgbClr val="252943"/>
            </a:solidFill>
            <a:prstDash val="solid"/>
          </a:ln>
        </p:spPr>
      </p:sp>
      <p:sp>
        <p:nvSpPr>
          <p:cNvPr id="83" name="Shape 81"/>
          <p:cNvSpPr/>
          <p:nvPr/>
        </p:nvSpPr>
        <p:spPr>
          <a:xfrm>
            <a:off x="4507992" y="4608576"/>
            <a:ext cx="0" cy="146304"/>
          </a:xfrm>
          <a:prstGeom prst="line">
            <a:avLst/>
          </a:prstGeom>
          <a:noFill/>
          <a:ln w="12700">
            <a:solidFill>
              <a:srgbClr val="E0A458"/>
            </a:solidFill>
            <a:prstDash val="solid"/>
          </a:ln>
        </p:spPr>
      </p:sp>
      <p:sp>
        <p:nvSpPr>
          <p:cNvPr id="84" name="Shape 82"/>
          <p:cNvSpPr/>
          <p:nvPr/>
        </p:nvSpPr>
        <p:spPr>
          <a:xfrm>
            <a:off x="4608576" y="4608576"/>
            <a:ext cx="0" cy="82296"/>
          </a:xfrm>
          <a:prstGeom prst="line">
            <a:avLst/>
          </a:prstGeom>
          <a:noFill/>
          <a:ln w="12700">
            <a:solidFill>
              <a:srgbClr val="6E7699"/>
            </a:solidFill>
            <a:prstDash val="solid"/>
          </a:ln>
        </p:spPr>
      </p:sp>
      <p:sp>
        <p:nvSpPr>
          <p:cNvPr id="85" name="Shape 83"/>
          <p:cNvSpPr/>
          <p:nvPr/>
        </p:nvSpPr>
        <p:spPr>
          <a:xfrm>
            <a:off x="4709160" y="4608576"/>
            <a:ext cx="0" cy="82296"/>
          </a:xfrm>
          <a:prstGeom prst="line">
            <a:avLst/>
          </a:prstGeom>
          <a:noFill/>
          <a:ln w="12700">
            <a:solidFill>
              <a:srgbClr val="6E7699"/>
            </a:solidFill>
            <a:prstDash val="solid"/>
          </a:ln>
        </p:spPr>
      </p:sp>
      <p:sp>
        <p:nvSpPr>
          <p:cNvPr id="86" name="Shape 84"/>
          <p:cNvSpPr/>
          <p:nvPr/>
        </p:nvSpPr>
        <p:spPr>
          <a:xfrm>
            <a:off x="4809744" y="4608576"/>
            <a:ext cx="0" cy="82296"/>
          </a:xfrm>
          <a:prstGeom prst="line">
            <a:avLst/>
          </a:prstGeom>
          <a:noFill/>
          <a:ln w="12700">
            <a:solidFill>
              <a:srgbClr val="6E7699"/>
            </a:solidFill>
            <a:prstDash val="solid"/>
          </a:ln>
        </p:spPr>
      </p:sp>
      <p:sp>
        <p:nvSpPr>
          <p:cNvPr id="87" name="Shape 85"/>
          <p:cNvSpPr/>
          <p:nvPr/>
        </p:nvSpPr>
        <p:spPr>
          <a:xfrm>
            <a:off x="4910328" y="4608576"/>
            <a:ext cx="0" cy="82296"/>
          </a:xfrm>
          <a:prstGeom prst="line">
            <a:avLst/>
          </a:prstGeom>
          <a:noFill/>
          <a:ln w="12700">
            <a:solidFill>
              <a:srgbClr val="6E7699"/>
            </a:solidFill>
            <a:prstDash val="solid"/>
          </a:ln>
        </p:spPr>
      </p:sp>
      <p:sp>
        <p:nvSpPr>
          <p:cNvPr id="88" name="Shape 86"/>
          <p:cNvSpPr/>
          <p:nvPr/>
        </p:nvSpPr>
        <p:spPr>
          <a:xfrm>
            <a:off x="5010912" y="4608576"/>
            <a:ext cx="0" cy="82296"/>
          </a:xfrm>
          <a:prstGeom prst="line">
            <a:avLst/>
          </a:prstGeom>
          <a:noFill/>
          <a:ln w="12700">
            <a:solidFill>
              <a:srgbClr val="6E7699"/>
            </a:solidFill>
            <a:prstDash val="solid"/>
          </a:ln>
        </p:spPr>
      </p:sp>
      <p:sp>
        <p:nvSpPr>
          <p:cNvPr id="89" name="Shape 87"/>
          <p:cNvSpPr/>
          <p:nvPr/>
        </p:nvSpPr>
        <p:spPr>
          <a:xfrm>
            <a:off x="5111496" y="4608576"/>
            <a:ext cx="0" cy="82296"/>
          </a:xfrm>
          <a:prstGeom prst="line">
            <a:avLst/>
          </a:prstGeom>
          <a:noFill/>
          <a:ln w="12700">
            <a:solidFill>
              <a:srgbClr val="6E7699"/>
            </a:solidFill>
            <a:prstDash val="solid"/>
          </a:ln>
        </p:spPr>
      </p:sp>
      <p:sp>
        <p:nvSpPr>
          <p:cNvPr id="90" name="Text 88"/>
          <p:cNvSpPr txBox="1"/>
          <p:nvPr/>
        </p:nvSpPr>
        <p:spPr>
          <a:xfrm>
            <a:off x="4507992"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Outseam</a:t>
            </a:r>
            <a:endParaRPr lang="en-US" sz="1400" dirty="0"/>
          </a:p>
        </p:txBody>
      </p:sp>
      <p:sp>
        <p:nvSpPr>
          <p:cNvPr id="91" name="Text 89"/>
          <p:cNvSpPr txBox="1"/>
          <p:nvPr/>
        </p:nvSpPr>
        <p:spPr>
          <a:xfrm>
            <a:off x="4507992"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along the body</a:t>
            </a:r>
            <a:endParaRPr lang="en-US" sz="1000" dirty="0"/>
          </a:p>
        </p:txBody>
      </p:sp>
      <p:sp>
        <p:nvSpPr>
          <p:cNvPr id="92" name="Text 90"/>
          <p:cNvSpPr txBox="1"/>
          <p:nvPr/>
        </p:nvSpPr>
        <p:spPr>
          <a:xfrm>
            <a:off x="4507992"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waist to outer ankle</a:t>
            </a:r>
            <a:endParaRPr lang="en-US" sz="1000" dirty="0"/>
          </a:p>
        </p:txBody>
      </p:sp>
      <p:sp>
        <p:nvSpPr>
          <p:cNvPr id="93" name="Shape 91"/>
          <p:cNvSpPr/>
          <p:nvPr/>
        </p:nvSpPr>
        <p:spPr>
          <a:xfrm>
            <a:off x="8037576" y="4389120"/>
            <a:ext cx="3547872" cy="1060704"/>
          </a:xfrm>
          <a:prstGeom prst="roundRect">
            <a:avLst>
              <a:gd name="adj" fmla="val 5172"/>
            </a:avLst>
          </a:prstGeom>
          <a:solidFill>
            <a:srgbClr val="252943"/>
          </a:solidFill>
          <a:ln w="12700">
            <a:solidFill>
              <a:srgbClr val="252943"/>
            </a:solidFill>
            <a:prstDash val="solid"/>
          </a:ln>
        </p:spPr>
      </p:sp>
      <p:sp>
        <p:nvSpPr>
          <p:cNvPr id="94" name="Shape 92"/>
          <p:cNvSpPr/>
          <p:nvPr/>
        </p:nvSpPr>
        <p:spPr>
          <a:xfrm>
            <a:off x="8275320" y="4608576"/>
            <a:ext cx="0" cy="146304"/>
          </a:xfrm>
          <a:prstGeom prst="line">
            <a:avLst/>
          </a:prstGeom>
          <a:noFill/>
          <a:ln w="12700">
            <a:solidFill>
              <a:srgbClr val="E0A458"/>
            </a:solidFill>
            <a:prstDash val="solid"/>
          </a:ln>
        </p:spPr>
      </p:sp>
      <p:sp>
        <p:nvSpPr>
          <p:cNvPr id="95" name="Shape 93"/>
          <p:cNvSpPr/>
          <p:nvPr/>
        </p:nvSpPr>
        <p:spPr>
          <a:xfrm>
            <a:off x="8375904" y="4608576"/>
            <a:ext cx="0" cy="82296"/>
          </a:xfrm>
          <a:prstGeom prst="line">
            <a:avLst/>
          </a:prstGeom>
          <a:noFill/>
          <a:ln w="12700">
            <a:solidFill>
              <a:srgbClr val="6E7699"/>
            </a:solidFill>
            <a:prstDash val="solid"/>
          </a:ln>
        </p:spPr>
      </p:sp>
      <p:sp>
        <p:nvSpPr>
          <p:cNvPr id="96" name="Shape 94"/>
          <p:cNvSpPr/>
          <p:nvPr/>
        </p:nvSpPr>
        <p:spPr>
          <a:xfrm>
            <a:off x="8476488" y="4608576"/>
            <a:ext cx="0" cy="82296"/>
          </a:xfrm>
          <a:prstGeom prst="line">
            <a:avLst/>
          </a:prstGeom>
          <a:noFill/>
          <a:ln w="12700">
            <a:solidFill>
              <a:srgbClr val="6E7699"/>
            </a:solidFill>
            <a:prstDash val="solid"/>
          </a:ln>
        </p:spPr>
      </p:sp>
      <p:sp>
        <p:nvSpPr>
          <p:cNvPr id="97" name="Shape 95"/>
          <p:cNvSpPr/>
          <p:nvPr/>
        </p:nvSpPr>
        <p:spPr>
          <a:xfrm>
            <a:off x="8577072" y="4608576"/>
            <a:ext cx="0" cy="82296"/>
          </a:xfrm>
          <a:prstGeom prst="line">
            <a:avLst/>
          </a:prstGeom>
          <a:noFill/>
          <a:ln w="12700">
            <a:solidFill>
              <a:srgbClr val="6E7699"/>
            </a:solidFill>
            <a:prstDash val="solid"/>
          </a:ln>
        </p:spPr>
      </p:sp>
      <p:sp>
        <p:nvSpPr>
          <p:cNvPr id="98" name="Shape 96"/>
          <p:cNvSpPr/>
          <p:nvPr/>
        </p:nvSpPr>
        <p:spPr>
          <a:xfrm>
            <a:off x="8677656" y="4608576"/>
            <a:ext cx="0" cy="82296"/>
          </a:xfrm>
          <a:prstGeom prst="line">
            <a:avLst/>
          </a:prstGeom>
          <a:noFill/>
          <a:ln w="12700">
            <a:solidFill>
              <a:srgbClr val="6E7699"/>
            </a:solidFill>
            <a:prstDash val="solid"/>
          </a:ln>
        </p:spPr>
      </p:sp>
      <p:sp>
        <p:nvSpPr>
          <p:cNvPr id="99" name="Shape 97"/>
          <p:cNvSpPr/>
          <p:nvPr/>
        </p:nvSpPr>
        <p:spPr>
          <a:xfrm>
            <a:off x="8778240" y="4608576"/>
            <a:ext cx="0" cy="82296"/>
          </a:xfrm>
          <a:prstGeom prst="line">
            <a:avLst/>
          </a:prstGeom>
          <a:noFill/>
          <a:ln w="12700">
            <a:solidFill>
              <a:srgbClr val="6E7699"/>
            </a:solidFill>
            <a:prstDash val="solid"/>
          </a:ln>
        </p:spPr>
      </p:sp>
      <p:sp>
        <p:nvSpPr>
          <p:cNvPr id="100" name="Shape 98"/>
          <p:cNvSpPr/>
          <p:nvPr/>
        </p:nvSpPr>
        <p:spPr>
          <a:xfrm>
            <a:off x="8878824" y="4608576"/>
            <a:ext cx="0" cy="82296"/>
          </a:xfrm>
          <a:prstGeom prst="line">
            <a:avLst/>
          </a:prstGeom>
          <a:noFill/>
          <a:ln w="12700">
            <a:solidFill>
              <a:srgbClr val="6E7699"/>
            </a:solidFill>
            <a:prstDash val="solid"/>
          </a:ln>
        </p:spPr>
      </p:sp>
      <p:sp>
        <p:nvSpPr>
          <p:cNvPr id="101" name="Text 99"/>
          <p:cNvSpPr txBox="1"/>
          <p:nvPr/>
        </p:nvSpPr>
        <p:spPr>
          <a:xfrm>
            <a:off x="8275320"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Rise</a:t>
            </a:r>
            <a:endParaRPr lang="en-US" sz="1400" dirty="0"/>
          </a:p>
        </p:txBody>
      </p:sp>
      <p:sp>
        <p:nvSpPr>
          <p:cNvPr id="102" name="Text 100"/>
          <p:cNvSpPr txBox="1"/>
          <p:nvPr/>
        </p:nvSpPr>
        <p:spPr>
          <a:xfrm>
            <a:off x="8275320"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height difference</a:t>
            </a:r>
            <a:endParaRPr lang="en-US" sz="1000" dirty="0"/>
          </a:p>
        </p:txBody>
      </p:sp>
      <p:sp>
        <p:nvSpPr>
          <p:cNvPr id="103" name="Text 101"/>
          <p:cNvSpPr txBox="1"/>
          <p:nvPr/>
        </p:nvSpPr>
        <p:spPr>
          <a:xfrm>
            <a:off x="8275320"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waist down to the crotch</a:t>
            </a:r>
            <a:endParaRPr lang="en-US" sz="1000" dirty="0"/>
          </a:p>
        </p:txBody>
      </p:sp>
      <p:sp>
        <p:nvSpPr>
          <p:cNvPr id="104" name="Text 102"/>
          <p:cNvSpPr txBox="1"/>
          <p:nvPr/>
        </p:nvSpPr>
        <p:spPr>
          <a:xfrm>
            <a:off x="502920" y="5806440"/>
            <a:ext cx="11185855" cy="310896"/>
          </a:xfrm>
          <a:prstGeom prst="rect">
            <a:avLst/>
          </a:prstGeom>
          <a:noFill/>
          <a:ln/>
        </p:spPr>
        <p:txBody>
          <a:bodyPr wrap="square" lIns="0" tIns="0" rIns="0" bIns="0" rtlCol="0" anchor="ctr"/>
          <a:lstStyle/>
          <a:p>
            <a:pPr indent="0" marL="0">
              <a:buNone/>
            </a:pPr>
            <a:r>
              <a:rPr lang="en-US" sz="1050" i="1" dirty="0">
                <a:solidFill>
                  <a:srgbClr val="6E7699"/>
                </a:solidFill>
                <a:latin typeface="Arial" pitchFamily="34" charset="0"/>
                <a:ea typeface="Arial" pitchFamily="34" charset="-122"/>
                <a:cs typeface="Arial" pitchFamily="34" charset="-120"/>
              </a:rPr>
              <a:t>Expect to land within 1.5–3 cm, when one size step is about 4 cm. The crotch is the hardest point to place, and baggy clothes are the biggest source of error.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DATA STRATEGY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We invent data only where we can be certain it is true</a:t>
            </a:r>
            <a:endParaRPr lang="en-US" sz="3000" dirty="0"/>
          </a:p>
        </p:txBody>
      </p:sp>
      <p:sp>
        <p:nvSpPr>
          <p:cNvPr id="4" name="Shape 2"/>
          <p:cNvSpPr/>
          <p:nvPr/>
        </p:nvSpPr>
        <p:spPr>
          <a:xfrm>
            <a:off x="502920" y="1463040"/>
            <a:ext cx="11185855" cy="658368"/>
          </a:xfrm>
          <a:prstGeom prst="roundRect">
            <a:avLst>
              <a:gd name="adj" fmla="val 8333"/>
            </a:avLst>
          </a:prstGeom>
          <a:solidFill>
            <a:srgbClr val="3A2530"/>
          </a:solidFill>
          <a:ln w="19050">
            <a:solidFill>
              <a:srgbClr val="EC8079"/>
            </a:solidFill>
            <a:prstDash val="solid"/>
          </a:ln>
        </p:spPr>
      </p:sp>
      <p:sp>
        <p:nvSpPr>
          <p:cNvPr id="5" name="Text 3"/>
          <p:cNvSpPr txBox="1"/>
          <p:nvPr/>
        </p:nvSpPr>
        <p:spPr>
          <a:xfrm>
            <a:off x="777240" y="1463040"/>
            <a:ext cx="10637215" cy="658368"/>
          </a:xfrm>
          <a:prstGeom prst="rect">
            <a:avLst/>
          </a:prstGeom>
          <a:noFill/>
          <a:ln/>
        </p:spPr>
        <p:txBody>
          <a:bodyPr wrap="square" lIns="0" tIns="0" rIns="0" bIns="0" rtlCol="0" anchor="ctr"/>
          <a:lstStyle/>
          <a:p>
            <a:pPr indent="0" marL="0">
              <a:buNone/>
            </a:pPr>
            <a:r>
              <a:rPr lang="en-US" sz="1300" dirty="0">
                <a:solidFill>
                  <a:srgbClr val="F2F3F8"/>
                </a:solidFill>
                <a:latin typeface="Arial" pitchFamily="34" charset="0"/>
                <a:ea typeface="Arial" pitchFamily="34" charset="-122"/>
                <a:cs typeface="Arial" pitchFamily="34" charset="-120"/>
              </a:rPr>
              <a:t>The trap: make up the answers with a rule, train a model to find that rule again, then report how accurate it is. That only measures the model against your own invention. It proves nothing.</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340864"/>
          <a:ext cx="11185855" cy="914400"/>
        </p:xfrm>
        <a:graphic>
          <a:graphicData uri="http://schemas.openxmlformats.org/drawingml/2006/table">
            <a:tbl>
              <a:tblPr/>
              <a:tblGrid>
                <a:gridCol w="2743200"/>
                <a:gridCol w="3108960"/>
                <a:gridCol w="5333695"/>
              </a:tblGrid>
              <a:tr h="457200">
                <a:tc>
                  <a:txBody>
                    <a:bodyPr/>
                    <a:lstStyle/>
                    <a:p>
                      <a:pPr indent="0" marL="0">
                        <a:buNone/>
                      </a:pPr>
                      <a:r>
                        <a:rPr lang="en-US" sz="1200" b="1" dirty="0">
                          <a:solidFill>
                            <a:srgbClr val="F2F3F8"/>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b="1" dirty="0">
                          <a:solidFill>
                            <a:srgbClr val="F2F3F8"/>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b="1" dirty="0">
                          <a:solidFill>
                            <a:srgbClr val="F2F3F8"/>
                          </a:solidFill>
                          <a:latin typeface="Arial" pitchFamily="34" charset="0"/>
                          <a:ea typeface="Arial" pitchFamily="34" charset="-122"/>
                          <a:cs typeface="Arial" pitchFamily="34" charset="-120"/>
                        </a:rPr>
                        <a:t>Why this is honest</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SURREAL — computer-made bodies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Build and tune the measuring step</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Generated from known shapes, so their true measurements are known exactly</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AMASS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Realistic movement</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motion capture, so the generated videos move like a person</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BodyM</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Checking against real people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photos of real people, measured with a tape. This is where the reported numbers come from</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ANSUR II</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Sanity check</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A public database of real body measurements, so we know which combinations actually occur</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RentTheRunway · ModCloth</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feedback on real purchases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Customers said whether it ran small, true to size or large — plus what they wrote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Brands' size charts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Input and test set for agent 3</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Public, no personal data, small volumes. EU copyright law allows this for research</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bl>
          </a:graphicData>
        </a:graphic>
      </p:graphicFrame>
      <p:sp>
        <p:nvSpPr>
          <p:cNvPr id="7" name="Shape 4"/>
          <p:cNvSpPr/>
          <p:nvPr/>
        </p:nvSpPr>
        <p:spPr>
          <a:xfrm>
            <a:off x="502920" y="5541264"/>
            <a:ext cx="11185855" cy="749808"/>
          </a:xfrm>
          <a:prstGeom prst="roundRect">
            <a:avLst>
              <a:gd name="adj" fmla="val 7317"/>
            </a:avLst>
          </a:prstGeom>
          <a:solidFill>
            <a:srgbClr val="2F3355"/>
          </a:solidFill>
          <a:ln w="19050">
            <a:solidFill>
              <a:srgbClr val="E0A458"/>
            </a:solidFill>
            <a:prstDash val="solid"/>
          </a:ln>
        </p:spPr>
      </p:sp>
      <p:sp>
        <p:nvSpPr>
          <p:cNvPr id="8" name="Text 5"/>
          <p:cNvSpPr txBox="1"/>
          <p:nvPr/>
        </p:nvSpPr>
        <p:spPr>
          <a:xfrm>
            <a:off x="777240" y="5614416"/>
            <a:ext cx="3931920" cy="274320"/>
          </a:xfrm>
          <a:prstGeom prst="rect">
            <a:avLst/>
          </a:prstGeom>
          <a:noFill/>
          <a:ln/>
        </p:spPr>
        <p:txBody>
          <a:bodyPr wrap="square" lIns="0" tIns="0" rIns="0" bIns="0" rtlCol="0" anchor="ctr"/>
          <a:lstStyle/>
          <a:p>
            <a:pPr indent="0" marL="0">
              <a:buNone/>
            </a:pPr>
            <a:r>
              <a:rPr lang="en-US" sz="1200" b="1" dirty="0">
                <a:solidFill>
                  <a:srgbClr val="E0A458"/>
                </a:solidFill>
                <a:latin typeface="Arial" pitchFamily="34" charset="0"/>
                <a:ea typeface="Arial" pitchFamily="34" charset="-122"/>
                <a:cs typeface="Arial" pitchFamily="34" charset="-120"/>
              </a:rPr>
              <a:t>Limitation to state, not to discover in the viva:</a:t>
            </a:r>
            <a:endParaRPr lang="en-US" sz="1200" dirty="0"/>
          </a:p>
        </p:txBody>
      </p:sp>
      <p:sp>
        <p:nvSpPr>
          <p:cNvPr id="9" name="Text 6"/>
          <p:cNvSpPr txBox="1"/>
          <p:nvPr/>
        </p:nvSpPr>
        <p:spPr>
          <a:xfrm>
            <a:off x="777240" y="5888736"/>
            <a:ext cx="10607040" cy="274320"/>
          </a:xfrm>
          <a:prstGeom prst="rect">
            <a:avLst/>
          </a:prstGeom>
          <a:noFill/>
          <a:ln/>
        </p:spPr>
        <p:txBody>
          <a:bodyPr wrap="square" lIns="0" tIns="0" rIns="0" bIns="0" rtlCol="0" anchor="ctr"/>
          <a:lstStyle/>
          <a:p>
            <a:pPr indent="0" marL="0">
              <a:buNone/>
            </a:pPr>
            <a:r>
              <a:rPr lang="en-US" sz="1200" dirty="0">
                <a:solidFill>
                  <a:srgbClr val="F2F3F8"/>
                </a:solidFill>
                <a:latin typeface="Arial" pitchFamily="34" charset="0"/>
                <a:ea typeface="Arial" pitchFamily="34" charset="-122"/>
                <a:cs typeface="Arial" pitchFamily="34" charset="-120"/>
              </a:rPr>
              <a:t>these datasets say whether an item fitted, not whether it was kept or sent back. We stand in for the real outcome with what the customer said.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EVALUATION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Three test sets, one results file, nothing hand-waved</a:t>
            </a:r>
            <a:endParaRPr lang="en-US" sz="3000" dirty="0"/>
          </a:p>
        </p:txBody>
      </p:sp>
      <p:sp>
        <p:nvSpPr>
          <p:cNvPr id="4" name="Shape 2"/>
          <p:cNvSpPr/>
          <p:nvPr/>
        </p:nvSpPr>
        <p:spPr>
          <a:xfrm>
            <a:off x="502920" y="1572768"/>
            <a:ext cx="3547872" cy="3986784"/>
          </a:xfrm>
          <a:prstGeom prst="roundRect">
            <a:avLst>
              <a:gd name="adj" fmla="val 1546"/>
            </a:avLst>
          </a:prstGeom>
          <a:solidFill>
            <a:srgbClr val="252943"/>
          </a:solidFill>
          <a:ln w="12700">
            <a:solidFill>
              <a:srgbClr val="252943"/>
            </a:solidFill>
            <a:prstDash val="solid"/>
          </a:ln>
        </p:spPr>
      </p:sp>
      <p:sp>
        <p:nvSpPr>
          <p:cNvPr id="5" name="Shape 3"/>
          <p:cNvSpPr/>
          <p:nvPr/>
        </p:nvSpPr>
        <p:spPr>
          <a:xfrm>
            <a:off x="777240" y="1810512"/>
            <a:ext cx="402336" cy="402336"/>
          </a:xfrm>
          <a:prstGeom prst="ellipse">
            <a:avLst/>
          </a:prstGeom>
          <a:solidFill>
            <a:srgbClr val="83B4DE"/>
          </a:solidFill>
          <a:ln w="12700">
            <a:solidFill>
              <a:srgbClr val="83B4DE"/>
            </a:solidFill>
            <a:prstDash val="solid"/>
          </a:ln>
        </p:spPr>
      </p:sp>
      <p:sp>
        <p:nvSpPr>
          <p:cNvPr id="6" name="Text 4"/>
          <p:cNvSpPr txBox="1"/>
          <p:nvPr/>
        </p:nvSpPr>
        <p:spPr>
          <a:xfrm>
            <a:off x="777240"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A</a:t>
            </a:r>
            <a:endParaRPr lang="en-US" sz="1500" dirty="0"/>
          </a:p>
        </p:txBody>
      </p:sp>
      <p:sp>
        <p:nvSpPr>
          <p:cNvPr id="7" name="Text 5"/>
          <p:cNvSpPr txBox="1"/>
          <p:nvPr/>
        </p:nvSpPr>
        <p:spPr>
          <a:xfrm>
            <a:off x="1307592" y="1810512"/>
            <a:ext cx="2560320" cy="402336"/>
          </a:xfrm>
          <a:prstGeom prst="rect">
            <a:avLst/>
          </a:prstGeom>
          <a:noFill/>
          <a:ln/>
        </p:spPr>
        <p:txBody>
          <a:bodyPr wrap="square" lIns="0" tIns="0" rIns="0" bIns="0" rtlCol="0" anchor="ctr"/>
          <a:lstStyle/>
          <a:p>
            <a:pPr indent="0" marL="0">
              <a:buNone/>
            </a:pPr>
            <a:r>
              <a:rPr lang="en-US" sz="1700" b="1" dirty="0">
                <a:solidFill>
                  <a:srgbClr val="83B4DE"/>
                </a:solidFill>
                <a:latin typeface="Arial" pitchFamily="34" charset="0"/>
                <a:ea typeface="Arial" pitchFamily="34" charset="-122"/>
                <a:cs typeface="Arial" pitchFamily="34" charset="-120"/>
              </a:rPr>
              <a:t>The measurements</a:t>
            </a:r>
            <a:endParaRPr lang="en-US" sz="1700" dirty="0"/>
          </a:p>
        </p:txBody>
      </p:sp>
      <p:sp>
        <p:nvSpPr>
          <p:cNvPr id="8" name="Text 6"/>
          <p:cNvSpPr txBox="1"/>
          <p:nvPr/>
        </p:nvSpPr>
        <p:spPr>
          <a:xfrm>
            <a:off x="777240"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Average error per measurement on real people, and how often we land within 1 cm and 2 cm</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Best case on computer-made bodies: how much error is ours even with a perfect 3D fit</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The key experiment: how the error falls as more frames are combined</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What happens if the person mistypes their height by 1, 2 or 3 cm</a:t>
            </a:r>
            <a:endParaRPr lang="en-US" sz="1150" dirty="0"/>
          </a:p>
        </p:txBody>
      </p:sp>
      <p:sp>
        <p:nvSpPr>
          <p:cNvPr id="9" name="Shape 7"/>
          <p:cNvSpPr/>
          <p:nvPr/>
        </p:nvSpPr>
        <p:spPr>
          <a:xfrm>
            <a:off x="4270248" y="1572768"/>
            <a:ext cx="3547872" cy="3986784"/>
          </a:xfrm>
          <a:prstGeom prst="roundRect">
            <a:avLst>
              <a:gd name="adj" fmla="val 1546"/>
            </a:avLst>
          </a:prstGeom>
          <a:solidFill>
            <a:srgbClr val="252943"/>
          </a:solidFill>
          <a:ln w="12700">
            <a:solidFill>
              <a:srgbClr val="252943"/>
            </a:solidFill>
            <a:prstDash val="solid"/>
          </a:ln>
        </p:spPr>
      </p:sp>
      <p:sp>
        <p:nvSpPr>
          <p:cNvPr id="10" name="Shape 8"/>
          <p:cNvSpPr/>
          <p:nvPr/>
        </p:nvSpPr>
        <p:spPr>
          <a:xfrm>
            <a:off x="4544568" y="1810512"/>
            <a:ext cx="402336" cy="402336"/>
          </a:xfrm>
          <a:prstGeom prst="ellipse">
            <a:avLst/>
          </a:prstGeom>
          <a:solidFill>
            <a:srgbClr val="E0A458"/>
          </a:solidFill>
          <a:ln w="12700">
            <a:solidFill>
              <a:srgbClr val="E0A458"/>
            </a:solidFill>
            <a:prstDash val="solid"/>
          </a:ln>
        </p:spPr>
      </p:sp>
      <p:sp>
        <p:nvSpPr>
          <p:cNvPr id="11" name="Text 9"/>
          <p:cNvSpPr txBox="1"/>
          <p:nvPr/>
        </p:nvSpPr>
        <p:spPr>
          <a:xfrm>
            <a:off x="4544568"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B</a:t>
            </a:r>
            <a:endParaRPr lang="en-US" sz="1500" dirty="0"/>
          </a:p>
        </p:txBody>
      </p:sp>
      <p:sp>
        <p:nvSpPr>
          <p:cNvPr id="12" name="Text 10"/>
          <p:cNvSpPr txBox="1"/>
          <p:nvPr/>
        </p:nvSpPr>
        <p:spPr>
          <a:xfrm>
            <a:off x="5074920" y="1810512"/>
            <a:ext cx="2560320" cy="40233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Reading size charts</a:t>
            </a:r>
            <a:endParaRPr lang="en-US" sz="1700" dirty="0"/>
          </a:p>
        </p:txBody>
      </p:sp>
      <p:sp>
        <p:nvSpPr>
          <p:cNvPr id="13" name="Text 11"/>
          <p:cNvSpPr txBox="1"/>
          <p:nvPr/>
        </p:nvSpPr>
        <p:spPr>
          <a:xfrm>
            <a:off x="4544568"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50 hand-labelled charts, ~10 brands across 5 categories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How many values we read correctly, and how often we botch inches into centimetres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Body chart or garment laid flat — the one field that matters most</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Rows the AI invented that are not on the page: must be zero, or explained</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 page rigged to give the AI instructions, to prove it ignores them</a:t>
            </a:r>
            <a:endParaRPr lang="en-US" sz="1150" dirty="0"/>
          </a:p>
        </p:txBody>
      </p:sp>
      <p:sp>
        <p:nvSpPr>
          <p:cNvPr id="14" name="Shape 12"/>
          <p:cNvSpPr/>
          <p:nvPr/>
        </p:nvSpPr>
        <p:spPr>
          <a:xfrm>
            <a:off x="8037576" y="1572768"/>
            <a:ext cx="3547872" cy="3986784"/>
          </a:xfrm>
          <a:prstGeom prst="roundRect">
            <a:avLst>
              <a:gd name="adj" fmla="val 1546"/>
            </a:avLst>
          </a:prstGeom>
          <a:solidFill>
            <a:srgbClr val="252943"/>
          </a:solidFill>
          <a:ln w="12700">
            <a:solidFill>
              <a:srgbClr val="252943"/>
            </a:solidFill>
            <a:prstDash val="solid"/>
          </a:ln>
        </p:spPr>
      </p:sp>
      <p:sp>
        <p:nvSpPr>
          <p:cNvPr id="15" name="Shape 13"/>
          <p:cNvSpPr/>
          <p:nvPr/>
        </p:nvSpPr>
        <p:spPr>
          <a:xfrm>
            <a:off x="8311896" y="1810512"/>
            <a:ext cx="402336" cy="402336"/>
          </a:xfrm>
          <a:prstGeom prst="ellipse">
            <a:avLst/>
          </a:prstGeom>
          <a:solidFill>
            <a:srgbClr val="6FC095"/>
          </a:solidFill>
          <a:ln w="12700">
            <a:solidFill>
              <a:srgbClr val="6FC095"/>
            </a:solidFill>
            <a:prstDash val="solid"/>
          </a:ln>
        </p:spPr>
      </p:sp>
      <p:sp>
        <p:nvSpPr>
          <p:cNvPr id="16" name="Text 14"/>
          <p:cNvSpPr txBox="1"/>
          <p:nvPr/>
        </p:nvSpPr>
        <p:spPr>
          <a:xfrm>
            <a:off x="8311896"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C</a:t>
            </a:r>
            <a:endParaRPr lang="en-US" sz="1500" dirty="0"/>
          </a:p>
        </p:txBody>
      </p:sp>
      <p:sp>
        <p:nvSpPr>
          <p:cNvPr id="17" name="Text 15"/>
          <p:cNvSpPr txBox="1"/>
          <p:nvPr/>
        </p:nvSpPr>
        <p:spPr>
          <a:xfrm>
            <a:off x="8842248" y="1810512"/>
            <a:ext cx="2560320" cy="402336"/>
          </a:xfrm>
          <a:prstGeom prst="rect">
            <a:avLst/>
          </a:prstGeom>
          <a:noFill/>
          <a:ln/>
        </p:spPr>
        <p:txBody>
          <a:bodyPr wrap="square" lIns="0" tIns="0" rIns="0" bIns="0" rtlCol="0" anchor="ctr"/>
          <a:lstStyle/>
          <a:p>
            <a:pPr indent="0" marL="0">
              <a:buNone/>
            </a:pPr>
            <a:r>
              <a:rPr lang="en-US" sz="1700" b="1" dirty="0">
                <a:solidFill>
                  <a:srgbClr val="6FC095"/>
                </a:solidFill>
                <a:latin typeface="Arial" pitchFamily="34" charset="0"/>
                <a:ea typeface="Arial" pitchFamily="34" charset="-122"/>
                <a:cs typeface="Arial" pitchFamily="34" charset="-120"/>
              </a:rPr>
              <a:t>How the agents behave</a:t>
            </a:r>
            <a:endParaRPr lang="en-US" sz="1700" dirty="0"/>
          </a:p>
        </p:txBody>
      </p:sp>
      <p:sp>
        <p:nvSpPr>
          <p:cNvPr id="18" name="Text 16"/>
          <p:cNvSpPr txBox="1"/>
          <p:nvPr/>
        </p:nvSpPr>
        <p:spPr>
          <a:xfrm>
            <a:off x="8311896"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 set of deliberately bad clips: does it reach the right verdict every time</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Message quality: does it name the cause and one action?</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Is the explanation true to the calculation, is it useful, and does our AI grader agree with people</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Did it pick the right tools, how often did it retry, what did it cost, how long did it take</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One big prompt, then a simple chain, then all six agents — to prove the complexity earns its place</a:t>
            </a:r>
            <a:endParaRPr lang="en-US" sz="1150" dirty="0"/>
          </a:p>
        </p:txBody>
      </p:sp>
      <p:sp>
        <p:nvSpPr>
          <p:cNvPr id="19" name="Text 17"/>
          <p:cNvSpPr txBox="1"/>
          <p:nvPr/>
        </p:nvSpPr>
        <p:spPr>
          <a:xfrm>
            <a:off x="502920" y="5742432"/>
            <a:ext cx="11185855" cy="548640"/>
          </a:xfrm>
          <a:prstGeom prst="rect">
            <a:avLst/>
          </a:prstGeom>
          <a:noFill/>
          <a:ln/>
        </p:spPr>
        <p:txBody>
          <a:bodyPr wrap="square" lIns="0" tIns="0" rIns="0" bIns="0" rtlCol="0" anchor="ctr"/>
          <a:lstStyle/>
          <a:p>
            <a:pPr indent="0" marL="0">
              <a:lnSpc>
                <a:spcPct val="115000"/>
              </a:lnSpc>
              <a:buNone/>
            </a:pPr>
            <a:r>
              <a:rPr lang="en-US" sz="1250" i="1" dirty="0">
                <a:solidFill>
                  <a:srgbClr val="9BA1C1"/>
                </a:solidFill>
                <a:latin typeface="Arial" pitchFamily="34" charset="0"/>
                <a:ea typeface="Arial" pitchFamily="34" charset="-122"/>
                <a:cs typeface="Arial" pitchFamily="34" charset="-120"/>
              </a:rPr>
              <a:t>Which model does which job is itself a result: a small fast one for the repetitive reading (agents 3 and 5), a large one for the reasoning and grading (1, 4 and 6) — with the cost of each reported.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HOW WE CATCH THE AI MAKING THINGS UP</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Two checks a computer can run for us</a:t>
            </a:r>
            <a:endParaRPr lang="en-US" sz="3000" dirty="0"/>
          </a:p>
        </p:txBody>
      </p:sp>
      <p:sp>
        <p:nvSpPr>
          <p:cNvPr id="4" name="Shape 2"/>
          <p:cNvSpPr/>
          <p:nvPr/>
        </p:nvSpPr>
        <p:spPr>
          <a:xfrm>
            <a:off x="502920" y="1591056"/>
            <a:ext cx="11185855" cy="2011680"/>
          </a:xfrm>
          <a:prstGeom prst="roundRect">
            <a:avLst>
              <a:gd name="adj" fmla="val 2727"/>
            </a:avLst>
          </a:prstGeom>
          <a:solidFill>
            <a:srgbClr val="252943"/>
          </a:solidFill>
          <a:ln w="12700">
            <a:solidFill>
              <a:srgbClr val="252943"/>
            </a:solidFill>
            <a:prstDash val="solid"/>
          </a:ln>
        </p:spPr>
      </p:sp>
      <p:sp>
        <p:nvSpPr>
          <p:cNvPr id="5" name="Shape 3"/>
          <p:cNvSpPr/>
          <p:nvPr/>
        </p:nvSpPr>
        <p:spPr>
          <a:xfrm>
            <a:off x="832104" y="1901952"/>
            <a:ext cx="402336" cy="402336"/>
          </a:xfrm>
          <a:prstGeom prst="ellipse">
            <a:avLst/>
          </a:prstGeom>
          <a:solidFill>
            <a:srgbClr val="83B4DE"/>
          </a:solidFill>
          <a:ln w="12700">
            <a:solidFill>
              <a:srgbClr val="83B4DE"/>
            </a:solidFill>
            <a:prstDash val="solid"/>
          </a:ln>
        </p:spPr>
      </p:sp>
      <p:sp>
        <p:nvSpPr>
          <p:cNvPr id="6" name="Text 4"/>
          <p:cNvSpPr txBox="1"/>
          <p:nvPr/>
        </p:nvSpPr>
        <p:spPr>
          <a:xfrm>
            <a:off x="832104" y="1901952"/>
            <a:ext cx="402336" cy="40233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417320" y="1847088"/>
            <a:ext cx="5486400" cy="329184"/>
          </a:xfrm>
          <a:prstGeom prst="rect">
            <a:avLst/>
          </a:prstGeom>
          <a:noFill/>
          <a:ln/>
        </p:spPr>
        <p:txBody>
          <a:bodyPr wrap="square" lIns="0" tIns="0" rIns="0" bIns="0" rtlCol="0" anchor="ctr"/>
          <a:lstStyle/>
          <a:p>
            <a:pPr indent="0" marL="0">
              <a:buNone/>
            </a:pPr>
            <a:r>
              <a:rPr lang="en-US" sz="1800" b="1" dirty="0">
                <a:solidFill>
                  <a:srgbClr val="83B4DE"/>
                </a:solidFill>
                <a:latin typeface="Arial" pitchFamily="34" charset="0"/>
                <a:ea typeface="Arial" pitchFamily="34" charset="-122"/>
                <a:cs typeface="Arial" pitchFamily="34" charset="-120"/>
              </a:rPr>
              <a:t>The explanation is verifiable</a:t>
            </a:r>
            <a:endParaRPr lang="en-US" sz="1800" dirty="0"/>
          </a:p>
        </p:txBody>
      </p:sp>
      <p:sp>
        <p:nvSpPr>
          <p:cNvPr id="8" name="Shape 6"/>
          <p:cNvSpPr/>
          <p:nvPr/>
        </p:nvSpPr>
        <p:spPr>
          <a:xfrm>
            <a:off x="1417320" y="2267712"/>
            <a:ext cx="5486400" cy="457200"/>
          </a:xfrm>
          <a:prstGeom prst="roundRect">
            <a:avLst>
              <a:gd name="adj" fmla="val 10000"/>
            </a:avLst>
          </a:prstGeom>
          <a:solidFill>
            <a:srgbClr val="1B1D33"/>
          </a:solidFill>
          <a:ln w="12700">
            <a:solidFill>
              <a:srgbClr val="83B4DE"/>
            </a:solidFill>
            <a:prstDash val="solid"/>
          </a:ln>
        </p:spPr>
      </p:sp>
      <p:sp>
        <p:nvSpPr>
          <p:cNvPr id="9" name="Text 7"/>
          <p:cNvSpPr txBox="1"/>
          <p:nvPr/>
        </p:nvSpPr>
        <p:spPr>
          <a:xfrm>
            <a:off x="1417320" y="2267712"/>
            <a:ext cx="5486400" cy="457200"/>
          </a:xfrm>
          <a:prstGeom prst="rect">
            <a:avLst/>
          </a:prstGeom>
          <a:noFill/>
          <a:ln/>
        </p:spPr>
        <p:txBody>
          <a:bodyPr wrap="square" lIns="0" tIns="0" rIns="0" bIns="0" rtlCol="0" anchor="ctr"/>
          <a:lstStyle/>
          <a:p>
            <a:pPr algn="ctr" indent="0" marL="0">
              <a:buNone/>
            </a:pPr>
            <a:r>
              <a:rPr lang="en-US" sz="1350" b="1" dirty="0">
                <a:solidFill>
                  <a:srgbClr val="F2F3F8"/>
                </a:solidFill>
                <a:latin typeface="Arial" pitchFamily="34" charset="0"/>
                <a:ea typeface="Arial" pitchFamily="34" charset="-122"/>
                <a:cs typeface="Arial" pitchFamily="34" charset="-120"/>
              </a:rPr>
              <a:t>cited_landmarks  ⊆  engine.rationale.landmarks</a:t>
            </a:r>
            <a:endParaRPr lang="en-US" sz="1350" dirty="0"/>
          </a:p>
        </p:txBody>
      </p:sp>
      <p:sp>
        <p:nvSpPr>
          <p:cNvPr id="10" name="Text 8"/>
          <p:cNvSpPr txBox="1"/>
          <p:nvPr/>
        </p:nvSpPr>
        <p:spPr>
          <a:xfrm>
            <a:off x="7269480" y="1865376"/>
            <a:ext cx="4114800" cy="1463040"/>
          </a:xfrm>
          <a:prstGeom prst="rect">
            <a:avLst/>
          </a:prstGeom>
          <a:noFill/>
          <a:ln/>
        </p:spPr>
        <p:txBody>
          <a:bodyPr wrap="square" lIns="0" tIns="0" rIns="0" bIns="0" rtlCol="0" anchor="t"/>
          <a:lstStyle/>
          <a:p>
            <a:pPr indent="0" marL="0">
              <a:lnSpc>
                <a:spcPct val="118000"/>
              </a:lnSpc>
              <a:buNone/>
            </a:pPr>
            <a:r>
              <a:rPr lang="en-US" sz="1150" dirty="0">
                <a:solidFill>
                  <a:srgbClr val="9BA1C1"/>
                </a:solidFill>
                <a:latin typeface="Arial" pitchFamily="34" charset="0"/>
                <a:ea typeface="Arial" pitchFamily="34" charset="-122"/>
                <a:cs typeface="Arial" pitchFamily="34" charset="-120"/>
              </a:rPr>
              <a:t>The advisor is explaining a calculation we already have. If the calculator says the waist is 2 cm tight and the text says it is loose, that is a mistake we can catch automatically — not a matter of opinion. Checked on every run, no exceptions.</a:t>
            </a:r>
            <a:endParaRPr lang="en-US" sz="1150" dirty="0"/>
          </a:p>
        </p:txBody>
      </p:sp>
      <p:sp>
        <p:nvSpPr>
          <p:cNvPr id="11" name="Shape 9"/>
          <p:cNvSpPr/>
          <p:nvPr/>
        </p:nvSpPr>
        <p:spPr>
          <a:xfrm>
            <a:off x="502920" y="3803904"/>
            <a:ext cx="11185855" cy="2011680"/>
          </a:xfrm>
          <a:prstGeom prst="roundRect">
            <a:avLst>
              <a:gd name="adj" fmla="val 2727"/>
            </a:avLst>
          </a:prstGeom>
          <a:solidFill>
            <a:srgbClr val="252943"/>
          </a:solidFill>
          <a:ln w="12700">
            <a:solidFill>
              <a:srgbClr val="252943"/>
            </a:solidFill>
            <a:prstDash val="solid"/>
          </a:ln>
        </p:spPr>
      </p:sp>
      <p:sp>
        <p:nvSpPr>
          <p:cNvPr id="12" name="Shape 10"/>
          <p:cNvSpPr/>
          <p:nvPr/>
        </p:nvSpPr>
        <p:spPr>
          <a:xfrm>
            <a:off x="832104" y="4114800"/>
            <a:ext cx="402336" cy="402336"/>
          </a:xfrm>
          <a:prstGeom prst="ellipse">
            <a:avLst/>
          </a:prstGeom>
          <a:solidFill>
            <a:srgbClr val="E0A458"/>
          </a:solidFill>
          <a:ln w="12700">
            <a:solidFill>
              <a:srgbClr val="E0A458"/>
            </a:solidFill>
            <a:prstDash val="solid"/>
          </a:ln>
        </p:spPr>
      </p:sp>
      <p:sp>
        <p:nvSpPr>
          <p:cNvPr id="13" name="Text 11"/>
          <p:cNvSpPr txBox="1"/>
          <p:nvPr/>
        </p:nvSpPr>
        <p:spPr>
          <a:xfrm>
            <a:off x="832104" y="4114800"/>
            <a:ext cx="402336" cy="40233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4" name="Text 12"/>
          <p:cNvSpPr txBox="1"/>
          <p:nvPr/>
        </p:nvSpPr>
        <p:spPr>
          <a:xfrm>
            <a:off x="1417320" y="4059936"/>
            <a:ext cx="5486400" cy="329184"/>
          </a:xfrm>
          <a:prstGeom prst="rect">
            <a:avLst/>
          </a:prstGeom>
          <a:noFill/>
          <a:ln/>
        </p:spPr>
        <p:txBody>
          <a:bodyPr wrap="square" lIns="0" tIns="0" rIns="0" bIns="0" rtlCol="0" anchor="ctr"/>
          <a:lstStyle/>
          <a:p>
            <a:pPr indent="0" marL="0">
              <a:buNone/>
            </a:pPr>
            <a:r>
              <a:rPr lang="en-US" sz="1800" b="1" dirty="0">
                <a:solidFill>
                  <a:srgbClr val="E0A458"/>
                </a:solidFill>
                <a:latin typeface="Arial" pitchFamily="34" charset="0"/>
                <a:ea typeface="Arial" pitchFamily="34" charset="-122"/>
                <a:cs typeface="Arial" pitchFamily="34" charset="-120"/>
              </a:rPr>
              <a:t>Every claim has a source</a:t>
            </a:r>
            <a:endParaRPr lang="en-US" sz="1800" dirty="0"/>
          </a:p>
        </p:txBody>
      </p:sp>
      <p:sp>
        <p:nvSpPr>
          <p:cNvPr id="15" name="Shape 13"/>
          <p:cNvSpPr/>
          <p:nvPr/>
        </p:nvSpPr>
        <p:spPr>
          <a:xfrm>
            <a:off x="1417320" y="4480560"/>
            <a:ext cx="5486400" cy="457200"/>
          </a:xfrm>
          <a:prstGeom prst="roundRect">
            <a:avLst>
              <a:gd name="adj" fmla="val 10000"/>
            </a:avLst>
          </a:prstGeom>
          <a:solidFill>
            <a:srgbClr val="1B1D33"/>
          </a:solidFill>
          <a:ln w="12700">
            <a:solidFill>
              <a:srgbClr val="E0A458"/>
            </a:solidFill>
            <a:prstDash val="solid"/>
          </a:ln>
        </p:spPr>
      </p:sp>
      <p:sp>
        <p:nvSpPr>
          <p:cNvPr id="16" name="Text 14"/>
          <p:cNvSpPr txBox="1"/>
          <p:nvPr/>
        </p:nvSpPr>
        <p:spPr>
          <a:xfrm>
            <a:off x="1417320" y="4480560"/>
            <a:ext cx="5486400" cy="457200"/>
          </a:xfrm>
          <a:prstGeom prst="rect">
            <a:avLst/>
          </a:prstGeom>
          <a:noFill/>
          <a:ln/>
        </p:spPr>
        <p:txBody>
          <a:bodyPr wrap="square" lIns="0" tIns="0" rIns="0" bIns="0" rtlCol="0" anchor="ctr"/>
          <a:lstStyle/>
          <a:p>
            <a:pPr algn="ctr" indent="0" marL="0">
              <a:buNone/>
            </a:pPr>
            <a:r>
              <a:rPr lang="en-US" sz="1350" b="1" dirty="0">
                <a:solidFill>
                  <a:srgbClr val="F2F3F8"/>
                </a:solidFill>
                <a:latin typeface="Arial" pitchFamily="34" charset="0"/>
                <a:ea typeface="Arial" pitchFamily="34" charset="-122"/>
                <a:cs typeface="Arial" pitchFamily="34" charset="-120"/>
              </a:rPr>
              <a:t>kind_evidence  ∈  source_page_text</a:t>
            </a:r>
            <a:endParaRPr lang="en-US" sz="1350" dirty="0"/>
          </a:p>
        </p:txBody>
      </p:sp>
      <p:sp>
        <p:nvSpPr>
          <p:cNvPr id="17" name="Text 15"/>
          <p:cNvSpPr txBox="1"/>
          <p:nvPr/>
        </p:nvSpPr>
        <p:spPr>
          <a:xfrm>
            <a:off x="7269480" y="4078224"/>
            <a:ext cx="4114800" cy="1463040"/>
          </a:xfrm>
          <a:prstGeom prst="rect">
            <a:avLst/>
          </a:prstGeom>
          <a:noFill/>
          <a:ln/>
        </p:spPr>
        <p:txBody>
          <a:bodyPr wrap="square" lIns="0" tIns="0" rIns="0" bIns="0" rtlCol="0" anchor="t"/>
          <a:lstStyle/>
          <a:p>
            <a:pPr indent="0" marL="0">
              <a:lnSpc>
                <a:spcPct val="118000"/>
              </a:lnSpc>
              <a:buNone/>
            </a:pPr>
            <a:r>
              <a:rPr lang="en-US" sz="1150" dirty="0">
                <a:solidFill>
                  <a:srgbClr val="9BA1C1"/>
                </a:solidFill>
                <a:latin typeface="Arial" pitchFamily="34" charset="0"/>
                <a:ea typeface="Arial" pitchFamily="34" charset="-122"/>
                <a:cs typeface="Arial" pitchFamily="34" charset="-120"/>
              </a:rPr>
              <a:t>When reading a size chart, the agent must quote the exact words on the page that justify its answer. If the quote is not really there, the answer is rejected — so the field that matters most cannot be claimed without proof.</a:t>
            </a:r>
            <a:endParaRPr lang="en-US" sz="1150" dirty="0"/>
          </a:p>
        </p:txBody>
      </p:sp>
      <p:sp>
        <p:nvSpPr>
          <p:cNvPr id="18" name="Text 16"/>
          <p:cNvSpPr txBox="1"/>
          <p:nvPr/>
        </p:nvSpPr>
        <p:spPr>
          <a:xfrm>
            <a:off x="502920" y="6053328"/>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Both turn “does this look right?” into a test a computer runs. That is the practical payoff of keeping the maths in ordinary code.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DEPLOYMENT</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What runs where</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Vercel and Supabase carry the product. One layer cannot live on either of them.</a:t>
            </a:r>
            <a:endParaRPr lang="en-US" sz="1300" dirty="0"/>
          </a:p>
        </p:txBody>
      </p:sp>
      <p:sp>
        <p:nvSpPr>
          <p:cNvPr id="5" name="Shape 3"/>
          <p:cNvSpPr/>
          <p:nvPr/>
        </p:nvSpPr>
        <p:spPr>
          <a:xfrm>
            <a:off x="1737360" y="1572768"/>
            <a:ext cx="8138160" cy="841248"/>
          </a:xfrm>
          <a:prstGeom prst="roundRect">
            <a:avLst>
              <a:gd name="adj" fmla="val 5435"/>
            </a:avLst>
          </a:prstGeom>
          <a:solidFill>
            <a:srgbClr val="252943"/>
          </a:solidFill>
          <a:ln w="12700">
            <a:solidFill>
              <a:srgbClr val="6E7699"/>
            </a:solidFill>
            <a:prstDash val="solid"/>
          </a:ln>
        </p:spPr>
      </p:sp>
      <p:sp>
        <p:nvSpPr>
          <p:cNvPr id="6" name="Text 4"/>
          <p:cNvSpPr txBox="1"/>
          <p:nvPr/>
        </p:nvSpPr>
        <p:spPr>
          <a:xfrm>
            <a:off x="2011680" y="1700784"/>
            <a:ext cx="7589520" cy="292608"/>
          </a:xfrm>
          <a:prstGeom prst="rect">
            <a:avLst/>
          </a:prstGeom>
          <a:noFill/>
          <a:ln/>
        </p:spPr>
        <p:txBody>
          <a:bodyPr wrap="square" lIns="0" tIns="0" rIns="0" bIns="0" rtlCol="0" anchor="ctr"/>
          <a:lstStyle/>
          <a:p>
            <a:pPr indent="0" marL="0">
              <a:buNone/>
            </a:pPr>
            <a:r>
              <a:rPr lang="en-US" sz="1500" b="1" dirty="0">
                <a:solidFill>
                  <a:srgbClr val="F2F3F8"/>
                </a:solidFill>
                <a:latin typeface="Arial" pitchFamily="34" charset="0"/>
                <a:ea typeface="Arial" pitchFamily="34" charset="-122"/>
                <a:cs typeface="Arial" pitchFamily="34" charset="-120"/>
              </a:rPr>
              <a:t>Browser · Next.js on Vercel</a:t>
            </a:r>
            <a:endParaRPr lang="en-US" sz="1500" dirty="0"/>
          </a:p>
        </p:txBody>
      </p:sp>
      <p:sp>
        <p:nvSpPr>
          <p:cNvPr id="7" name="Text 5"/>
          <p:cNvSpPr txBox="1"/>
          <p:nvPr/>
        </p:nvSpPr>
        <p:spPr>
          <a:xfrm>
            <a:off x="2011680" y="1993392"/>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the screens · sign-in · starts the work</a:t>
            </a:r>
            <a:endParaRPr lang="en-US" sz="1100" dirty="0"/>
          </a:p>
        </p:txBody>
      </p:sp>
      <p:sp>
        <p:nvSpPr>
          <p:cNvPr id="8" name="Shape 6"/>
          <p:cNvSpPr/>
          <p:nvPr/>
        </p:nvSpPr>
        <p:spPr>
          <a:xfrm>
            <a:off x="1737360" y="2798064"/>
            <a:ext cx="8138160" cy="841248"/>
          </a:xfrm>
          <a:prstGeom prst="roundRect">
            <a:avLst>
              <a:gd name="adj" fmla="val 5435"/>
            </a:avLst>
          </a:prstGeom>
          <a:solidFill>
            <a:srgbClr val="1F3A34"/>
          </a:solidFill>
          <a:ln w="19050">
            <a:solidFill>
              <a:srgbClr val="6FC095"/>
            </a:solidFill>
            <a:prstDash val="solid"/>
          </a:ln>
        </p:spPr>
      </p:sp>
      <p:sp>
        <p:nvSpPr>
          <p:cNvPr id="9" name="Text 7"/>
          <p:cNvSpPr txBox="1"/>
          <p:nvPr/>
        </p:nvSpPr>
        <p:spPr>
          <a:xfrm>
            <a:off x="2011680" y="2926080"/>
            <a:ext cx="7589520" cy="292608"/>
          </a:xfrm>
          <a:prstGeom prst="rect">
            <a:avLst/>
          </a:prstGeom>
          <a:noFill/>
          <a:ln/>
        </p:spPr>
        <p:txBody>
          <a:bodyPr wrap="square" lIns="0" tIns="0" rIns="0" bIns="0" rtlCol="0" anchor="ctr"/>
          <a:lstStyle/>
          <a:p>
            <a:pPr indent="0" marL="0">
              <a:buNone/>
            </a:pPr>
            <a:r>
              <a:rPr lang="en-US" sz="1500" b="1" dirty="0">
                <a:solidFill>
                  <a:srgbClr val="6FC095"/>
                </a:solidFill>
                <a:latin typeface="Arial" pitchFamily="34" charset="0"/>
                <a:ea typeface="Arial" pitchFamily="34" charset="-122"/>
                <a:cs typeface="Arial" pitchFamily="34" charset="-120"/>
              </a:rPr>
              <a:t>Supabase · eu-central-1</a:t>
            </a:r>
            <a:endParaRPr lang="en-US" sz="1500" dirty="0"/>
          </a:p>
        </p:txBody>
      </p:sp>
      <p:sp>
        <p:nvSpPr>
          <p:cNvPr id="10" name="Text 8"/>
          <p:cNvSpPr txBox="1"/>
          <p:nvPr/>
        </p:nvSpPr>
        <p:spPr>
          <a:xfrm>
            <a:off x="2011680" y="3218688"/>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database · sign-in · private file storage · live updates · finds similar bodies</a:t>
            </a:r>
            <a:endParaRPr lang="en-US" sz="1100" dirty="0"/>
          </a:p>
        </p:txBody>
      </p:sp>
      <p:sp>
        <p:nvSpPr>
          <p:cNvPr id="11" name="Shape 9"/>
          <p:cNvSpPr/>
          <p:nvPr/>
        </p:nvSpPr>
        <p:spPr>
          <a:xfrm>
            <a:off x="1737360" y="4023360"/>
            <a:ext cx="8138160" cy="1005840"/>
          </a:xfrm>
          <a:prstGeom prst="roundRect">
            <a:avLst>
              <a:gd name="adj" fmla="val 4545"/>
            </a:avLst>
          </a:prstGeom>
          <a:solidFill>
            <a:srgbClr val="223050"/>
          </a:solidFill>
          <a:ln w="19050">
            <a:solidFill>
              <a:srgbClr val="83B4DE"/>
            </a:solidFill>
            <a:prstDash val="solid"/>
          </a:ln>
        </p:spPr>
      </p:sp>
      <p:sp>
        <p:nvSpPr>
          <p:cNvPr id="12" name="Text 10"/>
          <p:cNvSpPr txBox="1"/>
          <p:nvPr/>
        </p:nvSpPr>
        <p:spPr>
          <a:xfrm>
            <a:off x="2011680" y="4133088"/>
            <a:ext cx="7589520" cy="292608"/>
          </a:xfrm>
          <a:prstGeom prst="rect">
            <a:avLst/>
          </a:prstGeom>
          <a:noFill/>
          <a:ln/>
        </p:spPr>
        <p:txBody>
          <a:bodyPr wrap="square" lIns="0" tIns="0" rIns="0" bIns="0" rtlCol="0" anchor="ctr"/>
          <a:lstStyle/>
          <a:p>
            <a:pPr indent="0" marL="0">
              <a:buNone/>
            </a:pPr>
            <a:r>
              <a:rPr lang="en-US" sz="1500" b="1" dirty="0">
                <a:solidFill>
                  <a:srgbClr val="83B4DE"/>
                </a:solidFill>
                <a:latin typeface="Arial" pitchFamily="34" charset="0"/>
                <a:ea typeface="Arial" pitchFamily="34" charset="-122"/>
                <a:cs typeface="Arial" pitchFamily="34" charset="-120"/>
              </a:rPr>
              <a:t>Modal · the heavy lifting, running only when needed</a:t>
            </a:r>
            <a:endParaRPr lang="en-US" sz="1500" dirty="0"/>
          </a:p>
        </p:txBody>
      </p:sp>
      <p:sp>
        <p:nvSpPr>
          <p:cNvPr id="13" name="Text 11"/>
          <p:cNvSpPr txBox="1"/>
          <p:nvPr/>
        </p:nvSpPr>
        <p:spPr>
          <a:xfrm>
            <a:off x="2011680" y="4425696"/>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3D body fit · measurements · the size calculator · the six agents</a:t>
            </a:r>
            <a:endParaRPr lang="en-US" sz="1100" dirty="0"/>
          </a:p>
        </p:txBody>
      </p:sp>
      <p:sp>
        <p:nvSpPr>
          <p:cNvPr id="14" name="Text 12"/>
          <p:cNvSpPr txBox="1"/>
          <p:nvPr/>
        </p:nvSpPr>
        <p:spPr>
          <a:xfrm>
            <a:off x="2011680" y="4663440"/>
            <a:ext cx="7589520" cy="256032"/>
          </a:xfrm>
          <a:prstGeom prst="rect">
            <a:avLst/>
          </a:prstGeom>
          <a:noFill/>
          <a:ln/>
        </p:spPr>
        <p:txBody>
          <a:bodyPr wrap="square" lIns="0" tIns="0" rIns="0" bIns="0" rtlCol="0" anchor="ctr"/>
          <a:lstStyle/>
          <a:p>
            <a:pPr indent="0" marL="0">
              <a:buNone/>
            </a:pPr>
            <a:r>
              <a:rPr lang="en-US" sz="1100" i="1" dirty="0">
                <a:solidFill>
                  <a:srgbClr val="E0A458"/>
                </a:solidFill>
                <a:latin typeface="Arial" pitchFamily="34" charset="0"/>
                <a:ea typeface="Arial" pitchFamily="34" charset="-122"/>
                <a:cs typeface="Arial" pitchFamily="34" charset="-120"/>
              </a:rPr>
              <a:t>agents call the Anthropic API — Haiku 4.5 at volume, Opus 5 for reasoning and judging</a:t>
            </a:r>
            <a:endParaRPr lang="en-US" sz="1100" dirty="0"/>
          </a:p>
        </p:txBody>
      </p:sp>
      <p:sp>
        <p:nvSpPr>
          <p:cNvPr id="15" name="Shape 13"/>
          <p:cNvSpPr/>
          <p:nvPr/>
        </p:nvSpPr>
        <p:spPr>
          <a:xfrm>
            <a:off x="1325880" y="2103120"/>
            <a:ext cx="0" cy="1920240"/>
          </a:xfrm>
          <a:prstGeom prst="line">
            <a:avLst/>
          </a:prstGeom>
          <a:noFill/>
          <a:ln w="15875">
            <a:solidFill>
              <a:srgbClr val="9BA1C1"/>
            </a:solidFill>
            <a:prstDash val="solid"/>
          </a:ln>
        </p:spPr>
      </p:sp>
      <p:sp>
        <p:nvSpPr>
          <p:cNvPr id="16" name="Shape 14"/>
          <p:cNvSpPr/>
          <p:nvPr/>
        </p:nvSpPr>
        <p:spPr>
          <a:xfrm>
            <a:off x="1325880" y="2103120"/>
            <a:ext cx="365760" cy="0"/>
          </a:xfrm>
          <a:prstGeom prst="line">
            <a:avLst/>
          </a:prstGeom>
          <a:noFill/>
          <a:ln w="15875">
            <a:solidFill>
              <a:srgbClr val="9BA1C1"/>
            </a:solidFill>
            <a:prstDash val="solid"/>
          </a:ln>
        </p:spPr>
      </p:sp>
      <p:sp>
        <p:nvSpPr>
          <p:cNvPr id="17" name="Shape 15"/>
          <p:cNvSpPr/>
          <p:nvPr/>
        </p:nvSpPr>
        <p:spPr>
          <a:xfrm>
            <a:off x="1325880" y="4023360"/>
            <a:ext cx="365760" cy="0"/>
          </a:xfrm>
          <a:prstGeom prst="line">
            <a:avLst/>
          </a:prstGeom>
          <a:noFill/>
          <a:ln w="15875">
            <a:solidFill>
              <a:srgbClr val="9BA1C1"/>
            </a:solidFill>
            <a:prstDash val="solid"/>
            <a:tailEnd type="triangle"/>
          </a:ln>
        </p:spPr>
      </p:sp>
      <p:sp>
        <p:nvSpPr>
          <p:cNvPr id="18" name="Text 16"/>
          <p:cNvSpPr txBox="1"/>
          <p:nvPr/>
        </p:nvSpPr>
        <p:spPr>
          <a:xfrm>
            <a:off x="457200" y="2816352"/>
            <a:ext cx="841248" cy="457200"/>
          </a:xfrm>
          <a:prstGeom prst="rect">
            <a:avLst/>
          </a:prstGeom>
          <a:noFill/>
          <a:ln/>
        </p:spPr>
        <p:txBody>
          <a:bodyPr wrap="square" lIns="0" tIns="0" rIns="0" bIns="0" rtlCol="0" anchor="ctr"/>
          <a:lstStyle/>
          <a:p>
            <a:pPr indent="0" marL="0">
              <a:buNone/>
            </a:pPr>
            <a:r>
              <a:rPr lang="en-US" sz="950" i="1" dirty="0">
                <a:solidFill>
                  <a:srgbClr val="9BA1C1"/>
                </a:solidFill>
                <a:latin typeface="Arial" pitchFamily="34" charset="0"/>
                <a:ea typeface="Arial" pitchFamily="34" charset="-122"/>
                <a:cs typeface="Arial" pitchFamily="34" charset="-120"/>
              </a:rPr>
              <a:t>starts the work</a:t>
            </a:r>
            <a:endParaRPr lang="en-US" sz="950" dirty="0"/>
          </a:p>
        </p:txBody>
      </p:sp>
      <p:sp>
        <p:nvSpPr>
          <p:cNvPr id="19" name="Shape 17"/>
          <p:cNvSpPr/>
          <p:nvPr/>
        </p:nvSpPr>
        <p:spPr>
          <a:xfrm>
            <a:off x="10149840" y="3639312"/>
            <a:ext cx="0" cy="384048"/>
          </a:xfrm>
          <a:prstGeom prst="line">
            <a:avLst/>
          </a:prstGeom>
          <a:noFill/>
          <a:ln w="15875">
            <a:solidFill>
              <a:srgbClr val="83B4DE"/>
            </a:solidFill>
            <a:prstDash val="solid"/>
            <a:headEnd type="triangle"/>
          </a:ln>
        </p:spPr>
      </p:sp>
      <p:sp>
        <p:nvSpPr>
          <p:cNvPr id="20" name="Text 18"/>
          <p:cNvSpPr txBox="1"/>
          <p:nvPr/>
        </p:nvSpPr>
        <p:spPr>
          <a:xfrm>
            <a:off x="10378440" y="3639312"/>
            <a:ext cx="1325880" cy="384048"/>
          </a:xfrm>
          <a:prstGeom prst="rect">
            <a:avLst/>
          </a:prstGeom>
          <a:noFill/>
          <a:ln/>
        </p:spPr>
        <p:txBody>
          <a:bodyPr wrap="square" lIns="0" tIns="0" rIns="0" bIns="0" rtlCol="0" anchor="ctr"/>
          <a:lstStyle/>
          <a:p>
            <a:pPr indent="0" marL="0">
              <a:buNone/>
            </a:pPr>
            <a:r>
              <a:rPr lang="en-US" sz="950" i="1" dirty="0">
                <a:solidFill>
                  <a:srgbClr val="83B4DE"/>
                </a:solidFill>
                <a:latin typeface="Arial" pitchFamily="34" charset="0"/>
                <a:ea typeface="Arial" pitchFamily="34" charset="-122"/>
                <a:cs typeface="Arial" pitchFamily="34" charset="-120"/>
              </a:rPr>
              <a:t>saves progress</a:t>
            </a:r>
            <a:endParaRPr lang="en-US" sz="950" dirty="0"/>
          </a:p>
        </p:txBody>
      </p:sp>
      <p:sp>
        <p:nvSpPr>
          <p:cNvPr id="21" name="Shape 19"/>
          <p:cNvSpPr/>
          <p:nvPr/>
        </p:nvSpPr>
        <p:spPr>
          <a:xfrm>
            <a:off x="10149840" y="2414016"/>
            <a:ext cx="0" cy="384048"/>
          </a:xfrm>
          <a:prstGeom prst="line">
            <a:avLst/>
          </a:prstGeom>
          <a:noFill/>
          <a:ln w="15875">
            <a:solidFill>
              <a:srgbClr val="6FC095"/>
            </a:solidFill>
            <a:prstDash val="solid"/>
            <a:headEnd type="triangle"/>
          </a:ln>
        </p:spPr>
      </p:sp>
      <p:sp>
        <p:nvSpPr>
          <p:cNvPr id="22" name="Text 20"/>
          <p:cNvSpPr txBox="1"/>
          <p:nvPr/>
        </p:nvSpPr>
        <p:spPr>
          <a:xfrm>
            <a:off x="10378440" y="2414016"/>
            <a:ext cx="1325880" cy="384048"/>
          </a:xfrm>
          <a:prstGeom prst="rect">
            <a:avLst/>
          </a:prstGeom>
          <a:noFill/>
          <a:ln/>
        </p:spPr>
        <p:txBody>
          <a:bodyPr wrap="square" lIns="0" tIns="0" rIns="0" bIns="0" rtlCol="0" anchor="ctr"/>
          <a:lstStyle/>
          <a:p>
            <a:pPr indent="0" marL="0">
              <a:buNone/>
            </a:pPr>
            <a:r>
              <a:rPr lang="en-US" sz="950" i="1" dirty="0">
                <a:solidFill>
                  <a:srgbClr val="6FC095"/>
                </a:solidFill>
                <a:latin typeface="Arial" pitchFamily="34" charset="0"/>
                <a:ea typeface="Arial" pitchFamily="34" charset="-122"/>
                <a:cs typeface="Arial" pitchFamily="34" charset="-120"/>
              </a:rPr>
              <a:t>live updates</a:t>
            </a:r>
            <a:endParaRPr lang="en-US" sz="950" dirty="0"/>
          </a:p>
        </p:txBody>
      </p:sp>
      <p:sp>
        <p:nvSpPr>
          <p:cNvPr id="23" name="Shape 21"/>
          <p:cNvSpPr/>
          <p:nvPr/>
        </p:nvSpPr>
        <p:spPr>
          <a:xfrm>
            <a:off x="502920" y="5285232"/>
            <a:ext cx="11185855" cy="896112"/>
          </a:xfrm>
          <a:prstGeom prst="roundRect">
            <a:avLst>
              <a:gd name="adj" fmla="val 6122"/>
            </a:avLst>
          </a:prstGeom>
          <a:solidFill>
            <a:srgbClr val="3A2530"/>
          </a:solidFill>
          <a:ln w="19050">
            <a:solidFill>
              <a:srgbClr val="EC8079"/>
            </a:solidFill>
            <a:prstDash val="solid"/>
          </a:ln>
        </p:spPr>
      </p:sp>
      <p:sp>
        <p:nvSpPr>
          <p:cNvPr id="24" name="Text 22"/>
          <p:cNvSpPr txBox="1"/>
          <p:nvPr/>
        </p:nvSpPr>
        <p:spPr>
          <a:xfrm>
            <a:off x="777240" y="5394960"/>
            <a:ext cx="3840480" cy="256032"/>
          </a:xfrm>
          <a:prstGeom prst="rect">
            <a:avLst/>
          </a:prstGeom>
          <a:noFill/>
          <a:ln/>
        </p:spPr>
        <p:txBody>
          <a:bodyPr wrap="square" lIns="0" tIns="0" rIns="0" bIns="0" rtlCol="0" anchor="ctr"/>
          <a:lstStyle/>
          <a:p>
            <a:pPr indent="0" marL="0">
              <a:buNone/>
            </a:pPr>
            <a:r>
              <a:rPr lang="en-US" sz="1250" b="1" dirty="0">
                <a:solidFill>
                  <a:srgbClr val="EC8079"/>
                </a:solidFill>
                <a:latin typeface="Arial" pitchFamily="34" charset="0"/>
                <a:ea typeface="Arial" pitchFamily="34" charset="-122"/>
                <a:cs typeface="Arial" pitchFamily="34" charset="-120"/>
              </a:rPr>
              <a:t>Why the worker is not on Vercel</a:t>
            </a:r>
            <a:endParaRPr lang="en-US" sz="1250" dirty="0"/>
          </a:p>
        </p:txBody>
      </p:sp>
      <p:sp>
        <p:nvSpPr>
          <p:cNvPr id="25" name="Text 23"/>
          <p:cNvSpPr txBox="1"/>
          <p:nvPr/>
        </p:nvSpPr>
        <p:spPr>
          <a:xfrm>
            <a:off x="777240" y="5669280"/>
            <a:ext cx="10637215" cy="402336"/>
          </a:xfrm>
          <a:prstGeom prst="rect">
            <a:avLst/>
          </a:prstGeom>
          <a:noFill/>
          <a:ln/>
        </p:spPr>
        <p:txBody>
          <a:bodyPr wrap="square" lIns="0" tIns="0" rIns="0" bIns="0" rtlCol="0" anchor="ctr"/>
          <a:lstStyle/>
          <a:p>
            <a:pPr indent="0" marL="0">
              <a:buNone/>
            </a:pPr>
            <a:r>
              <a:rPr lang="en-US" sz="1200" dirty="0">
                <a:solidFill>
                  <a:srgbClr val="F2F3F8"/>
                </a:solidFill>
                <a:latin typeface="Arial" pitchFamily="34" charset="0"/>
                <a:ea typeface="Arial" pitchFamily="34" charset="-122"/>
                <a:cs typeface="Arial" pitchFamily="34" charset="-120"/>
              </a:rPr>
              <a:t>The 3D fitting libraries alone are bigger than a Vercel function is allowed to be, and working through hundreds of frames takes minutes. Not something to optimise — the wrong kind of machine.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ONE IDEA</a:t>
            </a:r>
            <a:endParaRPr lang="en-US" sz="950" dirty="0"/>
          </a:p>
        </p:txBody>
      </p:sp>
      <p:sp>
        <p:nvSpPr>
          <p:cNvPr id="3" name="Text 1"/>
          <p:cNvSpPr txBox="1"/>
          <p:nvPr/>
        </p:nvSpPr>
        <p:spPr>
          <a:xfrm>
            <a:off x="502920" y="868680"/>
            <a:ext cx="10789920" cy="1280160"/>
          </a:xfrm>
          <a:prstGeom prst="rect">
            <a:avLst/>
          </a:prstGeom>
          <a:noFill/>
          <a:ln/>
        </p:spPr>
        <p:txBody>
          <a:bodyPr wrap="square" lIns="0" tIns="0" rIns="0" bIns="0" rtlCol="0" anchor="ctr"/>
          <a:lstStyle/>
          <a:p>
            <a:pPr indent="0" marL="0">
              <a:lnSpc>
                <a:spcPct val="112000"/>
              </a:lnSpc>
              <a:buNone/>
            </a:pPr>
            <a:r>
              <a:rPr lang="en-US" sz="3100" b="1" dirty="0">
                <a:solidFill>
                  <a:srgbClr val="F2F3F8"/>
                </a:solidFill>
                <a:latin typeface="Arial" pitchFamily="34" charset="0"/>
                <a:ea typeface="Arial" pitchFamily="34" charset="-122"/>
                <a:cs typeface="Arial" pitchFamily="34" charset="-120"/>
              </a:rPr>
              <a:t>The interface exposes the machinery</a:t>
            </a:r>
            <a:endParaRPr lang="en-US" sz="3100" dirty="0"/>
          </a:p>
          <a:p>
            <a:pPr indent="0" marL="0">
              <a:lnSpc>
                <a:spcPct val="112000"/>
              </a:lnSpc>
              <a:buNone/>
            </a:pPr>
            <a:r>
              <a:rPr lang="en-US" sz="3100" b="1" dirty="0">
                <a:solidFill>
                  <a:srgbClr val="F2F3F8"/>
                </a:solidFill>
                <a:latin typeface="Arial" pitchFamily="34" charset="0"/>
                <a:ea typeface="Arial" pitchFamily="34" charset="-122"/>
                <a:cs typeface="Arial" pitchFamily="34" charset="-120"/>
              </a:rPr>
              <a:t>instead of hiding it.</a:t>
            </a:r>
            <a:endParaRPr lang="en-US" sz="3100" dirty="0"/>
          </a:p>
        </p:txBody>
      </p:sp>
      <p:sp>
        <p:nvSpPr>
          <p:cNvPr id="4" name="Text 2"/>
          <p:cNvSpPr txBox="1"/>
          <p:nvPr/>
        </p:nvSpPr>
        <p:spPr>
          <a:xfrm>
            <a:off x="502920" y="2240280"/>
            <a:ext cx="8778240" cy="914400"/>
          </a:xfrm>
          <a:prstGeom prst="rect">
            <a:avLst/>
          </a:prstGeom>
          <a:noFill/>
          <a:ln/>
        </p:spPr>
        <p:txBody>
          <a:bodyPr wrap="square" lIns="0" tIns="0" rIns="0" bIns="0" rtlCol="0" anchor="ctr"/>
          <a:lstStyle/>
          <a:p>
            <a:pPr indent="0" marL="0">
              <a:lnSpc>
                <a:spcPct val="130000"/>
              </a:lnSpc>
              <a:buNone/>
            </a:pPr>
            <a:r>
              <a:rPr lang="en-US" sz="1400" dirty="0">
                <a:solidFill>
                  <a:srgbClr val="9BA1C1"/>
                </a:solidFill>
                <a:latin typeface="Arial" pitchFamily="34" charset="0"/>
                <a:ea typeface="Arial" pitchFamily="34" charset="-122"/>
                <a:cs typeface="Arial" pitchFamily="34" charset="-120"/>
              </a:rPr>
              <a:t>This is a master's project in AI, so the system is the subject. A pretty wizard that hides six agents behind a spinner would show nothing to the examiners — and would also be a worse product, because a size recommendation nobody can interrogate is a size recommendation nobody trusts.</a:t>
            </a:r>
            <a:endParaRPr lang="en-US" sz="1400" dirty="0"/>
          </a:p>
        </p:txBody>
      </p:sp>
      <p:sp>
        <p:nvSpPr>
          <p:cNvPr id="5" name="Shape 3"/>
          <p:cNvSpPr/>
          <p:nvPr/>
        </p:nvSpPr>
        <p:spPr>
          <a:xfrm>
            <a:off x="502920" y="3383280"/>
            <a:ext cx="5394960" cy="2468880"/>
          </a:xfrm>
          <a:prstGeom prst="roundRect">
            <a:avLst>
              <a:gd name="adj" fmla="val 2222"/>
            </a:avLst>
          </a:prstGeom>
          <a:solidFill>
            <a:srgbClr val="252943"/>
          </a:solidFill>
          <a:ln w="12700">
            <a:solidFill>
              <a:srgbClr val="252943"/>
            </a:solidFill>
            <a:prstDash val="solid"/>
          </a:ln>
        </p:spPr>
      </p:sp>
      <p:sp>
        <p:nvSpPr>
          <p:cNvPr id="6" name="Shape 4"/>
          <p:cNvSpPr/>
          <p:nvPr/>
        </p:nvSpPr>
        <p:spPr>
          <a:xfrm>
            <a:off x="832104" y="3639312"/>
            <a:ext cx="146304" cy="146304"/>
          </a:xfrm>
          <a:prstGeom prst="ellipse">
            <a:avLst/>
          </a:prstGeom>
          <a:solidFill>
            <a:srgbClr val="EC8079"/>
          </a:solidFill>
          <a:ln w="12700">
            <a:solidFill>
              <a:srgbClr val="EC8079"/>
            </a:solidFill>
            <a:prstDash val="solid"/>
          </a:ln>
        </p:spPr>
      </p:sp>
      <p:sp>
        <p:nvSpPr>
          <p:cNvPr id="7" name="Text 5"/>
          <p:cNvSpPr txBox="1"/>
          <p:nvPr/>
        </p:nvSpPr>
        <p:spPr>
          <a:xfrm>
            <a:off x="1088136" y="3566160"/>
            <a:ext cx="4480560" cy="292608"/>
          </a:xfrm>
          <a:prstGeom prst="rect">
            <a:avLst/>
          </a:prstGeom>
          <a:noFill/>
          <a:ln/>
        </p:spPr>
        <p:txBody>
          <a:bodyPr wrap="square" lIns="0" tIns="0" rIns="0" bIns="0" rtlCol="0" anchor="ctr"/>
          <a:lstStyle/>
          <a:p>
            <a:pPr indent="0" marL="0">
              <a:buNone/>
            </a:pPr>
            <a:r>
              <a:rPr lang="en-US" sz="1600" b="1" dirty="0">
                <a:solidFill>
                  <a:srgbClr val="EC8079"/>
                </a:solidFill>
                <a:latin typeface="Arial" pitchFamily="34" charset="0"/>
                <a:ea typeface="Arial" pitchFamily="34" charset="-122"/>
                <a:cs typeface="Arial" pitchFamily="34" charset="-120"/>
              </a:rPr>
              <a:t>What most demos do</a:t>
            </a:r>
            <a:endParaRPr lang="en-US" sz="1600" dirty="0"/>
          </a:p>
        </p:txBody>
      </p:sp>
      <p:sp>
        <p:nvSpPr>
          <p:cNvPr id="8" name="Text 6"/>
          <p:cNvSpPr txBox="1"/>
          <p:nvPr/>
        </p:nvSpPr>
        <p:spPr>
          <a:xfrm>
            <a:off x="832104" y="4023360"/>
            <a:ext cx="4754880" cy="17373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A chat box</a:t>
            </a:r>
            <a:endParaRPr lang="en-US" sz="1250" dirty="0"/>
          </a:p>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A spinner while something happens</a:t>
            </a:r>
            <a:endParaRPr lang="en-US" sz="1250" dirty="0"/>
          </a:p>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One answer, and no way to question it</a:t>
            </a:r>
            <a:endParaRPr lang="en-US" sz="1250" dirty="0"/>
          </a:p>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The workings are hidden</a:t>
            </a:r>
            <a:endParaRPr lang="en-US" sz="1250" dirty="0"/>
          </a:p>
        </p:txBody>
      </p:sp>
      <p:sp>
        <p:nvSpPr>
          <p:cNvPr id="9" name="Shape 7"/>
          <p:cNvSpPr/>
          <p:nvPr/>
        </p:nvSpPr>
        <p:spPr>
          <a:xfrm>
            <a:off x="6281928" y="3383280"/>
            <a:ext cx="5394960" cy="2468880"/>
          </a:xfrm>
          <a:prstGeom prst="roundRect">
            <a:avLst>
              <a:gd name="adj" fmla="val 2222"/>
            </a:avLst>
          </a:prstGeom>
          <a:solidFill>
            <a:srgbClr val="252943"/>
          </a:solidFill>
          <a:ln w="12700">
            <a:solidFill>
              <a:srgbClr val="252943"/>
            </a:solidFill>
            <a:prstDash val="solid"/>
          </a:ln>
        </p:spPr>
      </p:sp>
      <p:sp>
        <p:nvSpPr>
          <p:cNvPr id="10" name="Shape 8"/>
          <p:cNvSpPr/>
          <p:nvPr/>
        </p:nvSpPr>
        <p:spPr>
          <a:xfrm>
            <a:off x="6611112" y="3639312"/>
            <a:ext cx="146304" cy="146304"/>
          </a:xfrm>
          <a:prstGeom prst="ellipse">
            <a:avLst/>
          </a:prstGeom>
          <a:solidFill>
            <a:srgbClr val="6FC095"/>
          </a:solidFill>
          <a:ln w="12700">
            <a:solidFill>
              <a:srgbClr val="6FC095"/>
            </a:solidFill>
            <a:prstDash val="solid"/>
          </a:ln>
        </p:spPr>
      </p:sp>
      <p:sp>
        <p:nvSpPr>
          <p:cNvPr id="11" name="Text 9"/>
          <p:cNvSpPr txBox="1"/>
          <p:nvPr/>
        </p:nvSpPr>
        <p:spPr>
          <a:xfrm>
            <a:off x="6867144" y="3566160"/>
            <a:ext cx="4480560" cy="292608"/>
          </a:xfrm>
          <a:prstGeom prst="rect">
            <a:avLst/>
          </a:prstGeom>
          <a:noFill/>
          <a:ln/>
        </p:spPr>
        <p:txBody>
          <a:bodyPr wrap="square" lIns="0" tIns="0" rIns="0" bIns="0" rtlCol="0" anchor="ctr"/>
          <a:lstStyle/>
          <a:p>
            <a:pPr indent="0" marL="0">
              <a:buNone/>
            </a:pPr>
            <a:r>
              <a:rPr lang="en-US" sz="1600" b="1" dirty="0">
                <a:solidFill>
                  <a:srgbClr val="6FC095"/>
                </a:solidFill>
                <a:latin typeface="Arial" pitchFamily="34" charset="0"/>
                <a:ea typeface="Arial" pitchFamily="34" charset="-122"/>
                <a:cs typeface="Arial" pitchFamily="34" charset="-120"/>
              </a:rPr>
              <a:t>What these screens do</a:t>
            </a:r>
            <a:endParaRPr lang="en-US" sz="1600" dirty="0"/>
          </a:p>
        </p:txBody>
      </p:sp>
      <p:sp>
        <p:nvSpPr>
          <p:cNvPr id="12" name="Text 10"/>
          <p:cNvSpPr txBox="1"/>
          <p:nvPr/>
        </p:nvSpPr>
        <p:spPr>
          <a:xfrm>
            <a:off x="6611112" y="4023360"/>
            <a:ext cx="4754880" cy="17373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Each check, and what it actually measured</a:t>
            </a:r>
            <a:endParaRPr lang="en-US" sz="1250" dirty="0"/>
          </a:p>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What every step did, how long it took, what it cost</a:t>
            </a:r>
            <a:endParaRPr lang="en-US" sz="1250" dirty="0"/>
          </a:p>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The reasoning as a chart, next to the words</a:t>
            </a:r>
            <a:endParaRPr lang="en-US" sz="1250" dirty="0"/>
          </a:p>
          <a:p>
            <a:pPr marL="342900" indent="-342900">
              <a:spcAft>
                <a:spcPts val="700"/>
              </a:spcAft>
              <a:buSzPct val="100000"/>
              <a:buChar char="•"/>
            </a:pPr>
            <a:r>
              <a:rPr lang="en-US" sz="1250" dirty="0">
                <a:solidFill>
                  <a:srgbClr val="F2F3F8"/>
                </a:solidFill>
                <a:latin typeface="Arial" pitchFamily="34" charset="0"/>
                <a:ea typeface="Arial" pitchFamily="34" charset="-122"/>
                <a:cs typeface="Arial" pitchFamily="34" charset="-120"/>
              </a:rPr>
              <a:t>Every claim checkable against the calculation</a:t>
            </a:r>
            <a:endParaRPr lang="en-US" sz="1250" dirty="0"/>
          </a:p>
        </p:txBody>
      </p:sp>
      <p:sp>
        <p:nvSpPr>
          <p:cNvPr id="13" name="Text 11"/>
          <p:cNvSpPr txBox="1"/>
          <p:nvPr/>
        </p:nvSpPr>
        <p:spPr>
          <a:xfrm>
            <a:off x="502920" y="6035040"/>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Screens 4 and 5 are the ones that carry this. If we cut anything, it should not be those.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OVERVIEW</a:t>
            </a:r>
            <a:endParaRPr lang="en-US" sz="950" dirty="0"/>
          </a:p>
        </p:txBody>
      </p:sp>
      <p:sp>
        <p:nvSpPr>
          <p:cNvPr id="3" name="Text 1"/>
          <p:cNvSpPr txBox="1"/>
          <p:nvPr/>
        </p:nvSpPr>
        <p:spPr>
          <a:xfrm>
            <a:off x="502920" y="384048"/>
            <a:ext cx="11185855" cy="548640"/>
          </a:xfrm>
          <a:prstGeom prst="rect">
            <a:avLst/>
          </a:prstGeom>
          <a:noFill/>
          <a:ln/>
        </p:spPr>
        <p:txBody>
          <a:bodyPr wrap="square" lIns="0" tIns="0" rIns="0" bIns="0" rtlCol="0" anchor="ctr"/>
          <a:lstStyle/>
          <a:p>
            <a:pPr indent="0" marL="0">
              <a:buNone/>
            </a:pPr>
            <a:r>
              <a:rPr lang="en-US" sz="2800" b="1" dirty="0">
                <a:solidFill>
                  <a:srgbClr val="F2F3F8"/>
                </a:solidFill>
                <a:latin typeface="Arial" pitchFamily="34" charset="0"/>
                <a:ea typeface="Arial" pitchFamily="34" charset="-122"/>
                <a:cs typeface="Arial" pitchFamily="34" charset="-120"/>
              </a:rPr>
              <a:t>Five screens, one session</a:t>
            </a:r>
            <a:endParaRPr lang="en-US" sz="2800" dirty="0"/>
          </a:p>
        </p:txBody>
      </p:sp>
      <p:sp>
        <p:nvSpPr>
          <p:cNvPr id="4" name="Text 2"/>
          <p:cNvSpPr txBox="1"/>
          <p:nvPr/>
        </p:nvSpPr>
        <p:spPr>
          <a:xfrm>
            <a:off x="502920" y="950976"/>
            <a:ext cx="11185855" cy="274320"/>
          </a:xfrm>
          <a:prstGeom prst="rect">
            <a:avLst/>
          </a:prstGeom>
          <a:noFill/>
          <a:ln/>
        </p:spPr>
        <p:txBody>
          <a:bodyPr wrap="square" lIns="0" tIns="0" rIns="0" bIns="0" rtlCol="0" anchor="ctr"/>
          <a:lstStyle/>
          <a:p>
            <a:pPr indent="0" marL="0">
              <a:buNone/>
            </a:pPr>
            <a:r>
              <a:rPr lang="en-US" sz="1300" dirty="0">
                <a:solidFill>
                  <a:srgbClr val="9BA1C1"/>
                </a:solidFill>
                <a:latin typeface="Arial" pitchFamily="34" charset="0"/>
                <a:ea typeface="Arial" pitchFamily="34" charset="-122"/>
                <a:cs typeface="Arial" pitchFamily="34" charset="-120"/>
              </a:rPr>
              <a:t>The same user, the same 12-second clip, followed from capture to a return that changes the next recommendation.</a:t>
            </a:r>
            <a:endParaRPr lang="en-US" sz="1300" dirty="0"/>
          </a:p>
        </p:txBody>
      </p:sp>
      <p:pic>
        <p:nvPicPr>
          <p:cNvPr id="5" name="Image 0" descr="shots/1-capture.png">    </p:cNvPr>
          <p:cNvPicPr>
            <a:picLocks noChangeAspect="1"/>
          </p:cNvPicPr>
          <p:nvPr/>
        </p:nvPicPr>
        <p:blipFill>
          <a:blip r:embed="rId1"/>
          <a:stretch>
            <a:fillRect/>
          </a:stretch>
        </p:blipFill>
        <p:spPr>
          <a:xfrm>
            <a:off x="502920" y="1481328"/>
            <a:ext cx="2130552" cy="1605371"/>
          </a:xfrm>
          <a:prstGeom prst="rect">
            <a:avLst/>
          </a:prstGeom>
        </p:spPr>
      </p:pic>
      <p:sp>
        <p:nvSpPr>
          <p:cNvPr id="6" name="Shape 3"/>
          <p:cNvSpPr/>
          <p:nvPr/>
        </p:nvSpPr>
        <p:spPr>
          <a:xfrm>
            <a:off x="502920" y="1481328"/>
            <a:ext cx="2130552" cy="1605371"/>
          </a:xfrm>
          <a:prstGeom prst="rect">
            <a:avLst/>
          </a:prstGeom>
          <a:ln w="12700">
            <a:solidFill>
              <a:srgbClr val="3B4166"/>
            </a:solidFill>
            <a:prstDash val="solid"/>
          </a:ln>
        </p:spPr>
      </p:sp>
      <p:sp>
        <p:nvSpPr>
          <p:cNvPr id="7" name="Shape 4"/>
          <p:cNvSpPr/>
          <p:nvPr/>
        </p:nvSpPr>
        <p:spPr>
          <a:xfrm>
            <a:off x="502920" y="3233003"/>
            <a:ext cx="310896" cy="310896"/>
          </a:xfrm>
          <a:prstGeom prst="ellipse">
            <a:avLst/>
          </a:prstGeom>
          <a:solidFill>
            <a:srgbClr val="83B4DE"/>
          </a:solidFill>
          <a:ln w="12700">
            <a:solidFill>
              <a:srgbClr val="83B4DE"/>
            </a:solidFill>
            <a:prstDash val="solid"/>
          </a:ln>
        </p:spPr>
      </p:sp>
      <p:sp>
        <p:nvSpPr>
          <p:cNvPr id="8" name="Text 5"/>
          <p:cNvSpPr txBox="1"/>
          <p:nvPr/>
        </p:nvSpPr>
        <p:spPr>
          <a:xfrm>
            <a:off x="502920" y="3233003"/>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9" name="Text 6"/>
          <p:cNvSpPr txBox="1"/>
          <p:nvPr/>
        </p:nvSpPr>
        <p:spPr>
          <a:xfrm>
            <a:off x="905256" y="3214715"/>
            <a:ext cx="1728216"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Capture</a:t>
            </a:r>
            <a:endParaRPr lang="en-US" sz="1300" dirty="0"/>
          </a:p>
        </p:txBody>
      </p:sp>
      <p:sp>
        <p:nvSpPr>
          <p:cNvPr id="10" name="Text 7"/>
          <p:cNvSpPr txBox="1"/>
          <p:nvPr/>
        </p:nvSpPr>
        <p:spPr>
          <a:xfrm>
            <a:off x="502920" y="3580475"/>
            <a:ext cx="2130552" cy="237744"/>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checks · hints · when to stop</a:t>
            </a:r>
            <a:endParaRPr lang="en-US" sz="1000" dirty="0"/>
          </a:p>
        </p:txBody>
      </p:sp>
      <p:pic>
        <p:nvPicPr>
          <p:cNvPr id="11" name="Image 1" descr="shots/2-profile.png">    </p:cNvPr>
          <p:cNvPicPr>
            <a:picLocks noChangeAspect="1"/>
          </p:cNvPicPr>
          <p:nvPr/>
        </p:nvPicPr>
        <p:blipFill>
          <a:blip r:embed="rId2"/>
          <a:stretch>
            <a:fillRect/>
          </a:stretch>
        </p:blipFill>
        <p:spPr>
          <a:xfrm>
            <a:off x="2761488" y="1481328"/>
            <a:ext cx="2130552" cy="1605371"/>
          </a:xfrm>
          <a:prstGeom prst="rect">
            <a:avLst/>
          </a:prstGeom>
        </p:spPr>
      </p:pic>
      <p:sp>
        <p:nvSpPr>
          <p:cNvPr id="12" name="Shape 8"/>
          <p:cNvSpPr/>
          <p:nvPr/>
        </p:nvSpPr>
        <p:spPr>
          <a:xfrm>
            <a:off x="2761488" y="1481328"/>
            <a:ext cx="2130552" cy="1605371"/>
          </a:xfrm>
          <a:prstGeom prst="rect">
            <a:avLst/>
          </a:prstGeom>
          <a:ln w="12700">
            <a:solidFill>
              <a:srgbClr val="3B4166"/>
            </a:solidFill>
            <a:prstDash val="solid"/>
          </a:ln>
        </p:spPr>
      </p:sp>
      <p:sp>
        <p:nvSpPr>
          <p:cNvPr id="13" name="Shape 9"/>
          <p:cNvSpPr/>
          <p:nvPr/>
        </p:nvSpPr>
        <p:spPr>
          <a:xfrm>
            <a:off x="2761488" y="3233003"/>
            <a:ext cx="310896" cy="310896"/>
          </a:xfrm>
          <a:prstGeom prst="ellipse">
            <a:avLst/>
          </a:prstGeom>
          <a:solidFill>
            <a:srgbClr val="83B4DE"/>
          </a:solidFill>
          <a:ln w="12700">
            <a:solidFill>
              <a:srgbClr val="83B4DE"/>
            </a:solidFill>
            <a:prstDash val="solid"/>
          </a:ln>
        </p:spPr>
      </p:sp>
      <p:sp>
        <p:nvSpPr>
          <p:cNvPr id="14" name="Text 10"/>
          <p:cNvSpPr txBox="1"/>
          <p:nvPr/>
        </p:nvSpPr>
        <p:spPr>
          <a:xfrm>
            <a:off x="2761488" y="3233003"/>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5" name="Text 11"/>
          <p:cNvSpPr txBox="1"/>
          <p:nvPr/>
        </p:nvSpPr>
        <p:spPr>
          <a:xfrm>
            <a:off x="3163824" y="3214715"/>
            <a:ext cx="1728216"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Profile</a:t>
            </a:r>
            <a:endParaRPr lang="en-US" sz="1300" dirty="0"/>
          </a:p>
        </p:txBody>
      </p:sp>
      <p:sp>
        <p:nvSpPr>
          <p:cNvPr id="16" name="Text 12"/>
          <p:cNvSpPr txBox="1"/>
          <p:nvPr/>
        </p:nvSpPr>
        <p:spPr>
          <a:xfrm>
            <a:off x="2761488" y="3580475"/>
            <a:ext cx="2130552" cy="237744"/>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3D leg · nine measurements</a:t>
            </a:r>
            <a:endParaRPr lang="en-US" sz="1000" dirty="0"/>
          </a:p>
        </p:txBody>
      </p:sp>
      <p:pic>
        <p:nvPicPr>
          <p:cNvPr id="17" name="Image 2" descr="shots/3-fit.png">    </p:cNvPr>
          <p:cNvPicPr>
            <a:picLocks noChangeAspect="1"/>
          </p:cNvPicPr>
          <p:nvPr/>
        </p:nvPicPr>
        <p:blipFill>
          <a:blip r:embed="rId3"/>
          <a:stretch>
            <a:fillRect/>
          </a:stretch>
        </p:blipFill>
        <p:spPr>
          <a:xfrm>
            <a:off x="5020056" y="1481328"/>
            <a:ext cx="2130552" cy="1605371"/>
          </a:xfrm>
          <a:prstGeom prst="rect">
            <a:avLst/>
          </a:prstGeom>
        </p:spPr>
      </p:pic>
      <p:sp>
        <p:nvSpPr>
          <p:cNvPr id="18" name="Shape 13"/>
          <p:cNvSpPr/>
          <p:nvPr/>
        </p:nvSpPr>
        <p:spPr>
          <a:xfrm>
            <a:off x="5020056" y="1481328"/>
            <a:ext cx="2130552" cy="1605371"/>
          </a:xfrm>
          <a:prstGeom prst="rect">
            <a:avLst/>
          </a:prstGeom>
          <a:ln w="12700">
            <a:solidFill>
              <a:srgbClr val="3B4166"/>
            </a:solidFill>
            <a:prstDash val="solid"/>
          </a:ln>
        </p:spPr>
      </p:sp>
      <p:sp>
        <p:nvSpPr>
          <p:cNvPr id="19" name="Shape 14"/>
          <p:cNvSpPr/>
          <p:nvPr/>
        </p:nvSpPr>
        <p:spPr>
          <a:xfrm>
            <a:off x="5020056" y="3233003"/>
            <a:ext cx="310896" cy="310896"/>
          </a:xfrm>
          <a:prstGeom prst="ellipse">
            <a:avLst/>
          </a:prstGeom>
          <a:solidFill>
            <a:srgbClr val="83B4DE"/>
          </a:solidFill>
          <a:ln w="12700">
            <a:solidFill>
              <a:srgbClr val="83B4DE"/>
            </a:solidFill>
            <a:prstDash val="solid"/>
          </a:ln>
        </p:spPr>
      </p:sp>
      <p:sp>
        <p:nvSpPr>
          <p:cNvPr id="20" name="Text 15"/>
          <p:cNvSpPr txBox="1"/>
          <p:nvPr/>
        </p:nvSpPr>
        <p:spPr>
          <a:xfrm>
            <a:off x="5020056" y="3233003"/>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21" name="Text 16"/>
          <p:cNvSpPr txBox="1"/>
          <p:nvPr/>
        </p:nvSpPr>
        <p:spPr>
          <a:xfrm>
            <a:off x="5422392" y="3214715"/>
            <a:ext cx="1728216"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Recommendation</a:t>
            </a:r>
            <a:endParaRPr lang="en-US" sz="1300" dirty="0"/>
          </a:p>
        </p:txBody>
      </p:sp>
      <p:sp>
        <p:nvSpPr>
          <p:cNvPr id="22" name="Text 17"/>
          <p:cNvSpPr txBox="1"/>
          <p:nvPr/>
        </p:nvSpPr>
        <p:spPr>
          <a:xfrm>
            <a:off x="5020056" y="3580475"/>
            <a:ext cx="2130552" cy="237744"/>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differences · why</a:t>
            </a:r>
            <a:endParaRPr lang="en-US" sz="1000" dirty="0"/>
          </a:p>
        </p:txBody>
      </p:sp>
      <p:pic>
        <p:nvPicPr>
          <p:cNvPr id="23" name="Image 3" descr="shots/4-agents.png">    </p:cNvPr>
          <p:cNvPicPr>
            <a:picLocks noChangeAspect="1"/>
          </p:cNvPicPr>
          <p:nvPr/>
        </p:nvPicPr>
        <p:blipFill>
          <a:blip r:embed="rId4"/>
          <a:stretch>
            <a:fillRect/>
          </a:stretch>
        </p:blipFill>
        <p:spPr>
          <a:xfrm>
            <a:off x="7278624" y="1481328"/>
            <a:ext cx="2130552" cy="1605371"/>
          </a:xfrm>
          <a:prstGeom prst="rect">
            <a:avLst/>
          </a:prstGeom>
        </p:spPr>
      </p:pic>
      <p:sp>
        <p:nvSpPr>
          <p:cNvPr id="24" name="Shape 18"/>
          <p:cNvSpPr/>
          <p:nvPr/>
        </p:nvSpPr>
        <p:spPr>
          <a:xfrm>
            <a:off x="7278624" y="1481328"/>
            <a:ext cx="2130552" cy="1605371"/>
          </a:xfrm>
          <a:prstGeom prst="rect">
            <a:avLst/>
          </a:prstGeom>
          <a:ln w="12700">
            <a:solidFill>
              <a:srgbClr val="3B4166"/>
            </a:solidFill>
            <a:prstDash val="solid"/>
          </a:ln>
        </p:spPr>
      </p:sp>
      <p:sp>
        <p:nvSpPr>
          <p:cNvPr id="25" name="Shape 19"/>
          <p:cNvSpPr/>
          <p:nvPr/>
        </p:nvSpPr>
        <p:spPr>
          <a:xfrm>
            <a:off x="7278624" y="3233003"/>
            <a:ext cx="310896" cy="310896"/>
          </a:xfrm>
          <a:prstGeom prst="ellipse">
            <a:avLst/>
          </a:prstGeom>
          <a:solidFill>
            <a:srgbClr val="E0A458"/>
          </a:solidFill>
          <a:ln w="12700">
            <a:solidFill>
              <a:srgbClr val="E0A458"/>
            </a:solidFill>
            <a:prstDash val="solid"/>
          </a:ln>
        </p:spPr>
      </p:sp>
      <p:sp>
        <p:nvSpPr>
          <p:cNvPr id="26" name="Text 20"/>
          <p:cNvSpPr txBox="1"/>
          <p:nvPr/>
        </p:nvSpPr>
        <p:spPr>
          <a:xfrm>
            <a:off x="7278624" y="3233003"/>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7" name="Text 21"/>
          <p:cNvSpPr txBox="1"/>
          <p:nvPr/>
        </p:nvSpPr>
        <p:spPr>
          <a:xfrm>
            <a:off x="7680960" y="3214715"/>
            <a:ext cx="1728216"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Agent console</a:t>
            </a:r>
            <a:endParaRPr lang="en-US" sz="1300" dirty="0"/>
          </a:p>
        </p:txBody>
      </p:sp>
      <p:sp>
        <p:nvSpPr>
          <p:cNvPr id="28" name="Text 22"/>
          <p:cNvSpPr txBox="1"/>
          <p:nvPr/>
        </p:nvSpPr>
        <p:spPr>
          <a:xfrm>
            <a:off x="7278624" y="3580475"/>
            <a:ext cx="2130552" cy="237744"/>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who did what · cost</a:t>
            </a:r>
            <a:endParaRPr lang="en-US" sz="1000" dirty="0"/>
          </a:p>
        </p:txBody>
      </p:sp>
      <p:pic>
        <p:nvPicPr>
          <p:cNvPr id="29" name="Image 4" descr="shots/5-loop.png">    </p:cNvPr>
          <p:cNvPicPr>
            <a:picLocks noChangeAspect="1"/>
          </p:cNvPicPr>
          <p:nvPr/>
        </p:nvPicPr>
        <p:blipFill>
          <a:blip r:embed="rId5"/>
          <a:stretch>
            <a:fillRect/>
          </a:stretch>
        </p:blipFill>
        <p:spPr>
          <a:xfrm>
            <a:off x="9537192" y="1481328"/>
            <a:ext cx="2130552" cy="1605371"/>
          </a:xfrm>
          <a:prstGeom prst="rect">
            <a:avLst/>
          </a:prstGeom>
        </p:spPr>
      </p:pic>
      <p:sp>
        <p:nvSpPr>
          <p:cNvPr id="30" name="Shape 23"/>
          <p:cNvSpPr/>
          <p:nvPr/>
        </p:nvSpPr>
        <p:spPr>
          <a:xfrm>
            <a:off x="9537192" y="1481328"/>
            <a:ext cx="2130552" cy="1605371"/>
          </a:xfrm>
          <a:prstGeom prst="rect">
            <a:avLst/>
          </a:prstGeom>
          <a:ln w="12700">
            <a:solidFill>
              <a:srgbClr val="3B4166"/>
            </a:solidFill>
            <a:prstDash val="solid"/>
          </a:ln>
        </p:spPr>
      </p:sp>
      <p:sp>
        <p:nvSpPr>
          <p:cNvPr id="31" name="Shape 24"/>
          <p:cNvSpPr/>
          <p:nvPr/>
        </p:nvSpPr>
        <p:spPr>
          <a:xfrm>
            <a:off x="9537192" y="3233003"/>
            <a:ext cx="310896" cy="310896"/>
          </a:xfrm>
          <a:prstGeom prst="ellipse">
            <a:avLst/>
          </a:prstGeom>
          <a:solidFill>
            <a:srgbClr val="E0A458"/>
          </a:solidFill>
          <a:ln w="12700">
            <a:solidFill>
              <a:srgbClr val="E0A458"/>
            </a:solidFill>
            <a:prstDash val="solid"/>
          </a:ln>
        </p:spPr>
      </p:sp>
      <p:sp>
        <p:nvSpPr>
          <p:cNvPr id="32" name="Text 25"/>
          <p:cNvSpPr txBox="1"/>
          <p:nvPr/>
        </p:nvSpPr>
        <p:spPr>
          <a:xfrm>
            <a:off x="9537192" y="3233003"/>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33" name="Text 26"/>
          <p:cNvSpPr txBox="1"/>
          <p:nvPr/>
        </p:nvSpPr>
        <p:spPr>
          <a:xfrm>
            <a:off x="9939528" y="3214715"/>
            <a:ext cx="1728216"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Learning loop</a:t>
            </a:r>
            <a:endParaRPr lang="en-US" sz="1300" dirty="0"/>
          </a:p>
        </p:txBody>
      </p:sp>
      <p:sp>
        <p:nvSpPr>
          <p:cNvPr id="34" name="Text 27"/>
          <p:cNvSpPr txBox="1"/>
          <p:nvPr/>
        </p:nvSpPr>
        <p:spPr>
          <a:xfrm>
            <a:off x="9537192" y="3580475"/>
            <a:ext cx="2130552" cy="237744"/>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returns · learning</a:t>
            </a:r>
            <a:endParaRPr lang="en-US" sz="1000" dirty="0"/>
          </a:p>
        </p:txBody>
      </p:sp>
      <p:sp>
        <p:nvSpPr>
          <p:cNvPr id="35" name="Shape 28"/>
          <p:cNvSpPr/>
          <p:nvPr/>
        </p:nvSpPr>
        <p:spPr>
          <a:xfrm>
            <a:off x="502920" y="4956048"/>
            <a:ext cx="11185855" cy="877824"/>
          </a:xfrm>
          <a:prstGeom prst="roundRect">
            <a:avLst>
              <a:gd name="adj" fmla="val 6250"/>
            </a:avLst>
          </a:prstGeom>
          <a:solidFill>
            <a:srgbClr val="252943"/>
          </a:solidFill>
          <a:ln w="12700">
            <a:solidFill>
              <a:srgbClr val="252943"/>
            </a:solidFill>
            <a:prstDash val="solid"/>
          </a:ln>
        </p:spPr>
      </p:sp>
      <p:sp>
        <p:nvSpPr>
          <p:cNvPr id="36" name="Text 29"/>
          <p:cNvSpPr txBox="1"/>
          <p:nvPr/>
        </p:nvSpPr>
        <p:spPr>
          <a:xfrm>
            <a:off x="777240" y="5047488"/>
            <a:ext cx="2377440" cy="274320"/>
          </a:xfrm>
          <a:prstGeom prst="rect">
            <a:avLst/>
          </a:prstGeom>
          <a:noFill/>
          <a:ln/>
        </p:spPr>
        <p:txBody>
          <a:bodyPr wrap="square" lIns="0" tIns="0" rIns="0" bIns="0" rtlCol="0" anchor="ctr"/>
          <a:lstStyle/>
          <a:p>
            <a:pPr indent="0" marL="0">
              <a:buNone/>
            </a:pPr>
            <a:r>
              <a:rPr lang="en-US" sz="1200" b="1" dirty="0">
                <a:solidFill>
                  <a:srgbClr val="E0A458"/>
                </a:solidFill>
                <a:latin typeface="Arial" pitchFamily="34" charset="0"/>
                <a:ea typeface="Arial" pitchFamily="34" charset="-122"/>
                <a:cs typeface="Arial" pitchFamily="34" charset="-120"/>
              </a:rPr>
              <a:t>Honest about the mockup:</a:t>
            </a:r>
            <a:endParaRPr lang="en-US" sz="1200" dirty="0"/>
          </a:p>
        </p:txBody>
      </p:sp>
      <p:sp>
        <p:nvSpPr>
          <p:cNvPr id="37" name="Text 30"/>
          <p:cNvSpPr txBox="1"/>
          <p:nvPr/>
        </p:nvSpPr>
        <p:spPr>
          <a:xfrm>
            <a:off x="777240" y="5321808"/>
            <a:ext cx="10637215" cy="420624"/>
          </a:xfrm>
          <a:prstGeom prst="rect">
            <a:avLst/>
          </a:prstGeom>
          <a:noFill/>
          <a:ln/>
        </p:spPr>
        <p:txBody>
          <a:bodyPr wrap="square" lIns="0" tIns="0" rIns="0" bIns="0" rtlCol="0" anchor="t"/>
          <a:lstStyle/>
          <a:p>
            <a:pPr indent="0" marL="0">
              <a:lnSpc>
                <a:spcPct val="114000"/>
              </a:lnSpc>
              <a:buNone/>
            </a:pPr>
            <a:r>
              <a:rPr lang="en-US" sz="1150" dirty="0">
                <a:solidFill>
                  <a:srgbClr val="9BA1C1"/>
                </a:solidFill>
                <a:latin typeface="Arial" pitchFamily="34" charset="0"/>
                <a:ea typeface="Arial" pitchFamily="34" charset="-122"/>
                <a:cs typeface="Arial" pitchFamily="34" charset="-120"/>
              </a:rPr>
              <a:t>every figure is hard-coded and no screen talks to a server yet; the 3D leg is a drawing, not the real 3D viewer it will become; the denim brand is invented, so we are not putting made-up sizing on a real one.</a:t>
            </a:r>
            <a:endParaRPr lang="en-US" sz="1150" dirty="0"/>
          </a:p>
        </p:txBody>
      </p:sp>
      <p:sp>
        <p:nvSpPr>
          <p:cNvPr id="38" name="Text 31"/>
          <p:cNvSpPr txBox="1"/>
          <p:nvPr/>
        </p:nvSpPr>
        <p:spPr>
          <a:xfrm>
            <a:off x="502920" y="5998464"/>
            <a:ext cx="11185855" cy="274320"/>
          </a:xfrm>
          <a:prstGeom prst="rect">
            <a:avLst/>
          </a:prstGeom>
          <a:noFill/>
          <a:ln/>
        </p:spPr>
        <p:txBody>
          <a:bodyPr wrap="square" lIns="0" tIns="0" rIns="0" bIns="0" rtlCol="0" anchor="ctr"/>
          <a:lstStyle/>
          <a:p>
            <a:pPr indent="0" marL="0">
              <a:buNone/>
            </a:pPr>
            <a:r>
              <a:rPr lang="en-US" sz="1200" i="1" dirty="0">
                <a:solidFill>
                  <a:srgbClr val="6E7699"/>
                </a:solidFill>
                <a:latin typeface="Arial" pitchFamily="34" charset="0"/>
                <a:ea typeface="Arial" pitchFamily="34" charset="-122"/>
                <a:cs typeface="Arial" pitchFamily="34" charset="-120"/>
              </a:rPr>
              <a:t>Screens 4 and 5 in amber — the two that would not exist in an ordinary shopping app.</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SCREEN 1 OF 5</a:t>
            </a:r>
            <a:endParaRPr lang="en-US" sz="950" dirty="0"/>
          </a:p>
        </p:txBody>
      </p:sp>
      <p:sp>
        <p:nvSpPr>
          <p:cNvPr id="3" name="Text 1"/>
          <p:cNvSpPr txBox="1"/>
          <p:nvPr/>
        </p:nvSpPr>
        <p:spPr>
          <a:xfrm>
            <a:off x="502920" y="329184"/>
            <a:ext cx="6400800" cy="457200"/>
          </a:xfrm>
          <a:prstGeom prst="rect">
            <a:avLst/>
          </a:prstGeom>
          <a:noFill/>
          <a:ln/>
        </p:spPr>
        <p:txBody>
          <a:bodyPr wrap="square" lIns="0" tIns="0" rIns="0" bIns="0" rtlCol="0" anchor="ctr"/>
          <a:lstStyle/>
          <a:p>
            <a:pPr indent="0" marL="0">
              <a:buNone/>
            </a:pPr>
            <a:r>
              <a:rPr lang="en-US" sz="2500" b="1" dirty="0">
                <a:solidFill>
                  <a:srgbClr val="F2F3F8"/>
                </a:solidFill>
                <a:latin typeface="Arial" pitchFamily="34" charset="0"/>
                <a:ea typeface="Arial" pitchFamily="34" charset="-122"/>
                <a:cs typeface="Arial" pitchFamily="34" charset="-120"/>
              </a:rPr>
              <a:t>Capture</a:t>
            </a:r>
            <a:endParaRPr lang="en-US" sz="2500" dirty="0"/>
          </a:p>
        </p:txBody>
      </p:sp>
      <p:sp>
        <p:nvSpPr>
          <p:cNvPr id="4" name="Text 2"/>
          <p:cNvSpPr txBox="1"/>
          <p:nvPr/>
        </p:nvSpPr>
        <p:spPr>
          <a:xfrm>
            <a:off x="8001000" y="329184"/>
            <a:ext cx="3703320" cy="457200"/>
          </a:xfrm>
          <a:prstGeom prst="rect">
            <a:avLst/>
          </a:prstGeom>
          <a:noFill/>
          <a:ln/>
        </p:spPr>
        <p:txBody>
          <a:bodyPr wrap="square" lIns="0" tIns="0" rIns="0" bIns="0" rtlCol="0" anchor="ctr"/>
          <a:lstStyle/>
          <a:p>
            <a:pPr algn="r" indent="0" marL="0">
              <a:buNone/>
            </a:pPr>
            <a:r>
              <a:rPr lang="en-US" sz="1100" dirty="0">
                <a:solidFill>
                  <a:srgbClr val="6E7699"/>
                </a:solidFill>
                <a:latin typeface="Arial" pitchFamily="34" charset="0"/>
                <a:ea typeface="Arial" pitchFamily="34" charset="-122"/>
                <a:cs typeface="Arial" pitchFamily="34" charset="-120"/>
              </a:rPr>
              <a:t>/capture</a:t>
            </a:r>
            <a:endParaRPr lang="en-US" sz="1100" dirty="0"/>
          </a:p>
        </p:txBody>
      </p:sp>
      <p:pic>
        <p:nvPicPr>
          <p:cNvPr id="5" name="Image 0" descr="shots/1-capture.png">    </p:cNvPr>
          <p:cNvPicPr>
            <a:picLocks noChangeAspect="1"/>
          </p:cNvPicPr>
          <p:nvPr/>
        </p:nvPicPr>
        <p:blipFill>
          <a:blip r:embed="rId1"/>
          <a:stretch>
            <a:fillRect/>
          </a:stretch>
        </p:blipFill>
        <p:spPr>
          <a:xfrm>
            <a:off x="502920" y="859536"/>
            <a:ext cx="7315200" cy="5512003"/>
          </a:xfrm>
          <a:prstGeom prst="rect">
            <a:avLst/>
          </a:prstGeom>
        </p:spPr>
      </p:pic>
      <p:sp>
        <p:nvSpPr>
          <p:cNvPr id="6" name="Shape 3"/>
          <p:cNvSpPr/>
          <p:nvPr/>
        </p:nvSpPr>
        <p:spPr>
          <a:xfrm>
            <a:off x="502920" y="859536"/>
            <a:ext cx="7315200" cy="5512003"/>
          </a:xfrm>
          <a:prstGeom prst="rect">
            <a:avLst/>
          </a:prstGeom>
          <a:ln w="12700">
            <a:solidFill>
              <a:srgbClr val="3B4166"/>
            </a:solidFill>
            <a:prstDash val="solid"/>
          </a:ln>
        </p:spPr>
      </p:sp>
      <p:sp>
        <p:nvSpPr>
          <p:cNvPr id="7" name="Text 4"/>
          <p:cNvSpPr txBox="1"/>
          <p:nvPr/>
        </p:nvSpPr>
        <p:spPr>
          <a:xfrm>
            <a:off x="8001000" y="877824"/>
            <a:ext cx="3703320" cy="73152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The coach decides what to ask for next, and when there is enough evidence to stop.</a:t>
            </a:r>
            <a:endParaRPr lang="en-US" sz="1250" dirty="0"/>
          </a:p>
        </p:txBody>
      </p:sp>
      <p:sp>
        <p:nvSpPr>
          <p:cNvPr id="8" name="Text 5"/>
          <p:cNvSpPr txBox="1"/>
          <p:nvPr/>
        </p:nvSpPr>
        <p:spPr>
          <a:xfrm>
            <a:off x="8001000" y="1719072"/>
            <a:ext cx="3703320" cy="237744"/>
          </a:xfrm>
          <a:prstGeom prst="rect">
            <a:avLst/>
          </a:prstGeom>
          <a:noFill/>
          <a:ln/>
        </p:spPr>
        <p:txBody>
          <a:bodyPr wrap="square" lIns="0" tIns="0" rIns="0" bIns="0" rtlCol="0" anchor="ctr"/>
          <a:lstStyle/>
          <a:p>
            <a:pPr indent="0" marL="0">
              <a:buNone/>
            </a:pPr>
            <a:r>
              <a:rPr lang="en-US" sz="950" b="1" spc="180" kern="0" dirty="0">
                <a:solidFill>
                  <a:srgbClr val="83B4DE"/>
                </a:solidFill>
                <a:latin typeface="Arial" pitchFamily="34" charset="0"/>
                <a:ea typeface="Arial" pitchFamily="34" charset="-122"/>
                <a:cs typeface="Arial" pitchFamily="34" charset="-120"/>
              </a:rPr>
              <a:t>WHAT TO LOOK AT</a:t>
            </a:r>
            <a:endParaRPr lang="en-US" sz="950" dirty="0"/>
          </a:p>
        </p:txBody>
      </p:sp>
      <p:sp>
        <p:nvSpPr>
          <p:cNvPr id="9" name="Text 6"/>
          <p:cNvSpPr txBox="1"/>
          <p:nvPr/>
        </p:nvSpPr>
        <p:spPr>
          <a:xfrm>
            <a:off x="8001000" y="2011680"/>
            <a:ext cx="3703320"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Four checks that can stop the session, each showing what it actually measured</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The coach message names the cause and one physical action</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The little chart shows the estimate settling: we stop when it stops moving, not after a fixed time</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Filmstrip with two frames dropped for motion blur</a:t>
            </a:r>
            <a:endParaRPr lang="en-US" sz="1150" dirty="0"/>
          </a:p>
        </p:txBody>
      </p:sp>
      <p:sp>
        <p:nvSpPr>
          <p:cNvPr id="10" name="Shape 7"/>
          <p:cNvSpPr/>
          <p:nvPr/>
        </p:nvSpPr>
        <p:spPr>
          <a:xfrm>
            <a:off x="8001000" y="4498848"/>
            <a:ext cx="3703320" cy="1874520"/>
          </a:xfrm>
          <a:prstGeom prst="roundRect">
            <a:avLst>
              <a:gd name="adj" fmla="val 2927"/>
            </a:avLst>
          </a:prstGeom>
          <a:solidFill>
            <a:srgbClr val="2F3355"/>
          </a:solidFill>
          <a:ln w="19050">
            <a:solidFill>
              <a:srgbClr val="E0A458"/>
            </a:solidFill>
            <a:prstDash val="solid"/>
          </a:ln>
        </p:spPr>
      </p:sp>
      <p:sp>
        <p:nvSpPr>
          <p:cNvPr id="11" name="Text 8"/>
          <p:cNvSpPr txBox="1"/>
          <p:nvPr/>
        </p:nvSpPr>
        <p:spPr>
          <a:xfrm>
            <a:off x="8229600" y="4626864"/>
            <a:ext cx="3246120" cy="237744"/>
          </a:xfrm>
          <a:prstGeom prst="rect">
            <a:avLst/>
          </a:prstGeom>
          <a:noFill/>
          <a:ln/>
        </p:spPr>
        <p:txBody>
          <a:bodyPr wrap="square" lIns="0" tIns="0" rIns="0" bIns="0" rtlCol="0" anchor="ctr"/>
          <a:lstStyle/>
          <a:p>
            <a:pPr indent="0" marL="0">
              <a:buNone/>
            </a:pPr>
            <a:r>
              <a:rPr lang="en-US" sz="950" b="1" spc="180" kern="0" dirty="0">
                <a:solidFill>
                  <a:srgbClr val="E0A458"/>
                </a:solidFill>
                <a:latin typeface="Arial" pitchFamily="34" charset="0"/>
                <a:ea typeface="Arial" pitchFamily="34" charset="-122"/>
                <a:cs typeface="Arial" pitchFamily="34" charset="-120"/>
              </a:rPr>
              <a:t>QUESTION FOR YOU</a:t>
            </a:r>
            <a:endParaRPr lang="en-US" sz="950" dirty="0"/>
          </a:p>
        </p:txBody>
      </p:sp>
      <p:sp>
        <p:nvSpPr>
          <p:cNvPr id="12" name="Text 9"/>
          <p:cNvSpPr txBox="1"/>
          <p:nvPr/>
        </p:nvSpPr>
        <p:spPr>
          <a:xfrm>
            <a:off x="8229600" y="4901184"/>
            <a:ext cx="3246120" cy="1371600"/>
          </a:xfrm>
          <a:prstGeom prst="rect">
            <a:avLst/>
          </a:prstGeom>
          <a:noFill/>
          <a:ln/>
        </p:spPr>
        <p:txBody>
          <a:bodyPr wrap="square" lIns="0" tIns="0" rIns="0" bIns="0" rtlCol="0" anchor="t"/>
          <a:lstStyle/>
          <a:p>
            <a:pPr indent="0" marL="0">
              <a:lnSpc>
                <a:spcPct val="118000"/>
              </a:lnSpc>
              <a:buNone/>
            </a:pPr>
            <a:r>
              <a:rPr lang="en-US" sz="1200" dirty="0">
                <a:solidFill>
                  <a:srgbClr val="F2F3F8"/>
                </a:solidFill>
                <a:latin typeface="Arial" pitchFamily="34" charset="0"/>
                <a:ea typeface="Arial" pitchFamily="34" charset="-122"/>
                <a:cs typeface="Arial" pitchFamily="34" charset="-120"/>
              </a:rPr>
              <a:t>Is the split right — camera left, gates and coach right? And should the height field come first, as its own step, since without it there are no centimetres at all?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SCREEN 2 OF 5</a:t>
            </a:r>
            <a:endParaRPr lang="en-US" sz="950" dirty="0"/>
          </a:p>
        </p:txBody>
      </p:sp>
      <p:sp>
        <p:nvSpPr>
          <p:cNvPr id="3" name="Text 1"/>
          <p:cNvSpPr txBox="1"/>
          <p:nvPr/>
        </p:nvSpPr>
        <p:spPr>
          <a:xfrm>
            <a:off x="502920" y="329184"/>
            <a:ext cx="6400800" cy="457200"/>
          </a:xfrm>
          <a:prstGeom prst="rect">
            <a:avLst/>
          </a:prstGeom>
          <a:noFill/>
          <a:ln/>
        </p:spPr>
        <p:txBody>
          <a:bodyPr wrap="square" lIns="0" tIns="0" rIns="0" bIns="0" rtlCol="0" anchor="ctr"/>
          <a:lstStyle/>
          <a:p>
            <a:pPr indent="0" marL="0">
              <a:buNone/>
            </a:pPr>
            <a:r>
              <a:rPr lang="en-US" sz="2500" b="1" dirty="0">
                <a:solidFill>
                  <a:srgbClr val="F2F3F8"/>
                </a:solidFill>
                <a:latin typeface="Arial" pitchFamily="34" charset="0"/>
                <a:ea typeface="Arial" pitchFamily="34" charset="-122"/>
                <a:cs typeface="Arial" pitchFamily="34" charset="-120"/>
              </a:rPr>
              <a:t>Profile</a:t>
            </a:r>
            <a:endParaRPr lang="en-US" sz="2500" dirty="0"/>
          </a:p>
        </p:txBody>
      </p:sp>
      <p:sp>
        <p:nvSpPr>
          <p:cNvPr id="4" name="Text 2"/>
          <p:cNvSpPr txBox="1"/>
          <p:nvPr/>
        </p:nvSpPr>
        <p:spPr>
          <a:xfrm>
            <a:off x="8001000" y="329184"/>
            <a:ext cx="3703320" cy="457200"/>
          </a:xfrm>
          <a:prstGeom prst="rect">
            <a:avLst/>
          </a:prstGeom>
          <a:noFill/>
          <a:ln/>
        </p:spPr>
        <p:txBody>
          <a:bodyPr wrap="square" lIns="0" tIns="0" rIns="0" bIns="0" rtlCol="0" anchor="ctr"/>
          <a:lstStyle/>
          <a:p>
            <a:pPr algn="r" indent="0" marL="0">
              <a:buNone/>
            </a:pPr>
            <a:r>
              <a:rPr lang="en-US" sz="1100" dirty="0">
                <a:solidFill>
                  <a:srgbClr val="6E7699"/>
                </a:solidFill>
                <a:latin typeface="Arial" pitchFamily="34" charset="0"/>
                <a:ea typeface="Arial" pitchFamily="34" charset="-122"/>
                <a:cs typeface="Arial" pitchFamily="34" charset="-120"/>
              </a:rPr>
              <a:t>/profile</a:t>
            </a:r>
            <a:endParaRPr lang="en-US" sz="1100" dirty="0"/>
          </a:p>
        </p:txBody>
      </p:sp>
      <p:pic>
        <p:nvPicPr>
          <p:cNvPr id="5" name="Image 0" descr="shots/2-profile.png">    </p:cNvPr>
          <p:cNvPicPr>
            <a:picLocks noChangeAspect="1"/>
          </p:cNvPicPr>
          <p:nvPr/>
        </p:nvPicPr>
        <p:blipFill>
          <a:blip r:embed="rId1"/>
          <a:stretch>
            <a:fillRect/>
          </a:stretch>
        </p:blipFill>
        <p:spPr>
          <a:xfrm>
            <a:off x="502920" y="859536"/>
            <a:ext cx="7315200" cy="5512003"/>
          </a:xfrm>
          <a:prstGeom prst="rect">
            <a:avLst/>
          </a:prstGeom>
        </p:spPr>
      </p:pic>
      <p:sp>
        <p:nvSpPr>
          <p:cNvPr id="6" name="Shape 3"/>
          <p:cNvSpPr/>
          <p:nvPr/>
        </p:nvSpPr>
        <p:spPr>
          <a:xfrm>
            <a:off x="502920" y="859536"/>
            <a:ext cx="7315200" cy="5512003"/>
          </a:xfrm>
          <a:prstGeom prst="rect">
            <a:avLst/>
          </a:prstGeom>
          <a:ln w="12700">
            <a:solidFill>
              <a:srgbClr val="3B4166"/>
            </a:solidFill>
            <a:prstDash val="solid"/>
          </a:ln>
        </p:spPr>
      </p:sp>
      <p:sp>
        <p:nvSpPr>
          <p:cNvPr id="7" name="Text 4"/>
          <p:cNvSpPr txBox="1"/>
          <p:nvPr/>
        </p:nvSpPr>
        <p:spPr>
          <a:xfrm>
            <a:off x="8001000" y="877824"/>
            <a:ext cx="3703320" cy="73152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Nine measurements taken off the 3D body, sanity-checked before anything is stored.</a:t>
            </a:r>
            <a:endParaRPr lang="en-US" sz="1250" dirty="0"/>
          </a:p>
        </p:txBody>
      </p:sp>
      <p:sp>
        <p:nvSpPr>
          <p:cNvPr id="8" name="Text 5"/>
          <p:cNvSpPr txBox="1"/>
          <p:nvPr/>
        </p:nvSpPr>
        <p:spPr>
          <a:xfrm>
            <a:off x="8001000" y="1719072"/>
            <a:ext cx="3703320" cy="237744"/>
          </a:xfrm>
          <a:prstGeom prst="rect">
            <a:avLst/>
          </a:prstGeom>
          <a:noFill/>
          <a:ln/>
        </p:spPr>
        <p:txBody>
          <a:bodyPr wrap="square" lIns="0" tIns="0" rIns="0" bIns="0" rtlCol="0" anchor="ctr"/>
          <a:lstStyle/>
          <a:p>
            <a:pPr indent="0" marL="0">
              <a:buNone/>
            </a:pPr>
            <a:r>
              <a:rPr lang="en-US" sz="950" b="1" spc="180" kern="0" dirty="0">
                <a:solidFill>
                  <a:srgbClr val="83B4DE"/>
                </a:solidFill>
                <a:latin typeface="Arial" pitchFamily="34" charset="0"/>
                <a:ea typeface="Arial" pitchFamily="34" charset="-122"/>
                <a:cs typeface="Arial" pitchFamily="34" charset="-120"/>
              </a:rPr>
              <a:t>WHAT TO LOOK AT</a:t>
            </a:r>
            <a:endParaRPr lang="en-US" sz="950" dirty="0"/>
          </a:p>
        </p:txBody>
      </p:sp>
      <p:sp>
        <p:nvSpPr>
          <p:cNvPr id="9" name="Text 6"/>
          <p:cNvSpPr txBox="1"/>
          <p:nvPr/>
        </p:nvSpPr>
        <p:spPr>
          <a:xfrm>
            <a:off x="8001000" y="2011680"/>
            <a:ext cx="3703320"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Six measurements around the leg and three along it, drawn where they are actually taken</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Per-measurement confidence, not one global score</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Rise and inseam are the least certain — the crotch is the hardest point to place</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Checked against a database of real bodies as a whole, not one measurement at a time</a:t>
            </a:r>
            <a:endParaRPr lang="en-US" sz="1150" dirty="0"/>
          </a:p>
        </p:txBody>
      </p:sp>
      <p:sp>
        <p:nvSpPr>
          <p:cNvPr id="10" name="Shape 7"/>
          <p:cNvSpPr/>
          <p:nvPr/>
        </p:nvSpPr>
        <p:spPr>
          <a:xfrm>
            <a:off x="8001000" y="4498848"/>
            <a:ext cx="3703320" cy="1874520"/>
          </a:xfrm>
          <a:prstGeom prst="roundRect">
            <a:avLst>
              <a:gd name="adj" fmla="val 2927"/>
            </a:avLst>
          </a:prstGeom>
          <a:solidFill>
            <a:srgbClr val="2F3355"/>
          </a:solidFill>
          <a:ln w="19050">
            <a:solidFill>
              <a:srgbClr val="E0A458"/>
            </a:solidFill>
            <a:prstDash val="solid"/>
          </a:ln>
        </p:spPr>
      </p:sp>
      <p:sp>
        <p:nvSpPr>
          <p:cNvPr id="11" name="Text 8"/>
          <p:cNvSpPr txBox="1"/>
          <p:nvPr/>
        </p:nvSpPr>
        <p:spPr>
          <a:xfrm>
            <a:off x="8229600" y="4626864"/>
            <a:ext cx="3246120" cy="237744"/>
          </a:xfrm>
          <a:prstGeom prst="rect">
            <a:avLst/>
          </a:prstGeom>
          <a:noFill/>
          <a:ln/>
        </p:spPr>
        <p:txBody>
          <a:bodyPr wrap="square" lIns="0" tIns="0" rIns="0" bIns="0" rtlCol="0" anchor="ctr"/>
          <a:lstStyle/>
          <a:p>
            <a:pPr indent="0" marL="0">
              <a:buNone/>
            </a:pPr>
            <a:r>
              <a:rPr lang="en-US" sz="950" b="1" spc="180" kern="0" dirty="0">
                <a:solidFill>
                  <a:srgbClr val="E0A458"/>
                </a:solidFill>
                <a:latin typeface="Arial" pitchFamily="34" charset="0"/>
                <a:ea typeface="Arial" pitchFamily="34" charset="-122"/>
                <a:cs typeface="Arial" pitchFamily="34" charset="-120"/>
              </a:rPr>
              <a:t>QUESTION FOR YOU</a:t>
            </a:r>
            <a:endParaRPr lang="en-US" sz="950" dirty="0"/>
          </a:p>
        </p:txBody>
      </p:sp>
      <p:sp>
        <p:nvSpPr>
          <p:cNvPr id="12" name="Text 9"/>
          <p:cNvSpPr txBox="1"/>
          <p:nvPr/>
        </p:nvSpPr>
        <p:spPr>
          <a:xfrm>
            <a:off x="8229600" y="4901184"/>
            <a:ext cx="3246120" cy="1371600"/>
          </a:xfrm>
          <a:prstGeom prst="rect">
            <a:avLst/>
          </a:prstGeom>
          <a:noFill/>
          <a:ln/>
        </p:spPr>
        <p:txBody>
          <a:bodyPr wrap="square" lIns="0" tIns="0" rIns="0" bIns="0" rtlCol="0" anchor="t"/>
          <a:lstStyle/>
          <a:p>
            <a:pPr indent="0" marL="0">
              <a:lnSpc>
                <a:spcPct val="118000"/>
              </a:lnSpc>
              <a:buNone/>
            </a:pPr>
            <a:r>
              <a:rPr lang="en-US" sz="1200" dirty="0">
                <a:solidFill>
                  <a:srgbClr val="F2F3F8"/>
                </a:solidFill>
                <a:latin typeface="Arial" pitchFamily="34" charset="0"/>
                <a:ea typeface="Arial" pitchFamily="34" charset="-122"/>
                <a:cs typeface="Arial" pitchFamily="34" charset="-120"/>
              </a:rPr>
              <a:t>How much of this does a customer see? The certainty bars and the sanity-check score help at the exam and may be noise in a shop. Do we split it into a simple view and a detailed one?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SCREEN 3 OF 5</a:t>
            </a:r>
            <a:endParaRPr lang="en-US" sz="950" dirty="0"/>
          </a:p>
        </p:txBody>
      </p:sp>
      <p:sp>
        <p:nvSpPr>
          <p:cNvPr id="3" name="Text 1"/>
          <p:cNvSpPr txBox="1"/>
          <p:nvPr/>
        </p:nvSpPr>
        <p:spPr>
          <a:xfrm>
            <a:off x="502920" y="329184"/>
            <a:ext cx="6400800" cy="457200"/>
          </a:xfrm>
          <a:prstGeom prst="rect">
            <a:avLst/>
          </a:prstGeom>
          <a:noFill/>
          <a:ln/>
        </p:spPr>
        <p:txBody>
          <a:bodyPr wrap="square" lIns="0" tIns="0" rIns="0" bIns="0" rtlCol="0" anchor="ctr"/>
          <a:lstStyle/>
          <a:p>
            <a:pPr indent="0" marL="0">
              <a:buNone/>
            </a:pPr>
            <a:r>
              <a:rPr lang="en-US" sz="2500" b="1" dirty="0">
                <a:solidFill>
                  <a:srgbClr val="F2F3F8"/>
                </a:solidFill>
                <a:latin typeface="Arial" pitchFamily="34" charset="0"/>
                <a:ea typeface="Arial" pitchFamily="34" charset="-122"/>
                <a:cs typeface="Arial" pitchFamily="34" charset="-120"/>
              </a:rPr>
              <a:t>Recommendation</a:t>
            </a:r>
            <a:endParaRPr lang="en-US" sz="2500" dirty="0"/>
          </a:p>
        </p:txBody>
      </p:sp>
      <p:sp>
        <p:nvSpPr>
          <p:cNvPr id="4" name="Text 2"/>
          <p:cNvSpPr txBox="1"/>
          <p:nvPr/>
        </p:nvSpPr>
        <p:spPr>
          <a:xfrm>
            <a:off x="8001000" y="329184"/>
            <a:ext cx="3703320" cy="457200"/>
          </a:xfrm>
          <a:prstGeom prst="rect">
            <a:avLst/>
          </a:prstGeom>
          <a:noFill/>
          <a:ln/>
        </p:spPr>
        <p:txBody>
          <a:bodyPr wrap="square" lIns="0" tIns="0" rIns="0" bIns="0" rtlCol="0" anchor="ctr"/>
          <a:lstStyle/>
          <a:p>
            <a:pPr algn="r" indent="0" marL="0">
              <a:buNone/>
            </a:pPr>
            <a:r>
              <a:rPr lang="en-US" sz="1100" dirty="0">
                <a:solidFill>
                  <a:srgbClr val="6E7699"/>
                </a:solidFill>
                <a:latin typeface="Arial" pitchFamily="34" charset="0"/>
                <a:ea typeface="Arial" pitchFamily="34" charset="-122"/>
                <a:cs typeface="Arial" pitchFamily="34" charset="-120"/>
              </a:rPr>
              <a:t>/fit/…</a:t>
            </a:r>
            <a:endParaRPr lang="en-US" sz="1100" dirty="0"/>
          </a:p>
        </p:txBody>
      </p:sp>
      <p:pic>
        <p:nvPicPr>
          <p:cNvPr id="5" name="Image 0" descr="shots/3-fit.png">    </p:cNvPr>
          <p:cNvPicPr>
            <a:picLocks noChangeAspect="1"/>
          </p:cNvPicPr>
          <p:nvPr/>
        </p:nvPicPr>
        <p:blipFill>
          <a:blip r:embed="rId1"/>
          <a:stretch>
            <a:fillRect/>
          </a:stretch>
        </p:blipFill>
        <p:spPr>
          <a:xfrm>
            <a:off x="502920" y="859536"/>
            <a:ext cx="7315200" cy="5512003"/>
          </a:xfrm>
          <a:prstGeom prst="rect">
            <a:avLst/>
          </a:prstGeom>
        </p:spPr>
      </p:pic>
      <p:sp>
        <p:nvSpPr>
          <p:cNvPr id="6" name="Shape 3"/>
          <p:cNvSpPr/>
          <p:nvPr/>
        </p:nvSpPr>
        <p:spPr>
          <a:xfrm>
            <a:off x="502920" y="859536"/>
            <a:ext cx="7315200" cy="5512003"/>
          </a:xfrm>
          <a:prstGeom prst="rect">
            <a:avLst/>
          </a:prstGeom>
          <a:ln w="12700">
            <a:solidFill>
              <a:srgbClr val="3B4166"/>
            </a:solidFill>
            <a:prstDash val="solid"/>
          </a:ln>
        </p:spPr>
      </p:sp>
      <p:sp>
        <p:nvSpPr>
          <p:cNvPr id="7" name="Text 4"/>
          <p:cNvSpPr txBox="1"/>
          <p:nvPr/>
        </p:nvSpPr>
        <p:spPr>
          <a:xfrm>
            <a:off x="8001000" y="877824"/>
            <a:ext cx="3703320" cy="73152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The calculator picks the size. The advisor only explains it, and every measurement it names is verified.</a:t>
            </a:r>
            <a:endParaRPr lang="en-US" sz="1250" dirty="0"/>
          </a:p>
        </p:txBody>
      </p:sp>
      <p:sp>
        <p:nvSpPr>
          <p:cNvPr id="8" name="Text 5"/>
          <p:cNvSpPr txBox="1"/>
          <p:nvPr/>
        </p:nvSpPr>
        <p:spPr>
          <a:xfrm>
            <a:off x="8001000" y="1719072"/>
            <a:ext cx="3703320" cy="237744"/>
          </a:xfrm>
          <a:prstGeom prst="rect">
            <a:avLst/>
          </a:prstGeom>
          <a:noFill/>
          <a:ln/>
        </p:spPr>
        <p:txBody>
          <a:bodyPr wrap="square" lIns="0" tIns="0" rIns="0" bIns="0" rtlCol="0" anchor="ctr"/>
          <a:lstStyle/>
          <a:p>
            <a:pPr indent="0" marL="0">
              <a:buNone/>
            </a:pPr>
            <a:r>
              <a:rPr lang="en-US" sz="950" b="1" spc="180" kern="0" dirty="0">
                <a:solidFill>
                  <a:srgbClr val="83B4DE"/>
                </a:solidFill>
                <a:latin typeface="Arial" pitchFamily="34" charset="0"/>
                <a:ea typeface="Arial" pitchFamily="34" charset="-122"/>
                <a:cs typeface="Arial" pitchFamily="34" charset="-120"/>
              </a:rPr>
              <a:t>WHAT TO LOOK AT</a:t>
            </a:r>
            <a:endParaRPr lang="en-US" sz="950" dirty="0"/>
          </a:p>
        </p:txBody>
      </p:sp>
      <p:sp>
        <p:nvSpPr>
          <p:cNvPr id="9" name="Text 6"/>
          <p:cNvSpPr txBox="1"/>
          <p:nvPr/>
        </p:nvSpPr>
        <p:spPr>
          <a:xfrm>
            <a:off x="8001000" y="2011680"/>
            <a:ext cx="3703320"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The chart: the grey band is what the size allows, the dot is where the person actually is</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Each highlighted word in the text matches a row in the chart</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The green badge is a real check: every measurement the text mentions was actually flagged by the calculator</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W32 is rejected in words a person can argue with — “a belt, not a fit”</a:t>
            </a:r>
            <a:endParaRPr lang="en-US" sz="1150" dirty="0"/>
          </a:p>
        </p:txBody>
      </p:sp>
      <p:sp>
        <p:nvSpPr>
          <p:cNvPr id="10" name="Shape 7"/>
          <p:cNvSpPr/>
          <p:nvPr/>
        </p:nvSpPr>
        <p:spPr>
          <a:xfrm>
            <a:off x="8001000" y="4498848"/>
            <a:ext cx="3703320" cy="1874520"/>
          </a:xfrm>
          <a:prstGeom prst="roundRect">
            <a:avLst>
              <a:gd name="adj" fmla="val 2927"/>
            </a:avLst>
          </a:prstGeom>
          <a:solidFill>
            <a:srgbClr val="2F3355"/>
          </a:solidFill>
          <a:ln w="19050">
            <a:solidFill>
              <a:srgbClr val="E0A458"/>
            </a:solidFill>
            <a:prstDash val="solid"/>
          </a:ln>
        </p:spPr>
      </p:sp>
      <p:sp>
        <p:nvSpPr>
          <p:cNvPr id="11" name="Text 8"/>
          <p:cNvSpPr txBox="1"/>
          <p:nvPr/>
        </p:nvSpPr>
        <p:spPr>
          <a:xfrm>
            <a:off x="8229600" y="4626864"/>
            <a:ext cx="3246120" cy="237744"/>
          </a:xfrm>
          <a:prstGeom prst="rect">
            <a:avLst/>
          </a:prstGeom>
          <a:noFill/>
          <a:ln/>
        </p:spPr>
        <p:txBody>
          <a:bodyPr wrap="square" lIns="0" tIns="0" rIns="0" bIns="0" rtlCol="0" anchor="ctr"/>
          <a:lstStyle/>
          <a:p>
            <a:pPr indent="0" marL="0">
              <a:buNone/>
            </a:pPr>
            <a:r>
              <a:rPr lang="en-US" sz="950" b="1" spc="180" kern="0" dirty="0">
                <a:solidFill>
                  <a:srgbClr val="E0A458"/>
                </a:solidFill>
                <a:latin typeface="Arial" pitchFamily="34" charset="0"/>
                <a:ea typeface="Arial" pitchFamily="34" charset="-122"/>
                <a:cs typeface="Arial" pitchFamily="34" charset="-120"/>
              </a:rPr>
              <a:t>QUESTION FOR YOU</a:t>
            </a:r>
            <a:endParaRPr lang="en-US" sz="950" dirty="0"/>
          </a:p>
        </p:txBody>
      </p:sp>
      <p:sp>
        <p:nvSpPr>
          <p:cNvPr id="12" name="Text 9"/>
          <p:cNvSpPr txBox="1"/>
          <p:nvPr/>
        </p:nvSpPr>
        <p:spPr>
          <a:xfrm>
            <a:off x="8229600" y="4901184"/>
            <a:ext cx="3246120" cy="1371600"/>
          </a:xfrm>
          <a:prstGeom prst="rect">
            <a:avLst/>
          </a:prstGeom>
          <a:noFill/>
          <a:ln/>
        </p:spPr>
        <p:txBody>
          <a:bodyPr wrap="square" lIns="0" tIns="0" rIns="0" bIns="0" rtlCol="0" anchor="t"/>
          <a:lstStyle/>
          <a:p>
            <a:pPr indent="0" marL="0">
              <a:lnSpc>
                <a:spcPct val="118000"/>
              </a:lnSpc>
              <a:buNone/>
            </a:pPr>
            <a:r>
              <a:rPr lang="en-US" sz="1200" dirty="0">
                <a:solidFill>
                  <a:srgbClr val="F2F3F8"/>
                </a:solidFill>
                <a:latin typeface="Arial" pitchFamily="34" charset="0"/>
                <a:ea typeface="Arial" pitchFamily="34" charset="-122"/>
                <a:cs typeface="Arial" pitchFamily="34" charset="-120"/>
              </a:rPr>
              <a:t>Does the delta chart read without being explained? And is a score of 88 useful to a buyer, or should it be words — “snug”, “true to size”, “roomy”?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SCREEN 4 OF 5</a:t>
            </a:r>
            <a:endParaRPr lang="en-US" sz="950" dirty="0"/>
          </a:p>
        </p:txBody>
      </p:sp>
      <p:sp>
        <p:nvSpPr>
          <p:cNvPr id="3" name="Text 1"/>
          <p:cNvSpPr txBox="1"/>
          <p:nvPr/>
        </p:nvSpPr>
        <p:spPr>
          <a:xfrm>
            <a:off x="502920" y="329184"/>
            <a:ext cx="6400800" cy="457200"/>
          </a:xfrm>
          <a:prstGeom prst="rect">
            <a:avLst/>
          </a:prstGeom>
          <a:noFill/>
          <a:ln/>
        </p:spPr>
        <p:txBody>
          <a:bodyPr wrap="square" lIns="0" tIns="0" rIns="0" bIns="0" rtlCol="0" anchor="ctr"/>
          <a:lstStyle/>
          <a:p>
            <a:pPr indent="0" marL="0">
              <a:buNone/>
            </a:pPr>
            <a:r>
              <a:rPr lang="en-US" sz="2500" b="1" dirty="0">
                <a:solidFill>
                  <a:srgbClr val="F2F3F8"/>
                </a:solidFill>
                <a:latin typeface="Arial" pitchFamily="34" charset="0"/>
                <a:ea typeface="Arial" pitchFamily="34" charset="-122"/>
                <a:cs typeface="Arial" pitchFamily="34" charset="-120"/>
              </a:rPr>
              <a:t>Agent console</a:t>
            </a:r>
            <a:endParaRPr lang="en-US" sz="2500" dirty="0"/>
          </a:p>
        </p:txBody>
      </p:sp>
      <p:sp>
        <p:nvSpPr>
          <p:cNvPr id="4" name="Text 2"/>
          <p:cNvSpPr txBox="1"/>
          <p:nvPr/>
        </p:nvSpPr>
        <p:spPr>
          <a:xfrm>
            <a:off x="8001000" y="329184"/>
            <a:ext cx="3703320" cy="457200"/>
          </a:xfrm>
          <a:prstGeom prst="rect">
            <a:avLst/>
          </a:prstGeom>
          <a:noFill/>
          <a:ln/>
        </p:spPr>
        <p:txBody>
          <a:bodyPr wrap="square" lIns="0" tIns="0" rIns="0" bIns="0" rtlCol="0" anchor="ctr"/>
          <a:lstStyle/>
          <a:p>
            <a:pPr algn="r" indent="0" marL="0">
              <a:buNone/>
            </a:pPr>
            <a:r>
              <a:rPr lang="en-US" sz="1100" dirty="0">
                <a:solidFill>
                  <a:srgbClr val="6E7699"/>
                </a:solidFill>
                <a:latin typeface="Arial" pitchFamily="34" charset="0"/>
                <a:ea typeface="Arial" pitchFamily="34" charset="-122"/>
                <a:cs typeface="Arial" pitchFamily="34" charset="-120"/>
              </a:rPr>
              <a:t>/runs/…</a:t>
            </a:r>
            <a:endParaRPr lang="en-US" sz="1100" dirty="0"/>
          </a:p>
        </p:txBody>
      </p:sp>
      <p:pic>
        <p:nvPicPr>
          <p:cNvPr id="5" name="Image 0" descr="shots/4-agents.png">    </p:cNvPr>
          <p:cNvPicPr>
            <a:picLocks noChangeAspect="1"/>
          </p:cNvPicPr>
          <p:nvPr/>
        </p:nvPicPr>
        <p:blipFill>
          <a:blip r:embed="rId1"/>
          <a:stretch>
            <a:fillRect/>
          </a:stretch>
        </p:blipFill>
        <p:spPr>
          <a:xfrm>
            <a:off x="502920" y="859536"/>
            <a:ext cx="7315200" cy="5512003"/>
          </a:xfrm>
          <a:prstGeom prst="rect">
            <a:avLst/>
          </a:prstGeom>
        </p:spPr>
      </p:pic>
      <p:sp>
        <p:nvSpPr>
          <p:cNvPr id="6" name="Shape 3"/>
          <p:cNvSpPr/>
          <p:nvPr/>
        </p:nvSpPr>
        <p:spPr>
          <a:xfrm>
            <a:off x="502920" y="859536"/>
            <a:ext cx="7315200" cy="5512003"/>
          </a:xfrm>
          <a:prstGeom prst="rect">
            <a:avLst/>
          </a:prstGeom>
          <a:ln w="12700">
            <a:solidFill>
              <a:srgbClr val="3B4166"/>
            </a:solidFill>
            <a:prstDash val="solid"/>
          </a:ln>
        </p:spPr>
      </p:sp>
      <p:sp>
        <p:nvSpPr>
          <p:cNvPr id="7" name="Text 4"/>
          <p:cNvSpPr txBox="1"/>
          <p:nvPr/>
        </p:nvSpPr>
        <p:spPr>
          <a:xfrm>
            <a:off x="8001000" y="877824"/>
            <a:ext cx="3703320" cy="73152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The system saves its own progress to the database, so this screen can follow along live.</a:t>
            </a:r>
            <a:endParaRPr lang="en-US" sz="1250" dirty="0"/>
          </a:p>
        </p:txBody>
      </p:sp>
      <p:sp>
        <p:nvSpPr>
          <p:cNvPr id="8" name="Text 5"/>
          <p:cNvSpPr txBox="1"/>
          <p:nvPr/>
        </p:nvSpPr>
        <p:spPr>
          <a:xfrm>
            <a:off x="8001000" y="1719072"/>
            <a:ext cx="3703320" cy="237744"/>
          </a:xfrm>
          <a:prstGeom prst="rect">
            <a:avLst/>
          </a:prstGeom>
          <a:noFill/>
          <a:ln/>
        </p:spPr>
        <p:txBody>
          <a:bodyPr wrap="square" lIns="0" tIns="0" rIns="0" bIns="0" rtlCol="0" anchor="ctr"/>
          <a:lstStyle/>
          <a:p>
            <a:pPr indent="0" marL="0">
              <a:buNone/>
            </a:pPr>
            <a:r>
              <a:rPr lang="en-US" sz="950" b="1" spc="180" kern="0" dirty="0">
                <a:solidFill>
                  <a:srgbClr val="83B4DE"/>
                </a:solidFill>
                <a:latin typeface="Arial" pitchFamily="34" charset="0"/>
                <a:ea typeface="Arial" pitchFamily="34" charset="-122"/>
                <a:cs typeface="Arial" pitchFamily="34" charset="-120"/>
              </a:rPr>
              <a:t>WHAT TO LOOK AT</a:t>
            </a:r>
            <a:endParaRPr lang="en-US" sz="950" dirty="0"/>
          </a:p>
        </p:txBody>
      </p:sp>
      <p:sp>
        <p:nvSpPr>
          <p:cNvPr id="9" name="Text 6"/>
          <p:cNvSpPr txBox="1"/>
          <p:nvPr/>
        </p:nvSpPr>
        <p:spPr>
          <a:xfrm>
            <a:off x="8001000" y="2011680"/>
            <a:ext cx="3703320"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Who is finished, who is working, who is idle — read straight from the database</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Every step shows what it did, what came back, how long it took and what it cost</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Small model for the repetitive reading, large one for the reasoning — the cost of each is visible</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One retry is shown rather than hidden: the AI sometimes answers in the wrong format, and that is handled</a:t>
            </a:r>
            <a:endParaRPr lang="en-US" sz="1150" dirty="0"/>
          </a:p>
        </p:txBody>
      </p:sp>
      <p:sp>
        <p:nvSpPr>
          <p:cNvPr id="10" name="Shape 7"/>
          <p:cNvSpPr/>
          <p:nvPr/>
        </p:nvSpPr>
        <p:spPr>
          <a:xfrm>
            <a:off x="8001000" y="4498848"/>
            <a:ext cx="3703320" cy="1874520"/>
          </a:xfrm>
          <a:prstGeom prst="roundRect">
            <a:avLst>
              <a:gd name="adj" fmla="val 2927"/>
            </a:avLst>
          </a:prstGeom>
          <a:solidFill>
            <a:srgbClr val="2F3355"/>
          </a:solidFill>
          <a:ln w="19050">
            <a:solidFill>
              <a:srgbClr val="E0A458"/>
            </a:solidFill>
            <a:prstDash val="solid"/>
          </a:ln>
        </p:spPr>
      </p:sp>
      <p:sp>
        <p:nvSpPr>
          <p:cNvPr id="11" name="Text 8"/>
          <p:cNvSpPr txBox="1"/>
          <p:nvPr/>
        </p:nvSpPr>
        <p:spPr>
          <a:xfrm>
            <a:off x="8229600" y="4626864"/>
            <a:ext cx="3246120" cy="237744"/>
          </a:xfrm>
          <a:prstGeom prst="rect">
            <a:avLst/>
          </a:prstGeom>
          <a:noFill/>
          <a:ln/>
        </p:spPr>
        <p:txBody>
          <a:bodyPr wrap="square" lIns="0" tIns="0" rIns="0" bIns="0" rtlCol="0" anchor="ctr"/>
          <a:lstStyle/>
          <a:p>
            <a:pPr indent="0" marL="0">
              <a:buNone/>
            </a:pPr>
            <a:r>
              <a:rPr lang="en-US" sz="950" b="1" spc="180" kern="0" dirty="0">
                <a:solidFill>
                  <a:srgbClr val="E0A458"/>
                </a:solidFill>
                <a:latin typeface="Arial" pitchFamily="34" charset="0"/>
                <a:ea typeface="Arial" pitchFamily="34" charset="-122"/>
                <a:cs typeface="Arial" pitchFamily="34" charset="-120"/>
              </a:rPr>
              <a:t>QUESTION FOR YOU</a:t>
            </a:r>
            <a:endParaRPr lang="en-US" sz="950" dirty="0"/>
          </a:p>
        </p:txBody>
      </p:sp>
      <p:sp>
        <p:nvSpPr>
          <p:cNvPr id="12" name="Text 9"/>
          <p:cNvSpPr txBox="1"/>
          <p:nvPr/>
        </p:nvSpPr>
        <p:spPr>
          <a:xfrm>
            <a:off x="8229600" y="4901184"/>
            <a:ext cx="3246120" cy="1371600"/>
          </a:xfrm>
          <a:prstGeom prst="rect">
            <a:avLst/>
          </a:prstGeom>
          <a:noFill/>
          <a:ln/>
        </p:spPr>
        <p:txBody>
          <a:bodyPr wrap="square" lIns="0" tIns="0" rIns="0" bIns="0" rtlCol="0" anchor="t"/>
          <a:lstStyle/>
          <a:p>
            <a:pPr indent="0" marL="0">
              <a:lnSpc>
                <a:spcPct val="118000"/>
              </a:lnSpc>
              <a:buNone/>
            </a:pPr>
            <a:r>
              <a:rPr lang="en-US" sz="1200" dirty="0">
                <a:solidFill>
                  <a:srgbClr val="F2F3F8"/>
                </a:solidFill>
                <a:latin typeface="Arial" pitchFamily="34" charset="0"/>
                <a:ea typeface="Arial" pitchFamily="34" charset="-122"/>
                <a:cs typeface="Arial" pitchFamily="34" charset="-120"/>
              </a:rPr>
              <a:t>This screen is built for the examiners. Does it stay in the product behind a flag, become an internal-only tool, or get cut once the exam is over?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SCREEN 5 OF 5</a:t>
            </a:r>
            <a:endParaRPr lang="en-US" sz="950" dirty="0"/>
          </a:p>
        </p:txBody>
      </p:sp>
      <p:sp>
        <p:nvSpPr>
          <p:cNvPr id="3" name="Text 1"/>
          <p:cNvSpPr txBox="1"/>
          <p:nvPr/>
        </p:nvSpPr>
        <p:spPr>
          <a:xfrm>
            <a:off x="502920" y="329184"/>
            <a:ext cx="6400800" cy="457200"/>
          </a:xfrm>
          <a:prstGeom prst="rect">
            <a:avLst/>
          </a:prstGeom>
          <a:noFill/>
          <a:ln/>
        </p:spPr>
        <p:txBody>
          <a:bodyPr wrap="square" lIns="0" tIns="0" rIns="0" bIns="0" rtlCol="0" anchor="ctr"/>
          <a:lstStyle/>
          <a:p>
            <a:pPr indent="0" marL="0">
              <a:buNone/>
            </a:pPr>
            <a:r>
              <a:rPr lang="en-US" sz="2500" b="1" dirty="0">
                <a:solidFill>
                  <a:srgbClr val="F2F3F8"/>
                </a:solidFill>
                <a:latin typeface="Arial" pitchFamily="34" charset="0"/>
                <a:ea typeface="Arial" pitchFamily="34" charset="-122"/>
                <a:cs typeface="Arial" pitchFamily="34" charset="-120"/>
              </a:rPr>
              <a:t>Learning loop</a:t>
            </a:r>
            <a:endParaRPr lang="en-US" sz="2500" dirty="0"/>
          </a:p>
        </p:txBody>
      </p:sp>
      <p:sp>
        <p:nvSpPr>
          <p:cNvPr id="4" name="Text 2"/>
          <p:cNvSpPr txBox="1"/>
          <p:nvPr/>
        </p:nvSpPr>
        <p:spPr>
          <a:xfrm>
            <a:off x="8001000" y="329184"/>
            <a:ext cx="3703320" cy="457200"/>
          </a:xfrm>
          <a:prstGeom prst="rect">
            <a:avLst/>
          </a:prstGeom>
          <a:noFill/>
          <a:ln/>
        </p:spPr>
        <p:txBody>
          <a:bodyPr wrap="square" lIns="0" tIns="0" rIns="0" bIns="0" rtlCol="0" anchor="ctr"/>
          <a:lstStyle/>
          <a:p>
            <a:pPr algn="r" indent="0" marL="0">
              <a:buNone/>
            </a:pPr>
            <a:r>
              <a:rPr lang="en-US" sz="1100" dirty="0">
                <a:solidFill>
                  <a:srgbClr val="6E7699"/>
                </a:solidFill>
                <a:latin typeface="Arial" pitchFamily="34" charset="0"/>
                <a:ea typeface="Arial" pitchFamily="34" charset="-122"/>
                <a:cs typeface="Arial" pitchFamily="34" charset="-120"/>
              </a:rPr>
              <a:t>/outcomes/…</a:t>
            </a:r>
            <a:endParaRPr lang="en-US" sz="1100" dirty="0"/>
          </a:p>
        </p:txBody>
      </p:sp>
      <p:pic>
        <p:nvPicPr>
          <p:cNvPr id="5" name="Image 0" descr="shots/5-loop.png">    </p:cNvPr>
          <p:cNvPicPr>
            <a:picLocks noChangeAspect="1"/>
          </p:cNvPicPr>
          <p:nvPr/>
        </p:nvPicPr>
        <p:blipFill>
          <a:blip r:embed="rId1"/>
          <a:stretch>
            <a:fillRect/>
          </a:stretch>
        </p:blipFill>
        <p:spPr>
          <a:xfrm>
            <a:off x="502920" y="859536"/>
            <a:ext cx="7315200" cy="5512003"/>
          </a:xfrm>
          <a:prstGeom prst="rect">
            <a:avLst/>
          </a:prstGeom>
        </p:spPr>
      </p:pic>
      <p:sp>
        <p:nvSpPr>
          <p:cNvPr id="6" name="Shape 3"/>
          <p:cNvSpPr/>
          <p:nvPr/>
        </p:nvSpPr>
        <p:spPr>
          <a:xfrm>
            <a:off x="502920" y="859536"/>
            <a:ext cx="7315200" cy="5512003"/>
          </a:xfrm>
          <a:prstGeom prst="rect">
            <a:avLst/>
          </a:prstGeom>
          <a:ln w="12700">
            <a:solidFill>
              <a:srgbClr val="3B4166"/>
            </a:solidFill>
            <a:prstDash val="solid"/>
          </a:ln>
        </p:spPr>
      </p:sp>
      <p:sp>
        <p:nvSpPr>
          <p:cNvPr id="7" name="Text 4"/>
          <p:cNvSpPr txBox="1"/>
          <p:nvPr/>
        </p:nvSpPr>
        <p:spPr>
          <a:xfrm>
            <a:off x="8001000" y="877824"/>
            <a:ext cx="3703320" cy="73152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A return is where the information is richest: a sentence becomes a specific, usable finding.</a:t>
            </a:r>
            <a:endParaRPr lang="en-US" sz="1250" dirty="0"/>
          </a:p>
        </p:txBody>
      </p:sp>
      <p:sp>
        <p:nvSpPr>
          <p:cNvPr id="8" name="Text 5"/>
          <p:cNvSpPr txBox="1"/>
          <p:nvPr/>
        </p:nvSpPr>
        <p:spPr>
          <a:xfrm>
            <a:off x="8001000" y="1719072"/>
            <a:ext cx="3703320" cy="237744"/>
          </a:xfrm>
          <a:prstGeom prst="rect">
            <a:avLst/>
          </a:prstGeom>
          <a:noFill/>
          <a:ln/>
        </p:spPr>
        <p:txBody>
          <a:bodyPr wrap="square" lIns="0" tIns="0" rIns="0" bIns="0" rtlCol="0" anchor="ctr"/>
          <a:lstStyle/>
          <a:p>
            <a:pPr indent="0" marL="0">
              <a:buNone/>
            </a:pPr>
            <a:r>
              <a:rPr lang="en-US" sz="950" b="1" spc="180" kern="0" dirty="0">
                <a:solidFill>
                  <a:srgbClr val="83B4DE"/>
                </a:solidFill>
                <a:latin typeface="Arial" pitchFamily="34" charset="0"/>
                <a:ea typeface="Arial" pitchFamily="34" charset="-122"/>
                <a:cs typeface="Arial" pitchFamily="34" charset="-120"/>
              </a:rPr>
              <a:t>WHAT TO LOOK AT</a:t>
            </a:r>
            <a:endParaRPr lang="en-US" sz="950" dirty="0"/>
          </a:p>
        </p:txBody>
      </p:sp>
      <p:sp>
        <p:nvSpPr>
          <p:cNvPr id="9" name="Text 6"/>
          <p:cNvSpPr txBox="1"/>
          <p:nvPr/>
        </p:nvSpPr>
        <p:spPr>
          <a:xfrm>
            <a:off x="8001000" y="2011680"/>
            <a:ext cx="3703320" cy="228600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A sentence in Italian becomes two specific findings, each quoting the words it came from</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The waist offset for this brand moves from −1.4 to −1.8 cm</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The recommendation flips from W31 to W32 — the loop closing, visibly</a:t>
            </a:r>
            <a:endParaRPr lang="en-US" sz="1150" dirty="0"/>
          </a:p>
          <a:p>
            <a:pPr marL="342900" indent="-342900">
              <a:spcAft>
                <a:spcPts val="700"/>
              </a:spcAft>
              <a:buSzPct val="100000"/>
              <a:buChar char="•"/>
            </a:pPr>
            <a:r>
              <a:rPr lang="en-US" sz="1150" dirty="0">
                <a:solidFill>
                  <a:srgbClr val="F2F3F8"/>
                </a:solidFill>
                <a:latin typeface="Arial" pitchFamily="34" charset="0"/>
                <a:ea typeface="Arial" pitchFamily="34" charset="-122"/>
                <a:cs typeface="Arial" pitchFamily="34" charset="-120"/>
              </a:rPr>
              <a:t>No size chart says this brand runs tight in the waist. Only the returns do</a:t>
            </a:r>
            <a:endParaRPr lang="en-US" sz="1150" dirty="0"/>
          </a:p>
        </p:txBody>
      </p:sp>
      <p:sp>
        <p:nvSpPr>
          <p:cNvPr id="10" name="Shape 7"/>
          <p:cNvSpPr/>
          <p:nvPr/>
        </p:nvSpPr>
        <p:spPr>
          <a:xfrm>
            <a:off x="8001000" y="4498848"/>
            <a:ext cx="3703320" cy="1874520"/>
          </a:xfrm>
          <a:prstGeom prst="roundRect">
            <a:avLst>
              <a:gd name="adj" fmla="val 2927"/>
            </a:avLst>
          </a:prstGeom>
          <a:solidFill>
            <a:srgbClr val="2F3355"/>
          </a:solidFill>
          <a:ln w="19050">
            <a:solidFill>
              <a:srgbClr val="E0A458"/>
            </a:solidFill>
            <a:prstDash val="solid"/>
          </a:ln>
        </p:spPr>
      </p:sp>
      <p:sp>
        <p:nvSpPr>
          <p:cNvPr id="11" name="Text 8"/>
          <p:cNvSpPr txBox="1"/>
          <p:nvPr/>
        </p:nvSpPr>
        <p:spPr>
          <a:xfrm>
            <a:off x="8229600" y="4626864"/>
            <a:ext cx="3246120" cy="237744"/>
          </a:xfrm>
          <a:prstGeom prst="rect">
            <a:avLst/>
          </a:prstGeom>
          <a:noFill/>
          <a:ln/>
        </p:spPr>
        <p:txBody>
          <a:bodyPr wrap="square" lIns="0" tIns="0" rIns="0" bIns="0" rtlCol="0" anchor="ctr"/>
          <a:lstStyle/>
          <a:p>
            <a:pPr indent="0" marL="0">
              <a:buNone/>
            </a:pPr>
            <a:r>
              <a:rPr lang="en-US" sz="950" b="1" spc="180" kern="0" dirty="0">
                <a:solidFill>
                  <a:srgbClr val="E0A458"/>
                </a:solidFill>
                <a:latin typeface="Arial" pitchFamily="34" charset="0"/>
                <a:ea typeface="Arial" pitchFamily="34" charset="-122"/>
                <a:cs typeface="Arial" pitchFamily="34" charset="-120"/>
              </a:rPr>
              <a:t>QUESTION FOR YOU</a:t>
            </a:r>
            <a:endParaRPr lang="en-US" sz="950" dirty="0"/>
          </a:p>
        </p:txBody>
      </p:sp>
      <p:sp>
        <p:nvSpPr>
          <p:cNvPr id="12" name="Text 9"/>
          <p:cNvSpPr txBox="1"/>
          <p:nvPr/>
        </p:nvSpPr>
        <p:spPr>
          <a:xfrm>
            <a:off x="8229600" y="4901184"/>
            <a:ext cx="3246120" cy="1371600"/>
          </a:xfrm>
          <a:prstGeom prst="rect">
            <a:avLst/>
          </a:prstGeom>
          <a:noFill/>
          <a:ln/>
        </p:spPr>
        <p:txBody>
          <a:bodyPr wrap="square" lIns="0" tIns="0" rIns="0" bIns="0" rtlCol="0" anchor="t"/>
          <a:lstStyle/>
          <a:p>
            <a:pPr indent="0" marL="0">
              <a:lnSpc>
                <a:spcPct val="118000"/>
              </a:lnSpc>
              <a:buNone/>
            </a:pPr>
            <a:r>
              <a:rPr lang="en-US" sz="1200" dirty="0">
                <a:solidFill>
                  <a:srgbClr val="F2F3F8"/>
                </a:solidFill>
                <a:latin typeface="Arial" pitchFamily="34" charset="0"/>
                <a:ea typeface="Arial" pitchFamily="34" charset="-122"/>
                <a:cs typeface="Arial" pitchFamily="34" charset="-120"/>
              </a:rPr>
              <a:t>Is watching the recommendation change convincing, or does it read as an unstable system? Would you rather see it as “what we learned this week” than as an instant flip?</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PLAN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Fourteen weeks: hardest part first, screens last</a:t>
            </a:r>
            <a:endParaRPr lang="en-US" sz="3000" dirty="0"/>
          </a:p>
        </p:txBody>
      </p:sp>
      <p:sp>
        <p:nvSpPr>
          <p:cNvPr id="4" name="Shape 2"/>
          <p:cNvSpPr/>
          <p:nvPr/>
        </p:nvSpPr>
        <p:spPr>
          <a:xfrm>
            <a:off x="502920" y="1517904"/>
            <a:ext cx="11185855" cy="457200"/>
          </a:xfrm>
          <a:prstGeom prst="roundRect">
            <a:avLst>
              <a:gd name="adj" fmla="val 12000"/>
            </a:avLst>
          </a:prstGeom>
          <a:solidFill>
            <a:srgbClr val="252943"/>
          </a:solidFill>
          <a:ln w="12700">
            <a:solidFill>
              <a:srgbClr val="252943"/>
            </a:solidFill>
            <a:prstDash val="solid"/>
          </a:ln>
        </p:spPr>
      </p:sp>
      <p:sp>
        <p:nvSpPr>
          <p:cNvPr id="5" name="Text 3"/>
          <p:cNvSpPr txBox="1"/>
          <p:nvPr/>
        </p:nvSpPr>
        <p:spPr>
          <a:xfrm>
            <a:off x="704088" y="151790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1–2</a:t>
            </a:r>
            <a:endParaRPr lang="en-US" sz="1300" dirty="0"/>
          </a:p>
        </p:txBody>
      </p:sp>
      <p:sp>
        <p:nvSpPr>
          <p:cNvPr id="6" name="Text 4"/>
          <p:cNvSpPr txBox="1"/>
          <p:nvPr/>
        </p:nvSpPr>
        <p:spPr>
          <a:xfrm>
            <a:off x="1874520" y="151790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From video to a measurement, once</a:t>
            </a:r>
            <a:endParaRPr lang="en-US" sz="1300" dirty="0"/>
          </a:p>
        </p:txBody>
      </p:sp>
      <p:sp>
        <p:nvSpPr>
          <p:cNvPr id="7" name="Text 5"/>
          <p:cNvSpPr txBox="1"/>
          <p:nvPr/>
        </p:nvSpPr>
        <p:spPr>
          <a:xfrm>
            <a:off x="5303520" y="151790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Measurement points checked on computer-made bodies. Deliverable: one error figure.</a:t>
            </a:r>
            <a:endParaRPr lang="en-US" sz="1150" dirty="0"/>
          </a:p>
        </p:txBody>
      </p:sp>
      <p:sp>
        <p:nvSpPr>
          <p:cNvPr id="8" name="Shape 6"/>
          <p:cNvSpPr/>
          <p:nvPr/>
        </p:nvSpPr>
        <p:spPr>
          <a:xfrm>
            <a:off x="502920" y="2043684"/>
            <a:ext cx="11185855" cy="457200"/>
          </a:xfrm>
          <a:prstGeom prst="roundRect">
            <a:avLst>
              <a:gd name="adj" fmla="val 12000"/>
            </a:avLst>
          </a:prstGeom>
          <a:solidFill>
            <a:srgbClr val="252943"/>
          </a:solidFill>
          <a:ln w="12700">
            <a:solidFill>
              <a:srgbClr val="252943"/>
            </a:solidFill>
            <a:prstDash val="solid"/>
          </a:ln>
        </p:spPr>
      </p:sp>
      <p:sp>
        <p:nvSpPr>
          <p:cNvPr id="9" name="Text 7"/>
          <p:cNvSpPr txBox="1"/>
          <p:nvPr/>
        </p:nvSpPr>
        <p:spPr>
          <a:xfrm>
            <a:off x="704088" y="204368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3</a:t>
            </a:r>
            <a:endParaRPr lang="en-US" sz="1300" dirty="0"/>
          </a:p>
        </p:txBody>
      </p:sp>
      <p:sp>
        <p:nvSpPr>
          <p:cNvPr id="10" name="Text 8"/>
          <p:cNvSpPr txBox="1"/>
          <p:nvPr/>
        </p:nvSpPr>
        <p:spPr>
          <a:xfrm>
            <a:off x="1874520" y="204368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Combining frames, and centimetres</a:t>
            </a:r>
            <a:endParaRPr lang="en-US" sz="1300" dirty="0"/>
          </a:p>
        </p:txBody>
      </p:sp>
      <p:sp>
        <p:nvSpPr>
          <p:cNvPr id="11" name="Text 9"/>
          <p:cNvSpPr txBox="1"/>
          <p:nvPr/>
        </p:nvSpPr>
        <p:spPr>
          <a:xfrm>
            <a:off x="5303520" y="204368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How the error falls as frames are added; first check against real people.</a:t>
            </a:r>
            <a:endParaRPr lang="en-US" sz="1150" dirty="0"/>
          </a:p>
        </p:txBody>
      </p:sp>
      <p:sp>
        <p:nvSpPr>
          <p:cNvPr id="12" name="Shape 10"/>
          <p:cNvSpPr/>
          <p:nvPr/>
        </p:nvSpPr>
        <p:spPr>
          <a:xfrm>
            <a:off x="502920" y="2569464"/>
            <a:ext cx="11185855" cy="457200"/>
          </a:xfrm>
          <a:prstGeom prst="roundRect">
            <a:avLst>
              <a:gd name="adj" fmla="val 12000"/>
            </a:avLst>
          </a:prstGeom>
          <a:solidFill>
            <a:srgbClr val="3A3A62"/>
          </a:solidFill>
          <a:ln w="12700">
            <a:solidFill>
              <a:srgbClr val="3A3A62"/>
            </a:solidFill>
            <a:prstDash val="solid"/>
          </a:ln>
        </p:spPr>
      </p:sp>
      <p:sp>
        <p:nvSpPr>
          <p:cNvPr id="13" name="Shape 11"/>
          <p:cNvSpPr/>
          <p:nvPr/>
        </p:nvSpPr>
        <p:spPr>
          <a:xfrm>
            <a:off x="502920" y="2569464"/>
            <a:ext cx="11185855" cy="457200"/>
          </a:xfrm>
          <a:prstGeom prst="roundRect">
            <a:avLst>
              <a:gd name="adj" fmla="val 10000"/>
            </a:avLst>
          </a:prstGeom>
          <a:solidFill>
            <a:srgbClr val="3A3A62"/>
          </a:solidFill>
          <a:ln w="19050">
            <a:solidFill>
              <a:srgbClr val="E0A458"/>
            </a:solidFill>
            <a:prstDash val="solid"/>
          </a:ln>
        </p:spPr>
      </p:sp>
      <p:sp>
        <p:nvSpPr>
          <p:cNvPr id="14" name="Text 12"/>
          <p:cNvSpPr txBox="1"/>
          <p:nvPr/>
        </p:nvSpPr>
        <p:spPr>
          <a:xfrm>
            <a:off x="704088" y="2569464"/>
            <a:ext cx="1051560" cy="457200"/>
          </a:xfrm>
          <a:prstGeom prst="rect">
            <a:avLst/>
          </a:prstGeom>
          <a:noFill/>
          <a:ln/>
        </p:spPr>
        <p:txBody>
          <a:bodyPr wrap="square" lIns="0" tIns="0" rIns="0" bIns="0" rtlCol="0" anchor="ctr"/>
          <a:lstStyle/>
          <a:p>
            <a:pPr indent="0" marL="0">
              <a:buNone/>
            </a:pPr>
            <a:r>
              <a:rPr lang="en-US" sz="1150" b="1" dirty="0">
                <a:solidFill>
                  <a:srgbClr val="E0A458"/>
                </a:solidFill>
                <a:latin typeface="Arial" pitchFamily="34" charset="0"/>
                <a:ea typeface="Arial" pitchFamily="34" charset="-122"/>
                <a:cs typeface="Arial" pitchFamily="34" charset="-120"/>
              </a:rPr>
              <a:t>GATE</a:t>
            </a:r>
            <a:endParaRPr lang="en-US" sz="1150" dirty="0"/>
          </a:p>
        </p:txBody>
      </p:sp>
      <p:sp>
        <p:nvSpPr>
          <p:cNvPr id="15" name="Text 13"/>
          <p:cNvSpPr txBox="1"/>
          <p:nvPr/>
        </p:nvSpPr>
        <p:spPr>
          <a:xfrm>
            <a:off x="1874520" y="256946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Decision point</a:t>
            </a:r>
            <a:endParaRPr lang="en-US" sz="1300" dirty="0"/>
          </a:p>
        </p:txBody>
      </p:sp>
      <p:sp>
        <p:nvSpPr>
          <p:cNvPr id="16" name="Text 14"/>
          <p:cNvSpPr txBox="1"/>
          <p:nvPr/>
        </p:nvSpPr>
        <p:spPr>
          <a:xfrm>
            <a:off x="5303520" y="256946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Worse than about 3 cm on the leg? Switch to a simpler method. Same agents either way.</a:t>
            </a:r>
            <a:endParaRPr lang="en-US" sz="1150" dirty="0"/>
          </a:p>
        </p:txBody>
      </p:sp>
      <p:sp>
        <p:nvSpPr>
          <p:cNvPr id="17" name="Shape 15"/>
          <p:cNvSpPr/>
          <p:nvPr/>
        </p:nvSpPr>
        <p:spPr>
          <a:xfrm>
            <a:off x="502920" y="3095244"/>
            <a:ext cx="11185855" cy="457200"/>
          </a:xfrm>
          <a:prstGeom prst="roundRect">
            <a:avLst>
              <a:gd name="adj" fmla="val 12000"/>
            </a:avLst>
          </a:prstGeom>
          <a:solidFill>
            <a:srgbClr val="252943"/>
          </a:solidFill>
          <a:ln w="12700">
            <a:solidFill>
              <a:srgbClr val="252943"/>
            </a:solidFill>
            <a:prstDash val="solid"/>
          </a:ln>
        </p:spPr>
      </p:sp>
      <p:sp>
        <p:nvSpPr>
          <p:cNvPr id="18" name="Text 16"/>
          <p:cNvSpPr txBox="1"/>
          <p:nvPr/>
        </p:nvSpPr>
        <p:spPr>
          <a:xfrm>
            <a:off x="704088" y="309524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4–5</a:t>
            </a:r>
            <a:endParaRPr lang="en-US" sz="1300" dirty="0"/>
          </a:p>
        </p:txBody>
      </p:sp>
      <p:sp>
        <p:nvSpPr>
          <p:cNvPr id="19" name="Text 17"/>
          <p:cNvSpPr txBox="1"/>
          <p:nvPr/>
        </p:nvSpPr>
        <p:spPr>
          <a:xfrm>
            <a:off x="1874520" y="309524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Coach, sanity check, calculator</a:t>
            </a:r>
            <a:endParaRPr lang="en-US" sz="1300" dirty="0"/>
          </a:p>
        </p:txBody>
      </p:sp>
      <p:sp>
        <p:nvSpPr>
          <p:cNvPr id="20" name="Text 18"/>
          <p:cNvSpPr txBox="1"/>
          <p:nvPr/>
        </p:nvSpPr>
        <p:spPr>
          <a:xfrm>
            <a:off x="5303520" y="309524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Agents 1 and 2, the set of bad clips, the tolerance ranges, three brands loaded by hand.</a:t>
            </a:r>
            <a:endParaRPr lang="en-US" sz="1150" dirty="0"/>
          </a:p>
        </p:txBody>
      </p:sp>
      <p:sp>
        <p:nvSpPr>
          <p:cNvPr id="21" name="Shape 19"/>
          <p:cNvSpPr/>
          <p:nvPr/>
        </p:nvSpPr>
        <p:spPr>
          <a:xfrm>
            <a:off x="502920" y="3621024"/>
            <a:ext cx="11185855" cy="457200"/>
          </a:xfrm>
          <a:prstGeom prst="roundRect">
            <a:avLst>
              <a:gd name="adj" fmla="val 12000"/>
            </a:avLst>
          </a:prstGeom>
          <a:solidFill>
            <a:srgbClr val="252943"/>
          </a:solidFill>
          <a:ln w="12700">
            <a:solidFill>
              <a:srgbClr val="252943"/>
            </a:solidFill>
            <a:prstDash val="solid"/>
          </a:ln>
        </p:spPr>
      </p:sp>
      <p:sp>
        <p:nvSpPr>
          <p:cNvPr id="22" name="Text 20"/>
          <p:cNvSpPr txBox="1"/>
          <p:nvPr/>
        </p:nvSpPr>
        <p:spPr>
          <a:xfrm>
            <a:off x="704088" y="362102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6–7</a:t>
            </a:r>
            <a:endParaRPr lang="en-US" sz="1300" dirty="0"/>
          </a:p>
        </p:txBody>
      </p:sp>
      <p:sp>
        <p:nvSpPr>
          <p:cNvPr id="23" name="Text 21"/>
          <p:cNvSpPr txBox="1"/>
          <p:nvPr/>
        </p:nvSpPr>
        <p:spPr>
          <a:xfrm>
            <a:off x="1874520" y="362102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Toolbox, size charts, returns</a:t>
            </a:r>
            <a:endParaRPr lang="en-US" sz="1300" dirty="0"/>
          </a:p>
        </p:txBody>
      </p:sp>
      <p:sp>
        <p:nvSpPr>
          <p:cNvPr id="24" name="Text 22"/>
          <p:cNvSpPr txBox="1"/>
          <p:nvPr/>
        </p:nvSpPr>
        <p:spPr>
          <a:xfrm>
            <a:off x="5303520" y="362102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calculator wired up as tools. Label the 50 size charts — the dullest week; do not let it slip.</a:t>
            </a:r>
            <a:endParaRPr lang="en-US" sz="1150" dirty="0"/>
          </a:p>
        </p:txBody>
      </p:sp>
      <p:sp>
        <p:nvSpPr>
          <p:cNvPr id="25" name="Shape 23"/>
          <p:cNvSpPr/>
          <p:nvPr/>
        </p:nvSpPr>
        <p:spPr>
          <a:xfrm>
            <a:off x="502920" y="4146804"/>
            <a:ext cx="11185855" cy="457200"/>
          </a:xfrm>
          <a:prstGeom prst="roundRect">
            <a:avLst>
              <a:gd name="adj" fmla="val 12000"/>
            </a:avLst>
          </a:prstGeom>
          <a:solidFill>
            <a:srgbClr val="252943"/>
          </a:solidFill>
          <a:ln w="12700">
            <a:solidFill>
              <a:srgbClr val="252943"/>
            </a:solidFill>
            <a:prstDash val="solid"/>
          </a:ln>
        </p:spPr>
      </p:sp>
      <p:sp>
        <p:nvSpPr>
          <p:cNvPr id="26" name="Text 24"/>
          <p:cNvSpPr txBox="1"/>
          <p:nvPr/>
        </p:nvSpPr>
        <p:spPr>
          <a:xfrm>
            <a:off x="704088" y="414680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8–9</a:t>
            </a:r>
            <a:endParaRPr lang="en-US" sz="1300" dirty="0"/>
          </a:p>
        </p:txBody>
      </p:sp>
      <p:sp>
        <p:nvSpPr>
          <p:cNvPr id="27" name="Text 25"/>
          <p:cNvSpPr txBox="1"/>
          <p:nvPr/>
        </p:nvSpPr>
        <p:spPr>
          <a:xfrm>
            <a:off x="1874520" y="414680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Wiring it together, and testing</a:t>
            </a:r>
            <a:endParaRPr lang="en-US" sz="1300" dirty="0"/>
          </a:p>
        </p:txBody>
      </p:sp>
      <p:sp>
        <p:nvSpPr>
          <p:cNvPr id="28" name="Text 26"/>
          <p:cNvSpPr txBox="1"/>
          <p:nvPr/>
        </p:nvSpPr>
        <p:spPr>
          <a:xfrm>
            <a:off x="5303520" y="414680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All six agents connected, every run traced, all three test sets running.</a:t>
            </a:r>
            <a:endParaRPr lang="en-US" sz="1150" dirty="0"/>
          </a:p>
        </p:txBody>
      </p:sp>
      <p:sp>
        <p:nvSpPr>
          <p:cNvPr id="29" name="Shape 27"/>
          <p:cNvSpPr/>
          <p:nvPr/>
        </p:nvSpPr>
        <p:spPr>
          <a:xfrm>
            <a:off x="502920" y="4672584"/>
            <a:ext cx="11185855" cy="457200"/>
          </a:xfrm>
          <a:prstGeom prst="roundRect">
            <a:avLst>
              <a:gd name="adj" fmla="val 12000"/>
            </a:avLst>
          </a:prstGeom>
          <a:solidFill>
            <a:srgbClr val="252943"/>
          </a:solidFill>
          <a:ln w="12700">
            <a:solidFill>
              <a:srgbClr val="252943"/>
            </a:solidFill>
            <a:prstDash val="solid"/>
          </a:ln>
        </p:spPr>
      </p:sp>
      <p:sp>
        <p:nvSpPr>
          <p:cNvPr id="30" name="Text 28"/>
          <p:cNvSpPr txBox="1"/>
          <p:nvPr/>
        </p:nvSpPr>
        <p:spPr>
          <a:xfrm>
            <a:off x="704088" y="467258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10</a:t>
            </a:r>
            <a:endParaRPr lang="en-US" sz="1300" dirty="0"/>
          </a:p>
        </p:txBody>
      </p:sp>
      <p:sp>
        <p:nvSpPr>
          <p:cNvPr id="31" name="Text 29"/>
          <p:cNvSpPr txBox="1"/>
          <p:nvPr/>
        </p:nvSpPr>
        <p:spPr>
          <a:xfrm>
            <a:off x="1874520" y="467258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experiments that answer questions</a:t>
            </a:r>
            <a:endParaRPr lang="en-US" sz="1300" dirty="0"/>
          </a:p>
        </p:txBody>
      </p:sp>
      <p:sp>
        <p:nvSpPr>
          <p:cNvPr id="32" name="Text 30"/>
          <p:cNvSpPr txBox="1"/>
          <p:nvPr/>
        </p:nvSpPr>
        <p:spPr>
          <a:xfrm>
            <a:off x="5303520" y="467258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comparison experiments, the cost curves, the learning study.</a:t>
            </a:r>
            <a:endParaRPr lang="en-US" sz="1150" dirty="0"/>
          </a:p>
        </p:txBody>
      </p:sp>
      <p:sp>
        <p:nvSpPr>
          <p:cNvPr id="33" name="Shape 31"/>
          <p:cNvSpPr/>
          <p:nvPr/>
        </p:nvSpPr>
        <p:spPr>
          <a:xfrm>
            <a:off x="502920" y="5198364"/>
            <a:ext cx="11185855" cy="457200"/>
          </a:xfrm>
          <a:prstGeom prst="roundRect">
            <a:avLst>
              <a:gd name="adj" fmla="val 12000"/>
            </a:avLst>
          </a:prstGeom>
          <a:solidFill>
            <a:srgbClr val="252943"/>
          </a:solidFill>
          <a:ln w="12700">
            <a:solidFill>
              <a:srgbClr val="252943"/>
            </a:solidFill>
            <a:prstDash val="solid"/>
          </a:ln>
        </p:spPr>
      </p:sp>
      <p:sp>
        <p:nvSpPr>
          <p:cNvPr id="34" name="Text 32"/>
          <p:cNvSpPr txBox="1"/>
          <p:nvPr/>
        </p:nvSpPr>
        <p:spPr>
          <a:xfrm>
            <a:off x="704088" y="519836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11–13</a:t>
            </a:r>
            <a:endParaRPr lang="en-US" sz="1300" dirty="0"/>
          </a:p>
        </p:txBody>
      </p:sp>
      <p:sp>
        <p:nvSpPr>
          <p:cNvPr id="35" name="Text 33"/>
          <p:cNvSpPr txBox="1"/>
          <p:nvPr/>
        </p:nvSpPr>
        <p:spPr>
          <a:xfrm>
            <a:off x="1874520" y="519836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screens</a:t>
            </a:r>
            <a:endParaRPr lang="en-US" sz="1300" dirty="0"/>
          </a:p>
        </p:txBody>
      </p:sp>
      <p:sp>
        <p:nvSpPr>
          <p:cNvPr id="36" name="Text 34"/>
          <p:cNvSpPr txBox="1"/>
          <p:nvPr/>
        </p:nvSpPr>
        <p:spPr>
          <a:xfrm>
            <a:off x="5303520" y="519836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five screens, live updates, the 3D leg, and replay mode.</a:t>
            </a:r>
            <a:endParaRPr lang="en-US" sz="1150" dirty="0"/>
          </a:p>
        </p:txBody>
      </p:sp>
      <p:sp>
        <p:nvSpPr>
          <p:cNvPr id="37" name="Shape 35"/>
          <p:cNvSpPr/>
          <p:nvPr/>
        </p:nvSpPr>
        <p:spPr>
          <a:xfrm>
            <a:off x="502920" y="5724144"/>
            <a:ext cx="11185855" cy="457200"/>
          </a:xfrm>
          <a:prstGeom prst="roundRect">
            <a:avLst>
              <a:gd name="adj" fmla="val 12000"/>
            </a:avLst>
          </a:prstGeom>
          <a:solidFill>
            <a:srgbClr val="252943"/>
          </a:solidFill>
          <a:ln w="12700">
            <a:solidFill>
              <a:srgbClr val="252943"/>
            </a:solidFill>
            <a:prstDash val="solid"/>
          </a:ln>
        </p:spPr>
      </p:sp>
      <p:sp>
        <p:nvSpPr>
          <p:cNvPr id="38" name="Text 36"/>
          <p:cNvSpPr txBox="1"/>
          <p:nvPr/>
        </p:nvSpPr>
        <p:spPr>
          <a:xfrm>
            <a:off x="704088" y="572414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14</a:t>
            </a:r>
            <a:endParaRPr lang="en-US" sz="1300" dirty="0"/>
          </a:p>
        </p:txBody>
      </p:sp>
      <p:sp>
        <p:nvSpPr>
          <p:cNvPr id="39" name="Text 37"/>
          <p:cNvSpPr txBox="1"/>
          <p:nvPr/>
        </p:nvSpPr>
        <p:spPr>
          <a:xfrm>
            <a:off x="1874520" y="572414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Write-up and buffer</a:t>
            </a:r>
            <a:endParaRPr lang="en-US" sz="1300" dirty="0"/>
          </a:p>
        </p:txBody>
      </p:sp>
      <p:sp>
        <p:nvSpPr>
          <p:cNvPr id="40" name="Text 38"/>
          <p:cNvSpPr txBox="1"/>
          <p:nvPr/>
        </p:nvSpPr>
        <p:spPr>
          <a:xfrm>
            <a:off x="5303520" y="572414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Figures from committed CSVs. Something in weeks 6–9 will overrun.</a:t>
            </a:r>
            <a:endParaRPr lang="en-US" sz="1150" dirty="0"/>
          </a:p>
        </p:txBody>
      </p:sp>
      <p:sp>
        <p:nvSpPr>
          <p:cNvPr id="41" name="Text 39"/>
          <p:cNvSpPr txBox="1"/>
          <p:nvPr/>
        </p:nvSpPr>
        <p:spPr>
          <a:xfrm>
            <a:off x="502920" y="6309360"/>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Decide at week 3, not at week 9 — that is the difference between a project delivered and a project rescued.</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SCOPE DISCIPLINE</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What this project does not build</a:t>
            </a:r>
            <a:endParaRPr lang="en-US" sz="3000" dirty="0"/>
          </a:p>
        </p:txBody>
      </p:sp>
      <p:sp>
        <p:nvSpPr>
          <p:cNvPr id="4" name="Shape 2"/>
          <p:cNvSpPr/>
          <p:nvPr/>
        </p:nvSpPr>
        <p:spPr>
          <a:xfrm>
            <a:off x="502920" y="1627632"/>
            <a:ext cx="5394960" cy="1133856"/>
          </a:xfrm>
          <a:prstGeom prst="roundRect">
            <a:avLst>
              <a:gd name="adj" fmla="val 4839"/>
            </a:avLst>
          </a:prstGeom>
          <a:solidFill>
            <a:srgbClr val="252943"/>
          </a:solidFill>
          <a:ln w="12700">
            <a:solidFill>
              <a:srgbClr val="252943"/>
            </a:solidFill>
            <a:prstDash val="solid"/>
          </a:ln>
        </p:spPr>
      </p:sp>
      <p:sp>
        <p:nvSpPr>
          <p:cNvPr id="5" name="Shape 3"/>
          <p:cNvSpPr/>
          <p:nvPr/>
        </p:nvSpPr>
        <p:spPr>
          <a:xfrm>
            <a:off x="813816" y="1938528"/>
            <a:ext cx="310896" cy="310896"/>
          </a:xfrm>
          <a:prstGeom prst="ellipse">
            <a:avLst/>
          </a:prstGeom>
          <a:solidFill>
            <a:srgbClr val="3A2530"/>
          </a:solidFill>
          <a:ln w="15875">
            <a:solidFill>
              <a:srgbClr val="EC8079"/>
            </a:solidFill>
            <a:prstDash val="solid"/>
          </a:ln>
        </p:spPr>
      </p:sp>
      <p:sp>
        <p:nvSpPr>
          <p:cNvPr id="6" name="Text 4"/>
          <p:cNvSpPr txBox="1"/>
          <p:nvPr/>
        </p:nvSpPr>
        <p:spPr>
          <a:xfrm>
            <a:off x="813816" y="1938528"/>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7" name="Text 5"/>
          <p:cNvSpPr txBox="1"/>
          <p:nvPr/>
        </p:nvSpPr>
        <p:spPr>
          <a:xfrm>
            <a:off x="1289304" y="1865376"/>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Train our own 3D body model</a:t>
            </a:r>
            <a:endParaRPr lang="en-US" sz="1450" dirty="0"/>
          </a:p>
        </p:txBody>
      </p:sp>
      <p:sp>
        <p:nvSpPr>
          <p:cNvPr id="8" name="Text 6"/>
          <p:cNvSpPr txBox="1"/>
          <p:nvPr/>
        </p:nvSpPr>
        <p:spPr>
          <a:xfrm>
            <a:off x="1289304" y="2176272"/>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We use an existing one as it comes. Training one is a PhD, not an MVP.</a:t>
            </a:r>
            <a:endParaRPr lang="en-US" sz="1150" dirty="0"/>
          </a:p>
        </p:txBody>
      </p:sp>
      <p:sp>
        <p:nvSpPr>
          <p:cNvPr id="9" name="Shape 7"/>
          <p:cNvSpPr/>
          <p:nvPr/>
        </p:nvSpPr>
        <p:spPr>
          <a:xfrm>
            <a:off x="6281928" y="1627632"/>
            <a:ext cx="5394960" cy="1133856"/>
          </a:xfrm>
          <a:prstGeom prst="roundRect">
            <a:avLst>
              <a:gd name="adj" fmla="val 4839"/>
            </a:avLst>
          </a:prstGeom>
          <a:solidFill>
            <a:srgbClr val="252943"/>
          </a:solidFill>
          <a:ln w="12700">
            <a:solidFill>
              <a:srgbClr val="252943"/>
            </a:solidFill>
            <a:prstDash val="solid"/>
          </a:ln>
        </p:spPr>
      </p:sp>
      <p:sp>
        <p:nvSpPr>
          <p:cNvPr id="10" name="Shape 8"/>
          <p:cNvSpPr/>
          <p:nvPr/>
        </p:nvSpPr>
        <p:spPr>
          <a:xfrm>
            <a:off x="6592824" y="1938528"/>
            <a:ext cx="310896" cy="310896"/>
          </a:xfrm>
          <a:prstGeom prst="ellipse">
            <a:avLst/>
          </a:prstGeom>
          <a:solidFill>
            <a:srgbClr val="3A2530"/>
          </a:solidFill>
          <a:ln w="15875">
            <a:solidFill>
              <a:srgbClr val="EC8079"/>
            </a:solidFill>
            <a:prstDash val="solid"/>
          </a:ln>
        </p:spPr>
      </p:sp>
      <p:sp>
        <p:nvSpPr>
          <p:cNvPr id="11" name="Text 9"/>
          <p:cNvSpPr txBox="1"/>
          <p:nvPr/>
        </p:nvSpPr>
        <p:spPr>
          <a:xfrm>
            <a:off x="6592824" y="1938528"/>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12" name="Text 10"/>
          <p:cNvSpPr txBox="1"/>
          <p:nvPr/>
        </p:nvSpPr>
        <p:spPr>
          <a:xfrm>
            <a:off x="7068312" y="1865376"/>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A full 3D scan of the person</a:t>
            </a:r>
            <a:endParaRPr lang="en-US" sz="1450" dirty="0"/>
          </a:p>
        </p:txBody>
      </p:sp>
      <p:sp>
        <p:nvSpPr>
          <p:cNvPr id="13" name="Text 11"/>
          <p:cNvSpPr txBox="1"/>
          <p:nvPr/>
        </p:nvSpPr>
        <p:spPr>
          <a:xfrm>
            <a:off x="7068312" y="2176272"/>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Needs many steady views, and the result is hard to measure reliably.</a:t>
            </a:r>
            <a:endParaRPr lang="en-US" sz="1150" dirty="0"/>
          </a:p>
        </p:txBody>
      </p:sp>
      <p:sp>
        <p:nvSpPr>
          <p:cNvPr id="14" name="Shape 12"/>
          <p:cNvSpPr/>
          <p:nvPr/>
        </p:nvSpPr>
        <p:spPr>
          <a:xfrm>
            <a:off x="502920" y="2944368"/>
            <a:ext cx="5394960" cy="1133856"/>
          </a:xfrm>
          <a:prstGeom prst="roundRect">
            <a:avLst>
              <a:gd name="adj" fmla="val 4839"/>
            </a:avLst>
          </a:prstGeom>
          <a:solidFill>
            <a:srgbClr val="252943"/>
          </a:solidFill>
          <a:ln w="12700">
            <a:solidFill>
              <a:srgbClr val="252943"/>
            </a:solidFill>
            <a:prstDash val="solid"/>
          </a:ln>
        </p:spPr>
      </p:sp>
      <p:sp>
        <p:nvSpPr>
          <p:cNvPr id="15" name="Shape 13"/>
          <p:cNvSpPr/>
          <p:nvPr/>
        </p:nvSpPr>
        <p:spPr>
          <a:xfrm>
            <a:off x="813816" y="3255264"/>
            <a:ext cx="310896" cy="310896"/>
          </a:xfrm>
          <a:prstGeom prst="ellipse">
            <a:avLst/>
          </a:prstGeom>
          <a:solidFill>
            <a:srgbClr val="3A2530"/>
          </a:solidFill>
          <a:ln w="15875">
            <a:solidFill>
              <a:srgbClr val="EC8079"/>
            </a:solidFill>
            <a:prstDash val="solid"/>
          </a:ln>
        </p:spPr>
      </p:sp>
      <p:sp>
        <p:nvSpPr>
          <p:cNvPr id="16" name="Text 14"/>
          <p:cNvSpPr txBox="1"/>
          <p:nvPr/>
        </p:nvSpPr>
        <p:spPr>
          <a:xfrm>
            <a:off x="813816" y="3255264"/>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17" name="Text 15"/>
          <p:cNvSpPr txBox="1"/>
          <p:nvPr/>
        </p:nvSpPr>
        <p:spPr>
          <a:xfrm>
            <a:off x="1289304" y="3182112"/>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Simulating the fabric</a:t>
            </a:r>
            <a:endParaRPr lang="en-US" sz="1450" dirty="0"/>
          </a:p>
        </p:txBody>
      </p:sp>
      <p:sp>
        <p:nvSpPr>
          <p:cNvPr id="18" name="Text 16"/>
          <p:cNvSpPr txBox="1"/>
          <p:nvPr/>
        </p:nvSpPr>
        <p:spPr>
          <a:xfrm>
            <a:off x="1289304" y="3493008"/>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The 3D leg exists to measure, not to dress.</a:t>
            </a:r>
            <a:endParaRPr lang="en-US" sz="1150" dirty="0"/>
          </a:p>
        </p:txBody>
      </p:sp>
      <p:sp>
        <p:nvSpPr>
          <p:cNvPr id="19" name="Shape 17"/>
          <p:cNvSpPr/>
          <p:nvPr/>
        </p:nvSpPr>
        <p:spPr>
          <a:xfrm>
            <a:off x="6281928" y="2944368"/>
            <a:ext cx="5394960" cy="1133856"/>
          </a:xfrm>
          <a:prstGeom prst="roundRect">
            <a:avLst>
              <a:gd name="adj" fmla="val 4839"/>
            </a:avLst>
          </a:prstGeom>
          <a:solidFill>
            <a:srgbClr val="252943"/>
          </a:solidFill>
          <a:ln w="12700">
            <a:solidFill>
              <a:srgbClr val="252943"/>
            </a:solidFill>
            <a:prstDash val="solid"/>
          </a:ln>
        </p:spPr>
      </p:sp>
      <p:sp>
        <p:nvSpPr>
          <p:cNvPr id="20" name="Shape 18"/>
          <p:cNvSpPr/>
          <p:nvPr/>
        </p:nvSpPr>
        <p:spPr>
          <a:xfrm>
            <a:off x="6592824" y="3255264"/>
            <a:ext cx="310896" cy="310896"/>
          </a:xfrm>
          <a:prstGeom prst="ellipse">
            <a:avLst/>
          </a:prstGeom>
          <a:solidFill>
            <a:srgbClr val="3A2530"/>
          </a:solidFill>
          <a:ln w="15875">
            <a:solidFill>
              <a:srgbClr val="EC8079"/>
            </a:solidFill>
            <a:prstDash val="solid"/>
          </a:ln>
        </p:spPr>
      </p:sp>
      <p:sp>
        <p:nvSpPr>
          <p:cNvPr id="21" name="Text 19"/>
          <p:cNvSpPr txBox="1"/>
          <p:nvPr/>
        </p:nvSpPr>
        <p:spPr>
          <a:xfrm>
            <a:off x="6592824" y="3255264"/>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22" name="Text 20"/>
          <p:cNvSpPr txBox="1"/>
          <p:nvPr/>
        </p:nvSpPr>
        <p:spPr>
          <a:xfrm>
            <a:off x="7068312" y="3182112"/>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Plugging into a shop's systems</a:t>
            </a:r>
            <a:endParaRPr lang="en-US" sz="1450" dirty="0"/>
          </a:p>
        </p:txBody>
      </p:sp>
      <p:sp>
        <p:nvSpPr>
          <p:cNvPr id="23" name="Text 21"/>
          <p:cNvSpPr txBox="1"/>
          <p:nvPr/>
        </p:nvSpPr>
        <p:spPr>
          <a:xfrm>
            <a:off x="7068312" y="3493008"/>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We have no access to real orders yet, so the feedback comes from public data.</a:t>
            </a:r>
            <a:endParaRPr lang="en-US" sz="1150" dirty="0"/>
          </a:p>
        </p:txBody>
      </p:sp>
      <p:sp>
        <p:nvSpPr>
          <p:cNvPr id="24" name="Shape 22"/>
          <p:cNvSpPr/>
          <p:nvPr/>
        </p:nvSpPr>
        <p:spPr>
          <a:xfrm>
            <a:off x="502920" y="4261104"/>
            <a:ext cx="5394960" cy="1133856"/>
          </a:xfrm>
          <a:prstGeom prst="roundRect">
            <a:avLst>
              <a:gd name="adj" fmla="val 4839"/>
            </a:avLst>
          </a:prstGeom>
          <a:solidFill>
            <a:srgbClr val="252943"/>
          </a:solidFill>
          <a:ln w="12700">
            <a:solidFill>
              <a:srgbClr val="252943"/>
            </a:solidFill>
            <a:prstDash val="solid"/>
          </a:ln>
        </p:spPr>
      </p:sp>
      <p:sp>
        <p:nvSpPr>
          <p:cNvPr id="25" name="Shape 23"/>
          <p:cNvSpPr/>
          <p:nvPr/>
        </p:nvSpPr>
        <p:spPr>
          <a:xfrm>
            <a:off x="813816" y="4572000"/>
            <a:ext cx="310896" cy="310896"/>
          </a:xfrm>
          <a:prstGeom prst="ellipse">
            <a:avLst/>
          </a:prstGeom>
          <a:solidFill>
            <a:srgbClr val="3A2530"/>
          </a:solidFill>
          <a:ln w="15875">
            <a:solidFill>
              <a:srgbClr val="EC8079"/>
            </a:solidFill>
            <a:prstDash val="solid"/>
          </a:ln>
        </p:spPr>
      </p:sp>
      <p:sp>
        <p:nvSpPr>
          <p:cNvPr id="26" name="Text 24"/>
          <p:cNvSpPr txBox="1"/>
          <p:nvPr/>
        </p:nvSpPr>
        <p:spPr>
          <a:xfrm>
            <a:off x="813816" y="4572000"/>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27" name="Text 25"/>
          <p:cNvSpPr txBox="1"/>
          <p:nvPr/>
        </p:nvSpPr>
        <p:spPr>
          <a:xfrm>
            <a:off x="1289304" y="4498848"/>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Payments and checkout</a:t>
            </a:r>
            <a:endParaRPr lang="en-US" sz="1450" dirty="0"/>
          </a:p>
        </p:txBody>
      </p:sp>
      <p:sp>
        <p:nvSpPr>
          <p:cNvPr id="28" name="Text 26"/>
          <p:cNvSpPr txBox="1"/>
          <p:nvPr/>
        </p:nvSpPr>
        <p:spPr>
          <a:xfrm>
            <a:off x="1289304" y="4809744"/>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Faked, and openly labelled as faked.</a:t>
            </a:r>
            <a:endParaRPr lang="en-US" sz="1150" dirty="0"/>
          </a:p>
        </p:txBody>
      </p:sp>
      <p:sp>
        <p:nvSpPr>
          <p:cNvPr id="29" name="Shape 27"/>
          <p:cNvSpPr/>
          <p:nvPr/>
        </p:nvSpPr>
        <p:spPr>
          <a:xfrm>
            <a:off x="6281928" y="4261104"/>
            <a:ext cx="5394960" cy="1133856"/>
          </a:xfrm>
          <a:prstGeom prst="roundRect">
            <a:avLst>
              <a:gd name="adj" fmla="val 4839"/>
            </a:avLst>
          </a:prstGeom>
          <a:solidFill>
            <a:srgbClr val="252943"/>
          </a:solidFill>
          <a:ln w="12700">
            <a:solidFill>
              <a:srgbClr val="252943"/>
            </a:solidFill>
            <a:prstDash val="solid"/>
          </a:ln>
        </p:spPr>
      </p:sp>
      <p:sp>
        <p:nvSpPr>
          <p:cNvPr id="30" name="Shape 28"/>
          <p:cNvSpPr/>
          <p:nvPr/>
        </p:nvSpPr>
        <p:spPr>
          <a:xfrm>
            <a:off x="6592824" y="4572000"/>
            <a:ext cx="310896" cy="310896"/>
          </a:xfrm>
          <a:prstGeom prst="ellipse">
            <a:avLst/>
          </a:prstGeom>
          <a:solidFill>
            <a:srgbClr val="3A2530"/>
          </a:solidFill>
          <a:ln w="15875">
            <a:solidFill>
              <a:srgbClr val="EC8079"/>
            </a:solidFill>
            <a:prstDash val="solid"/>
          </a:ln>
        </p:spPr>
      </p:sp>
      <p:sp>
        <p:nvSpPr>
          <p:cNvPr id="31" name="Text 29"/>
          <p:cNvSpPr txBox="1"/>
          <p:nvPr/>
        </p:nvSpPr>
        <p:spPr>
          <a:xfrm>
            <a:off x="6592824" y="4572000"/>
            <a:ext cx="310896" cy="310896"/>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a:t>
            </a:r>
            <a:endParaRPr lang="en-US" sz="1100" dirty="0"/>
          </a:p>
        </p:txBody>
      </p:sp>
      <p:sp>
        <p:nvSpPr>
          <p:cNvPr id="32" name="Text 30"/>
          <p:cNvSpPr txBox="1"/>
          <p:nvPr/>
        </p:nvSpPr>
        <p:spPr>
          <a:xfrm>
            <a:off x="7068312" y="4498848"/>
            <a:ext cx="4389120" cy="292608"/>
          </a:xfrm>
          <a:prstGeom prst="rect">
            <a:avLst/>
          </a:prstGeom>
          <a:noFill/>
          <a:ln/>
        </p:spPr>
        <p:txBody>
          <a:bodyPr wrap="square" lIns="0" tIns="0" rIns="0" bIns="0" rtlCol="0" anchor="ctr"/>
          <a:lstStyle/>
          <a:p>
            <a:pPr indent="0" marL="0">
              <a:buNone/>
            </a:pPr>
            <a:r>
              <a:rPr lang="en-US" sz="1450" b="1" dirty="0">
                <a:solidFill>
                  <a:srgbClr val="F2F3F8"/>
                </a:solidFill>
                <a:latin typeface="Arial" pitchFamily="34" charset="0"/>
                <a:ea typeface="Arial" pitchFamily="34" charset="-122"/>
                <a:cs typeface="Arial" pitchFamily="34" charset="-120"/>
              </a:rPr>
              <a:t>Two genders of size chart</a:t>
            </a:r>
            <a:endParaRPr lang="en-US" sz="1450" dirty="0"/>
          </a:p>
        </p:txBody>
      </p:sp>
      <p:sp>
        <p:nvSpPr>
          <p:cNvPr id="33" name="Text 31"/>
          <p:cNvSpPr txBox="1"/>
          <p:nvPr/>
        </p:nvSpPr>
        <p:spPr>
          <a:xfrm>
            <a:off x="7068312" y="4809744"/>
            <a:ext cx="4389120" cy="457200"/>
          </a:xfrm>
          <a:prstGeom prst="rect">
            <a:avLst/>
          </a:prstGeom>
          <a:noFill/>
          <a:ln/>
        </p:spPr>
        <p:txBody>
          <a:bodyPr wrap="square" lIns="0" tIns="0" rIns="0" bIns="0" rtlCol="0" anchor="t"/>
          <a:lstStyle/>
          <a:p>
            <a:pPr indent="0" marL="0">
              <a:lnSpc>
                <a:spcPct val="115000"/>
              </a:lnSpc>
              <a:buNone/>
            </a:pPr>
            <a:r>
              <a:rPr lang="en-US" sz="1150" dirty="0">
                <a:solidFill>
                  <a:srgbClr val="9BA1C1"/>
                </a:solidFill>
                <a:latin typeface="Arial" pitchFamily="34" charset="0"/>
                <a:ea typeface="Arial" pitchFamily="34" charset="-122"/>
                <a:cs typeface="Arial" pitchFamily="34" charset="-120"/>
              </a:rPr>
              <a:t>Doubles the golden-set week and adds no new science.</a:t>
            </a:r>
            <a:endParaRPr lang="en-US" sz="1150" dirty="0"/>
          </a:p>
        </p:txBody>
      </p:sp>
      <p:sp>
        <p:nvSpPr>
          <p:cNvPr id="34" name="Shape 32"/>
          <p:cNvSpPr/>
          <p:nvPr/>
        </p:nvSpPr>
        <p:spPr>
          <a:xfrm>
            <a:off x="502920" y="5577840"/>
            <a:ext cx="11185855" cy="713232"/>
          </a:xfrm>
          <a:prstGeom prst="roundRect">
            <a:avLst>
              <a:gd name="adj" fmla="val 7692"/>
            </a:avLst>
          </a:prstGeom>
          <a:solidFill>
            <a:srgbClr val="2F3355"/>
          </a:solidFill>
          <a:ln w="19050">
            <a:solidFill>
              <a:srgbClr val="83B4DE"/>
            </a:solidFill>
            <a:prstDash val="solid"/>
          </a:ln>
        </p:spPr>
      </p:sp>
      <p:sp>
        <p:nvSpPr>
          <p:cNvPr id="35" name="Text 33"/>
          <p:cNvSpPr txBox="1"/>
          <p:nvPr/>
        </p:nvSpPr>
        <p:spPr>
          <a:xfrm>
            <a:off x="777240" y="5577840"/>
            <a:ext cx="10637215" cy="713232"/>
          </a:xfrm>
          <a:prstGeom prst="rect">
            <a:avLst/>
          </a:prstGeom>
          <a:noFill/>
          <a:ln/>
        </p:spPr>
        <p:txBody>
          <a:bodyPr wrap="square" lIns="0" tIns="0" rIns="0" bIns="0" rtlCol="0" anchor="ctr"/>
          <a:lstStyle/>
          <a:p>
            <a:pPr indent="0" marL="0">
              <a:buNone/>
            </a:pPr>
            <a:r>
              <a:rPr lang="en-US" sz="1250" dirty="0">
                <a:solidFill>
                  <a:srgbClr val="F2F3F8"/>
                </a:solidFill>
                <a:latin typeface="Arial" pitchFamily="34" charset="0"/>
                <a:ea typeface="Arial" pitchFamily="34" charset="-122"/>
                <a:cs typeface="Arial" pitchFamily="34" charset="-120"/>
              </a:rPr>
              <a:t>Privacy comes from what we keep, not from what we film: the video frames are never saved. We keep the height, the nine measurements, the body-shape numbers and how sure we are.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WHAT WE NEED TO DECIDE</a:t>
            </a:r>
            <a:endParaRPr lang="en-US" sz="950" dirty="0"/>
          </a:p>
        </p:txBody>
      </p:sp>
      <p:sp>
        <p:nvSpPr>
          <p:cNvPr id="3" name="Text 1"/>
          <p:cNvSpPr txBox="1"/>
          <p:nvPr/>
        </p:nvSpPr>
        <p:spPr>
          <a:xfrm>
            <a:off x="502920" y="384048"/>
            <a:ext cx="11185855" cy="548640"/>
          </a:xfrm>
          <a:prstGeom prst="rect">
            <a:avLst/>
          </a:prstGeom>
          <a:noFill/>
          <a:ln/>
        </p:spPr>
        <p:txBody>
          <a:bodyPr wrap="square" lIns="0" tIns="0" rIns="0" bIns="0" rtlCol="0" anchor="ctr"/>
          <a:lstStyle/>
          <a:p>
            <a:pPr indent="0" marL="0">
              <a:buNone/>
            </a:pPr>
            <a:r>
              <a:rPr lang="en-US" sz="2800" b="1" dirty="0">
                <a:solidFill>
                  <a:srgbClr val="F2F3F8"/>
                </a:solidFill>
                <a:latin typeface="Arial" pitchFamily="34" charset="0"/>
                <a:ea typeface="Arial" pitchFamily="34" charset="-122"/>
                <a:cs typeface="Arial" pitchFamily="34" charset="-120"/>
              </a:rPr>
              <a:t>Five questions, then we build</a:t>
            </a:r>
            <a:endParaRPr lang="en-US" sz="2800" dirty="0"/>
          </a:p>
        </p:txBody>
      </p:sp>
      <p:sp>
        <p:nvSpPr>
          <p:cNvPr id="4" name="Shape 2"/>
          <p:cNvSpPr/>
          <p:nvPr/>
        </p:nvSpPr>
        <p:spPr>
          <a:xfrm>
            <a:off x="502920" y="1243584"/>
            <a:ext cx="11185855" cy="822960"/>
          </a:xfrm>
          <a:prstGeom prst="roundRect">
            <a:avLst>
              <a:gd name="adj" fmla="val 6667"/>
            </a:avLst>
          </a:prstGeom>
          <a:solidFill>
            <a:srgbClr val="252943"/>
          </a:solidFill>
          <a:ln w="12700">
            <a:solidFill>
              <a:srgbClr val="252943"/>
            </a:solidFill>
            <a:prstDash val="solid"/>
          </a:ln>
        </p:spPr>
      </p:sp>
      <p:sp>
        <p:nvSpPr>
          <p:cNvPr id="5" name="Shape 3"/>
          <p:cNvSpPr/>
          <p:nvPr/>
        </p:nvSpPr>
        <p:spPr>
          <a:xfrm>
            <a:off x="740664" y="1481328"/>
            <a:ext cx="347472" cy="347472"/>
          </a:xfrm>
          <a:prstGeom prst="ellipse">
            <a:avLst/>
          </a:prstGeom>
          <a:solidFill>
            <a:srgbClr val="83B4DE"/>
          </a:solidFill>
          <a:ln w="12700">
            <a:solidFill>
              <a:srgbClr val="83B4DE"/>
            </a:solidFill>
            <a:prstDash val="solid"/>
          </a:ln>
        </p:spPr>
      </p:sp>
      <p:sp>
        <p:nvSpPr>
          <p:cNvPr id="6" name="Text 4"/>
          <p:cNvSpPr txBox="1"/>
          <p:nvPr/>
        </p:nvSpPr>
        <p:spPr>
          <a:xfrm>
            <a:off x="740664" y="1481328"/>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252728" y="1353312"/>
            <a:ext cx="1828800" cy="292608"/>
          </a:xfrm>
          <a:prstGeom prst="rect">
            <a:avLst/>
          </a:prstGeom>
          <a:noFill/>
          <a:ln/>
        </p:spPr>
        <p:txBody>
          <a:bodyPr wrap="square" lIns="0" tIns="0" rIns="0" bIns="0" rtlCol="0" anchor="ctr"/>
          <a:lstStyle/>
          <a:p>
            <a:pPr indent="0" marL="0">
              <a:buNone/>
            </a:pPr>
            <a:r>
              <a:rPr lang="en-US" sz="1400" b="1" dirty="0">
                <a:solidFill>
                  <a:srgbClr val="83B4DE"/>
                </a:solidFill>
                <a:latin typeface="Arial" pitchFamily="34" charset="0"/>
                <a:ea typeface="Arial" pitchFamily="34" charset="-122"/>
                <a:cs typeface="Arial" pitchFamily="34" charset="-120"/>
              </a:rPr>
              <a:t>Priority</a:t>
            </a:r>
            <a:endParaRPr lang="en-US" sz="1400" dirty="0"/>
          </a:p>
        </p:txBody>
      </p:sp>
      <p:sp>
        <p:nvSpPr>
          <p:cNvPr id="8" name="Text 6"/>
          <p:cNvSpPr txBox="1"/>
          <p:nvPr/>
        </p:nvSpPr>
        <p:spPr>
          <a:xfrm>
            <a:off x="3154680" y="1335024"/>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If weeks 11–13 run short, which screen gets cut? My answer is 2, because measurements can live inside screen 3.</a:t>
            </a:r>
            <a:endParaRPr lang="en-US" sz="1200" dirty="0"/>
          </a:p>
        </p:txBody>
      </p:sp>
      <p:sp>
        <p:nvSpPr>
          <p:cNvPr id="9" name="Shape 7"/>
          <p:cNvSpPr/>
          <p:nvPr/>
        </p:nvSpPr>
        <p:spPr>
          <a:xfrm>
            <a:off x="502920" y="2176272"/>
            <a:ext cx="11185855" cy="822960"/>
          </a:xfrm>
          <a:prstGeom prst="roundRect">
            <a:avLst>
              <a:gd name="adj" fmla="val 6667"/>
            </a:avLst>
          </a:prstGeom>
          <a:solidFill>
            <a:srgbClr val="252943"/>
          </a:solidFill>
          <a:ln w="12700">
            <a:solidFill>
              <a:srgbClr val="252943"/>
            </a:solidFill>
            <a:prstDash val="solid"/>
          </a:ln>
        </p:spPr>
      </p:sp>
      <p:sp>
        <p:nvSpPr>
          <p:cNvPr id="10" name="Shape 8"/>
          <p:cNvSpPr/>
          <p:nvPr/>
        </p:nvSpPr>
        <p:spPr>
          <a:xfrm>
            <a:off x="740664" y="2414016"/>
            <a:ext cx="347472" cy="347472"/>
          </a:xfrm>
          <a:prstGeom prst="ellipse">
            <a:avLst/>
          </a:prstGeom>
          <a:solidFill>
            <a:srgbClr val="83B4DE"/>
          </a:solidFill>
          <a:ln w="12700">
            <a:solidFill>
              <a:srgbClr val="83B4DE"/>
            </a:solidFill>
            <a:prstDash val="solid"/>
          </a:ln>
        </p:spPr>
      </p:sp>
      <p:sp>
        <p:nvSpPr>
          <p:cNvPr id="11" name="Text 9"/>
          <p:cNvSpPr txBox="1"/>
          <p:nvPr/>
        </p:nvSpPr>
        <p:spPr>
          <a:xfrm>
            <a:off x="740664" y="241401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252728" y="2286000"/>
            <a:ext cx="1828800" cy="292608"/>
          </a:xfrm>
          <a:prstGeom prst="rect">
            <a:avLst/>
          </a:prstGeom>
          <a:noFill/>
          <a:ln/>
        </p:spPr>
        <p:txBody>
          <a:bodyPr wrap="square" lIns="0" tIns="0" rIns="0" bIns="0" rtlCol="0" anchor="ctr"/>
          <a:lstStyle/>
          <a:p>
            <a:pPr indent="0" marL="0">
              <a:buNone/>
            </a:pPr>
            <a:r>
              <a:rPr lang="en-US" sz="1400" b="1" dirty="0">
                <a:solidFill>
                  <a:srgbClr val="83B4DE"/>
                </a:solidFill>
                <a:latin typeface="Arial" pitchFamily="34" charset="0"/>
                <a:ea typeface="Arial" pitchFamily="34" charset="-122"/>
                <a:cs typeface="Arial" pitchFamily="34" charset="-120"/>
              </a:rPr>
              <a:t>Audience</a:t>
            </a:r>
            <a:endParaRPr lang="en-US" sz="1400" dirty="0"/>
          </a:p>
        </p:txBody>
      </p:sp>
      <p:sp>
        <p:nvSpPr>
          <p:cNvPr id="13" name="Text 11"/>
          <p:cNvSpPr txBox="1"/>
          <p:nvPr/>
        </p:nvSpPr>
        <p:spPr>
          <a:xfrm>
            <a:off x="3154680" y="2267712"/>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How much machinery stays visible in a shipped product — all of it behind a flag, or a simple view by default?</a:t>
            </a:r>
            <a:endParaRPr lang="en-US" sz="1200" dirty="0"/>
          </a:p>
        </p:txBody>
      </p:sp>
      <p:sp>
        <p:nvSpPr>
          <p:cNvPr id="14" name="Shape 12"/>
          <p:cNvSpPr/>
          <p:nvPr/>
        </p:nvSpPr>
        <p:spPr>
          <a:xfrm>
            <a:off x="502920" y="3108960"/>
            <a:ext cx="11185855" cy="822960"/>
          </a:xfrm>
          <a:prstGeom prst="roundRect">
            <a:avLst>
              <a:gd name="adj" fmla="val 6667"/>
            </a:avLst>
          </a:prstGeom>
          <a:solidFill>
            <a:srgbClr val="252943"/>
          </a:solidFill>
          <a:ln w="12700">
            <a:solidFill>
              <a:srgbClr val="252943"/>
            </a:solidFill>
            <a:prstDash val="solid"/>
          </a:ln>
        </p:spPr>
      </p:sp>
      <p:sp>
        <p:nvSpPr>
          <p:cNvPr id="15" name="Shape 13"/>
          <p:cNvSpPr/>
          <p:nvPr/>
        </p:nvSpPr>
        <p:spPr>
          <a:xfrm>
            <a:off x="740664" y="3346704"/>
            <a:ext cx="347472" cy="347472"/>
          </a:xfrm>
          <a:prstGeom prst="ellipse">
            <a:avLst/>
          </a:prstGeom>
          <a:solidFill>
            <a:srgbClr val="E0A458"/>
          </a:solidFill>
          <a:ln w="12700">
            <a:solidFill>
              <a:srgbClr val="E0A458"/>
            </a:solidFill>
            <a:prstDash val="solid"/>
          </a:ln>
        </p:spPr>
      </p:sp>
      <p:sp>
        <p:nvSpPr>
          <p:cNvPr id="16" name="Text 14"/>
          <p:cNvSpPr txBox="1"/>
          <p:nvPr/>
        </p:nvSpPr>
        <p:spPr>
          <a:xfrm>
            <a:off x="740664" y="3346704"/>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252728" y="3218688"/>
            <a:ext cx="1828800" cy="292608"/>
          </a:xfrm>
          <a:prstGeom prst="rect">
            <a:avLst/>
          </a:prstGeom>
          <a:noFill/>
          <a:ln/>
        </p:spPr>
        <p:txBody>
          <a:bodyPr wrap="square" lIns="0" tIns="0" rIns="0" bIns="0" rtlCol="0" anchor="ctr"/>
          <a:lstStyle/>
          <a:p>
            <a:pPr indent="0" marL="0">
              <a:buNone/>
            </a:pPr>
            <a:r>
              <a:rPr lang="en-US" sz="1400" b="1" dirty="0">
                <a:solidFill>
                  <a:srgbClr val="E0A458"/>
                </a:solidFill>
                <a:latin typeface="Arial" pitchFamily="34" charset="0"/>
                <a:ea typeface="Arial" pitchFamily="34" charset="-122"/>
                <a:cs typeface="Arial" pitchFamily="34" charset="-120"/>
              </a:rPr>
              <a:t>Language</a:t>
            </a:r>
            <a:endParaRPr lang="en-US" sz="1400" dirty="0"/>
          </a:p>
        </p:txBody>
      </p:sp>
      <p:sp>
        <p:nvSpPr>
          <p:cNvPr id="18" name="Text 16"/>
          <p:cNvSpPr txBox="1"/>
          <p:nvPr/>
        </p:nvSpPr>
        <p:spPr>
          <a:xfrm>
            <a:off x="3154680" y="3200400"/>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Italian in the interface with English in the code and thesis, or English throughout? This decides which language agent 5's labelled set is built in.</a:t>
            </a:r>
            <a:endParaRPr lang="en-US" sz="1200" dirty="0"/>
          </a:p>
        </p:txBody>
      </p:sp>
      <p:sp>
        <p:nvSpPr>
          <p:cNvPr id="19" name="Shape 17"/>
          <p:cNvSpPr/>
          <p:nvPr/>
        </p:nvSpPr>
        <p:spPr>
          <a:xfrm>
            <a:off x="502920" y="4041648"/>
            <a:ext cx="11185855" cy="822960"/>
          </a:xfrm>
          <a:prstGeom prst="roundRect">
            <a:avLst>
              <a:gd name="adj" fmla="val 6667"/>
            </a:avLst>
          </a:prstGeom>
          <a:solidFill>
            <a:srgbClr val="252943"/>
          </a:solidFill>
          <a:ln w="12700">
            <a:solidFill>
              <a:srgbClr val="252943"/>
            </a:solidFill>
            <a:prstDash val="solid"/>
          </a:ln>
        </p:spPr>
      </p:sp>
      <p:sp>
        <p:nvSpPr>
          <p:cNvPr id="20" name="Shape 18"/>
          <p:cNvSpPr/>
          <p:nvPr/>
        </p:nvSpPr>
        <p:spPr>
          <a:xfrm>
            <a:off x="740664" y="4279392"/>
            <a:ext cx="347472" cy="347472"/>
          </a:xfrm>
          <a:prstGeom prst="ellipse">
            <a:avLst/>
          </a:prstGeom>
          <a:solidFill>
            <a:srgbClr val="E0A458"/>
          </a:solidFill>
          <a:ln w="12700">
            <a:solidFill>
              <a:srgbClr val="E0A458"/>
            </a:solidFill>
            <a:prstDash val="solid"/>
          </a:ln>
        </p:spPr>
      </p:sp>
      <p:sp>
        <p:nvSpPr>
          <p:cNvPr id="21" name="Text 19"/>
          <p:cNvSpPr txBox="1"/>
          <p:nvPr/>
        </p:nvSpPr>
        <p:spPr>
          <a:xfrm>
            <a:off x="740664" y="427939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1252728" y="4151376"/>
            <a:ext cx="1828800" cy="292608"/>
          </a:xfrm>
          <a:prstGeom prst="rect">
            <a:avLst/>
          </a:prstGeom>
          <a:noFill/>
          <a:ln/>
        </p:spPr>
        <p:txBody>
          <a:bodyPr wrap="square" lIns="0" tIns="0" rIns="0" bIns="0" rtlCol="0" anchor="ctr"/>
          <a:lstStyle/>
          <a:p>
            <a:pPr indent="0" marL="0">
              <a:buNone/>
            </a:pPr>
            <a:r>
              <a:rPr lang="en-US" sz="1400" b="1" dirty="0">
                <a:solidFill>
                  <a:srgbClr val="E0A458"/>
                </a:solidFill>
                <a:latin typeface="Arial" pitchFamily="34" charset="0"/>
                <a:ea typeface="Arial" pitchFamily="34" charset="-122"/>
                <a:cs typeface="Arial" pitchFamily="34" charset="-120"/>
              </a:rPr>
              <a:t>Vocabulary</a:t>
            </a:r>
            <a:endParaRPr lang="en-US" sz="1400" dirty="0"/>
          </a:p>
        </p:txBody>
      </p:sp>
      <p:sp>
        <p:nvSpPr>
          <p:cNvPr id="23" name="Text 21"/>
          <p:cNvSpPr txBox="1"/>
          <p:nvPr/>
        </p:nvSpPr>
        <p:spPr>
          <a:xfrm>
            <a:off x="3154680" y="4133088"/>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You know denim better than the mockup does. Any measurement name, tolerance or phrase that reads wrong to you?</a:t>
            </a:r>
            <a:endParaRPr lang="en-US" sz="1200" dirty="0"/>
          </a:p>
        </p:txBody>
      </p:sp>
      <p:sp>
        <p:nvSpPr>
          <p:cNvPr id="24" name="Shape 22"/>
          <p:cNvSpPr/>
          <p:nvPr/>
        </p:nvSpPr>
        <p:spPr>
          <a:xfrm>
            <a:off x="502920" y="4974336"/>
            <a:ext cx="11185855" cy="822960"/>
          </a:xfrm>
          <a:prstGeom prst="roundRect">
            <a:avLst>
              <a:gd name="adj" fmla="val 6667"/>
            </a:avLst>
          </a:prstGeom>
          <a:solidFill>
            <a:srgbClr val="252943"/>
          </a:solidFill>
          <a:ln w="12700">
            <a:solidFill>
              <a:srgbClr val="252943"/>
            </a:solidFill>
            <a:prstDash val="solid"/>
          </a:ln>
        </p:spPr>
      </p:sp>
      <p:sp>
        <p:nvSpPr>
          <p:cNvPr id="25" name="Shape 23"/>
          <p:cNvSpPr/>
          <p:nvPr/>
        </p:nvSpPr>
        <p:spPr>
          <a:xfrm>
            <a:off x="740664" y="5212080"/>
            <a:ext cx="347472" cy="347472"/>
          </a:xfrm>
          <a:prstGeom prst="ellipse">
            <a:avLst/>
          </a:prstGeom>
          <a:solidFill>
            <a:srgbClr val="83B4DE"/>
          </a:solidFill>
          <a:ln w="12700">
            <a:solidFill>
              <a:srgbClr val="83B4DE"/>
            </a:solidFill>
            <a:prstDash val="solid"/>
          </a:ln>
        </p:spPr>
      </p:sp>
      <p:sp>
        <p:nvSpPr>
          <p:cNvPr id="26" name="Text 24"/>
          <p:cNvSpPr txBox="1"/>
          <p:nvPr/>
        </p:nvSpPr>
        <p:spPr>
          <a:xfrm>
            <a:off x="740664" y="521208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1252728" y="5084064"/>
            <a:ext cx="1828800" cy="292608"/>
          </a:xfrm>
          <a:prstGeom prst="rect">
            <a:avLst/>
          </a:prstGeom>
          <a:noFill/>
          <a:ln/>
        </p:spPr>
        <p:txBody>
          <a:bodyPr wrap="square" lIns="0" tIns="0" rIns="0" bIns="0" rtlCol="0" anchor="ctr"/>
          <a:lstStyle/>
          <a:p>
            <a:pPr indent="0" marL="0">
              <a:buNone/>
            </a:pPr>
            <a:r>
              <a:rPr lang="en-US" sz="1400" b="1" dirty="0">
                <a:solidFill>
                  <a:srgbClr val="83B4DE"/>
                </a:solidFill>
                <a:latin typeface="Arial" pitchFamily="34" charset="0"/>
                <a:ea typeface="Arial" pitchFamily="34" charset="-122"/>
                <a:cs typeface="Arial" pitchFamily="34" charset="-120"/>
              </a:rPr>
              <a:t>Fit score</a:t>
            </a:r>
            <a:endParaRPr lang="en-US" sz="1400" dirty="0"/>
          </a:p>
        </p:txBody>
      </p:sp>
      <p:sp>
        <p:nvSpPr>
          <p:cNvPr id="28" name="Text 26"/>
          <p:cNvSpPr txBox="1"/>
          <p:nvPr/>
        </p:nvSpPr>
        <p:spPr>
          <a:xfrm>
            <a:off x="3154680" y="5065776"/>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A number out of 100, words, or both?</a:t>
            </a:r>
            <a:endParaRPr lang="en-US" sz="1200" dirty="0"/>
          </a:p>
        </p:txBody>
      </p:sp>
      <p:sp>
        <p:nvSpPr>
          <p:cNvPr id="29" name="Text 27"/>
          <p:cNvSpPr txBox="1"/>
          <p:nvPr/>
        </p:nvSpPr>
        <p:spPr>
          <a:xfrm>
            <a:off x="502920" y="6035040"/>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Colours, spacing and copy are cheap to change once the app exists. Layout and scope are not — those are what this meeting is for.</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CLOSING</a:t>
            </a:r>
            <a:endParaRPr lang="en-US" sz="950" dirty="0"/>
          </a:p>
        </p:txBody>
      </p:sp>
      <p:sp>
        <p:nvSpPr>
          <p:cNvPr id="3" name="Text 1"/>
          <p:cNvSpPr txBox="1"/>
          <p:nvPr/>
        </p:nvSpPr>
        <p:spPr>
          <a:xfrm>
            <a:off x="502920" y="822960"/>
            <a:ext cx="11185855" cy="731520"/>
          </a:xfrm>
          <a:prstGeom prst="rect">
            <a:avLst/>
          </a:prstGeom>
          <a:noFill/>
          <a:ln/>
        </p:spPr>
        <p:txBody>
          <a:bodyPr wrap="square" lIns="0" tIns="0" rIns="0" bIns="0" rtlCol="0" anchor="ctr"/>
          <a:lstStyle/>
          <a:p>
            <a:pPr indent="0" marL="0">
              <a:buNone/>
            </a:pPr>
            <a:r>
              <a:rPr lang="en-US" sz="3800" b="1" dirty="0">
                <a:solidFill>
                  <a:srgbClr val="F2F3F8"/>
                </a:solidFill>
                <a:latin typeface="Arial" pitchFamily="34" charset="0"/>
                <a:ea typeface="Arial" pitchFamily="34" charset="-122"/>
                <a:cs typeface="Arial" pitchFamily="34" charset="-120"/>
              </a:rPr>
              <a:t>The three-minute story</a:t>
            </a:r>
            <a:endParaRPr lang="en-US" sz="3800" dirty="0"/>
          </a:p>
        </p:txBody>
      </p:sp>
      <p:sp>
        <p:nvSpPr>
          <p:cNvPr id="4" name="Shape 2"/>
          <p:cNvSpPr/>
          <p:nvPr/>
        </p:nvSpPr>
        <p:spPr>
          <a:xfrm>
            <a:off x="502920" y="1828800"/>
            <a:ext cx="7680960" cy="548640"/>
          </a:xfrm>
          <a:prstGeom prst="roundRect">
            <a:avLst>
              <a:gd name="adj" fmla="val 10000"/>
            </a:avLst>
          </a:prstGeom>
          <a:solidFill>
            <a:srgbClr val="252943"/>
          </a:solidFill>
          <a:ln w="12700">
            <a:solidFill>
              <a:srgbClr val="252943"/>
            </a:solidFill>
            <a:prstDash val="solid"/>
          </a:ln>
        </p:spPr>
      </p:sp>
      <p:sp>
        <p:nvSpPr>
          <p:cNvPr id="5" name="Shape 3"/>
          <p:cNvSpPr/>
          <p:nvPr/>
        </p:nvSpPr>
        <p:spPr>
          <a:xfrm>
            <a:off x="685800" y="1929384"/>
            <a:ext cx="347472" cy="347472"/>
          </a:xfrm>
          <a:prstGeom prst="ellipse">
            <a:avLst/>
          </a:prstGeom>
          <a:solidFill>
            <a:srgbClr val="83B4DE"/>
          </a:solidFill>
          <a:ln w="12700">
            <a:solidFill>
              <a:srgbClr val="83B4DE"/>
            </a:solidFill>
            <a:prstDash val="solid"/>
          </a:ln>
        </p:spPr>
      </p:sp>
      <p:sp>
        <p:nvSpPr>
          <p:cNvPr id="6" name="Text 4"/>
          <p:cNvSpPr txBox="1"/>
          <p:nvPr/>
        </p:nvSpPr>
        <p:spPr>
          <a:xfrm>
            <a:off x="685800" y="1929384"/>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197864" y="1828800"/>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Enter height, record twelve seconds of video</a:t>
            </a:r>
            <a:endParaRPr lang="en-US" sz="1350" dirty="0"/>
          </a:p>
        </p:txBody>
      </p:sp>
      <p:sp>
        <p:nvSpPr>
          <p:cNvPr id="8" name="Shape 6"/>
          <p:cNvSpPr/>
          <p:nvPr/>
        </p:nvSpPr>
        <p:spPr>
          <a:xfrm>
            <a:off x="859536" y="2377440"/>
            <a:ext cx="0" cy="109728"/>
          </a:xfrm>
          <a:prstGeom prst="line">
            <a:avLst/>
          </a:prstGeom>
          <a:noFill/>
          <a:ln w="15875">
            <a:solidFill>
              <a:srgbClr val="6E7699"/>
            </a:solidFill>
            <a:prstDash val="solid"/>
            <a:tailEnd type="triangle"/>
          </a:ln>
        </p:spPr>
      </p:sp>
      <p:sp>
        <p:nvSpPr>
          <p:cNvPr id="9" name="Shape 7"/>
          <p:cNvSpPr/>
          <p:nvPr/>
        </p:nvSpPr>
        <p:spPr>
          <a:xfrm>
            <a:off x="502920" y="2487168"/>
            <a:ext cx="7680960" cy="548640"/>
          </a:xfrm>
          <a:prstGeom prst="roundRect">
            <a:avLst>
              <a:gd name="adj" fmla="val 10000"/>
            </a:avLst>
          </a:prstGeom>
          <a:solidFill>
            <a:srgbClr val="252943"/>
          </a:solidFill>
          <a:ln w="12700">
            <a:solidFill>
              <a:srgbClr val="252943"/>
            </a:solidFill>
            <a:prstDash val="solid"/>
          </a:ln>
        </p:spPr>
      </p:sp>
      <p:sp>
        <p:nvSpPr>
          <p:cNvPr id="10" name="Shape 8"/>
          <p:cNvSpPr/>
          <p:nvPr/>
        </p:nvSpPr>
        <p:spPr>
          <a:xfrm>
            <a:off x="685800" y="2587752"/>
            <a:ext cx="347472" cy="347472"/>
          </a:xfrm>
          <a:prstGeom prst="ellipse">
            <a:avLst/>
          </a:prstGeom>
          <a:solidFill>
            <a:srgbClr val="83B4DE"/>
          </a:solidFill>
          <a:ln w="12700">
            <a:solidFill>
              <a:srgbClr val="83B4DE"/>
            </a:solidFill>
            <a:prstDash val="solid"/>
          </a:ln>
        </p:spPr>
      </p:sp>
      <p:sp>
        <p:nvSpPr>
          <p:cNvPr id="11" name="Text 9"/>
          <p:cNvSpPr txBox="1"/>
          <p:nvPr/>
        </p:nvSpPr>
        <p:spPr>
          <a:xfrm>
            <a:off x="685800" y="258775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197864" y="2487168"/>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The coach gates the clip and names any problem</a:t>
            </a:r>
            <a:endParaRPr lang="en-US" sz="1350" dirty="0"/>
          </a:p>
        </p:txBody>
      </p:sp>
      <p:sp>
        <p:nvSpPr>
          <p:cNvPr id="13" name="Shape 11"/>
          <p:cNvSpPr/>
          <p:nvPr/>
        </p:nvSpPr>
        <p:spPr>
          <a:xfrm>
            <a:off x="859536" y="3035808"/>
            <a:ext cx="0" cy="109728"/>
          </a:xfrm>
          <a:prstGeom prst="line">
            <a:avLst/>
          </a:prstGeom>
          <a:noFill/>
          <a:ln w="15875">
            <a:solidFill>
              <a:srgbClr val="6E7699"/>
            </a:solidFill>
            <a:prstDash val="solid"/>
            <a:tailEnd type="triangle"/>
          </a:ln>
        </p:spPr>
      </p:sp>
      <p:sp>
        <p:nvSpPr>
          <p:cNvPr id="14" name="Shape 12"/>
          <p:cNvSpPr/>
          <p:nvPr/>
        </p:nvSpPr>
        <p:spPr>
          <a:xfrm>
            <a:off x="502920" y="3145536"/>
            <a:ext cx="7680960" cy="548640"/>
          </a:xfrm>
          <a:prstGeom prst="roundRect">
            <a:avLst>
              <a:gd name="adj" fmla="val 10000"/>
            </a:avLst>
          </a:prstGeom>
          <a:solidFill>
            <a:srgbClr val="252943"/>
          </a:solidFill>
          <a:ln w="12700">
            <a:solidFill>
              <a:srgbClr val="252943"/>
            </a:solidFill>
            <a:prstDash val="solid"/>
          </a:ln>
        </p:spPr>
      </p:sp>
      <p:sp>
        <p:nvSpPr>
          <p:cNvPr id="15" name="Shape 13"/>
          <p:cNvSpPr/>
          <p:nvPr/>
        </p:nvSpPr>
        <p:spPr>
          <a:xfrm>
            <a:off x="685800" y="3246120"/>
            <a:ext cx="347472" cy="347472"/>
          </a:xfrm>
          <a:prstGeom prst="ellipse">
            <a:avLst/>
          </a:prstGeom>
          <a:solidFill>
            <a:srgbClr val="83B4DE"/>
          </a:solidFill>
          <a:ln w="12700">
            <a:solidFill>
              <a:srgbClr val="83B4DE"/>
            </a:solidFill>
            <a:prstDash val="solid"/>
          </a:ln>
        </p:spPr>
      </p:sp>
      <p:sp>
        <p:nvSpPr>
          <p:cNvPr id="16" name="Text 14"/>
          <p:cNvSpPr txBox="1"/>
          <p:nvPr/>
        </p:nvSpPr>
        <p:spPr>
          <a:xfrm>
            <a:off x="685800" y="324612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197864" y="3145536"/>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Pick a brand never seen before — agent 3 reads its size chart live</a:t>
            </a:r>
            <a:endParaRPr lang="en-US" sz="1350" dirty="0"/>
          </a:p>
        </p:txBody>
      </p:sp>
      <p:sp>
        <p:nvSpPr>
          <p:cNvPr id="18" name="Shape 16"/>
          <p:cNvSpPr/>
          <p:nvPr/>
        </p:nvSpPr>
        <p:spPr>
          <a:xfrm>
            <a:off x="859536" y="3694176"/>
            <a:ext cx="0" cy="109728"/>
          </a:xfrm>
          <a:prstGeom prst="line">
            <a:avLst/>
          </a:prstGeom>
          <a:noFill/>
          <a:ln w="15875">
            <a:solidFill>
              <a:srgbClr val="6E7699"/>
            </a:solidFill>
            <a:prstDash val="solid"/>
            <a:tailEnd type="triangle"/>
          </a:ln>
        </p:spPr>
      </p:sp>
      <p:sp>
        <p:nvSpPr>
          <p:cNvPr id="19" name="Shape 17"/>
          <p:cNvSpPr/>
          <p:nvPr/>
        </p:nvSpPr>
        <p:spPr>
          <a:xfrm>
            <a:off x="502920" y="3803904"/>
            <a:ext cx="7680960" cy="548640"/>
          </a:xfrm>
          <a:prstGeom prst="roundRect">
            <a:avLst>
              <a:gd name="adj" fmla="val 10000"/>
            </a:avLst>
          </a:prstGeom>
          <a:solidFill>
            <a:srgbClr val="252943"/>
          </a:solidFill>
          <a:ln w="12700">
            <a:solidFill>
              <a:srgbClr val="252943"/>
            </a:solidFill>
            <a:prstDash val="solid"/>
          </a:ln>
        </p:spPr>
      </p:sp>
      <p:sp>
        <p:nvSpPr>
          <p:cNvPr id="20" name="Shape 18"/>
          <p:cNvSpPr/>
          <p:nvPr/>
        </p:nvSpPr>
        <p:spPr>
          <a:xfrm>
            <a:off x="685800" y="3904488"/>
            <a:ext cx="347472" cy="347472"/>
          </a:xfrm>
          <a:prstGeom prst="ellipse">
            <a:avLst/>
          </a:prstGeom>
          <a:solidFill>
            <a:srgbClr val="83B4DE"/>
          </a:solidFill>
          <a:ln w="12700">
            <a:solidFill>
              <a:srgbClr val="83B4DE"/>
            </a:solidFill>
            <a:prstDash val="solid"/>
          </a:ln>
        </p:spPr>
      </p:sp>
      <p:sp>
        <p:nvSpPr>
          <p:cNvPr id="21" name="Text 19"/>
          <p:cNvSpPr txBox="1"/>
          <p:nvPr/>
        </p:nvSpPr>
        <p:spPr>
          <a:xfrm>
            <a:off x="685800" y="3904488"/>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1197864" y="3803904"/>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The recommendation arrives, explained measurement by measurement</a:t>
            </a:r>
            <a:endParaRPr lang="en-US" sz="1350" dirty="0"/>
          </a:p>
        </p:txBody>
      </p:sp>
      <p:sp>
        <p:nvSpPr>
          <p:cNvPr id="23" name="Shape 21"/>
          <p:cNvSpPr/>
          <p:nvPr/>
        </p:nvSpPr>
        <p:spPr>
          <a:xfrm>
            <a:off x="859536" y="4352544"/>
            <a:ext cx="0" cy="109728"/>
          </a:xfrm>
          <a:prstGeom prst="line">
            <a:avLst/>
          </a:prstGeom>
          <a:noFill/>
          <a:ln w="15875">
            <a:solidFill>
              <a:srgbClr val="6E7699"/>
            </a:solidFill>
            <a:prstDash val="solid"/>
            <a:tailEnd type="triangle"/>
          </a:ln>
        </p:spPr>
      </p:sp>
      <p:sp>
        <p:nvSpPr>
          <p:cNvPr id="24" name="Shape 22"/>
          <p:cNvSpPr/>
          <p:nvPr/>
        </p:nvSpPr>
        <p:spPr>
          <a:xfrm>
            <a:off x="502920" y="4462272"/>
            <a:ext cx="7680960" cy="548640"/>
          </a:xfrm>
          <a:prstGeom prst="roundRect">
            <a:avLst>
              <a:gd name="adj" fmla="val 10000"/>
            </a:avLst>
          </a:prstGeom>
          <a:solidFill>
            <a:srgbClr val="252943"/>
          </a:solidFill>
          <a:ln w="12700">
            <a:solidFill>
              <a:srgbClr val="252943"/>
            </a:solidFill>
            <a:prstDash val="solid"/>
          </a:ln>
        </p:spPr>
      </p:sp>
      <p:sp>
        <p:nvSpPr>
          <p:cNvPr id="25" name="Shape 23"/>
          <p:cNvSpPr/>
          <p:nvPr/>
        </p:nvSpPr>
        <p:spPr>
          <a:xfrm>
            <a:off x="685800" y="4562856"/>
            <a:ext cx="347472" cy="347472"/>
          </a:xfrm>
          <a:prstGeom prst="ellipse">
            <a:avLst/>
          </a:prstGeom>
          <a:solidFill>
            <a:srgbClr val="83B4DE"/>
          </a:solidFill>
          <a:ln w="12700">
            <a:solidFill>
              <a:srgbClr val="83B4DE"/>
            </a:solidFill>
            <a:prstDash val="solid"/>
          </a:ln>
        </p:spPr>
      </p:sp>
      <p:sp>
        <p:nvSpPr>
          <p:cNvPr id="26" name="Text 24"/>
          <p:cNvSpPr txBox="1"/>
          <p:nvPr/>
        </p:nvSpPr>
        <p:spPr>
          <a:xfrm>
            <a:off x="685800" y="456285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1197864" y="4462272"/>
            <a:ext cx="6766560" cy="548640"/>
          </a:xfrm>
          <a:prstGeom prst="rect">
            <a:avLst/>
          </a:prstGeom>
          <a:noFill/>
          <a:ln/>
        </p:spPr>
        <p:txBody>
          <a:bodyPr wrap="square" lIns="0" tIns="0" rIns="0" bIns="0" rtlCol="0" anchor="ctr"/>
          <a:lstStyle/>
          <a:p>
            <a:pPr indent="0" marL="0">
              <a:buNone/>
            </a:pPr>
            <a:r>
              <a:rPr lang="en-US" sz="1350" dirty="0">
                <a:solidFill>
                  <a:srgbClr val="F2F3F8"/>
                </a:solidFill>
                <a:latin typeface="Arial" pitchFamily="34" charset="0"/>
                <a:ea typeface="Arial" pitchFamily="34" charset="-122"/>
                <a:cs typeface="Arial" pitchFamily="34" charset="-120"/>
              </a:rPr>
              <a:t>Type a return reason in plain Italian</a:t>
            </a:r>
            <a:endParaRPr lang="en-US" sz="1350" dirty="0"/>
          </a:p>
        </p:txBody>
      </p:sp>
      <p:sp>
        <p:nvSpPr>
          <p:cNvPr id="28" name="Shape 26"/>
          <p:cNvSpPr/>
          <p:nvPr/>
        </p:nvSpPr>
        <p:spPr>
          <a:xfrm>
            <a:off x="859536" y="5010912"/>
            <a:ext cx="0" cy="109728"/>
          </a:xfrm>
          <a:prstGeom prst="line">
            <a:avLst/>
          </a:prstGeom>
          <a:noFill/>
          <a:ln w="15875">
            <a:solidFill>
              <a:srgbClr val="6E7699"/>
            </a:solidFill>
            <a:prstDash val="solid"/>
            <a:tailEnd type="triangle"/>
          </a:ln>
        </p:spPr>
      </p:sp>
      <p:sp>
        <p:nvSpPr>
          <p:cNvPr id="29" name="Shape 27"/>
          <p:cNvSpPr/>
          <p:nvPr/>
        </p:nvSpPr>
        <p:spPr>
          <a:xfrm>
            <a:off x="502920" y="5120640"/>
            <a:ext cx="7680960" cy="548640"/>
          </a:xfrm>
          <a:prstGeom prst="roundRect">
            <a:avLst>
              <a:gd name="adj" fmla="val 10000"/>
            </a:avLst>
          </a:prstGeom>
          <a:solidFill>
            <a:srgbClr val="3A3A62"/>
          </a:solidFill>
          <a:ln w="12700">
            <a:solidFill>
              <a:srgbClr val="3A3A62"/>
            </a:solidFill>
            <a:prstDash val="solid"/>
          </a:ln>
        </p:spPr>
      </p:sp>
      <p:sp>
        <p:nvSpPr>
          <p:cNvPr id="30" name="Shape 28"/>
          <p:cNvSpPr/>
          <p:nvPr/>
        </p:nvSpPr>
        <p:spPr>
          <a:xfrm>
            <a:off x="685800" y="5221224"/>
            <a:ext cx="347472" cy="347472"/>
          </a:xfrm>
          <a:prstGeom prst="ellipse">
            <a:avLst/>
          </a:prstGeom>
          <a:solidFill>
            <a:srgbClr val="E0A458"/>
          </a:solidFill>
          <a:ln w="12700">
            <a:solidFill>
              <a:srgbClr val="E0A458"/>
            </a:solidFill>
            <a:prstDash val="solid"/>
          </a:ln>
        </p:spPr>
      </p:sp>
      <p:sp>
        <p:nvSpPr>
          <p:cNvPr id="31" name="Text 29"/>
          <p:cNvSpPr txBox="1"/>
          <p:nvPr/>
        </p:nvSpPr>
        <p:spPr>
          <a:xfrm>
            <a:off x="685800" y="5221224"/>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32" name="Text 30"/>
          <p:cNvSpPr txBox="1"/>
          <p:nvPr/>
        </p:nvSpPr>
        <p:spPr>
          <a:xfrm>
            <a:off x="1197864" y="5120640"/>
            <a:ext cx="6766560" cy="548640"/>
          </a:xfrm>
          <a:prstGeom prst="rect">
            <a:avLst/>
          </a:prstGeom>
          <a:noFill/>
          <a:ln/>
        </p:spPr>
        <p:txBody>
          <a:bodyPr wrap="square" lIns="0" tIns="0" rIns="0" bIns="0" rtlCol="0" anchor="ctr"/>
          <a:lstStyle/>
          <a:p>
            <a:pPr indent="0" marL="0">
              <a:buNone/>
            </a:pPr>
            <a:r>
              <a:rPr lang="en-US" sz="1350" b="1" dirty="0">
                <a:solidFill>
                  <a:srgbClr val="F2F3F8"/>
                </a:solidFill>
                <a:latin typeface="Arial" pitchFamily="34" charset="0"/>
                <a:ea typeface="Arial" pitchFamily="34" charset="-122"/>
                <a:cs typeface="Arial" pitchFamily="34" charset="-120"/>
              </a:rPr>
              <a:t>Calibration shifts, and the recommendation changes</a:t>
            </a:r>
            <a:endParaRPr lang="en-US" sz="1350" dirty="0"/>
          </a:p>
        </p:txBody>
      </p:sp>
      <p:sp>
        <p:nvSpPr>
          <p:cNvPr id="33" name="Shape 31"/>
          <p:cNvSpPr/>
          <p:nvPr/>
        </p:nvSpPr>
        <p:spPr>
          <a:xfrm>
            <a:off x="8686800" y="1828800"/>
            <a:ext cx="2999232" cy="3950208"/>
          </a:xfrm>
          <a:prstGeom prst="roundRect">
            <a:avLst>
              <a:gd name="adj" fmla="val 1829"/>
            </a:avLst>
          </a:prstGeom>
          <a:solidFill>
            <a:srgbClr val="252943"/>
          </a:solidFill>
          <a:ln w="19050">
            <a:solidFill>
              <a:srgbClr val="E0A458"/>
            </a:solidFill>
            <a:prstDash val="solid"/>
          </a:ln>
        </p:spPr>
      </p:sp>
      <p:sp>
        <p:nvSpPr>
          <p:cNvPr id="34" name="Text 32"/>
          <p:cNvSpPr txBox="1"/>
          <p:nvPr/>
        </p:nvSpPr>
        <p:spPr>
          <a:xfrm>
            <a:off x="8942832" y="2194560"/>
            <a:ext cx="2487168" cy="822960"/>
          </a:xfrm>
          <a:prstGeom prst="rect">
            <a:avLst/>
          </a:prstGeom>
          <a:noFill/>
          <a:ln/>
        </p:spPr>
        <p:txBody>
          <a:bodyPr wrap="square" lIns="0" tIns="0" rIns="0" bIns="0" rtlCol="0" anchor="t"/>
          <a:lstStyle/>
          <a:p>
            <a:pPr indent="0" marL="0">
              <a:lnSpc>
                <a:spcPct val="110000"/>
              </a:lnSpc>
              <a:buNone/>
            </a:pPr>
            <a:r>
              <a:rPr lang="en-US" sz="1900" b="1" dirty="0">
                <a:solidFill>
                  <a:srgbClr val="E0A458"/>
                </a:solidFill>
                <a:latin typeface="Arial" pitchFamily="34" charset="0"/>
                <a:ea typeface="Arial" pitchFamily="34" charset="-122"/>
                <a:cs typeface="Arial" pitchFamily="34" charset="-120"/>
              </a:rPr>
              <a:t>The loop closes</a:t>
            </a:r>
            <a:endParaRPr lang="en-US" sz="1900" dirty="0"/>
          </a:p>
          <a:p>
            <a:pPr indent="0" marL="0">
              <a:lnSpc>
                <a:spcPct val="110000"/>
              </a:lnSpc>
              <a:buNone/>
            </a:pPr>
            <a:r>
              <a:rPr lang="en-US" sz="1900" b="1" dirty="0">
                <a:solidFill>
                  <a:srgbClr val="E0A458"/>
                </a:solidFill>
                <a:latin typeface="Arial" pitchFamily="34" charset="0"/>
                <a:ea typeface="Arial" pitchFamily="34" charset="-122"/>
                <a:cs typeface="Arial" pitchFamily="34" charset="-120"/>
              </a:rPr>
              <a:t>in front of the room</a:t>
            </a:r>
            <a:endParaRPr lang="en-US" sz="1900" dirty="0"/>
          </a:p>
        </p:txBody>
      </p:sp>
      <p:sp>
        <p:nvSpPr>
          <p:cNvPr id="35" name="Text 33"/>
          <p:cNvSpPr txBox="1"/>
          <p:nvPr/>
        </p:nvSpPr>
        <p:spPr>
          <a:xfrm>
            <a:off x="8942832" y="3200400"/>
            <a:ext cx="2487168" cy="2286000"/>
          </a:xfrm>
          <a:prstGeom prst="rect">
            <a:avLst/>
          </a:prstGeom>
          <a:noFill/>
          <a:ln/>
        </p:spPr>
        <p:txBody>
          <a:bodyPr wrap="square" lIns="0" tIns="0" rIns="0" bIns="0" rtlCol="0" anchor="t"/>
          <a:lstStyle/>
          <a:p>
            <a:pPr indent="0" marL="0">
              <a:lnSpc>
                <a:spcPct val="120000"/>
              </a:lnSpc>
              <a:buNone/>
            </a:pPr>
            <a:r>
              <a:rPr lang="en-US" sz="1250" dirty="0">
                <a:solidFill>
                  <a:srgbClr val="9BA1C1"/>
                </a:solidFill>
                <a:latin typeface="Arial" pitchFamily="34" charset="0"/>
                <a:ea typeface="Arial" pitchFamily="34" charset="-122"/>
                <a:cs typeface="Arial" pitchFamily="34" charset="-120"/>
              </a:rPr>
              <a:t>Six agents, one calculator, and a claim we can measure:</a:t>
            </a:r>
            <a:endParaRPr lang="en-US" sz="1250" dirty="0"/>
          </a:p>
          <a:p>
            <a:pPr indent="0" marL="0">
              <a:lnSpc>
                <a:spcPct val="120000"/>
              </a:lnSpc>
              <a:buNone/>
            </a:pPr>
            <a:endParaRPr lang="en-US" sz="1250" dirty="0"/>
          </a:p>
          <a:p>
            <a:pPr indent="0" marL="0">
              <a:lnSpc>
                <a:spcPct val="120000"/>
              </a:lnSpc>
              <a:buNone/>
            </a:pPr>
            <a:r>
              <a:rPr lang="en-US" sz="1250" dirty="0">
                <a:solidFill>
                  <a:srgbClr val="9BA1C1"/>
                </a:solidFill>
                <a:latin typeface="Arial" pitchFamily="34" charset="0"/>
                <a:ea typeface="Arial" pitchFamily="34" charset="-122"/>
                <a:cs typeface="Arial" pitchFamily="34" charset="-120"/>
              </a:rPr>
              <a:t>AI on the messy edges, ordinary code at the centre — with the numbers to back it.</a:t>
            </a:r>
            <a:endParaRPr lang="en-US" sz="1250" dirty="0"/>
          </a:p>
        </p:txBody>
      </p:sp>
      <p:sp>
        <p:nvSpPr>
          <p:cNvPr id="36" name="Text 34"/>
          <p:cNvSpPr txBox="1"/>
          <p:nvPr/>
        </p:nvSpPr>
        <p:spPr>
          <a:xfrm>
            <a:off x="502920" y="6053328"/>
            <a:ext cx="11185855" cy="292608"/>
          </a:xfrm>
          <a:prstGeom prst="rect">
            <a:avLst/>
          </a:prstGeom>
          <a:noFill/>
          <a:ln/>
        </p:spPr>
        <p:txBody>
          <a:bodyPr wrap="square" lIns="0" tIns="0" rIns="0" bIns="0" rtlCol="0" anchor="ctr"/>
          <a:lstStyle/>
          <a:p>
            <a:pPr indent="0" marL="0">
              <a:buNone/>
            </a:pPr>
            <a:r>
              <a:rPr lang="en-US" sz="1100" dirty="0">
                <a:solidFill>
                  <a:srgbClr val="6E7699"/>
                </a:solidFill>
                <a:latin typeface="Arial" pitchFamily="34" charset="0"/>
                <a:ea typeface="Arial" pitchFamily="34" charset="-122"/>
                <a:cs typeface="Arial" pitchFamily="34" charset="-120"/>
              </a:rPr>
              <a:t>Companion documents: Architettura SartorIA  ·  SartorIA MVP Blueprint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SartorIA — MVP and interface</dc:title>
  <dc:subject>PptxGenJS Presentation</dc:subject>
  <dc:creator>SartorIA</dc:creator>
  <cp:lastModifiedBy>SartorIA</cp:lastModifiedBy>
  <cp:revision>1</cp:revision>
  <dcterms:created xsi:type="dcterms:W3CDTF">2026-09-08T14:29:29Z</dcterms:created>
  <dcterms:modified xsi:type="dcterms:W3CDTF">2026-09-08T14:29:29Z</dcterms:modified>
</cp:coreProperties>
</file>