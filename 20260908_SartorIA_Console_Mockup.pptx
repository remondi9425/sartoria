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what is real and what is not: the layout and the content are the proposal, the data is seeded, and no screen talks to a server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colleague pushes back that this is over-engineered for a consumer, agree — and say the exam version and the shipped version can differ by a feature flag. That is slide 8's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the walking order, then go screen by screen. Do not linger — the detail is on the next five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1 — Capture. Ask the amber question out loud and write the answer on the slide; that is the output of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2 — Profile. Ask the amber question out loud and write the answer on the slide; that is the output of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3 — Recommendation. Ask the amber question out loud and write the answer on the slide; that is the output of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4 — Agent console. Ask the amber question out loud and write the answer on the slide; that is the output of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5 — Learning loop. Ask the amber question out loud and write the answer on the slide; that is the output of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the next step: with these five answers, the scaffold is a Next.js repo on Vercel, the Supabase schema with RLS and Realtime, and the Modal app with stub endpoints and a compiling LangGraph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review · v1 · 8 September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SartorIA Console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screens for the master's MVP. Nothing is built yet — this is a mockup, and the point of this deck is to collect what you would change before we write the Next.js app.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10128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310128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behind them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63056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163056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build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15984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9015984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written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1277295" cy="1133856"/>
          </a:xfrm>
          <a:prstGeom prst="roundRect">
            <a:avLst>
              <a:gd name="adj" fmla="val 4839"/>
            </a:avLst>
          </a:prstGeom>
          <a:solidFill>
            <a:srgbClr val="2F3355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from you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431536"/>
            <a:ext cx="107286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screen slide carries one question in the amber box. Answer those and ignore the pixels — colours and spacing are cheap to change later, layout and what we choose to show are not.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IDEA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exposes the machinery</a:t>
            </a:r>
            <a:endParaRPr lang="en-US" sz="3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hiding it.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master's project in AI, so the system is the subject. A pretty wizard that hides six agents behind a spinner would show nothing to the examiners — and would also be a worse product, because a size recommendation nobody can interrogate is a size recommendation nobody trusts.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5394960" cy="2468880"/>
          </a:xfrm>
          <a:prstGeom prst="roundRect">
            <a:avLst>
              <a:gd name="adj" fmla="val 1852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3639312"/>
            <a:ext cx="146304" cy="146304"/>
          </a:xfrm>
          <a:prstGeom prst="ellipse">
            <a:avLst/>
          </a:prstGeom>
          <a:solidFill>
            <a:srgbClr val="EC8079"/>
          </a:solidFill>
          <a:ln w="12700">
            <a:solidFill>
              <a:srgbClr val="EC80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2416" y="3566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8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demos 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40233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 box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spinner while something happens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answer, no reasoning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machinery is a black box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3383280"/>
            <a:ext cx="5394960" cy="2468880"/>
          </a:xfrm>
          <a:prstGeom prst="roundRect">
            <a:avLst>
              <a:gd name="adj" fmla="val 1852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3639312"/>
            <a:ext cx="146304" cy="146304"/>
          </a:xfrm>
          <a:prstGeom prst="ellipse">
            <a:avLst/>
          </a:prstGeom>
          <a:solidFill>
            <a:srgbClr val="6FC095"/>
          </a:solidFill>
          <a:ln w="12700">
            <a:solidFill>
              <a:srgbClr val="6FC09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21424" y="3566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these screens do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40233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and their evidence, live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 with latency and cost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as a chart, next to the text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checkable against the engine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03504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 and 5 are the ones that carry this. If we cut anything, it should not be those.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screens, one session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5097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user, the same 12-second clip, followed from capture to a return that changes the next recommendation.</a:t>
            </a:r>
            <a:endParaRPr lang="en-US" sz="1300" dirty="0"/>
          </a:p>
        </p:txBody>
      </p:sp>
      <p:pic>
        <p:nvPicPr>
          <p:cNvPr id="5" name="Image 0" descr="shots/1-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2130552" cy="16053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81328"/>
            <a:ext cx="2130552" cy="1605371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233003"/>
            <a:ext cx="310896" cy="310896"/>
          </a:xfrm>
          <a:prstGeom prst="ellipse">
            <a:avLst/>
          </a:prstGeom>
          <a:solidFill>
            <a:srgbClr val="83B4DE"/>
          </a:solidFill>
          <a:ln w="12700">
            <a:solidFill>
              <a:srgbClr val="83B4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2330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214715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80475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· coach · convergence</a:t>
            </a:r>
            <a:endParaRPr lang="en-US" sz="1000" dirty="0"/>
          </a:p>
        </p:txBody>
      </p:sp>
      <p:pic>
        <p:nvPicPr>
          <p:cNvPr id="11" name="Image 1" descr="shots/2-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481328"/>
            <a:ext cx="2130552" cy="16053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15768" y="1481328"/>
            <a:ext cx="2130552" cy="1605371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15768" y="3233003"/>
            <a:ext cx="310896" cy="310896"/>
          </a:xfrm>
          <a:prstGeom prst="ellipse">
            <a:avLst/>
          </a:prstGeom>
          <a:solidFill>
            <a:srgbClr val="83B4DE"/>
          </a:solidFill>
          <a:ln w="12700">
            <a:solidFill>
              <a:srgbClr val="83B4D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715768" y="32330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3214715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715768" y="3580475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· 9 measurements</a:t>
            </a:r>
            <a:endParaRPr lang="en-US" sz="1000" dirty="0"/>
          </a:p>
        </p:txBody>
      </p:sp>
      <p:pic>
        <p:nvPicPr>
          <p:cNvPr id="17" name="Image 2" descr="shots/3-f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481328"/>
            <a:ext cx="2130552" cy="160537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974336" y="1481328"/>
            <a:ext cx="2130552" cy="1605371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74336" y="3233003"/>
            <a:ext cx="310896" cy="310896"/>
          </a:xfrm>
          <a:prstGeom prst="ellipse">
            <a:avLst/>
          </a:prstGeom>
          <a:solidFill>
            <a:srgbClr val="83B4DE"/>
          </a:solidFill>
          <a:ln w="12700">
            <a:solidFill>
              <a:srgbClr val="83B4D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974336" y="32330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376672" y="3214715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974336" y="3580475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deltas · rationale</a:t>
            </a:r>
            <a:endParaRPr lang="en-US" sz="1000" dirty="0"/>
          </a:p>
        </p:txBody>
      </p:sp>
      <p:pic>
        <p:nvPicPr>
          <p:cNvPr id="23" name="Image 3" descr="shots/4-ag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481328"/>
            <a:ext cx="2130552" cy="1605371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32904" y="1481328"/>
            <a:ext cx="2130552" cy="1605371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232904" y="3233003"/>
            <a:ext cx="310896" cy="310896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232904" y="32330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635240" y="3214715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console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232904" y="3580475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· tools · cost</a:t>
            </a:r>
            <a:endParaRPr lang="en-US" sz="1000" dirty="0"/>
          </a:p>
        </p:txBody>
      </p:sp>
      <p:pic>
        <p:nvPicPr>
          <p:cNvPr id="29" name="Image 4" descr="shots/5-lo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1481328"/>
            <a:ext cx="2130552" cy="1605371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91472" y="1481328"/>
            <a:ext cx="2130552" cy="1605371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491472" y="3233003"/>
            <a:ext cx="310896" cy="310896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491472" y="32330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893808" y="3214715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loop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9491472" y="3580475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· calibration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57200" y="4956048"/>
            <a:ext cx="11277295" cy="877824"/>
          </a:xfrm>
          <a:prstGeom prst="roundRect">
            <a:avLst>
              <a:gd name="adj" fmla="val 6250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31520" y="5047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the mockup: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31520" y="5321808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seeded in JavaScript and no screen calls a server; the 3D leg twin is an SVG illustration, not the react-three-fiber render it will be; the denim brand is invented so we are not putting made-up sizing on a real one.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599846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 and 5 in amber — the two that would not exist in an ordinary shopping app.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OF 5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329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/capture</a:t>
            </a:r>
            <a:endParaRPr lang="en-US" sz="1100" dirty="0"/>
          </a:p>
        </p:txBody>
      </p:sp>
      <p:pic>
        <p:nvPicPr>
          <p:cNvPr id="5" name="Image 0" descr="shots/1-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59536"/>
            <a:ext cx="7315200" cy="55120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59536"/>
            <a:ext cx="7315200" cy="5512003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87782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 decides what to ask for next, and when there is enough evidence to stop.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7190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AT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01168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blocking gates, each showing the evidence it actually measured — not a spinner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 message names the cause and one physical action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β-variance sparkline crossing τ at frame 30: the stop rule is a statistic, not a timer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Filmstrip with two frames dropped for motion blur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4498848"/>
            <a:ext cx="3703320" cy="1874520"/>
          </a:xfrm>
          <a:prstGeom prst="roundRect">
            <a:avLst>
              <a:gd name="adj" fmla="val 2927"/>
            </a:avLst>
          </a:prstGeom>
          <a:solidFill>
            <a:srgbClr val="2F3355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4626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YOU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90118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split right — camera left, gates and coach right? And should the height field come first, as its own step, since without it there are no centimetres at all?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OF 5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329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/profile</a:t>
            </a:r>
            <a:endParaRPr lang="en-US" sz="1100" dirty="0"/>
          </a:p>
        </p:txBody>
      </p:sp>
      <p:pic>
        <p:nvPicPr>
          <p:cNvPr id="5" name="Image 0" descr="shots/2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59536"/>
            <a:ext cx="7315200" cy="55120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59536"/>
            <a:ext cx="7315200" cy="5512003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87782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landmarks measured on a fitted mesh, with a plausibility check before anything is stored.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7190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AT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01168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girth planes and three length paths, drawn where they are actually taken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Per-measurement confidence, not one global score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and inseam have the lowest confidence — the crotch landmark is the ambiguous one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distance against ANSUR II, not a per-measurement sanity check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4498848"/>
            <a:ext cx="3703320" cy="1874520"/>
          </a:xfrm>
          <a:prstGeom prst="roundRect">
            <a:avLst>
              <a:gd name="adj" fmla="val 2927"/>
            </a:avLst>
          </a:prstGeom>
          <a:solidFill>
            <a:srgbClr val="2F3355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4626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YOU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90118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this does a customer see? The confidence bars and the Mahalanobis number are an asset at the exam and possibly noise in a shop. Split it into a simple view and a technical one?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OF 5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329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/fit/…</a:t>
            </a:r>
            <a:endParaRPr lang="en-US" sz="1100" dirty="0"/>
          </a:p>
        </p:txBody>
      </p:sp>
      <p:pic>
        <p:nvPicPr>
          <p:cNvPr id="5" name="Image 0" descr="shots/3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59536"/>
            <a:ext cx="7315200" cy="55120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59536"/>
            <a:ext cx="7315200" cy="5512003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87782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picks the size. The advisor only explains what came back, and every landmark it names is verified.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7190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AT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01168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chart: tolerance window as a band, the wearer's offset as a dot, colour by how close to the edge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advisor's highlighted landmarks correspond one-to-one with the chart rows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green badge is a real check: cited_landmarks ⊆ engine.rationale, 3 of 3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W32 is rejected in words a person can argue with — “a belt, not a fit”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4498848"/>
            <a:ext cx="3703320" cy="1874520"/>
          </a:xfrm>
          <a:prstGeom prst="roundRect">
            <a:avLst>
              <a:gd name="adj" fmla="val 2927"/>
            </a:avLst>
          </a:prstGeom>
          <a:solidFill>
            <a:srgbClr val="2F3355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4626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YOU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90118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delta chart read without being explained? And is a score of 88 useful to a buyer, or should it be words — “snug”, “true to size”, “roomy”?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OF 5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console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329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/runs/…</a:t>
            </a:r>
            <a:endParaRPr lang="en-US" sz="1100" dirty="0"/>
          </a:p>
        </p:txBody>
      </p:sp>
      <p:pic>
        <p:nvPicPr>
          <p:cNvPr id="5" name="Image 0" descr="shots/4-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59536"/>
            <a:ext cx="7315200" cy="55120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59536"/>
            <a:ext cx="7315200" cy="5512003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87782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checkpoints to Postgres, so this is a live subscription to the graph's own state.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7190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AT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01168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states — done, live, idle — straight from the checkpoint table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shows the tool, the result, latency, tokens and which model ran 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for extraction and classification, Opus for reasoning: the cost split is visible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schema retry is recorded rather than hidden — malformed output is normal and handled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4498848"/>
            <a:ext cx="3703320" cy="1874520"/>
          </a:xfrm>
          <a:prstGeom prst="roundRect">
            <a:avLst>
              <a:gd name="adj" fmla="val 2927"/>
            </a:avLst>
          </a:prstGeom>
          <a:solidFill>
            <a:srgbClr val="2F3355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4626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YOU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90118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screen is built for the examiners. Does it stay in the product behind a flag, become an internal-only tool, or get cut once the exam is over?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 OF 5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9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loop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329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/outcomes/…</a:t>
            </a:r>
            <a:endParaRPr lang="en-US" sz="1100" dirty="0"/>
          </a:p>
        </p:txBody>
      </p:sp>
      <p:pic>
        <p:nvPicPr>
          <p:cNvPr id="5" name="Image 0" descr="shots/5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59536"/>
            <a:ext cx="7315200" cy="55120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59536"/>
            <a:ext cx="7315200" cy="5512003"/>
          </a:xfrm>
          <a:prstGeom prst="rect">
            <a:avLst/>
          </a:prstGeom>
          <a:ln w="12700">
            <a:solidFill>
              <a:srgbClr val="3B41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87782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BA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is where the signal is densest: free text becomes a landmark-level label.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7190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AT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01168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 free text parsed into two signals, each carrying the phrase that supports 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waist offset for this brand moves from −1.4 to −1.8 cm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recommendation flips from W31 to W32 — the loop closing, visibly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size chart says this brand runs tight in the waist. Only the returns do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4498848"/>
            <a:ext cx="3703320" cy="1874520"/>
          </a:xfrm>
          <a:prstGeom prst="roundRect">
            <a:avLst>
              <a:gd name="adj" fmla="val 2927"/>
            </a:avLst>
          </a:prstGeom>
          <a:solidFill>
            <a:srgbClr val="2F3355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4626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YOU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90118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watching the recommendation change convincing, or does it read as an unstable system? Would you rather see it as “what we learned this week” than as an instant flip?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DECIDE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questions, then we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11277295" cy="822960"/>
          </a:xfrm>
          <a:prstGeom prst="roundRect">
            <a:avLst>
              <a:gd name="adj" fmla="val 5556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481328"/>
            <a:ext cx="347472" cy="347472"/>
          </a:xfrm>
          <a:prstGeom prst="ellipse">
            <a:avLst/>
          </a:prstGeom>
          <a:solidFill>
            <a:srgbClr val="83B4DE"/>
          </a:solidFill>
          <a:ln w="12700">
            <a:solidFill>
              <a:srgbClr val="83B4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353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3350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weeks 11–13 run short, which screen gets cut? My answer is 2, because measurements can live inside screen 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11277295" cy="822960"/>
          </a:xfrm>
          <a:prstGeom prst="roundRect">
            <a:avLst>
              <a:gd name="adj" fmla="val 5556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414016"/>
            <a:ext cx="347472" cy="347472"/>
          </a:xfrm>
          <a:prstGeom prst="ellipse">
            <a:avLst/>
          </a:prstGeom>
          <a:solidFill>
            <a:srgbClr val="83B4DE"/>
          </a:solidFill>
          <a:ln w="12700">
            <a:solidFill>
              <a:srgbClr val="83B4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286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2677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machinery stays visible in a shipped product — all of it behind a flag, or a simple view by default?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1277295" cy="822960"/>
          </a:xfrm>
          <a:prstGeom prst="roundRect">
            <a:avLst>
              <a:gd name="adj" fmla="val 5556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346704"/>
            <a:ext cx="347472" cy="3474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 in the interface with English in the code and thesis, or English throughout? This decides which language agent 5's labelled set is built 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11277295" cy="822960"/>
          </a:xfrm>
          <a:prstGeom prst="roundRect">
            <a:avLst>
              <a:gd name="adj" fmla="val 5556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4279392"/>
            <a:ext cx="347472" cy="3474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133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denim better than the mockup does. Any measurement name, tolerance or phrase that reads wrong to you?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74336"/>
            <a:ext cx="11277295" cy="822960"/>
          </a:xfrm>
          <a:prstGeom prst="roundRect">
            <a:avLst>
              <a:gd name="adj" fmla="val 5556"/>
            </a:avLst>
          </a:prstGeom>
          <a:solidFill>
            <a:srgbClr val="252943"/>
          </a:solidFill>
          <a:ln w="12700">
            <a:solidFill>
              <a:srgbClr val="2529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" y="5212080"/>
            <a:ext cx="347472" cy="347472"/>
          </a:xfrm>
          <a:prstGeom prst="ellipse">
            <a:avLst/>
          </a:prstGeom>
          <a:solidFill>
            <a:srgbClr val="83B4DE"/>
          </a:solidFill>
          <a:ln w="12700">
            <a:solidFill>
              <a:srgbClr val="83B4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5084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score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506577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F2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out of 100, words, or both?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035040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Colours, spacing and copy are cheap to change once the app exists. Layout and scope are not — those are what this meeting is for.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SartorIA Console — mockup review</dc:title>
  <dc:subject>PptxGenJS Presentation</dc:subject>
  <dc:creator>SartorIA</dc:creator>
  <cp:lastModifiedBy>SartorIA</cp:lastModifiedBy>
  <cp:revision>1</cp:revision>
  <dcterms:created xsi:type="dcterms:W3CDTF">2026-09-08T14:14:42Z</dcterms:created>
  <dcterms:modified xsi:type="dcterms:W3CDTF">2026-09-08T14:14:42Z</dcterms:modified>
</cp:coreProperties>
</file>