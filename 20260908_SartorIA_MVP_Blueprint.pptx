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deck in one sentence: the graded contribution is not a size recommender and not a body scanner, it is the division of labour between agents and deterministic code. Everything that follows defends that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land hard. The division of labour is the thesis. If the committee remembers one thing, it should be that the project can say why each agent is an agent, and why the scorer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this question in the viva and answer it before it is asked. The two 'No' rows are the credibility rows: a project that uses an LLM for everything has not thought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entry points, then point at the core: every agent reaches it through tools, never by reimplementing it. Then point at the red path and say that escalation is a designed output, not an error handler.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3 is the one to dwell on: the body-versus-flat classification is a single field that silently inverts every recommendation if it is wrong, which is why the schema forces a verbatim quote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6 is the differentiator against typical student projects: prompt versioning with a regression gate. Mention that the judge itself is validated against human ratings and the agreement is reported as Cohen's kappa.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exits, both explicit and both carrying a reason. This closes the dead-end scan-fail loop found in the original process diagram, which returned only to the capture step and offered no manual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point: this is a precondition, not a quality metric. No amount of extra footage repairs it, because the scale factor has no other source. Message quality is scored in Suite C, not left to taste — a clip with the head cropped must produce a re-capture verdict that names the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asymmetry: blocking checks end the session, coaching signals only change what the agent says next. Mixing the two is how capture flows become frustrating.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accuracy here rather than in the questions. Measurement error consuming a quarter to a half of a size step is exactly why the outcome-learning loop matters — the two halves of the project support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one-line rule: synthetic data may generate the inputs, never the target you then report as a result. SURREAL passes because the measurements come from the geometry, not from a model being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is the weakest part of most agentic projects, so it is the place to be strongest. Note that the judge is itself validated: agreement with human ratings reported as Cohen's kappa on a held-out slice.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is time for only one technical slide beyond the topology, make it this one. Verifiable hallucination detection is unusual in a student project and it follows directly from the architectural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on the right is the point: because LangGraph checkpoints to Supabase Postgres, the browser can subscribe to the graph's own state over Realtime. That is what makes a live agent console possible instead of a progress spinner.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that replay mode exists and why. Declaring a fallback is not cheating; discovering you needed one in front of the committee is what ends badly.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row is the project-management point: the computer-vision risk is concentrated in the first three weeks and has a pre-agreed fallback that leaves the agentic layer — the graded part —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 gate means the whole body, face included, passes through the pipeline — so say plainly that the privacy claim is a retention claim, which is verifiable in the schema rather than asserted. Top-of-head detection needs no facial features, so face masking at ingest is compatible with the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demo rather than on a summary slide. Rehearse it until it runs in three minutes without narration — the moment the recommendation shifts after a typed return reason is when the whole architecture becomes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D33"/>
        </a:solidFill>
      </p:bgPr>
    </p:bg>
    <p:spTree>
      <p:nvGrpSpPr>
        <p:cNvPr id="1" name=""/>
        <p:cNvGrpSpPr/>
        <p:nvPr/>
      </p:nvGrpSpPr>
      <p:grpSpPr>
        <a:xfrm>
          <a:off x="0" y="0"/>
          <a:ext cx="0" cy="0"/>
          <a:chOff x="0" y="0"/>
          <a:chExt cx="0" cy="0"/>
        </a:xfrm>
      </p:grpSpPr>
      <p:sp>
        <p:nvSpPr>
          <p:cNvPr id="2" name="Shape 0"/>
          <p:cNvSpPr/>
          <p:nvPr/>
        </p:nvSpPr>
        <p:spPr>
          <a:xfrm>
            <a:off x="502920" y="1335024"/>
            <a:ext cx="0" cy="146304"/>
          </a:xfrm>
          <a:prstGeom prst="line">
            <a:avLst/>
          </a:prstGeom>
          <a:noFill/>
          <a:ln w="12700">
            <a:solidFill>
              <a:srgbClr val="E0A458"/>
            </a:solidFill>
            <a:prstDash val="solid"/>
          </a:ln>
        </p:spPr>
      </p:sp>
      <p:sp>
        <p:nvSpPr>
          <p:cNvPr id="3" name="Shape 1"/>
          <p:cNvSpPr/>
          <p:nvPr/>
        </p:nvSpPr>
        <p:spPr>
          <a:xfrm>
            <a:off x="685800" y="1408176"/>
            <a:ext cx="0" cy="73152"/>
          </a:xfrm>
          <a:prstGeom prst="line">
            <a:avLst/>
          </a:prstGeom>
          <a:noFill/>
          <a:ln w="12700">
            <a:solidFill>
              <a:srgbClr val="6E7699"/>
            </a:solidFill>
            <a:prstDash val="solid"/>
          </a:ln>
        </p:spPr>
      </p:sp>
      <p:sp>
        <p:nvSpPr>
          <p:cNvPr id="4" name="Shape 2"/>
          <p:cNvSpPr/>
          <p:nvPr/>
        </p:nvSpPr>
        <p:spPr>
          <a:xfrm>
            <a:off x="868680" y="1408176"/>
            <a:ext cx="0" cy="73152"/>
          </a:xfrm>
          <a:prstGeom prst="line">
            <a:avLst/>
          </a:prstGeom>
          <a:noFill/>
          <a:ln w="12700">
            <a:solidFill>
              <a:srgbClr val="6E7699"/>
            </a:solidFill>
            <a:prstDash val="solid"/>
          </a:ln>
        </p:spPr>
      </p:sp>
      <p:sp>
        <p:nvSpPr>
          <p:cNvPr id="5" name="Shape 3"/>
          <p:cNvSpPr/>
          <p:nvPr/>
        </p:nvSpPr>
        <p:spPr>
          <a:xfrm>
            <a:off x="1051560" y="1408176"/>
            <a:ext cx="0" cy="73152"/>
          </a:xfrm>
          <a:prstGeom prst="line">
            <a:avLst/>
          </a:prstGeom>
          <a:noFill/>
          <a:ln w="12700">
            <a:solidFill>
              <a:srgbClr val="6E7699"/>
            </a:solidFill>
            <a:prstDash val="solid"/>
          </a:ln>
        </p:spPr>
      </p:sp>
      <p:sp>
        <p:nvSpPr>
          <p:cNvPr id="6" name="Shape 4"/>
          <p:cNvSpPr/>
          <p:nvPr/>
        </p:nvSpPr>
        <p:spPr>
          <a:xfrm>
            <a:off x="1234440" y="1408176"/>
            <a:ext cx="0" cy="73152"/>
          </a:xfrm>
          <a:prstGeom prst="line">
            <a:avLst/>
          </a:prstGeom>
          <a:noFill/>
          <a:ln w="12700">
            <a:solidFill>
              <a:srgbClr val="6E7699"/>
            </a:solidFill>
            <a:prstDash val="solid"/>
          </a:ln>
        </p:spPr>
      </p:sp>
      <p:sp>
        <p:nvSpPr>
          <p:cNvPr id="7" name="Shape 5"/>
          <p:cNvSpPr/>
          <p:nvPr/>
        </p:nvSpPr>
        <p:spPr>
          <a:xfrm>
            <a:off x="1417320" y="1335024"/>
            <a:ext cx="0" cy="146304"/>
          </a:xfrm>
          <a:prstGeom prst="line">
            <a:avLst/>
          </a:prstGeom>
          <a:noFill/>
          <a:ln w="12700">
            <a:solidFill>
              <a:srgbClr val="E0A458"/>
            </a:solidFill>
            <a:prstDash val="solid"/>
          </a:ln>
        </p:spPr>
      </p:sp>
      <p:sp>
        <p:nvSpPr>
          <p:cNvPr id="8" name="Shape 6"/>
          <p:cNvSpPr/>
          <p:nvPr/>
        </p:nvSpPr>
        <p:spPr>
          <a:xfrm>
            <a:off x="1600200" y="1408176"/>
            <a:ext cx="0" cy="73152"/>
          </a:xfrm>
          <a:prstGeom prst="line">
            <a:avLst/>
          </a:prstGeom>
          <a:noFill/>
          <a:ln w="12700">
            <a:solidFill>
              <a:srgbClr val="6E7699"/>
            </a:solidFill>
            <a:prstDash val="solid"/>
          </a:ln>
        </p:spPr>
      </p:sp>
      <p:sp>
        <p:nvSpPr>
          <p:cNvPr id="9" name="Shape 7"/>
          <p:cNvSpPr/>
          <p:nvPr/>
        </p:nvSpPr>
        <p:spPr>
          <a:xfrm>
            <a:off x="1783080" y="1408176"/>
            <a:ext cx="0" cy="73152"/>
          </a:xfrm>
          <a:prstGeom prst="line">
            <a:avLst/>
          </a:prstGeom>
          <a:noFill/>
          <a:ln w="12700">
            <a:solidFill>
              <a:srgbClr val="6E7699"/>
            </a:solidFill>
            <a:prstDash val="solid"/>
          </a:ln>
        </p:spPr>
      </p:sp>
      <p:sp>
        <p:nvSpPr>
          <p:cNvPr id="10" name="Shape 8"/>
          <p:cNvSpPr/>
          <p:nvPr/>
        </p:nvSpPr>
        <p:spPr>
          <a:xfrm>
            <a:off x="1965960" y="1408176"/>
            <a:ext cx="0" cy="73152"/>
          </a:xfrm>
          <a:prstGeom prst="line">
            <a:avLst/>
          </a:prstGeom>
          <a:noFill/>
          <a:ln w="12700">
            <a:solidFill>
              <a:srgbClr val="6E7699"/>
            </a:solidFill>
            <a:prstDash val="solid"/>
          </a:ln>
        </p:spPr>
      </p:sp>
      <p:sp>
        <p:nvSpPr>
          <p:cNvPr id="11" name="Shape 9"/>
          <p:cNvSpPr/>
          <p:nvPr/>
        </p:nvSpPr>
        <p:spPr>
          <a:xfrm>
            <a:off x="2148840" y="1408176"/>
            <a:ext cx="0" cy="73152"/>
          </a:xfrm>
          <a:prstGeom prst="line">
            <a:avLst/>
          </a:prstGeom>
          <a:noFill/>
          <a:ln w="12700">
            <a:solidFill>
              <a:srgbClr val="6E7699"/>
            </a:solidFill>
            <a:prstDash val="solid"/>
          </a:ln>
        </p:spPr>
      </p:sp>
      <p:sp>
        <p:nvSpPr>
          <p:cNvPr id="12" name="Shape 10"/>
          <p:cNvSpPr/>
          <p:nvPr/>
        </p:nvSpPr>
        <p:spPr>
          <a:xfrm>
            <a:off x="2331720" y="1335024"/>
            <a:ext cx="0" cy="146304"/>
          </a:xfrm>
          <a:prstGeom prst="line">
            <a:avLst/>
          </a:prstGeom>
          <a:noFill/>
          <a:ln w="12700">
            <a:solidFill>
              <a:srgbClr val="E0A458"/>
            </a:solidFill>
            <a:prstDash val="solid"/>
          </a:ln>
        </p:spPr>
      </p:sp>
      <p:sp>
        <p:nvSpPr>
          <p:cNvPr id="13" name="Shape 11"/>
          <p:cNvSpPr/>
          <p:nvPr/>
        </p:nvSpPr>
        <p:spPr>
          <a:xfrm>
            <a:off x="2514600" y="1408176"/>
            <a:ext cx="0" cy="73152"/>
          </a:xfrm>
          <a:prstGeom prst="line">
            <a:avLst/>
          </a:prstGeom>
          <a:noFill/>
          <a:ln w="12700">
            <a:solidFill>
              <a:srgbClr val="6E7699"/>
            </a:solidFill>
            <a:prstDash val="solid"/>
          </a:ln>
        </p:spPr>
      </p:sp>
      <p:sp>
        <p:nvSpPr>
          <p:cNvPr id="14" name="Shape 12"/>
          <p:cNvSpPr/>
          <p:nvPr/>
        </p:nvSpPr>
        <p:spPr>
          <a:xfrm>
            <a:off x="2697480" y="1408176"/>
            <a:ext cx="0" cy="73152"/>
          </a:xfrm>
          <a:prstGeom prst="line">
            <a:avLst/>
          </a:prstGeom>
          <a:noFill/>
          <a:ln w="12700">
            <a:solidFill>
              <a:srgbClr val="6E7699"/>
            </a:solidFill>
            <a:prstDash val="solid"/>
          </a:ln>
        </p:spPr>
      </p:sp>
      <p:sp>
        <p:nvSpPr>
          <p:cNvPr id="15" name="Shape 13"/>
          <p:cNvSpPr/>
          <p:nvPr/>
        </p:nvSpPr>
        <p:spPr>
          <a:xfrm>
            <a:off x="2880360" y="1408176"/>
            <a:ext cx="0" cy="73152"/>
          </a:xfrm>
          <a:prstGeom prst="line">
            <a:avLst/>
          </a:prstGeom>
          <a:noFill/>
          <a:ln w="12700">
            <a:solidFill>
              <a:srgbClr val="6E7699"/>
            </a:solidFill>
            <a:prstDash val="solid"/>
          </a:ln>
        </p:spPr>
      </p:sp>
      <p:sp>
        <p:nvSpPr>
          <p:cNvPr id="16" name="Shape 14"/>
          <p:cNvSpPr/>
          <p:nvPr/>
        </p:nvSpPr>
        <p:spPr>
          <a:xfrm>
            <a:off x="3063240" y="1408176"/>
            <a:ext cx="0" cy="73152"/>
          </a:xfrm>
          <a:prstGeom prst="line">
            <a:avLst/>
          </a:prstGeom>
          <a:noFill/>
          <a:ln w="12700">
            <a:solidFill>
              <a:srgbClr val="6E7699"/>
            </a:solidFill>
            <a:prstDash val="solid"/>
          </a:ln>
        </p:spPr>
      </p:sp>
      <p:sp>
        <p:nvSpPr>
          <p:cNvPr id="17" name="Shape 15"/>
          <p:cNvSpPr/>
          <p:nvPr/>
        </p:nvSpPr>
        <p:spPr>
          <a:xfrm>
            <a:off x="3246120" y="1335024"/>
            <a:ext cx="0" cy="146304"/>
          </a:xfrm>
          <a:prstGeom prst="line">
            <a:avLst/>
          </a:prstGeom>
          <a:noFill/>
          <a:ln w="12700">
            <a:solidFill>
              <a:srgbClr val="E0A458"/>
            </a:solidFill>
            <a:prstDash val="solid"/>
          </a:ln>
        </p:spPr>
      </p:sp>
      <p:sp>
        <p:nvSpPr>
          <p:cNvPr id="18" name="Shape 16"/>
          <p:cNvSpPr/>
          <p:nvPr/>
        </p:nvSpPr>
        <p:spPr>
          <a:xfrm>
            <a:off x="3429000" y="1408176"/>
            <a:ext cx="0" cy="73152"/>
          </a:xfrm>
          <a:prstGeom prst="line">
            <a:avLst/>
          </a:prstGeom>
          <a:noFill/>
          <a:ln w="12700">
            <a:solidFill>
              <a:srgbClr val="6E7699"/>
            </a:solidFill>
            <a:prstDash val="solid"/>
          </a:ln>
        </p:spPr>
      </p:sp>
      <p:sp>
        <p:nvSpPr>
          <p:cNvPr id="19" name="Shape 17"/>
          <p:cNvSpPr/>
          <p:nvPr/>
        </p:nvSpPr>
        <p:spPr>
          <a:xfrm>
            <a:off x="3611880" y="1408176"/>
            <a:ext cx="0" cy="73152"/>
          </a:xfrm>
          <a:prstGeom prst="line">
            <a:avLst/>
          </a:prstGeom>
          <a:noFill/>
          <a:ln w="12700">
            <a:solidFill>
              <a:srgbClr val="6E7699"/>
            </a:solidFill>
            <a:prstDash val="solid"/>
          </a:ln>
        </p:spPr>
      </p:sp>
      <p:sp>
        <p:nvSpPr>
          <p:cNvPr id="20" name="Shape 18"/>
          <p:cNvSpPr/>
          <p:nvPr/>
        </p:nvSpPr>
        <p:spPr>
          <a:xfrm>
            <a:off x="3794760" y="1408176"/>
            <a:ext cx="0" cy="73152"/>
          </a:xfrm>
          <a:prstGeom prst="line">
            <a:avLst/>
          </a:prstGeom>
          <a:noFill/>
          <a:ln w="12700">
            <a:solidFill>
              <a:srgbClr val="6E7699"/>
            </a:solidFill>
            <a:prstDash val="solid"/>
          </a:ln>
        </p:spPr>
      </p:sp>
      <p:sp>
        <p:nvSpPr>
          <p:cNvPr id="21" name="Shape 19"/>
          <p:cNvSpPr/>
          <p:nvPr/>
        </p:nvSpPr>
        <p:spPr>
          <a:xfrm>
            <a:off x="3977640" y="1408176"/>
            <a:ext cx="0" cy="73152"/>
          </a:xfrm>
          <a:prstGeom prst="line">
            <a:avLst/>
          </a:prstGeom>
          <a:noFill/>
          <a:ln w="12700">
            <a:solidFill>
              <a:srgbClr val="6E7699"/>
            </a:solidFill>
            <a:prstDash val="solid"/>
          </a:ln>
        </p:spPr>
      </p:sp>
      <p:sp>
        <p:nvSpPr>
          <p:cNvPr id="22" name="Shape 20"/>
          <p:cNvSpPr/>
          <p:nvPr/>
        </p:nvSpPr>
        <p:spPr>
          <a:xfrm>
            <a:off x="4160520" y="1335024"/>
            <a:ext cx="0" cy="146304"/>
          </a:xfrm>
          <a:prstGeom prst="line">
            <a:avLst/>
          </a:prstGeom>
          <a:noFill/>
          <a:ln w="12700">
            <a:solidFill>
              <a:srgbClr val="E0A458"/>
            </a:solidFill>
            <a:prstDash val="solid"/>
          </a:ln>
        </p:spPr>
      </p:sp>
      <p:sp>
        <p:nvSpPr>
          <p:cNvPr id="23" name="Shape 21"/>
          <p:cNvSpPr/>
          <p:nvPr/>
        </p:nvSpPr>
        <p:spPr>
          <a:xfrm>
            <a:off x="4343400" y="1408176"/>
            <a:ext cx="0" cy="73152"/>
          </a:xfrm>
          <a:prstGeom prst="line">
            <a:avLst/>
          </a:prstGeom>
          <a:noFill/>
          <a:ln w="12700">
            <a:solidFill>
              <a:srgbClr val="6E7699"/>
            </a:solidFill>
            <a:prstDash val="solid"/>
          </a:ln>
        </p:spPr>
      </p:sp>
      <p:sp>
        <p:nvSpPr>
          <p:cNvPr id="24" name="Shape 22"/>
          <p:cNvSpPr/>
          <p:nvPr/>
        </p:nvSpPr>
        <p:spPr>
          <a:xfrm>
            <a:off x="4526280" y="1408176"/>
            <a:ext cx="0" cy="73152"/>
          </a:xfrm>
          <a:prstGeom prst="line">
            <a:avLst/>
          </a:prstGeom>
          <a:noFill/>
          <a:ln w="12700">
            <a:solidFill>
              <a:srgbClr val="6E7699"/>
            </a:solidFill>
            <a:prstDash val="solid"/>
          </a:ln>
        </p:spPr>
      </p:sp>
      <p:sp>
        <p:nvSpPr>
          <p:cNvPr id="25" name="Shape 23"/>
          <p:cNvSpPr/>
          <p:nvPr/>
        </p:nvSpPr>
        <p:spPr>
          <a:xfrm>
            <a:off x="4709160" y="1408176"/>
            <a:ext cx="0" cy="73152"/>
          </a:xfrm>
          <a:prstGeom prst="line">
            <a:avLst/>
          </a:prstGeom>
          <a:noFill/>
          <a:ln w="12700">
            <a:solidFill>
              <a:srgbClr val="6E7699"/>
            </a:solidFill>
            <a:prstDash val="solid"/>
          </a:ln>
        </p:spPr>
      </p:sp>
      <p:sp>
        <p:nvSpPr>
          <p:cNvPr id="26" name="Shape 24"/>
          <p:cNvSpPr/>
          <p:nvPr/>
        </p:nvSpPr>
        <p:spPr>
          <a:xfrm>
            <a:off x="4892040" y="1408176"/>
            <a:ext cx="0" cy="73152"/>
          </a:xfrm>
          <a:prstGeom prst="line">
            <a:avLst/>
          </a:prstGeom>
          <a:noFill/>
          <a:ln w="12700">
            <a:solidFill>
              <a:srgbClr val="6E7699"/>
            </a:solidFill>
            <a:prstDash val="solid"/>
          </a:ln>
        </p:spPr>
      </p:sp>
      <p:sp>
        <p:nvSpPr>
          <p:cNvPr id="27" name="Shape 25"/>
          <p:cNvSpPr/>
          <p:nvPr/>
        </p:nvSpPr>
        <p:spPr>
          <a:xfrm>
            <a:off x="5074920" y="1335024"/>
            <a:ext cx="0" cy="146304"/>
          </a:xfrm>
          <a:prstGeom prst="line">
            <a:avLst/>
          </a:prstGeom>
          <a:noFill/>
          <a:ln w="12700">
            <a:solidFill>
              <a:srgbClr val="E0A458"/>
            </a:solidFill>
            <a:prstDash val="solid"/>
          </a:ln>
        </p:spPr>
      </p:sp>
      <p:sp>
        <p:nvSpPr>
          <p:cNvPr id="28" name="Shape 26"/>
          <p:cNvSpPr/>
          <p:nvPr/>
        </p:nvSpPr>
        <p:spPr>
          <a:xfrm>
            <a:off x="5257800" y="1408176"/>
            <a:ext cx="0" cy="73152"/>
          </a:xfrm>
          <a:prstGeom prst="line">
            <a:avLst/>
          </a:prstGeom>
          <a:noFill/>
          <a:ln w="12700">
            <a:solidFill>
              <a:srgbClr val="6E7699"/>
            </a:solidFill>
            <a:prstDash val="solid"/>
          </a:ln>
        </p:spPr>
      </p:sp>
      <p:sp>
        <p:nvSpPr>
          <p:cNvPr id="29" name="Shape 27"/>
          <p:cNvSpPr/>
          <p:nvPr/>
        </p:nvSpPr>
        <p:spPr>
          <a:xfrm>
            <a:off x="5440680" y="1408176"/>
            <a:ext cx="0" cy="73152"/>
          </a:xfrm>
          <a:prstGeom prst="line">
            <a:avLst/>
          </a:prstGeom>
          <a:noFill/>
          <a:ln w="12700">
            <a:solidFill>
              <a:srgbClr val="6E7699"/>
            </a:solidFill>
            <a:prstDash val="solid"/>
          </a:ln>
        </p:spPr>
      </p:sp>
      <p:sp>
        <p:nvSpPr>
          <p:cNvPr id="30" name="Shape 28"/>
          <p:cNvSpPr/>
          <p:nvPr/>
        </p:nvSpPr>
        <p:spPr>
          <a:xfrm>
            <a:off x="5623560" y="1408176"/>
            <a:ext cx="0" cy="73152"/>
          </a:xfrm>
          <a:prstGeom prst="line">
            <a:avLst/>
          </a:prstGeom>
          <a:noFill/>
          <a:ln w="12700">
            <a:solidFill>
              <a:srgbClr val="6E7699"/>
            </a:solidFill>
            <a:prstDash val="solid"/>
          </a:ln>
        </p:spPr>
      </p:sp>
      <p:sp>
        <p:nvSpPr>
          <p:cNvPr id="31" name="Shape 29"/>
          <p:cNvSpPr/>
          <p:nvPr/>
        </p:nvSpPr>
        <p:spPr>
          <a:xfrm>
            <a:off x="5806440" y="1408176"/>
            <a:ext cx="0" cy="73152"/>
          </a:xfrm>
          <a:prstGeom prst="line">
            <a:avLst/>
          </a:prstGeom>
          <a:noFill/>
          <a:ln w="12700">
            <a:solidFill>
              <a:srgbClr val="6E7699"/>
            </a:solidFill>
            <a:prstDash val="solid"/>
          </a:ln>
        </p:spPr>
      </p:sp>
      <p:sp>
        <p:nvSpPr>
          <p:cNvPr id="32" name="Shape 30"/>
          <p:cNvSpPr/>
          <p:nvPr/>
        </p:nvSpPr>
        <p:spPr>
          <a:xfrm>
            <a:off x="5989320" y="1335024"/>
            <a:ext cx="0" cy="146304"/>
          </a:xfrm>
          <a:prstGeom prst="line">
            <a:avLst/>
          </a:prstGeom>
          <a:noFill/>
          <a:ln w="12700">
            <a:solidFill>
              <a:srgbClr val="E0A458"/>
            </a:solidFill>
            <a:prstDash val="solid"/>
          </a:ln>
        </p:spPr>
      </p:sp>
      <p:sp>
        <p:nvSpPr>
          <p:cNvPr id="33" name="Shape 31"/>
          <p:cNvSpPr/>
          <p:nvPr/>
        </p:nvSpPr>
        <p:spPr>
          <a:xfrm>
            <a:off x="6172200" y="1408176"/>
            <a:ext cx="0" cy="73152"/>
          </a:xfrm>
          <a:prstGeom prst="line">
            <a:avLst/>
          </a:prstGeom>
          <a:noFill/>
          <a:ln w="12700">
            <a:solidFill>
              <a:srgbClr val="6E7699"/>
            </a:solidFill>
            <a:prstDash val="solid"/>
          </a:ln>
        </p:spPr>
      </p:sp>
      <p:sp>
        <p:nvSpPr>
          <p:cNvPr id="34" name="Shape 32"/>
          <p:cNvSpPr/>
          <p:nvPr/>
        </p:nvSpPr>
        <p:spPr>
          <a:xfrm>
            <a:off x="6355080" y="1408176"/>
            <a:ext cx="0" cy="73152"/>
          </a:xfrm>
          <a:prstGeom prst="line">
            <a:avLst/>
          </a:prstGeom>
          <a:noFill/>
          <a:ln w="12700">
            <a:solidFill>
              <a:srgbClr val="6E7699"/>
            </a:solidFill>
            <a:prstDash val="solid"/>
          </a:ln>
        </p:spPr>
      </p:sp>
      <p:sp>
        <p:nvSpPr>
          <p:cNvPr id="35" name="Shape 33"/>
          <p:cNvSpPr/>
          <p:nvPr/>
        </p:nvSpPr>
        <p:spPr>
          <a:xfrm>
            <a:off x="6537960" y="1408176"/>
            <a:ext cx="0" cy="73152"/>
          </a:xfrm>
          <a:prstGeom prst="line">
            <a:avLst/>
          </a:prstGeom>
          <a:noFill/>
          <a:ln w="12700">
            <a:solidFill>
              <a:srgbClr val="6E7699"/>
            </a:solidFill>
            <a:prstDash val="solid"/>
          </a:ln>
        </p:spPr>
      </p:sp>
      <p:sp>
        <p:nvSpPr>
          <p:cNvPr id="36" name="Shape 34"/>
          <p:cNvSpPr/>
          <p:nvPr/>
        </p:nvSpPr>
        <p:spPr>
          <a:xfrm>
            <a:off x="6720840" y="1408176"/>
            <a:ext cx="0" cy="73152"/>
          </a:xfrm>
          <a:prstGeom prst="line">
            <a:avLst/>
          </a:prstGeom>
          <a:noFill/>
          <a:ln w="12700">
            <a:solidFill>
              <a:srgbClr val="6E7699"/>
            </a:solidFill>
            <a:prstDash val="solid"/>
          </a:ln>
        </p:spPr>
      </p:sp>
      <p:sp>
        <p:nvSpPr>
          <p:cNvPr id="37" name="Shape 35"/>
          <p:cNvSpPr/>
          <p:nvPr/>
        </p:nvSpPr>
        <p:spPr>
          <a:xfrm>
            <a:off x="6903720" y="1335024"/>
            <a:ext cx="0" cy="146304"/>
          </a:xfrm>
          <a:prstGeom prst="line">
            <a:avLst/>
          </a:prstGeom>
          <a:noFill/>
          <a:ln w="12700">
            <a:solidFill>
              <a:srgbClr val="E0A458"/>
            </a:solidFill>
            <a:prstDash val="solid"/>
          </a:ln>
        </p:spPr>
      </p:sp>
      <p:sp>
        <p:nvSpPr>
          <p:cNvPr id="38" name="Shape 36"/>
          <p:cNvSpPr/>
          <p:nvPr/>
        </p:nvSpPr>
        <p:spPr>
          <a:xfrm>
            <a:off x="7086600" y="1408176"/>
            <a:ext cx="0" cy="73152"/>
          </a:xfrm>
          <a:prstGeom prst="line">
            <a:avLst/>
          </a:prstGeom>
          <a:noFill/>
          <a:ln w="12700">
            <a:solidFill>
              <a:srgbClr val="6E7699"/>
            </a:solidFill>
            <a:prstDash val="solid"/>
          </a:ln>
        </p:spPr>
      </p:sp>
      <p:sp>
        <p:nvSpPr>
          <p:cNvPr id="39" name="Shape 37"/>
          <p:cNvSpPr/>
          <p:nvPr/>
        </p:nvSpPr>
        <p:spPr>
          <a:xfrm>
            <a:off x="7269480" y="1408176"/>
            <a:ext cx="0" cy="73152"/>
          </a:xfrm>
          <a:prstGeom prst="line">
            <a:avLst/>
          </a:prstGeom>
          <a:noFill/>
          <a:ln w="12700">
            <a:solidFill>
              <a:srgbClr val="6E7699"/>
            </a:solidFill>
            <a:prstDash val="solid"/>
          </a:ln>
        </p:spPr>
      </p:sp>
      <p:sp>
        <p:nvSpPr>
          <p:cNvPr id="40" name="Shape 38"/>
          <p:cNvSpPr/>
          <p:nvPr/>
        </p:nvSpPr>
        <p:spPr>
          <a:xfrm>
            <a:off x="7452360" y="1408176"/>
            <a:ext cx="0" cy="73152"/>
          </a:xfrm>
          <a:prstGeom prst="line">
            <a:avLst/>
          </a:prstGeom>
          <a:noFill/>
          <a:ln w="12700">
            <a:solidFill>
              <a:srgbClr val="6E7699"/>
            </a:solidFill>
            <a:prstDash val="solid"/>
          </a:ln>
        </p:spPr>
      </p:sp>
      <p:sp>
        <p:nvSpPr>
          <p:cNvPr id="41" name="Shape 39"/>
          <p:cNvSpPr/>
          <p:nvPr/>
        </p:nvSpPr>
        <p:spPr>
          <a:xfrm>
            <a:off x="7635240" y="1408176"/>
            <a:ext cx="0" cy="73152"/>
          </a:xfrm>
          <a:prstGeom prst="line">
            <a:avLst/>
          </a:prstGeom>
          <a:noFill/>
          <a:ln w="12700">
            <a:solidFill>
              <a:srgbClr val="6E7699"/>
            </a:solidFill>
            <a:prstDash val="solid"/>
          </a:ln>
        </p:spPr>
      </p:sp>
      <p:sp>
        <p:nvSpPr>
          <p:cNvPr id="42" name="Shape 40"/>
          <p:cNvSpPr/>
          <p:nvPr/>
        </p:nvSpPr>
        <p:spPr>
          <a:xfrm>
            <a:off x="7818120" y="1335024"/>
            <a:ext cx="0" cy="146304"/>
          </a:xfrm>
          <a:prstGeom prst="line">
            <a:avLst/>
          </a:prstGeom>
          <a:noFill/>
          <a:ln w="12700">
            <a:solidFill>
              <a:srgbClr val="E0A458"/>
            </a:solidFill>
            <a:prstDash val="solid"/>
          </a:ln>
        </p:spPr>
      </p:sp>
      <p:sp>
        <p:nvSpPr>
          <p:cNvPr id="43" name="Shape 41"/>
          <p:cNvSpPr/>
          <p:nvPr/>
        </p:nvSpPr>
        <p:spPr>
          <a:xfrm>
            <a:off x="8001000" y="1408176"/>
            <a:ext cx="0" cy="73152"/>
          </a:xfrm>
          <a:prstGeom prst="line">
            <a:avLst/>
          </a:prstGeom>
          <a:noFill/>
          <a:ln w="12700">
            <a:solidFill>
              <a:srgbClr val="6E7699"/>
            </a:solidFill>
            <a:prstDash val="solid"/>
          </a:ln>
        </p:spPr>
      </p:sp>
      <p:sp>
        <p:nvSpPr>
          <p:cNvPr id="44" name="Shape 42"/>
          <p:cNvSpPr/>
          <p:nvPr/>
        </p:nvSpPr>
        <p:spPr>
          <a:xfrm>
            <a:off x="8183880" y="1408176"/>
            <a:ext cx="0" cy="73152"/>
          </a:xfrm>
          <a:prstGeom prst="line">
            <a:avLst/>
          </a:prstGeom>
          <a:noFill/>
          <a:ln w="12700">
            <a:solidFill>
              <a:srgbClr val="6E7699"/>
            </a:solidFill>
            <a:prstDash val="solid"/>
          </a:ln>
        </p:spPr>
      </p:sp>
      <p:sp>
        <p:nvSpPr>
          <p:cNvPr id="45" name="Shape 43"/>
          <p:cNvSpPr/>
          <p:nvPr/>
        </p:nvSpPr>
        <p:spPr>
          <a:xfrm>
            <a:off x="8366760" y="1408176"/>
            <a:ext cx="0" cy="73152"/>
          </a:xfrm>
          <a:prstGeom prst="line">
            <a:avLst/>
          </a:prstGeom>
          <a:noFill/>
          <a:ln w="12700">
            <a:solidFill>
              <a:srgbClr val="6E7699"/>
            </a:solidFill>
            <a:prstDash val="solid"/>
          </a:ln>
        </p:spPr>
      </p:sp>
      <p:sp>
        <p:nvSpPr>
          <p:cNvPr id="46" name="Shape 44"/>
          <p:cNvSpPr/>
          <p:nvPr/>
        </p:nvSpPr>
        <p:spPr>
          <a:xfrm>
            <a:off x="8549640" y="1408176"/>
            <a:ext cx="0" cy="73152"/>
          </a:xfrm>
          <a:prstGeom prst="line">
            <a:avLst/>
          </a:prstGeom>
          <a:noFill/>
          <a:ln w="12700">
            <a:solidFill>
              <a:srgbClr val="6E7699"/>
            </a:solidFill>
            <a:prstDash val="solid"/>
          </a:ln>
        </p:spPr>
      </p:sp>
      <p:sp>
        <p:nvSpPr>
          <p:cNvPr id="47" name="Shape 45"/>
          <p:cNvSpPr/>
          <p:nvPr/>
        </p:nvSpPr>
        <p:spPr>
          <a:xfrm>
            <a:off x="8732520" y="1335024"/>
            <a:ext cx="0" cy="146304"/>
          </a:xfrm>
          <a:prstGeom prst="line">
            <a:avLst/>
          </a:prstGeom>
          <a:noFill/>
          <a:ln w="12700">
            <a:solidFill>
              <a:srgbClr val="E0A458"/>
            </a:solidFill>
            <a:prstDash val="solid"/>
          </a:ln>
        </p:spPr>
      </p:sp>
      <p:sp>
        <p:nvSpPr>
          <p:cNvPr id="48" name="Text 46"/>
          <p:cNvSpPr txBox="1"/>
          <p:nvPr/>
        </p:nvSpPr>
        <p:spPr>
          <a:xfrm>
            <a:off x="502920" y="777240"/>
            <a:ext cx="11185855" cy="274320"/>
          </a:xfrm>
          <a:prstGeom prst="rect">
            <a:avLst/>
          </a:prstGeom>
          <a:noFill/>
          <a:ln/>
        </p:spPr>
        <p:txBody>
          <a:bodyPr wrap="square" lIns="0" tIns="0" rIns="0" bIns="0" rtlCol="0" anchor="ctr"/>
          <a:lstStyle/>
          <a:p>
            <a:pPr indent="0" marL="0">
              <a:buNone/>
            </a:pPr>
            <a:r>
              <a:rPr lang="en-US" sz="1100" b="1" spc="240" kern="0" dirty="0">
                <a:solidFill>
                  <a:srgbClr val="E0A458"/>
                </a:solidFill>
                <a:latin typeface="Arial" pitchFamily="34" charset="0"/>
                <a:ea typeface="Arial" pitchFamily="34" charset="-122"/>
                <a:cs typeface="Arial" pitchFamily="34" charset="-120"/>
              </a:rPr>
              <a:t>Master's MVP · operational plan · v0.1</a:t>
            </a:r>
            <a:endParaRPr lang="en-US" sz="1100" dirty="0"/>
          </a:p>
        </p:txBody>
      </p:sp>
      <p:sp>
        <p:nvSpPr>
          <p:cNvPr id="49" name="Text 47"/>
          <p:cNvSpPr txBox="1"/>
          <p:nvPr/>
        </p:nvSpPr>
        <p:spPr>
          <a:xfrm>
            <a:off x="502920" y="1783080"/>
            <a:ext cx="11185855" cy="960120"/>
          </a:xfrm>
          <a:prstGeom prst="rect">
            <a:avLst/>
          </a:prstGeom>
          <a:noFill/>
          <a:ln/>
        </p:spPr>
        <p:txBody>
          <a:bodyPr wrap="square" lIns="0" tIns="0" rIns="0" bIns="0" rtlCol="0" anchor="ctr"/>
          <a:lstStyle/>
          <a:p>
            <a:pPr indent="0" marL="0">
              <a:buNone/>
            </a:pPr>
            <a:r>
              <a:rPr lang="en-US" sz="4600" b="1" dirty="0">
                <a:solidFill>
                  <a:srgbClr val="F2F3F8"/>
                </a:solidFill>
                <a:latin typeface="Arial" pitchFamily="34" charset="0"/>
                <a:ea typeface="Arial" pitchFamily="34" charset="-122"/>
                <a:cs typeface="Arial" pitchFamily="34" charset="-120"/>
              </a:rPr>
              <a:t>SartorIA MVP Blueprint</a:t>
            </a:r>
            <a:endParaRPr lang="en-US" sz="4600" dirty="0"/>
          </a:p>
        </p:txBody>
      </p:sp>
      <p:sp>
        <p:nvSpPr>
          <p:cNvPr id="50" name="Text 48"/>
          <p:cNvSpPr txBox="1"/>
          <p:nvPr/>
        </p:nvSpPr>
        <p:spPr>
          <a:xfrm>
            <a:off x="502920" y="2834640"/>
            <a:ext cx="8778240" cy="731520"/>
          </a:xfrm>
          <a:prstGeom prst="rect">
            <a:avLst/>
          </a:prstGeom>
          <a:noFill/>
          <a:ln/>
        </p:spPr>
        <p:txBody>
          <a:bodyPr wrap="square" lIns="0" tIns="0" rIns="0" bIns="0" rtlCol="0" anchor="ctr"/>
          <a:lstStyle/>
          <a:p>
            <a:pPr indent="0" marL="0">
              <a:lnSpc>
                <a:spcPct val="125000"/>
              </a:lnSpc>
              <a:buNone/>
            </a:pPr>
            <a:r>
              <a:rPr lang="en-US" sz="1550" dirty="0">
                <a:solidFill>
                  <a:srgbClr val="9BA1C1"/>
                </a:solidFill>
                <a:latin typeface="Arial" pitchFamily="34" charset="0"/>
                <a:ea typeface="Arial" pitchFamily="34" charset="-122"/>
                <a:cs typeface="Arial" pitchFamily="34" charset="-120"/>
              </a:rPr>
              <a:t>A six-agent system that turns a phone video into leg measurements, normalises brand size charts,</a:t>
            </a:r>
            <a:endParaRPr lang="en-US" sz="1550" dirty="0"/>
          </a:p>
          <a:p>
            <a:pPr indent="0" marL="0">
              <a:lnSpc>
                <a:spcPct val="125000"/>
              </a:lnSpc>
              <a:buNone/>
            </a:pPr>
            <a:r>
              <a:rPr lang="en-US" sz="1550" dirty="0">
                <a:solidFill>
                  <a:srgbClr val="9BA1C1"/>
                </a:solidFill>
                <a:latin typeface="Arial" pitchFamily="34" charset="0"/>
                <a:ea typeface="Arial" pitchFamily="34" charset="-122"/>
                <a:cs typeface="Arial" pitchFamily="34" charset="-120"/>
              </a:rPr>
              <a:t>recommends a trouser size, and learns from returns.</a:t>
            </a:r>
            <a:endParaRPr lang="en-US" sz="1550" dirty="0"/>
          </a:p>
        </p:txBody>
      </p:sp>
      <p:sp>
        <p:nvSpPr>
          <p:cNvPr id="51" name="Text 49"/>
          <p:cNvSpPr txBox="1"/>
          <p:nvPr/>
        </p:nvSpPr>
        <p:spPr>
          <a:xfrm>
            <a:off x="502920" y="4114800"/>
            <a:ext cx="2468880" cy="658368"/>
          </a:xfrm>
          <a:prstGeom prst="rect">
            <a:avLst/>
          </a:prstGeom>
          <a:noFill/>
          <a:ln/>
        </p:spPr>
        <p:txBody>
          <a:bodyPr wrap="square" lIns="0" tIns="0" rIns="0" bIns="0" rtlCol="0" anchor="b"/>
          <a:lstStyle/>
          <a:p>
            <a:pPr indent="0" marL="0">
              <a:buNone/>
            </a:pPr>
            <a:r>
              <a:rPr lang="en-US" sz="4000" b="1" dirty="0">
                <a:solidFill>
                  <a:srgbClr val="E0A458"/>
                </a:solidFill>
                <a:latin typeface="Arial" pitchFamily="34" charset="0"/>
                <a:ea typeface="Arial" pitchFamily="34" charset="-122"/>
                <a:cs typeface="Arial" pitchFamily="34" charset="-120"/>
              </a:rPr>
              <a:t>13–14</a:t>
            </a:r>
            <a:endParaRPr lang="en-US" sz="4000" dirty="0"/>
          </a:p>
        </p:txBody>
      </p:sp>
      <p:sp>
        <p:nvSpPr>
          <p:cNvPr id="52" name="Text 50"/>
          <p:cNvSpPr txBox="1"/>
          <p:nvPr/>
        </p:nvSpPr>
        <p:spPr>
          <a:xfrm>
            <a:off x="502920" y="4809744"/>
            <a:ext cx="2468880" cy="27432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weeks part-time</a:t>
            </a:r>
            <a:endParaRPr lang="en-US" sz="1150" dirty="0"/>
          </a:p>
        </p:txBody>
      </p:sp>
      <p:sp>
        <p:nvSpPr>
          <p:cNvPr id="53" name="Text 51"/>
          <p:cNvSpPr txBox="1"/>
          <p:nvPr/>
        </p:nvSpPr>
        <p:spPr>
          <a:xfrm>
            <a:off x="3300984" y="4114800"/>
            <a:ext cx="2468880" cy="658368"/>
          </a:xfrm>
          <a:prstGeom prst="rect">
            <a:avLst/>
          </a:prstGeom>
          <a:noFill/>
          <a:ln/>
        </p:spPr>
        <p:txBody>
          <a:bodyPr wrap="square" lIns="0" tIns="0" rIns="0" bIns="0" rtlCol="0" anchor="b"/>
          <a:lstStyle/>
          <a:p>
            <a:pPr indent="0" marL="0">
              <a:buNone/>
            </a:pPr>
            <a:r>
              <a:rPr lang="en-US" sz="4000" b="1" dirty="0">
                <a:solidFill>
                  <a:srgbClr val="E0A458"/>
                </a:solidFill>
                <a:latin typeface="Arial" pitchFamily="34" charset="0"/>
                <a:ea typeface="Arial" pitchFamily="34" charset="-122"/>
                <a:cs typeface="Arial" pitchFamily="34" charset="-120"/>
              </a:rPr>
              <a:t>6</a:t>
            </a:r>
            <a:endParaRPr lang="en-US" sz="4000" dirty="0"/>
          </a:p>
        </p:txBody>
      </p:sp>
      <p:sp>
        <p:nvSpPr>
          <p:cNvPr id="54" name="Text 52"/>
          <p:cNvSpPr txBox="1"/>
          <p:nvPr/>
        </p:nvSpPr>
        <p:spPr>
          <a:xfrm>
            <a:off x="3300984" y="4809744"/>
            <a:ext cx="2468880" cy="27432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agents</a:t>
            </a:r>
            <a:endParaRPr lang="en-US" sz="1150" dirty="0"/>
          </a:p>
        </p:txBody>
      </p:sp>
      <p:sp>
        <p:nvSpPr>
          <p:cNvPr id="55" name="Text 53"/>
          <p:cNvSpPr txBox="1"/>
          <p:nvPr/>
        </p:nvSpPr>
        <p:spPr>
          <a:xfrm>
            <a:off x="6099048" y="4114800"/>
            <a:ext cx="2468880" cy="658368"/>
          </a:xfrm>
          <a:prstGeom prst="rect">
            <a:avLst/>
          </a:prstGeom>
          <a:noFill/>
          <a:ln/>
        </p:spPr>
        <p:txBody>
          <a:bodyPr wrap="square" lIns="0" tIns="0" rIns="0" bIns="0" rtlCol="0" anchor="b"/>
          <a:lstStyle/>
          <a:p>
            <a:pPr indent="0" marL="0">
              <a:buNone/>
            </a:pPr>
            <a:r>
              <a:rPr lang="en-US" sz="4000" b="1" dirty="0">
                <a:solidFill>
                  <a:srgbClr val="E0A458"/>
                </a:solidFill>
                <a:latin typeface="Arial" pitchFamily="34" charset="0"/>
                <a:ea typeface="Arial" pitchFamily="34" charset="-122"/>
                <a:cs typeface="Arial" pitchFamily="34" charset="-120"/>
              </a:rPr>
              <a:t>3</a:t>
            </a:r>
            <a:endParaRPr lang="en-US" sz="4000" dirty="0"/>
          </a:p>
        </p:txBody>
      </p:sp>
      <p:sp>
        <p:nvSpPr>
          <p:cNvPr id="56" name="Text 54"/>
          <p:cNvSpPr txBox="1"/>
          <p:nvPr/>
        </p:nvSpPr>
        <p:spPr>
          <a:xfrm>
            <a:off x="6099048" y="4809744"/>
            <a:ext cx="2468880" cy="27432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evaluation suites</a:t>
            </a:r>
            <a:endParaRPr lang="en-US" sz="1150" dirty="0"/>
          </a:p>
        </p:txBody>
      </p:sp>
      <p:sp>
        <p:nvSpPr>
          <p:cNvPr id="57" name="Text 55"/>
          <p:cNvSpPr txBox="1"/>
          <p:nvPr/>
        </p:nvSpPr>
        <p:spPr>
          <a:xfrm>
            <a:off x="8897112" y="4114800"/>
            <a:ext cx="2468880" cy="658368"/>
          </a:xfrm>
          <a:prstGeom prst="rect">
            <a:avLst/>
          </a:prstGeom>
          <a:noFill/>
          <a:ln/>
        </p:spPr>
        <p:txBody>
          <a:bodyPr wrap="square" lIns="0" tIns="0" rIns="0" bIns="0" rtlCol="0" anchor="b"/>
          <a:lstStyle/>
          <a:p>
            <a:pPr indent="0" marL="0">
              <a:buNone/>
            </a:pPr>
            <a:r>
              <a:rPr lang="en-US" sz="4000" b="1" dirty="0">
                <a:solidFill>
                  <a:srgbClr val="E0A458"/>
                </a:solidFill>
                <a:latin typeface="Arial" pitchFamily="34" charset="0"/>
                <a:ea typeface="Arial" pitchFamily="34" charset="-122"/>
                <a:cs typeface="Arial" pitchFamily="34" charset="-120"/>
              </a:rPr>
              <a:t>9</a:t>
            </a:r>
            <a:endParaRPr lang="en-US" sz="4000" dirty="0"/>
          </a:p>
        </p:txBody>
      </p:sp>
      <p:sp>
        <p:nvSpPr>
          <p:cNvPr id="58" name="Text 56"/>
          <p:cNvSpPr txBox="1"/>
          <p:nvPr/>
        </p:nvSpPr>
        <p:spPr>
          <a:xfrm>
            <a:off x="8897112" y="4809744"/>
            <a:ext cx="2468880" cy="27432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leg landmarks</a:t>
            </a:r>
            <a:endParaRPr lang="en-US" sz="1150" dirty="0"/>
          </a:p>
        </p:txBody>
      </p:sp>
      <p:sp>
        <p:nvSpPr>
          <p:cNvPr id="59" name="Text 57"/>
          <p:cNvSpPr txBox="1"/>
          <p:nvPr/>
        </p:nvSpPr>
        <p:spPr>
          <a:xfrm>
            <a:off x="502920" y="5943600"/>
            <a:ext cx="11185855" cy="274320"/>
          </a:xfrm>
          <a:prstGeom prst="rect">
            <a:avLst/>
          </a:prstGeom>
          <a:noFill/>
          <a:ln/>
        </p:spPr>
        <p:txBody>
          <a:bodyPr wrap="square" lIns="0" tIns="0" rIns="0" bIns="0" rtlCol="0" anchor="ctr"/>
          <a:lstStyle/>
          <a:p>
            <a:pPr indent="0" marL="0">
              <a:buNone/>
            </a:pPr>
            <a:r>
              <a:rPr lang="en-US" sz="1200" i="1" dirty="0">
                <a:solidFill>
                  <a:srgbClr val="6E7699"/>
                </a:solidFill>
                <a:latin typeface="Arial" pitchFamily="34" charset="0"/>
                <a:ea typeface="Arial" pitchFamily="34" charset="-122"/>
                <a:cs typeface="Arial" pitchFamily="34" charset="-120"/>
              </a:rPr>
              <a:t>Built to demonstrate agentic AI engineering, not to ship.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THE CLAIM</a:t>
            </a:r>
            <a:endParaRPr lang="en-US" sz="950" dirty="0"/>
          </a:p>
        </p:txBody>
      </p:sp>
      <p:sp>
        <p:nvSpPr>
          <p:cNvPr id="3" name="Text 1"/>
          <p:cNvSpPr txBox="1"/>
          <p:nvPr/>
        </p:nvSpPr>
        <p:spPr>
          <a:xfrm>
            <a:off x="502920" y="914400"/>
            <a:ext cx="10607040" cy="1371600"/>
          </a:xfrm>
          <a:prstGeom prst="rect">
            <a:avLst/>
          </a:prstGeom>
          <a:noFill/>
          <a:ln/>
        </p:spPr>
        <p:txBody>
          <a:bodyPr wrap="square" lIns="0" tIns="0" rIns="0" bIns="0" rtlCol="0" anchor="ctr"/>
          <a:lstStyle/>
          <a:p>
            <a:pPr indent="0" marL="0">
              <a:lnSpc>
                <a:spcPct val="112000"/>
              </a:lnSpc>
              <a:buNone/>
            </a:pPr>
            <a:r>
              <a:rPr lang="en-US" sz="3200" b="1" dirty="0">
                <a:solidFill>
                  <a:srgbClr val="F2F3F8"/>
                </a:solidFill>
                <a:latin typeface="Arial" pitchFamily="34" charset="0"/>
                <a:ea typeface="Arial" pitchFamily="34" charset="-122"/>
                <a:cs typeface="Arial" pitchFamily="34" charset="-120"/>
              </a:rPr>
              <a:t>Agents own the messy edges.</a:t>
            </a:r>
            <a:endParaRPr lang="en-US" sz="3200" dirty="0"/>
          </a:p>
          <a:p>
            <a:pPr indent="0" marL="0">
              <a:lnSpc>
                <a:spcPct val="112000"/>
              </a:lnSpc>
              <a:buNone/>
            </a:pPr>
            <a:r>
              <a:rPr lang="en-US" sz="3200" b="1" dirty="0">
                <a:solidFill>
                  <a:srgbClr val="F2F3F8"/>
                </a:solidFill>
                <a:latin typeface="Arial" pitchFamily="34" charset="0"/>
                <a:ea typeface="Arial" pitchFamily="34" charset="-122"/>
                <a:cs typeface="Arial" pitchFamily="34" charset="-120"/>
              </a:rPr>
              <a:t>The numeric decision stays deterministic.</a:t>
            </a:r>
            <a:endParaRPr lang="en-US" sz="3200" dirty="0"/>
          </a:p>
        </p:txBody>
      </p:sp>
      <p:sp>
        <p:nvSpPr>
          <p:cNvPr id="4" name="Shape 2"/>
          <p:cNvSpPr/>
          <p:nvPr/>
        </p:nvSpPr>
        <p:spPr>
          <a:xfrm>
            <a:off x="502920" y="2606040"/>
            <a:ext cx="5394960" cy="3017520"/>
          </a:xfrm>
          <a:prstGeom prst="roundRect">
            <a:avLst>
              <a:gd name="adj" fmla="val 1818"/>
            </a:avLst>
          </a:prstGeom>
          <a:solidFill>
            <a:srgbClr val="252943"/>
          </a:solidFill>
          <a:ln w="12700">
            <a:solidFill>
              <a:srgbClr val="252943"/>
            </a:solidFill>
            <a:prstDash val="solid"/>
          </a:ln>
        </p:spPr>
      </p:sp>
      <p:sp>
        <p:nvSpPr>
          <p:cNvPr id="5" name="Shape 3"/>
          <p:cNvSpPr/>
          <p:nvPr/>
        </p:nvSpPr>
        <p:spPr>
          <a:xfrm>
            <a:off x="868680" y="2889504"/>
            <a:ext cx="146304" cy="146304"/>
          </a:xfrm>
          <a:prstGeom prst="ellipse">
            <a:avLst/>
          </a:prstGeom>
          <a:solidFill>
            <a:srgbClr val="E0A458"/>
          </a:solidFill>
          <a:ln w="12700">
            <a:solidFill>
              <a:srgbClr val="E0A458"/>
            </a:solidFill>
            <a:prstDash val="solid"/>
          </a:ln>
        </p:spPr>
      </p:sp>
      <p:sp>
        <p:nvSpPr>
          <p:cNvPr id="6" name="Text 4"/>
          <p:cNvSpPr txBox="1"/>
          <p:nvPr/>
        </p:nvSpPr>
        <p:spPr>
          <a:xfrm>
            <a:off x="1124712" y="2816352"/>
            <a:ext cx="4480560" cy="292608"/>
          </a:xfrm>
          <a:prstGeom prst="rect">
            <a:avLst/>
          </a:prstGeom>
          <a:noFill/>
          <a:ln/>
        </p:spPr>
        <p:txBody>
          <a:bodyPr wrap="square" lIns="0" tIns="0" rIns="0" bIns="0" rtlCol="0" anchor="ctr"/>
          <a:lstStyle/>
          <a:p>
            <a:pPr indent="0" marL="0">
              <a:buNone/>
            </a:pPr>
            <a:r>
              <a:rPr lang="en-US" sz="1700" b="1" dirty="0">
                <a:solidFill>
                  <a:srgbClr val="E0A458"/>
                </a:solidFill>
                <a:latin typeface="Arial" pitchFamily="34" charset="0"/>
                <a:ea typeface="Arial" pitchFamily="34" charset="-122"/>
                <a:cs typeface="Arial" pitchFamily="34" charset="-120"/>
              </a:rPr>
              <a:t>Agentic periphery</a:t>
            </a:r>
            <a:endParaRPr lang="en-US" sz="1700" dirty="0"/>
          </a:p>
        </p:txBody>
      </p:sp>
      <p:sp>
        <p:nvSpPr>
          <p:cNvPr id="7" name="Text 5"/>
          <p:cNvSpPr txBox="1"/>
          <p:nvPr/>
        </p:nvSpPr>
        <p:spPr>
          <a:xfrm>
            <a:off x="868680" y="3310128"/>
            <a:ext cx="4663440" cy="21031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2F3F8"/>
                </a:solidFill>
                <a:latin typeface="Arial" pitchFamily="34" charset="0"/>
                <a:ea typeface="Arial" pitchFamily="34" charset="-122"/>
                <a:cs typeface="Arial" pitchFamily="34" charset="-120"/>
              </a:rPr>
              <a:t>Unstructured input: video frames, HTML, PDFs, free text</a:t>
            </a:r>
            <a:endParaRPr lang="en-US" sz="1250" dirty="0"/>
          </a:p>
          <a:p>
            <a:pPr marL="342900" indent="-342900">
              <a:spcAft>
                <a:spcPts val="900"/>
              </a:spcAft>
              <a:buSzPct val="100000"/>
              <a:buChar char="•"/>
            </a:pPr>
            <a:r>
              <a:rPr lang="en-US" sz="1250" dirty="0">
                <a:solidFill>
                  <a:srgbClr val="F2F3F8"/>
                </a:solidFill>
                <a:latin typeface="Arial" pitchFamily="34" charset="0"/>
                <a:ea typeface="Arial" pitchFamily="34" charset="-122"/>
                <a:cs typeface="Arial" pitchFamily="34" charset="-120"/>
              </a:rPr>
              <a:t>Natural-language output and multi-turn follow-up</a:t>
            </a:r>
            <a:endParaRPr lang="en-US" sz="1250" dirty="0"/>
          </a:p>
          <a:p>
            <a:pPr marL="342900" indent="-342900">
              <a:spcAft>
                <a:spcPts val="900"/>
              </a:spcAft>
              <a:buSzPct val="100000"/>
              <a:buChar char="•"/>
            </a:pPr>
            <a:r>
              <a:rPr lang="en-US" sz="1250" dirty="0">
                <a:solidFill>
                  <a:srgbClr val="F2F3F8"/>
                </a:solidFill>
                <a:latin typeface="Arial" pitchFamily="34" charset="0"/>
                <a:ea typeface="Arial" pitchFamily="34" charset="-122"/>
                <a:cs typeface="Arial" pitchFamily="34" charset="-120"/>
              </a:rPr>
              <a:t>Process control: how many steps, when to stop, when to give up</a:t>
            </a:r>
            <a:endParaRPr lang="en-US" sz="1250" dirty="0"/>
          </a:p>
          <a:p>
            <a:pPr marL="342900" indent="-342900">
              <a:spcAft>
                <a:spcPts val="900"/>
              </a:spcAft>
              <a:buSzPct val="100000"/>
              <a:buChar char="•"/>
            </a:pPr>
            <a:r>
              <a:rPr lang="en-US" sz="1250" dirty="0">
                <a:solidFill>
                  <a:srgbClr val="F2F3F8"/>
                </a:solidFill>
                <a:latin typeface="Arial" pitchFamily="34" charset="0"/>
                <a:ea typeface="Arial" pitchFamily="34" charset="-122"/>
                <a:cs typeface="Arial" pitchFamily="34" charset="-120"/>
              </a:rPr>
              <a:t>Judgement about its own confidence</a:t>
            </a:r>
            <a:endParaRPr lang="en-US" sz="1250" dirty="0"/>
          </a:p>
        </p:txBody>
      </p:sp>
      <p:sp>
        <p:nvSpPr>
          <p:cNvPr id="8" name="Shape 6"/>
          <p:cNvSpPr/>
          <p:nvPr/>
        </p:nvSpPr>
        <p:spPr>
          <a:xfrm>
            <a:off x="6281928" y="2606040"/>
            <a:ext cx="5394960" cy="3017520"/>
          </a:xfrm>
          <a:prstGeom prst="roundRect">
            <a:avLst>
              <a:gd name="adj" fmla="val 1818"/>
            </a:avLst>
          </a:prstGeom>
          <a:solidFill>
            <a:srgbClr val="252943"/>
          </a:solidFill>
          <a:ln w="12700">
            <a:solidFill>
              <a:srgbClr val="252943"/>
            </a:solidFill>
            <a:prstDash val="solid"/>
          </a:ln>
        </p:spPr>
      </p:sp>
      <p:sp>
        <p:nvSpPr>
          <p:cNvPr id="9" name="Shape 7"/>
          <p:cNvSpPr/>
          <p:nvPr/>
        </p:nvSpPr>
        <p:spPr>
          <a:xfrm>
            <a:off x="6647688" y="2889504"/>
            <a:ext cx="146304" cy="146304"/>
          </a:xfrm>
          <a:prstGeom prst="ellipse">
            <a:avLst/>
          </a:prstGeom>
          <a:solidFill>
            <a:srgbClr val="83B4DE"/>
          </a:solidFill>
          <a:ln w="12700">
            <a:solidFill>
              <a:srgbClr val="83B4DE"/>
            </a:solidFill>
            <a:prstDash val="solid"/>
          </a:ln>
        </p:spPr>
      </p:sp>
      <p:sp>
        <p:nvSpPr>
          <p:cNvPr id="10" name="Text 8"/>
          <p:cNvSpPr txBox="1"/>
          <p:nvPr/>
        </p:nvSpPr>
        <p:spPr>
          <a:xfrm>
            <a:off x="6903720" y="2816352"/>
            <a:ext cx="4480560" cy="292608"/>
          </a:xfrm>
          <a:prstGeom prst="rect">
            <a:avLst/>
          </a:prstGeom>
          <a:noFill/>
          <a:ln/>
        </p:spPr>
        <p:txBody>
          <a:bodyPr wrap="square" lIns="0" tIns="0" rIns="0" bIns="0" rtlCol="0" anchor="ctr"/>
          <a:lstStyle/>
          <a:p>
            <a:pPr indent="0" marL="0">
              <a:buNone/>
            </a:pPr>
            <a:r>
              <a:rPr lang="en-US" sz="1700" b="1" dirty="0">
                <a:solidFill>
                  <a:srgbClr val="83B4DE"/>
                </a:solidFill>
                <a:latin typeface="Arial" pitchFamily="34" charset="0"/>
                <a:ea typeface="Arial" pitchFamily="34" charset="-122"/>
                <a:cs typeface="Arial" pitchFamily="34" charset="-120"/>
              </a:rPr>
              <a:t>Deterministic core</a:t>
            </a:r>
            <a:endParaRPr lang="en-US" sz="1700" dirty="0"/>
          </a:p>
        </p:txBody>
      </p:sp>
      <p:sp>
        <p:nvSpPr>
          <p:cNvPr id="11" name="Text 9"/>
          <p:cNvSpPr txBox="1"/>
          <p:nvPr/>
        </p:nvSpPr>
        <p:spPr>
          <a:xfrm>
            <a:off x="6647688" y="3310128"/>
            <a:ext cx="4663440" cy="21031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2F3F8"/>
                </a:solidFill>
                <a:latin typeface="Arial" pitchFamily="34" charset="0"/>
                <a:ea typeface="Arial" pitchFamily="34" charset="-122"/>
                <a:cs typeface="Arial" pitchFamily="34" charset="-120"/>
              </a:rPr>
              <a:t>Measurement extraction on fixed mesh topology</a:t>
            </a:r>
            <a:endParaRPr lang="en-US" sz="1250" dirty="0"/>
          </a:p>
          <a:p>
            <a:pPr marL="342900" indent="-342900">
              <a:spcAft>
                <a:spcPts val="900"/>
              </a:spcAft>
              <a:buSzPct val="100000"/>
              <a:buChar char="•"/>
            </a:pPr>
            <a:r>
              <a:rPr lang="en-US" sz="1250" dirty="0">
                <a:solidFill>
                  <a:srgbClr val="F2F3F8"/>
                </a:solidFill>
                <a:latin typeface="Arial" pitchFamily="34" charset="0"/>
                <a:ea typeface="Arial" pitchFamily="34" charset="-122"/>
                <a:cs typeface="Arial" pitchFamily="34" charset="-120"/>
              </a:rPr>
              <a:t>Fit scoring: landmark deltas, tolerance windows, rationale</a:t>
            </a:r>
            <a:endParaRPr lang="en-US" sz="1250" dirty="0"/>
          </a:p>
          <a:p>
            <a:pPr marL="342900" indent="-342900">
              <a:spcAft>
                <a:spcPts val="900"/>
              </a:spcAft>
              <a:buSzPct val="100000"/>
              <a:buChar char="•"/>
            </a:pPr>
            <a:r>
              <a:rPr lang="en-US" sz="1250" dirty="0">
                <a:solidFill>
                  <a:srgbClr val="F2F3F8"/>
                </a:solidFill>
                <a:latin typeface="Arial" pitchFamily="34" charset="0"/>
                <a:ea typeface="Arial" pitchFamily="34" charset="-122"/>
                <a:cs typeface="Arial" pitchFamily="34" charset="-120"/>
              </a:rPr>
              <a:t>Per-brand calibration learned from outcomes</a:t>
            </a:r>
            <a:endParaRPr lang="en-US" sz="1250" dirty="0"/>
          </a:p>
          <a:p>
            <a:pPr marL="342900" indent="-342900">
              <a:spcAft>
                <a:spcPts val="900"/>
              </a:spcAft>
              <a:buSzPct val="100000"/>
              <a:buChar char="•"/>
            </a:pPr>
            <a:r>
              <a:rPr lang="en-US" sz="1250" dirty="0">
                <a:solidFill>
                  <a:srgbClr val="F2F3F8"/>
                </a:solidFill>
                <a:latin typeface="Arial" pitchFamily="34" charset="0"/>
                <a:ea typeface="Arial" pitchFamily="34" charset="-122"/>
                <a:cs typeface="Arial" pitchFamily="34" charset="-120"/>
              </a:rPr>
              <a:t>Reproducible, testable, free to run</a:t>
            </a:r>
            <a:endParaRPr lang="en-US" sz="1250" dirty="0"/>
          </a:p>
        </p:txBody>
      </p:sp>
      <p:sp>
        <p:nvSpPr>
          <p:cNvPr id="12" name="Text 10"/>
          <p:cNvSpPr txBox="1"/>
          <p:nvPr/>
        </p:nvSpPr>
        <p:spPr>
          <a:xfrm>
            <a:off x="502920" y="5870448"/>
            <a:ext cx="11185855" cy="310896"/>
          </a:xfrm>
          <a:prstGeom prst="rect">
            <a:avLst/>
          </a:prstGeom>
          <a:noFill/>
          <a:ln/>
        </p:spPr>
        <p:txBody>
          <a:bodyPr wrap="square" lIns="0" tIns="0" rIns="0" bIns="0" rtlCol="0" anchor="ctr"/>
          <a:lstStyle/>
          <a:p>
            <a:pPr indent="0" marL="0">
              <a:buNone/>
            </a:pPr>
            <a:r>
              <a:rPr lang="en-US" sz="1300" i="1" dirty="0">
                <a:solidFill>
                  <a:srgbClr val="E0A458"/>
                </a:solidFill>
                <a:latin typeface="Arial" pitchFamily="34" charset="0"/>
                <a:ea typeface="Arial" pitchFamily="34" charset="-122"/>
                <a:cs typeface="Arial" pitchFamily="34" charset="-120"/>
              </a:rPr>
              <a:t>The fit score is arithmetic. An LLM doing arithmetic is a bug, not a feature.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3F8"/>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THE TEST EVERY AGENT MUST PASS</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1B1D33"/>
                </a:solidFill>
                <a:latin typeface="Arial" pitchFamily="34" charset="0"/>
                <a:ea typeface="Arial" pitchFamily="34" charset="-122"/>
                <a:cs typeface="Arial" pitchFamily="34" charset="-120"/>
              </a:rPr>
              <a:t>Why does this need an agent rather than a function?</a:t>
            </a:r>
            <a:endParaRPr lang="en-US" sz="3000" dirty="0"/>
          </a:p>
        </p:txBody>
      </p:sp>
      <p:sp>
        <p:nvSpPr>
          <p:cNvPr id="4" name="Shape 2"/>
          <p:cNvSpPr/>
          <p:nvPr/>
        </p:nvSpPr>
        <p:spPr>
          <a:xfrm>
            <a:off x="502920" y="1572768"/>
            <a:ext cx="3529584" cy="1170432"/>
          </a:xfrm>
          <a:prstGeom prst="roundRect">
            <a:avLst>
              <a:gd name="adj" fmla="val 4688"/>
            </a:avLst>
          </a:prstGeom>
          <a:solidFill>
            <a:srgbClr val="FFFFFF"/>
          </a:solidFill>
          <a:ln w="12700">
            <a:solidFill>
              <a:srgbClr val="E2E6F0"/>
            </a:solidFill>
            <a:prstDash val="solid"/>
          </a:ln>
        </p:spPr>
      </p:sp>
      <p:sp>
        <p:nvSpPr>
          <p:cNvPr id="5" name="Shape 3"/>
          <p:cNvSpPr/>
          <p:nvPr/>
        </p:nvSpPr>
        <p:spPr>
          <a:xfrm>
            <a:off x="758952" y="1773936"/>
            <a:ext cx="329184" cy="329184"/>
          </a:xfrm>
          <a:prstGeom prst="ellipse">
            <a:avLst/>
          </a:prstGeom>
          <a:solidFill>
            <a:srgbClr val="C08A1E"/>
          </a:solidFill>
          <a:ln w="12700">
            <a:solidFill>
              <a:srgbClr val="C08A1E"/>
            </a:solidFill>
            <a:prstDash val="solid"/>
          </a:ln>
        </p:spPr>
      </p:sp>
      <p:sp>
        <p:nvSpPr>
          <p:cNvPr id="6" name="Text 4"/>
          <p:cNvSpPr txBox="1"/>
          <p:nvPr/>
        </p:nvSpPr>
        <p:spPr>
          <a:xfrm>
            <a:off x="758952" y="17739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7" name="Text 5"/>
          <p:cNvSpPr txBox="1"/>
          <p:nvPr/>
        </p:nvSpPr>
        <p:spPr>
          <a:xfrm>
            <a:off x="1216152" y="1737360"/>
            <a:ext cx="2651760" cy="841248"/>
          </a:xfrm>
          <a:prstGeom prst="rect">
            <a:avLst/>
          </a:prstGeom>
          <a:noFill/>
          <a:ln/>
        </p:spPr>
        <p:txBody>
          <a:bodyPr wrap="square" lIns="0" tIns="0" rIns="0" bIns="0" rtlCol="0" anchor="ctr"/>
          <a:lstStyle/>
          <a:p>
            <a:pPr indent="0" marL="0">
              <a:lnSpc>
                <a:spcPct val="115000"/>
              </a:lnSpc>
              <a:buNone/>
            </a:pPr>
            <a:r>
              <a:rPr lang="en-US" sz="1250" b="1" dirty="0">
                <a:solidFill>
                  <a:srgbClr val="1B1D33"/>
                </a:solidFill>
                <a:latin typeface="Arial" pitchFamily="34" charset="0"/>
                <a:ea typeface="Arial" pitchFamily="34" charset="-122"/>
                <a:cs typeface="Arial" pitchFamily="34" charset="-120"/>
              </a:rPr>
              <a:t>Is the input unstructured</a:t>
            </a:r>
            <a:endParaRPr lang="en-US" sz="1250" dirty="0"/>
          </a:p>
          <a:p>
            <a:pPr indent="0" marL="0">
              <a:lnSpc>
                <a:spcPct val="115000"/>
              </a:lnSpc>
              <a:buNone/>
            </a:pPr>
            <a:r>
              <a:rPr lang="en-US" sz="1250" b="1" dirty="0">
                <a:solidFill>
                  <a:srgbClr val="1B1D33"/>
                </a:solidFill>
                <a:latin typeface="Arial" pitchFamily="34" charset="0"/>
                <a:ea typeface="Arial" pitchFamily="34" charset="-122"/>
                <a:cs typeface="Arial" pitchFamily="34" charset="-120"/>
              </a:rPr>
              <a:t>and heterogeneous?</a:t>
            </a:r>
            <a:endParaRPr lang="en-US" sz="1250" dirty="0"/>
          </a:p>
        </p:txBody>
      </p:sp>
      <p:sp>
        <p:nvSpPr>
          <p:cNvPr id="8" name="Shape 6"/>
          <p:cNvSpPr/>
          <p:nvPr/>
        </p:nvSpPr>
        <p:spPr>
          <a:xfrm>
            <a:off x="4288536" y="1572768"/>
            <a:ext cx="3529584" cy="1170432"/>
          </a:xfrm>
          <a:prstGeom prst="roundRect">
            <a:avLst>
              <a:gd name="adj" fmla="val 4688"/>
            </a:avLst>
          </a:prstGeom>
          <a:solidFill>
            <a:srgbClr val="FFFFFF"/>
          </a:solidFill>
          <a:ln w="12700">
            <a:solidFill>
              <a:srgbClr val="E2E6F0"/>
            </a:solidFill>
            <a:prstDash val="solid"/>
          </a:ln>
        </p:spPr>
      </p:sp>
      <p:sp>
        <p:nvSpPr>
          <p:cNvPr id="9" name="Shape 7"/>
          <p:cNvSpPr/>
          <p:nvPr/>
        </p:nvSpPr>
        <p:spPr>
          <a:xfrm>
            <a:off x="4544568" y="1773936"/>
            <a:ext cx="329184" cy="329184"/>
          </a:xfrm>
          <a:prstGeom prst="ellipse">
            <a:avLst/>
          </a:prstGeom>
          <a:solidFill>
            <a:srgbClr val="C08A1E"/>
          </a:solidFill>
          <a:ln w="12700">
            <a:solidFill>
              <a:srgbClr val="C08A1E"/>
            </a:solidFill>
            <a:prstDash val="solid"/>
          </a:ln>
        </p:spPr>
      </p:sp>
      <p:sp>
        <p:nvSpPr>
          <p:cNvPr id="10" name="Text 8"/>
          <p:cNvSpPr txBox="1"/>
          <p:nvPr/>
        </p:nvSpPr>
        <p:spPr>
          <a:xfrm>
            <a:off x="4544568" y="17739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1" name="Text 9"/>
          <p:cNvSpPr txBox="1"/>
          <p:nvPr/>
        </p:nvSpPr>
        <p:spPr>
          <a:xfrm>
            <a:off x="5001768" y="1737360"/>
            <a:ext cx="2651760" cy="841248"/>
          </a:xfrm>
          <a:prstGeom prst="rect">
            <a:avLst/>
          </a:prstGeom>
          <a:noFill/>
          <a:ln/>
        </p:spPr>
        <p:txBody>
          <a:bodyPr wrap="square" lIns="0" tIns="0" rIns="0" bIns="0" rtlCol="0" anchor="ctr"/>
          <a:lstStyle/>
          <a:p>
            <a:pPr indent="0" marL="0">
              <a:lnSpc>
                <a:spcPct val="115000"/>
              </a:lnSpc>
              <a:buNone/>
            </a:pPr>
            <a:r>
              <a:rPr lang="en-US" sz="1250" b="1" dirty="0">
                <a:solidFill>
                  <a:srgbClr val="1B1D33"/>
                </a:solidFill>
                <a:latin typeface="Arial" pitchFamily="34" charset="0"/>
                <a:ea typeface="Arial" pitchFamily="34" charset="-122"/>
                <a:cs typeface="Arial" pitchFamily="34" charset="-120"/>
              </a:rPr>
              <a:t>Does the task require judgement</a:t>
            </a:r>
            <a:endParaRPr lang="en-US" sz="1250" dirty="0"/>
          </a:p>
          <a:p>
            <a:pPr indent="0" marL="0">
              <a:lnSpc>
                <a:spcPct val="115000"/>
              </a:lnSpc>
              <a:buNone/>
            </a:pPr>
            <a:r>
              <a:rPr lang="en-US" sz="1250" b="1" dirty="0">
                <a:solidFill>
                  <a:srgbClr val="1B1D33"/>
                </a:solidFill>
                <a:latin typeface="Arial" pitchFamily="34" charset="0"/>
                <a:ea typeface="Arial" pitchFamily="34" charset="-122"/>
                <a:cs typeface="Arial" pitchFamily="34" charset="-120"/>
              </a:rPr>
              <a:t>about its own confidence?</a:t>
            </a:r>
            <a:endParaRPr lang="en-US" sz="1250" dirty="0"/>
          </a:p>
        </p:txBody>
      </p:sp>
      <p:sp>
        <p:nvSpPr>
          <p:cNvPr id="12" name="Shape 10"/>
          <p:cNvSpPr/>
          <p:nvPr/>
        </p:nvSpPr>
        <p:spPr>
          <a:xfrm>
            <a:off x="8074152" y="1572768"/>
            <a:ext cx="3529584" cy="1170432"/>
          </a:xfrm>
          <a:prstGeom prst="roundRect">
            <a:avLst>
              <a:gd name="adj" fmla="val 4688"/>
            </a:avLst>
          </a:prstGeom>
          <a:solidFill>
            <a:srgbClr val="FFFFFF"/>
          </a:solidFill>
          <a:ln w="12700">
            <a:solidFill>
              <a:srgbClr val="E2E6F0"/>
            </a:solidFill>
            <a:prstDash val="solid"/>
          </a:ln>
        </p:spPr>
      </p:sp>
      <p:sp>
        <p:nvSpPr>
          <p:cNvPr id="13" name="Shape 11"/>
          <p:cNvSpPr/>
          <p:nvPr/>
        </p:nvSpPr>
        <p:spPr>
          <a:xfrm>
            <a:off x="8330184" y="1773936"/>
            <a:ext cx="329184" cy="329184"/>
          </a:xfrm>
          <a:prstGeom prst="ellipse">
            <a:avLst/>
          </a:prstGeom>
          <a:solidFill>
            <a:srgbClr val="C08A1E"/>
          </a:solidFill>
          <a:ln w="12700">
            <a:solidFill>
              <a:srgbClr val="C08A1E"/>
            </a:solidFill>
            <a:prstDash val="solid"/>
          </a:ln>
        </p:spPr>
      </p:sp>
      <p:sp>
        <p:nvSpPr>
          <p:cNvPr id="14" name="Text 12"/>
          <p:cNvSpPr txBox="1"/>
          <p:nvPr/>
        </p:nvSpPr>
        <p:spPr>
          <a:xfrm>
            <a:off x="8330184" y="17739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5" name="Text 13"/>
          <p:cNvSpPr txBox="1"/>
          <p:nvPr/>
        </p:nvSpPr>
        <p:spPr>
          <a:xfrm>
            <a:off x="8787384" y="1737360"/>
            <a:ext cx="2651760" cy="841248"/>
          </a:xfrm>
          <a:prstGeom prst="rect">
            <a:avLst/>
          </a:prstGeom>
          <a:noFill/>
          <a:ln/>
        </p:spPr>
        <p:txBody>
          <a:bodyPr wrap="square" lIns="0" tIns="0" rIns="0" bIns="0" rtlCol="0" anchor="ctr"/>
          <a:lstStyle/>
          <a:p>
            <a:pPr indent="0" marL="0">
              <a:lnSpc>
                <a:spcPct val="115000"/>
              </a:lnSpc>
              <a:buNone/>
            </a:pPr>
            <a:r>
              <a:rPr lang="en-US" sz="1250" b="1" dirty="0">
                <a:solidFill>
                  <a:srgbClr val="1B1D33"/>
                </a:solidFill>
                <a:latin typeface="Arial" pitchFamily="34" charset="0"/>
                <a:ea typeface="Arial" pitchFamily="34" charset="-122"/>
                <a:cs typeface="Arial" pitchFamily="34" charset="-120"/>
              </a:rPr>
              <a:t>Is the number of steps</a:t>
            </a:r>
            <a:endParaRPr lang="en-US" sz="1250" dirty="0"/>
          </a:p>
          <a:p>
            <a:pPr indent="0" marL="0">
              <a:lnSpc>
                <a:spcPct val="115000"/>
              </a:lnSpc>
              <a:buNone/>
            </a:pPr>
            <a:r>
              <a:rPr lang="en-US" sz="1250" b="1" dirty="0">
                <a:solidFill>
                  <a:srgbClr val="1B1D33"/>
                </a:solidFill>
                <a:latin typeface="Arial" pitchFamily="34" charset="0"/>
                <a:ea typeface="Arial" pitchFamily="34" charset="-122"/>
                <a:cs typeface="Arial" pitchFamily="34" charset="-120"/>
              </a:rPr>
              <a:t>unknown in advance?</a:t>
            </a:r>
            <a:endParaRPr lang="en-US" sz="1250" dirty="0"/>
          </a:p>
        </p:txBody>
      </p:sp>
      <p:sp>
        <p:nvSpPr>
          <p:cNvPr id="16" name="Text 14"/>
          <p:cNvSpPr txBox="1"/>
          <p:nvPr/>
        </p:nvSpPr>
        <p:spPr>
          <a:xfrm>
            <a:off x="502920" y="2852928"/>
            <a:ext cx="11185855" cy="274320"/>
          </a:xfrm>
          <a:prstGeom prst="rect">
            <a:avLst/>
          </a:prstGeom>
          <a:noFill/>
          <a:ln/>
        </p:spPr>
        <p:txBody>
          <a:bodyPr wrap="square" lIns="0" tIns="0" rIns="0" bIns="0" rtlCol="0" anchor="ctr"/>
          <a:lstStyle/>
          <a:p>
            <a:pPr indent="0" marL="0">
              <a:buNone/>
            </a:pPr>
            <a:r>
              <a:rPr lang="en-US" sz="1250" i="1" dirty="0">
                <a:solidFill>
                  <a:srgbClr val="6A6F94"/>
                </a:solidFill>
                <a:latin typeface="Arial" pitchFamily="34" charset="0"/>
                <a:ea typeface="Arial" pitchFamily="34" charset="-122"/>
                <a:cs typeface="Arial" pitchFamily="34" charset="-120"/>
              </a:rPr>
              <a:t>Answer yes to at least one, or it is a function call.</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3291840"/>
          <a:ext cx="11185855" cy="914400"/>
        </p:xfrm>
        <a:graphic>
          <a:graphicData uri="http://schemas.openxmlformats.org/drawingml/2006/table">
            <a:tbl>
              <a:tblPr/>
              <a:tblGrid>
                <a:gridCol w="3931920"/>
                <a:gridCol w="1005840"/>
                <a:gridCol w="6248095"/>
              </a:tblGrid>
              <a:tr h="365760">
                <a:tc>
                  <a:txBody>
                    <a:bodyPr/>
                    <a:lstStyle/>
                    <a:p>
                      <a:pPr indent="0" marL="0">
                        <a:buNone/>
                      </a:pPr>
                      <a:r>
                        <a:rPr lang="en-US" sz="1200" b="1" dirty="0">
                          <a:solidFill>
                            <a:srgbClr val="1B1D33"/>
                          </a:solidFill>
                          <a:latin typeface="Arial" pitchFamily="34" charset="0"/>
                          <a:ea typeface="Arial" pitchFamily="34" charset="-122"/>
                          <a:cs typeface="Arial" pitchFamily="34" charset="-120"/>
                        </a:rPr>
                        <a:t>Task</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b="1" dirty="0">
                          <a:solidFill>
                            <a:srgbClr val="1B1D33"/>
                          </a:solidFill>
                          <a:latin typeface="Arial" pitchFamily="34" charset="0"/>
                          <a:ea typeface="Arial" pitchFamily="34" charset="-122"/>
                          <a:cs typeface="Arial" pitchFamily="34" charset="-120"/>
                        </a:rPr>
                        <a:t>Agent?</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b="1" dirty="0">
                          <a:solidFill>
                            <a:srgbClr val="1B1D33"/>
                          </a:solidFill>
                          <a:latin typeface="Arial" pitchFamily="34" charset="0"/>
                          <a:ea typeface="Arial" pitchFamily="34" charset="-122"/>
                          <a:cs typeface="Arial" pitchFamily="34" charset="-120"/>
                        </a:rPr>
                        <a:t>Which test it passes — or fails</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1D33"/>
                          </a:solidFill>
                          <a:latin typeface="Arial" pitchFamily="34" charset="0"/>
                          <a:ea typeface="Arial" pitchFamily="34" charset="-122"/>
                          <a:cs typeface="Arial" pitchFamily="34" charset="-120"/>
                        </a:rPr>
                        <a:t>Normalise a brand's size chart</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Unstructured input, and it must admit when it is unsure</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1D33"/>
                          </a:solidFill>
                          <a:latin typeface="Arial" pitchFamily="34" charset="0"/>
                          <a:ea typeface="Arial" pitchFamily="34" charset="-122"/>
                          <a:cs typeface="Arial" pitchFamily="34" charset="-120"/>
                        </a:rPr>
                        <a:t>Structure a free-text return reason</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Genuine linguistic ambiguity against a fixed taxonomy</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1D33"/>
                          </a:solidFill>
                          <a:latin typeface="Arial" pitchFamily="34" charset="0"/>
                          <a:ea typeface="Arial" pitchFamily="34" charset="-122"/>
                          <a:cs typeface="Arial" pitchFamily="34" charset="-120"/>
                        </a:rPr>
                        <a:t>Coach the video capture</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Number of coaching turns is unknown until β converges</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1D33"/>
                          </a:solidFill>
                          <a:latin typeface="Arial" pitchFamily="34" charset="0"/>
                          <a:ea typeface="Arial" pitchFamily="34" charset="-122"/>
                          <a:cs typeface="Arial" pitchFamily="34" charset="-120"/>
                        </a:rPr>
                        <a:t>Explain the recommendation</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Language generation and multi-turn follow-up</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1D33"/>
                          </a:solidFill>
                          <a:latin typeface="Arial" pitchFamily="34" charset="0"/>
                          <a:ea typeface="Arial" pitchFamily="34" charset="-122"/>
                          <a:cs typeface="Arial" pitchFamily="34" charset="-120"/>
                        </a:rPr>
                        <a:t>Compute the fit score</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Fails all three. Must be reproducible and cost nothing</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1D33"/>
                          </a:solidFill>
                          <a:latin typeface="Arial" pitchFamily="34" charset="0"/>
                          <a:ea typeface="Arial" pitchFamily="34" charset="-122"/>
                          <a:cs typeface="Arial" pitchFamily="34" charset="-120"/>
                        </a:rPr>
                        <a:t>Choose the recommended size</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Fails all three. Must be auditable and unit-testable</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SYSTEM TOPOLOGY</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Three entry points, one router, six agents, one core</a:t>
            </a:r>
            <a:endParaRPr lang="en-US" sz="3000" dirty="0"/>
          </a:p>
        </p:txBody>
      </p:sp>
      <p:sp>
        <p:nvSpPr>
          <p:cNvPr id="4" name="Shape 2"/>
          <p:cNvSpPr/>
          <p:nvPr/>
        </p:nvSpPr>
        <p:spPr>
          <a:xfrm>
            <a:off x="548640" y="1481328"/>
            <a:ext cx="3520440" cy="365760"/>
          </a:xfrm>
          <a:prstGeom prst="roundRect">
            <a:avLst>
              <a:gd name="adj" fmla="val 12500"/>
            </a:avLst>
          </a:prstGeom>
          <a:solidFill>
            <a:srgbClr val="252943"/>
          </a:solidFill>
          <a:ln w="12700">
            <a:solidFill>
              <a:srgbClr val="6E7699"/>
            </a:solidFill>
            <a:prstDash val="solid"/>
          </a:ln>
        </p:spPr>
      </p:sp>
      <p:sp>
        <p:nvSpPr>
          <p:cNvPr id="5" name="Text 3"/>
          <p:cNvSpPr txBox="1"/>
          <p:nvPr/>
        </p:nvSpPr>
        <p:spPr>
          <a:xfrm>
            <a:off x="548640" y="1481328"/>
            <a:ext cx="3520440" cy="365760"/>
          </a:xfrm>
          <a:prstGeom prst="rect">
            <a:avLst/>
          </a:prstGeom>
          <a:noFill/>
          <a:ln/>
        </p:spPr>
        <p:txBody>
          <a:bodyPr wrap="square" lIns="0" tIns="0" rIns="0" bIns="0" rtlCol="0" anchor="ctr"/>
          <a:lstStyle/>
          <a:p>
            <a:pPr algn="ctr" indent="0" marL="0">
              <a:buNone/>
            </a:pPr>
            <a:r>
              <a:rPr lang="en-US" sz="1100" b="1" dirty="0">
                <a:solidFill>
                  <a:srgbClr val="F2F3F8"/>
                </a:solidFill>
                <a:latin typeface="Arial" pitchFamily="34" charset="0"/>
                <a:ea typeface="Arial" pitchFamily="34" charset="-122"/>
                <a:cs typeface="Arial" pitchFamily="34" charset="-120"/>
              </a:rPr>
              <a:t>New user · video + height</a:t>
            </a:r>
            <a:endParaRPr lang="en-US" sz="1100" dirty="0"/>
          </a:p>
        </p:txBody>
      </p:sp>
      <p:sp>
        <p:nvSpPr>
          <p:cNvPr id="6" name="Shape 4"/>
          <p:cNvSpPr/>
          <p:nvPr/>
        </p:nvSpPr>
        <p:spPr>
          <a:xfrm>
            <a:off x="4343400" y="1481328"/>
            <a:ext cx="3520440" cy="365760"/>
          </a:xfrm>
          <a:prstGeom prst="roundRect">
            <a:avLst>
              <a:gd name="adj" fmla="val 12500"/>
            </a:avLst>
          </a:prstGeom>
          <a:solidFill>
            <a:srgbClr val="252943"/>
          </a:solidFill>
          <a:ln w="12700">
            <a:solidFill>
              <a:srgbClr val="6E7699"/>
            </a:solidFill>
            <a:prstDash val="solid"/>
          </a:ln>
        </p:spPr>
      </p:sp>
      <p:sp>
        <p:nvSpPr>
          <p:cNvPr id="7" name="Text 5"/>
          <p:cNvSpPr txBox="1"/>
          <p:nvPr/>
        </p:nvSpPr>
        <p:spPr>
          <a:xfrm>
            <a:off x="4343400" y="1481328"/>
            <a:ext cx="3520440" cy="365760"/>
          </a:xfrm>
          <a:prstGeom prst="rect">
            <a:avLst/>
          </a:prstGeom>
          <a:noFill/>
          <a:ln/>
        </p:spPr>
        <p:txBody>
          <a:bodyPr wrap="square" lIns="0" tIns="0" rIns="0" bIns="0" rtlCol="0" anchor="ctr"/>
          <a:lstStyle/>
          <a:p>
            <a:pPr algn="ctr" indent="0" marL="0">
              <a:buNone/>
            </a:pPr>
            <a:r>
              <a:rPr lang="en-US" sz="1100" b="1" dirty="0">
                <a:solidFill>
                  <a:srgbClr val="F2F3F8"/>
                </a:solidFill>
                <a:latin typeface="Arial" pitchFamily="34" charset="0"/>
                <a:ea typeface="Arial" pitchFamily="34" charset="-122"/>
                <a:cs typeface="Arial" pitchFamily="34" charset="-120"/>
              </a:rPr>
              <a:t>New brand · size chart URL</a:t>
            </a:r>
            <a:endParaRPr lang="en-US" sz="1100" dirty="0"/>
          </a:p>
        </p:txBody>
      </p:sp>
      <p:sp>
        <p:nvSpPr>
          <p:cNvPr id="8" name="Shape 6"/>
          <p:cNvSpPr/>
          <p:nvPr/>
        </p:nvSpPr>
        <p:spPr>
          <a:xfrm>
            <a:off x="8138160" y="1481328"/>
            <a:ext cx="3520440" cy="365760"/>
          </a:xfrm>
          <a:prstGeom prst="roundRect">
            <a:avLst>
              <a:gd name="adj" fmla="val 12500"/>
            </a:avLst>
          </a:prstGeom>
          <a:solidFill>
            <a:srgbClr val="252943"/>
          </a:solidFill>
          <a:ln w="12700">
            <a:solidFill>
              <a:srgbClr val="6E7699"/>
            </a:solidFill>
            <a:prstDash val="solid"/>
          </a:ln>
        </p:spPr>
      </p:sp>
      <p:sp>
        <p:nvSpPr>
          <p:cNvPr id="9" name="Text 7"/>
          <p:cNvSpPr txBox="1"/>
          <p:nvPr/>
        </p:nvSpPr>
        <p:spPr>
          <a:xfrm>
            <a:off x="8138160" y="1481328"/>
            <a:ext cx="3520440" cy="365760"/>
          </a:xfrm>
          <a:prstGeom prst="rect">
            <a:avLst/>
          </a:prstGeom>
          <a:noFill/>
          <a:ln/>
        </p:spPr>
        <p:txBody>
          <a:bodyPr wrap="square" lIns="0" tIns="0" rIns="0" bIns="0" rtlCol="0" anchor="ctr"/>
          <a:lstStyle/>
          <a:p>
            <a:pPr algn="ctr" indent="0" marL="0">
              <a:buNone/>
            </a:pPr>
            <a:r>
              <a:rPr lang="en-US" sz="1100" b="1" dirty="0">
                <a:solidFill>
                  <a:srgbClr val="F2F3F8"/>
                </a:solidFill>
                <a:latin typeface="Arial" pitchFamily="34" charset="0"/>
                <a:ea typeface="Arial" pitchFamily="34" charset="-122"/>
                <a:cs typeface="Arial" pitchFamily="34" charset="-120"/>
              </a:rPr>
              <a:t>Return · free text</a:t>
            </a:r>
            <a:endParaRPr lang="en-US" sz="1100" dirty="0"/>
          </a:p>
        </p:txBody>
      </p:sp>
      <p:sp>
        <p:nvSpPr>
          <p:cNvPr id="10" name="Shape 8"/>
          <p:cNvSpPr/>
          <p:nvPr/>
        </p:nvSpPr>
        <p:spPr>
          <a:xfrm>
            <a:off x="4343400" y="2157984"/>
            <a:ext cx="3520440" cy="457200"/>
          </a:xfrm>
          <a:prstGeom prst="roundRect">
            <a:avLst>
              <a:gd name="adj" fmla="val 10000"/>
            </a:avLst>
          </a:prstGeom>
          <a:solidFill>
            <a:srgbClr val="3A3A62"/>
          </a:solidFill>
          <a:ln w="19050">
            <a:solidFill>
              <a:srgbClr val="E0A458"/>
            </a:solidFill>
            <a:prstDash val="solid"/>
          </a:ln>
        </p:spPr>
      </p:sp>
      <p:sp>
        <p:nvSpPr>
          <p:cNvPr id="11" name="Text 9"/>
          <p:cNvSpPr txBox="1"/>
          <p:nvPr/>
        </p:nvSpPr>
        <p:spPr>
          <a:xfrm>
            <a:off x="4343400" y="2157984"/>
            <a:ext cx="3520440" cy="457200"/>
          </a:xfrm>
          <a:prstGeom prst="rect">
            <a:avLst/>
          </a:prstGeom>
          <a:noFill/>
          <a:ln/>
        </p:spPr>
        <p:txBody>
          <a:bodyPr wrap="square" lIns="0" tIns="0" rIns="0" bIns="0" rtlCol="0" anchor="ctr"/>
          <a:lstStyle/>
          <a:p>
            <a:pPr algn="ctr" indent="0" marL="0">
              <a:buNone/>
            </a:pPr>
            <a:r>
              <a:rPr lang="en-US" sz="1300" b="1" dirty="0">
                <a:solidFill>
                  <a:srgbClr val="E0A458"/>
                </a:solidFill>
                <a:latin typeface="Arial" pitchFamily="34" charset="0"/>
                <a:ea typeface="Arial" pitchFamily="34" charset="-122"/>
                <a:cs typeface="Arial" pitchFamily="34" charset="-120"/>
              </a:rPr>
              <a:t>Orchestrator · LangGraph</a:t>
            </a:r>
            <a:endParaRPr lang="en-US" sz="1300" dirty="0"/>
          </a:p>
        </p:txBody>
      </p:sp>
      <p:sp>
        <p:nvSpPr>
          <p:cNvPr id="12" name="Shape 10"/>
          <p:cNvSpPr/>
          <p:nvPr/>
        </p:nvSpPr>
        <p:spPr>
          <a:xfrm>
            <a:off x="2308860" y="1847088"/>
            <a:ext cx="0" cy="128016"/>
          </a:xfrm>
          <a:prstGeom prst="line">
            <a:avLst/>
          </a:prstGeom>
          <a:noFill/>
          <a:ln w="15875">
            <a:solidFill>
              <a:srgbClr val="9BA1C1"/>
            </a:solidFill>
            <a:prstDash val="solid"/>
          </a:ln>
        </p:spPr>
      </p:sp>
      <p:sp>
        <p:nvSpPr>
          <p:cNvPr id="13" name="Shape 11"/>
          <p:cNvSpPr/>
          <p:nvPr/>
        </p:nvSpPr>
        <p:spPr>
          <a:xfrm>
            <a:off x="9898380" y="1847088"/>
            <a:ext cx="0" cy="128016"/>
          </a:xfrm>
          <a:prstGeom prst="line">
            <a:avLst/>
          </a:prstGeom>
          <a:noFill/>
          <a:ln w="15875">
            <a:solidFill>
              <a:srgbClr val="9BA1C1"/>
            </a:solidFill>
            <a:prstDash val="solid"/>
          </a:ln>
        </p:spPr>
      </p:sp>
      <p:sp>
        <p:nvSpPr>
          <p:cNvPr id="14" name="Shape 12"/>
          <p:cNvSpPr/>
          <p:nvPr/>
        </p:nvSpPr>
        <p:spPr>
          <a:xfrm>
            <a:off x="2308860" y="1975104"/>
            <a:ext cx="7589520" cy="0"/>
          </a:xfrm>
          <a:prstGeom prst="line">
            <a:avLst/>
          </a:prstGeom>
          <a:noFill/>
          <a:ln w="15875">
            <a:solidFill>
              <a:srgbClr val="9BA1C1"/>
            </a:solidFill>
            <a:prstDash val="solid"/>
          </a:ln>
        </p:spPr>
      </p:sp>
      <p:sp>
        <p:nvSpPr>
          <p:cNvPr id="15" name="Shape 13"/>
          <p:cNvSpPr/>
          <p:nvPr/>
        </p:nvSpPr>
        <p:spPr>
          <a:xfrm>
            <a:off x="6103620" y="1975104"/>
            <a:ext cx="0" cy="182880"/>
          </a:xfrm>
          <a:prstGeom prst="line">
            <a:avLst/>
          </a:prstGeom>
          <a:noFill/>
          <a:ln w="15875">
            <a:solidFill>
              <a:srgbClr val="9BA1C1"/>
            </a:solidFill>
            <a:prstDash val="solid"/>
            <a:tailEnd type="triangle"/>
          </a:ln>
        </p:spPr>
      </p:sp>
      <p:sp>
        <p:nvSpPr>
          <p:cNvPr id="16" name="Shape 14"/>
          <p:cNvSpPr/>
          <p:nvPr/>
        </p:nvSpPr>
        <p:spPr>
          <a:xfrm>
            <a:off x="6103620" y="2615184"/>
            <a:ext cx="0" cy="109728"/>
          </a:xfrm>
          <a:prstGeom prst="line">
            <a:avLst/>
          </a:prstGeom>
          <a:noFill/>
          <a:ln w="15875">
            <a:solidFill>
              <a:srgbClr val="E0A458"/>
            </a:solidFill>
            <a:prstDash val="solid"/>
          </a:ln>
        </p:spPr>
      </p:sp>
      <p:sp>
        <p:nvSpPr>
          <p:cNvPr id="17" name="Shape 15"/>
          <p:cNvSpPr/>
          <p:nvPr/>
        </p:nvSpPr>
        <p:spPr>
          <a:xfrm>
            <a:off x="2308860" y="2724912"/>
            <a:ext cx="7589520" cy="0"/>
          </a:xfrm>
          <a:prstGeom prst="line">
            <a:avLst/>
          </a:prstGeom>
          <a:noFill/>
          <a:ln w="15875">
            <a:solidFill>
              <a:srgbClr val="E0A458"/>
            </a:solidFill>
            <a:prstDash val="solid"/>
          </a:ln>
        </p:spPr>
      </p:sp>
      <p:sp>
        <p:nvSpPr>
          <p:cNvPr id="18" name="Shape 16"/>
          <p:cNvSpPr/>
          <p:nvPr/>
        </p:nvSpPr>
        <p:spPr>
          <a:xfrm>
            <a:off x="2308860" y="2724912"/>
            <a:ext cx="0" cy="73152"/>
          </a:xfrm>
          <a:prstGeom prst="line">
            <a:avLst/>
          </a:prstGeom>
          <a:noFill/>
          <a:ln w="15875">
            <a:solidFill>
              <a:srgbClr val="E0A458"/>
            </a:solidFill>
            <a:prstDash val="solid"/>
            <a:tailEnd type="triangle"/>
          </a:ln>
        </p:spPr>
      </p:sp>
      <p:sp>
        <p:nvSpPr>
          <p:cNvPr id="19" name="Shape 17"/>
          <p:cNvSpPr/>
          <p:nvPr/>
        </p:nvSpPr>
        <p:spPr>
          <a:xfrm>
            <a:off x="6103620" y="2724912"/>
            <a:ext cx="0" cy="73152"/>
          </a:xfrm>
          <a:prstGeom prst="line">
            <a:avLst/>
          </a:prstGeom>
          <a:noFill/>
          <a:ln w="15875">
            <a:solidFill>
              <a:srgbClr val="E0A458"/>
            </a:solidFill>
            <a:prstDash val="solid"/>
            <a:tailEnd type="triangle"/>
          </a:ln>
        </p:spPr>
      </p:sp>
      <p:sp>
        <p:nvSpPr>
          <p:cNvPr id="20" name="Shape 18"/>
          <p:cNvSpPr/>
          <p:nvPr/>
        </p:nvSpPr>
        <p:spPr>
          <a:xfrm>
            <a:off x="9898380" y="2724912"/>
            <a:ext cx="0" cy="73152"/>
          </a:xfrm>
          <a:prstGeom prst="line">
            <a:avLst/>
          </a:prstGeom>
          <a:noFill/>
          <a:ln w="15875">
            <a:solidFill>
              <a:srgbClr val="E0A458"/>
            </a:solidFill>
            <a:prstDash val="solid"/>
            <a:tailEnd type="triangle"/>
          </a:ln>
        </p:spPr>
      </p:sp>
      <p:sp>
        <p:nvSpPr>
          <p:cNvPr id="21" name="Shape 19"/>
          <p:cNvSpPr/>
          <p:nvPr/>
        </p:nvSpPr>
        <p:spPr>
          <a:xfrm>
            <a:off x="548640" y="2798064"/>
            <a:ext cx="3520440" cy="658368"/>
          </a:xfrm>
          <a:prstGeom prst="roundRect">
            <a:avLst>
              <a:gd name="adj" fmla="val 6944"/>
            </a:avLst>
          </a:prstGeom>
          <a:solidFill>
            <a:srgbClr val="252943"/>
          </a:solidFill>
          <a:ln w="12700">
            <a:solidFill>
              <a:srgbClr val="6E7699"/>
            </a:solidFill>
            <a:prstDash val="solid"/>
          </a:ln>
        </p:spPr>
      </p:sp>
      <p:sp>
        <p:nvSpPr>
          <p:cNvPr id="22" name="Shape 20"/>
          <p:cNvSpPr/>
          <p:nvPr/>
        </p:nvSpPr>
        <p:spPr>
          <a:xfrm>
            <a:off x="694944" y="2953512"/>
            <a:ext cx="347472" cy="347472"/>
          </a:xfrm>
          <a:prstGeom prst="ellipse">
            <a:avLst/>
          </a:prstGeom>
          <a:solidFill>
            <a:srgbClr val="E0A458"/>
          </a:solidFill>
          <a:ln w="12700">
            <a:solidFill>
              <a:srgbClr val="E0A458"/>
            </a:solidFill>
            <a:prstDash val="solid"/>
          </a:ln>
        </p:spPr>
      </p:sp>
      <p:sp>
        <p:nvSpPr>
          <p:cNvPr id="23" name="Text 21"/>
          <p:cNvSpPr txBox="1"/>
          <p:nvPr/>
        </p:nvSpPr>
        <p:spPr>
          <a:xfrm>
            <a:off x="694944" y="2953512"/>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1</a:t>
            </a:r>
            <a:endParaRPr lang="en-US" sz="1200" dirty="0"/>
          </a:p>
        </p:txBody>
      </p:sp>
      <p:sp>
        <p:nvSpPr>
          <p:cNvPr id="24" name="Text 22"/>
          <p:cNvSpPr txBox="1"/>
          <p:nvPr/>
        </p:nvSpPr>
        <p:spPr>
          <a:xfrm>
            <a:off x="1133856" y="2889504"/>
            <a:ext cx="2788920" cy="256032"/>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Capture Coach</a:t>
            </a:r>
            <a:endParaRPr lang="en-US" sz="1300" dirty="0"/>
          </a:p>
        </p:txBody>
      </p:sp>
      <p:sp>
        <p:nvSpPr>
          <p:cNvPr id="25" name="Text 23"/>
          <p:cNvSpPr txBox="1"/>
          <p:nvPr/>
        </p:nvSpPr>
        <p:spPr>
          <a:xfrm>
            <a:off x="1133856" y="3145536"/>
            <a:ext cx="2788920" cy="219456"/>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gates · guidance · stop rule</a:t>
            </a:r>
            <a:endParaRPr lang="en-US" sz="1000" dirty="0"/>
          </a:p>
        </p:txBody>
      </p:sp>
      <p:sp>
        <p:nvSpPr>
          <p:cNvPr id="26" name="Shape 24"/>
          <p:cNvSpPr/>
          <p:nvPr/>
        </p:nvSpPr>
        <p:spPr>
          <a:xfrm>
            <a:off x="3794760" y="2944368"/>
            <a:ext cx="128016" cy="128016"/>
          </a:xfrm>
          <a:prstGeom prst="ellipse">
            <a:avLst/>
          </a:prstGeom>
          <a:solidFill>
            <a:srgbClr val="EC8079"/>
          </a:solidFill>
          <a:ln w="12700">
            <a:solidFill>
              <a:srgbClr val="EC8079"/>
            </a:solidFill>
            <a:prstDash val="solid"/>
          </a:ln>
        </p:spPr>
      </p:sp>
      <p:sp>
        <p:nvSpPr>
          <p:cNvPr id="27" name="Shape 25"/>
          <p:cNvSpPr/>
          <p:nvPr/>
        </p:nvSpPr>
        <p:spPr>
          <a:xfrm>
            <a:off x="4343400" y="2798064"/>
            <a:ext cx="3520440" cy="658368"/>
          </a:xfrm>
          <a:prstGeom prst="roundRect">
            <a:avLst>
              <a:gd name="adj" fmla="val 6944"/>
            </a:avLst>
          </a:prstGeom>
          <a:solidFill>
            <a:srgbClr val="252943"/>
          </a:solidFill>
          <a:ln w="12700">
            <a:solidFill>
              <a:srgbClr val="6E7699"/>
            </a:solidFill>
            <a:prstDash val="solid"/>
          </a:ln>
        </p:spPr>
      </p:sp>
      <p:sp>
        <p:nvSpPr>
          <p:cNvPr id="28" name="Shape 26"/>
          <p:cNvSpPr/>
          <p:nvPr/>
        </p:nvSpPr>
        <p:spPr>
          <a:xfrm>
            <a:off x="4489704" y="2953512"/>
            <a:ext cx="347472" cy="347472"/>
          </a:xfrm>
          <a:prstGeom prst="ellipse">
            <a:avLst/>
          </a:prstGeom>
          <a:solidFill>
            <a:srgbClr val="E0A458"/>
          </a:solidFill>
          <a:ln w="12700">
            <a:solidFill>
              <a:srgbClr val="E0A458"/>
            </a:solidFill>
            <a:prstDash val="solid"/>
          </a:ln>
        </p:spPr>
      </p:sp>
      <p:sp>
        <p:nvSpPr>
          <p:cNvPr id="29" name="Text 27"/>
          <p:cNvSpPr txBox="1"/>
          <p:nvPr/>
        </p:nvSpPr>
        <p:spPr>
          <a:xfrm>
            <a:off x="4489704" y="2953512"/>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3</a:t>
            </a:r>
            <a:endParaRPr lang="en-US" sz="1200" dirty="0"/>
          </a:p>
        </p:txBody>
      </p:sp>
      <p:sp>
        <p:nvSpPr>
          <p:cNvPr id="30" name="Text 28"/>
          <p:cNvSpPr txBox="1"/>
          <p:nvPr/>
        </p:nvSpPr>
        <p:spPr>
          <a:xfrm>
            <a:off x="4928616" y="2889504"/>
            <a:ext cx="2788920" cy="256032"/>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Catalog Ingestor</a:t>
            </a:r>
            <a:endParaRPr lang="en-US" sz="1300" dirty="0"/>
          </a:p>
        </p:txBody>
      </p:sp>
      <p:sp>
        <p:nvSpPr>
          <p:cNvPr id="31" name="Text 29"/>
          <p:cNvSpPr txBox="1"/>
          <p:nvPr/>
        </p:nvSpPr>
        <p:spPr>
          <a:xfrm>
            <a:off x="4928616" y="3145536"/>
            <a:ext cx="2788920" cy="219456"/>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chart → canonical schema</a:t>
            </a:r>
            <a:endParaRPr lang="en-US" sz="1000" dirty="0"/>
          </a:p>
        </p:txBody>
      </p:sp>
      <p:sp>
        <p:nvSpPr>
          <p:cNvPr id="32" name="Shape 30"/>
          <p:cNvSpPr/>
          <p:nvPr/>
        </p:nvSpPr>
        <p:spPr>
          <a:xfrm>
            <a:off x="7589520" y="2944368"/>
            <a:ext cx="128016" cy="128016"/>
          </a:xfrm>
          <a:prstGeom prst="ellipse">
            <a:avLst/>
          </a:prstGeom>
          <a:solidFill>
            <a:srgbClr val="EC8079"/>
          </a:solidFill>
          <a:ln w="12700">
            <a:solidFill>
              <a:srgbClr val="EC8079"/>
            </a:solidFill>
            <a:prstDash val="solid"/>
          </a:ln>
        </p:spPr>
      </p:sp>
      <p:sp>
        <p:nvSpPr>
          <p:cNvPr id="33" name="Shape 31"/>
          <p:cNvSpPr/>
          <p:nvPr/>
        </p:nvSpPr>
        <p:spPr>
          <a:xfrm>
            <a:off x="8138160" y="2798064"/>
            <a:ext cx="3520440" cy="658368"/>
          </a:xfrm>
          <a:prstGeom prst="roundRect">
            <a:avLst>
              <a:gd name="adj" fmla="val 6944"/>
            </a:avLst>
          </a:prstGeom>
          <a:solidFill>
            <a:srgbClr val="252943"/>
          </a:solidFill>
          <a:ln w="12700">
            <a:solidFill>
              <a:srgbClr val="6E7699"/>
            </a:solidFill>
            <a:prstDash val="solid"/>
          </a:ln>
        </p:spPr>
      </p:sp>
      <p:sp>
        <p:nvSpPr>
          <p:cNvPr id="34" name="Shape 32"/>
          <p:cNvSpPr/>
          <p:nvPr/>
        </p:nvSpPr>
        <p:spPr>
          <a:xfrm>
            <a:off x="8284464" y="2953512"/>
            <a:ext cx="347472" cy="347472"/>
          </a:xfrm>
          <a:prstGeom prst="ellipse">
            <a:avLst/>
          </a:prstGeom>
          <a:solidFill>
            <a:srgbClr val="E0A458"/>
          </a:solidFill>
          <a:ln w="12700">
            <a:solidFill>
              <a:srgbClr val="E0A458"/>
            </a:solidFill>
            <a:prstDash val="solid"/>
          </a:ln>
        </p:spPr>
      </p:sp>
      <p:sp>
        <p:nvSpPr>
          <p:cNvPr id="35" name="Text 33"/>
          <p:cNvSpPr txBox="1"/>
          <p:nvPr/>
        </p:nvSpPr>
        <p:spPr>
          <a:xfrm>
            <a:off x="8284464" y="2953512"/>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5</a:t>
            </a:r>
            <a:endParaRPr lang="en-US" sz="1200" dirty="0"/>
          </a:p>
        </p:txBody>
      </p:sp>
      <p:sp>
        <p:nvSpPr>
          <p:cNvPr id="36" name="Text 34"/>
          <p:cNvSpPr txBox="1"/>
          <p:nvPr/>
        </p:nvSpPr>
        <p:spPr>
          <a:xfrm>
            <a:off x="8723376" y="2889504"/>
            <a:ext cx="2788920" cy="256032"/>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Return Analyst</a:t>
            </a:r>
            <a:endParaRPr lang="en-US" sz="1300" dirty="0"/>
          </a:p>
        </p:txBody>
      </p:sp>
      <p:sp>
        <p:nvSpPr>
          <p:cNvPr id="37" name="Text 35"/>
          <p:cNvSpPr txBox="1"/>
          <p:nvPr/>
        </p:nvSpPr>
        <p:spPr>
          <a:xfrm>
            <a:off x="8723376" y="3145536"/>
            <a:ext cx="2788920" cy="219456"/>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text → landmark signal</a:t>
            </a:r>
            <a:endParaRPr lang="en-US" sz="1000" dirty="0"/>
          </a:p>
        </p:txBody>
      </p:sp>
      <p:sp>
        <p:nvSpPr>
          <p:cNvPr id="38" name="Shape 36"/>
          <p:cNvSpPr/>
          <p:nvPr/>
        </p:nvSpPr>
        <p:spPr>
          <a:xfrm>
            <a:off x="548640" y="3639312"/>
            <a:ext cx="3520440" cy="658368"/>
          </a:xfrm>
          <a:prstGeom prst="roundRect">
            <a:avLst>
              <a:gd name="adj" fmla="val 6944"/>
            </a:avLst>
          </a:prstGeom>
          <a:solidFill>
            <a:srgbClr val="252943"/>
          </a:solidFill>
          <a:ln w="12700">
            <a:solidFill>
              <a:srgbClr val="6E7699"/>
            </a:solidFill>
            <a:prstDash val="solid"/>
          </a:ln>
        </p:spPr>
      </p:sp>
      <p:sp>
        <p:nvSpPr>
          <p:cNvPr id="39" name="Shape 37"/>
          <p:cNvSpPr/>
          <p:nvPr/>
        </p:nvSpPr>
        <p:spPr>
          <a:xfrm>
            <a:off x="694944" y="3794760"/>
            <a:ext cx="347472" cy="347472"/>
          </a:xfrm>
          <a:prstGeom prst="ellipse">
            <a:avLst/>
          </a:prstGeom>
          <a:solidFill>
            <a:srgbClr val="E0A458"/>
          </a:solidFill>
          <a:ln w="12700">
            <a:solidFill>
              <a:srgbClr val="E0A458"/>
            </a:solidFill>
            <a:prstDash val="solid"/>
          </a:ln>
        </p:spPr>
      </p:sp>
      <p:sp>
        <p:nvSpPr>
          <p:cNvPr id="40" name="Text 38"/>
          <p:cNvSpPr txBox="1"/>
          <p:nvPr/>
        </p:nvSpPr>
        <p:spPr>
          <a:xfrm>
            <a:off x="694944" y="3794760"/>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2</a:t>
            </a:r>
            <a:endParaRPr lang="en-US" sz="1200" dirty="0"/>
          </a:p>
        </p:txBody>
      </p:sp>
      <p:sp>
        <p:nvSpPr>
          <p:cNvPr id="41" name="Text 39"/>
          <p:cNvSpPr txBox="1"/>
          <p:nvPr/>
        </p:nvSpPr>
        <p:spPr>
          <a:xfrm>
            <a:off x="1133856" y="3730752"/>
            <a:ext cx="2788920" cy="256032"/>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Anthro Validator</a:t>
            </a:r>
            <a:endParaRPr lang="en-US" sz="1300" dirty="0"/>
          </a:p>
        </p:txBody>
      </p:sp>
      <p:sp>
        <p:nvSpPr>
          <p:cNvPr id="42" name="Text 40"/>
          <p:cNvSpPr txBox="1"/>
          <p:nvPr/>
        </p:nvSpPr>
        <p:spPr>
          <a:xfrm>
            <a:off x="1133856" y="3986784"/>
            <a:ext cx="2788920" cy="219456"/>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plausibility vs ANSUR II</a:t>
            </a:r>
            <a:endParaRPr lang="en-US" sz="1000" dirty="0"/>
          </a:p>
        </p:txBody>
      </p:sp>
      <p:sp>
        <p:nvSpPr>
          <p:cNvPr id="43" name="Shape 41"/>
          <p:cNvSpPr/>
          <p:nvPr/>
        </p:nvSpPr>
        <p:spPr>
          <a:xfrm>
            <a:off x="3794760" y="3785616"/>
            <a:ext cx="128016" cy="128016"/>
          </a:xfrm>
          <a:prstGeom prst="ellipse">
            <a:avLst/>
          </a:prstGeom>
          <a:solidFill>
            <a:srgbClr val="EC8079"/>
          </a:solidFill>
          <a:ln w="12700">
            <a:solidFill>
              <a:srgbClr val="EC8079"/>
            </a:solidFill>
            <a:prstDash val="solid"/>
          </a:ln>
        </p:spPr>
      </p:sp>
      <p:sp>
        <p:nvSpPr>
          <p:cNvPr id="44" name="Shape 42"/>
          <p:cNvSpPr/>
          <p:nvPr/>
        </p:nvSpPr>
        <p:spPr>
          <a:xfrm>
            <a:off x="4343400" y="3639312"/>
            <a:ext cx="3520440" cy="658368"/>
          </a:xfrm>
          <a:prstGeom prst="roundRect">
            <a:avLst>
              <a:gd name="adj" fmla="val 6944"/>
            </a:avLst>
          </a:prstGeom>
          <a:solidFill>
            <a:srgbClr val="252943"/>
          </a:solidFill>
          <a:ln w="12700">
            <a:solidFill>
              <a:srgbClr val="6E7699"/>
            </a:solidFill>
            <a:prstDash val="solid"/>
          </a:ln>
        </p:spPr>
      </p:sp>
      <p:sp>
        <p:nvSpPr>
          <p:cNvPr id="45" name="Shape 43"/>
          <p:cNvSpPr/>
          <p:nvPr/>
        </p:nvSpPr>
        <p:spPr>
          <a:xfrm>
            <a:off x="4489704" y="3794760"/>
            <a:ext cx="347472" cy="347472"/>
          </a:xfrm>
          <a:prstGeom prst="ellipse">
            <a:avLst/>
          </a:prstGeom>
          <a:solidFill>
            <a:srgbClr val="E0A458"/>
          </a:solidFill>
          <a:ln w="12700">
            <a:solidFill>
              <a:srgbClr val="E0A458"/>
            </a:solidFill>
            <a:prstDash val="solid"/>
          </a:ln>
        </p:spPr>
      </p:sp>
      <p:sp>
        <p:nvSpPr>
          <p:cNvPr id="46" name="Text 44"/>
          <p:cNvSpPr txBox="1"/>
          <p:nvPr/>
        </p:nvSpPr>
        <p:spPr>
          <a:xfrm>
            <a:off x="4489704" y="3794760"/>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4</a:t>
            </a:r>
            <a:endParaRPr lang="en-US" sz="1200" dirty="0"/>
          </a:p>
        </p:txBody>
      </p:sp>
      <p:sp>
        <p:nvSpPr>
          <p:cNvPr id="47" name="Text 45"/>
          <p:cNvSpPr txBox="1"/>
          <p:nvPr/>
        </p:nvSpPr>
        <p:spPr>
          <a:xfrm>
            <a:off x="4928616" y="3730752"/>
            <a:ext cx="2788920" cy="256032"/>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Fit Advisor</a:t>
            </a:r>
            <a:endParaRPr lang="en-US" sz="1300" dirty="0"/>
          </a:p>
        </p:txBody>
      </p:sp>
      <p:sp>
        <p:nvSpPr>
          <p:cNvPr id="48" name="Text 46"/>
          <p:cNvSpPr txBox="1"/>
          <p:nvPr/>
        </p:nvSpPr>
        <p:spPr>
          <a:xfrm>
            <a:off x="4928616" y="3986784"/>
            <a:ext cx="2788920" cy="219456"/>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explains · never decides</a:t>
            </a:r>
            <a:endParaRPr lang="en-US" sz="1000" dirty="0"/>
          </a:p>
        </p:txBody>
      </p:sp>
      <p:sp>
        <p:nvSpPr>
          <p:cNvPr id="49" name="Shape 47"/>
          <p:cNvSpPr/>
          <p:nvPr/>
        </p:nvSpPr>
        <p:spPr>
          <a:xfrm>
            <a:off x="8138160" y="3639312"/>
            <a:ext cx="3520440" cy="658368"/>
          </a:xfrm>
          <a:prstGeom prst="roundRect">
            <a:avLst>
              <a:gd name="adj" fmla="val 6944"/>
            </a:avLst>
          </a:prstGeom>
          <a:solidFill>
            <a:srgbClr val="252943"/>
          </a:solidFill>
          <a:ln w="12700">
            <a:solidFill>
              <a:srgbClr val="6E7699"/>
            </a:solidFill>
            <a:prstDash val="solid"/>
          </a:ln>
        </p:spPr>
      </p:sp>
      <p:sp>
        <p:nvSpPr>
          <p:cNvPr id="50" name="Shape 48"/>
          <p:cNvSpPr/>
          <p:nvPr/>
        </p:nvSpPr>
        <p:spPr>
          <a:xfrm>
            <a:off x="8284464" y="3794760"/>
            <a:ext cx="347472" cy="347472"/>
          </a:xfrm>
          <a:prstGeom prst="ellipse">
            <a:avLst/>
          </a:prstGeom>
          <a:solidFill>
            <a:srgbClr val="E0A458"/>
          </a:solidFill>
          <a:ln w="12700">
            <a:solidFill>
              <a:srgbClr val="E0A458"/>
            </a:solidFill>
            <a:prstDash val="solid"/>
          </a:ln>
        </p:spPr>
      </p:sp>
      <p:sp>
        <p:nvSpPr>
          <p:cNvPr id="51" name="Text 49"/>
          <p:cNvSpPr txBox="1"/>
          <p:nvPr/>
        </p:nvSpPr>
        <p:spPr>
          <a:xfrm>
            <a:off x="8284464" y="3794760"/>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6</a:t>
            </a:r>
            <a:endParaRPr lang="en-US" sz="1200" dirty="0"/>
          </a:p>
        </p:txBody>
      </p:sp>
      <p:sp>
        <p:nvSpPr>
          <p:cNvPr id="52" name="Text 50"/>
          <p:cNvSpPr txBox="1"/>
          <p:nvPr/>
        </p:nvSpPr>
        <p:spPr>
          <a:xfrm>
            <a:off x="8723376" y="3730752"/>
            <a:ext cx="2788920" cy="256032"/>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Review Agent</a:t>
            </a:r>
            <a:endParaRPr lang="en-US" sz="1300" dirty="0"/>
          </a:p>
        </p:txBody>
      </p:sp>
      <p:sp>
        <p:nvSpPr>
          <p:cNvPr id="53" name="Text 51"/>
          <p:cNvSpPr txBox="1"/>
          <p:nvPr/>
        </p:nvSpPr>
        <p:spPr>
          <a:xfrm>
            <a:off x="8723376" y="3986784"/>
            <a:ext cx="2788920" cy="219456"/>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golden sets · release gate</a:t>
            </a:r>
            <a:endParaRPr lang="en-US" sz="1000" dirty="0"/>
          </a:p>
        </p:txBody>
      </p:sp>
      <p:sp>
        <p:nvSpPr>
          <p:cNvPr id="54" name="Shape 52"/>
          <p:cNvSpPr/>
          <p:nvPr/>
        </p:nvSpPr>
        <p:spPr>
          <a:xfrm>
            <a:off x="2308860" y="3456432"/>
            <a:ext cx="0" cy="146304"/>
          </a:xfrm>
          <a:prstGeom prst="line">
            <a:avLst/>
          </a:prstGeom>
          <a:noFill/>
          <a:ln w="15875">
            <a:solidFill>
              <a:srgbClr val="9BA1C1"/>
            </a:solidFill>
            <a:prstDash val="solid"/>
            <a:tailEnd type="triangle"/>
          </a:ln>
        </p:spPr>
      </p:sp>
      <p:sp>
        <p:nvSpPr>
          <p:cNvPr id="55" name="Shape 53"/>
          <p:cNvSpPr/>
          <p:nvPr/>
        </p:nvSpPr>
        <p:spPr>
          <a:xfrm>
            <a:off x="6103620" y="3456432"/>
            <a:ext cx="0" cy="146304"/>
          </a:xfrm>
          <a:prstGeom prst="line">
            <a:avLst/>
          </a:prstGeom>
          <a:noFill/>
          <a:ln w="15875">
            <a:solidFill>
              <a:srgbClr val="9BA1C1"/>
            </a:solidFill>
            <a:prstDash val="solid"/>
            <a:tailEnd type="triangle"/>
          </a:ln>
        </p:spPr>
      </p:sp>
      <p:sp>
        <p:nvSpPr>
          <p:cNvPr id="56" name="Shape 54"/>
          <p:cNvSpPr/>
          <p:nvPr/>
        </p:nvSpPr>
        <p:spPr>
          <a:xfrm>
            <a:off x="9898380" y="3456432"/>
            <a:ext cx="0" cy="146304"/>
          </a:xfrm>
          <a:prstGeom prst="line">
            <a:avLst/>
          </a:prstGeom>
          <a:noFill/>
          <a:ln w="15875">
            <a:solidFill>
              <a:srgbClr val="9BA1C1"/>
            </a:solidFill>
            <a:prstDash val="solid"/>
            <a:tailEnd type="triangle"/>
          </a:ln>
        </p:spPr>
      </p:sp>
      <p:sp>
        <p:nvSpPr>
          <p:cNvPr id="57" name="Shape 55"/>
          <p:cNvSpPr/>
          <p:nvPr/>
        </p:nvSpPr>
        <p:spPr>
          <a:xfrm>
            <a:off x="548640" y="4681728"/>
            <a:ext cx="7315200" cy="713232"/>
          </a:xfrm>
          <a:prstGeom prst="roundRect">
            <a:avLst>
              <a:gd name="adj" fmla="val 6410"/>
            </a:avLst>
          </a:prstGeom>
          <a:solidFill>
            <a:srgbClr val="223050"/>
          </a:solidFill>
          <a:ln w="19050">
            <a:solidFill>
              <a:srgbClr val="83B4DE"/>
            </a:solidFill>
            <a:prstDash val="solid"/>
          </a:ln>
        </p:spPr>
      </p:sp>
      <p:sp>
        <p:nvSpPr>
          <p:cNvPr id="58" name="Text 56"/>
          <p:cNvSpPr txBox="1"/>
          <p:nvPr/>
        </p:nvSpPr>
        <p:spPr>
          <a:xfrm>
            <a:off x="731520" y="4791456"/>
            <a:ext cx="6949440" cy="274320"/>
          </a:xfrm>
          <a:prstGeom prst="rect">
            <a:avLst/>
          </a:prstGeom>
          <a:noFill/>
          <a:ln/>
        </p:spPr>
        <p:txBody>
          <a:bodyPr wrap="square" lIns="0" tIns="0" rIns="0" bIns="0" rtlCol="0" anchor="ctr"/>
          <a:lstStyle/>
          <a:p>
            <a:pPr indent="0" marL="0">
              <a:buNone/>
            </a:pPr>
            <a:r>
              <a:rPr lang="en-US" sz="1350" b="1" dirty="0">
                <a:solidFill>
                  <a:srgbClr val="83B4DE"/>
                </a:solidFill>
                <a:latin typeface="Arial" pitchFamily="34" charset="0"/>
                <a:ea typeface="Arial" pitchFamily="34" charset="-122"/>
                <a:cs typeface="Arial" pitchFamily="34" charset="-120"/>
              </a:rPr>
              <a:t>Deterministic core — exposed as an MCP server</a:t>
            </a:r>
            <a:endParaRPr lang="en-US" sz="1350" dirty="0"/>
          </a:p>
        </p:txBody>
      </p:sp>
      <p:sp>
        <p:nvSpPr>
          <p:cNvPr id="59" name="Text 57"/>
          <p:cNvSpPr txBox="1"/>
          <p:nvPr/>
        </p:nvSpPr>
        <p:spPr>
          <a:xfrm>
            <a:off x="731520" y="5065776"/>
            <a:ext cx="6949440" cy="237744"/>
          </a:xfrm>
          <a:prstGeom prst="rect">
            <a:avLst/>
          </a:prstGeom>
          <a:noFill/>
          <a:ln/>
        </p:spPr>
        <p:txBody>
          <a:bodyPr wrap="square" lIns="0" tIns="0" rIns="0" bIns="0" rtlCol="0" anchor="ctr"/>
          <a:lstStyle/>
          <a:p>
            <a:pPr indent="0" marL="0">
              <a:buNone/>
            </a:pPr>
            <a:r>
              <a:rPr lang="en-US" sz="1050" dirty="0">
                <a:solidFill>
                  <a:srgbClr val="9BA1C1"/>
                </a:solidFill>
                <a:latin typeface="Arial" pitchFamily="34" charset="0"/>
                <a:ea typeface="Arial" pitchFamily="34" charset="-122"/>
                <a:cs typeface="Arial" pitchFamily="34" charset="-120"/>
              </a:rPr>
              <a:t>measurement extractor · fit engine · calibrator · SQLite</a:t>
            </a:r>
            <a:endParaRPr lang="en-US" sz="1050" dirty="0"/>
          </a:p>
        </p:txBody>
      </p:sp>
      <p:sp>
        <p:nvSpPr>
          <p:cNvPr id="60" name="Shape 58"/>
          <p:cNvSpPr/>
          <p:nvPr/>
        </p:nvSpPr>
        <p:spPr>
          <a:xfrm>
            <a:off x="2308860" y="4297680"/>
            <a:ext cx="0" cy="365760"/>
          </a:xfrm>
          <a:prstGeom prst="line">
            <a:avLst/>
          </a:prstGeom>
          <a:noFill/>
          <a:ln w="15875">
            <a:solidFill>
              <a:srgbClr val="83B4DE"/>
            </a:solidFill>
            <a:prstDash val="solid"/>
            <a:tailEnd type="triangle"/>
          </a:ln>
        </p:spPr>
      </p:sp>
      <p:sp>
        <p:nvSpPr>
          <p:cNvPr id="61" name="Shape 59"/>
          <p:cNvSpPr/>
          <p:nvPr/>
        </p:nvSpPr>
        <p:spPr>
          <a:xfrm>
            <a:off x="6103620" y="4297680"/>
            <a:ext cx="0" cy="365760"/>
          </a:xfrm>
          <a:prstGeom prst="line">
            <a:avLst/>
          </a:prstGeom>
          <a:noFill/>
          <a:ln w="15875">
            <a:solidFill>
              <a:srgbClr val="83B4DE"/>
            </a:solidFill>
            <a:prstDash val="solid"/>
            <a:tailEnd type="triangle"/>
          </a:ln>
        </p:spPr>
      </p:sp>
      <p:sp>
        <p:nvSpPr>
          <p:cNvPr id="62" name="Shape 60"/>
          <p:cNvSpPr/>
          <p:nvPr/>
        </p:nvSpPr>
        <p:spPr>
          <a:xfrm>
            <a:off x="8138160" y="4681728"/>
            <a:ext cx="3520440" cy="713232"/>
          </a:xfrm>
          <a:prstGeom prst="roundRect">
            <a:avLst>
              <a:gd name="adj" fmla="val 6410"/>
            </a:avLst>
          </a:prstGeom>
          <a:solidFill>
            <a:srgbClr val="3A2530"/>
          </a:solidFill>
          <a:ln w="19050">
            <a:solidFill>
              <a:srgbClr val="EC8079"/>
            </a:solidFill>
            <a:prstDash val="solid"/>
          </a:ln>
        </p:spPr>
      </p:sp>
      <p:sp>
        <p:nvSpPr>
          <p:cNvPr id="63" name="Text 61"/>
          <p:cNvSpPr txBox="1"/>
          <p:nvPr/>
        </p:nvSpPr>
        <p:spPr>
          <a:xfrm>
            <a:off x="8321040" y="4791456"/>
            <a:ext cx="3200400" cy="274320"/>
          </a:xfrm>
          <a:prstGeom prst="rect">
            <a:avLst/>
          </a:prstGeom>
          <a:noFill/>
          <a:ln/>
        </p:spPr>
        <p:txBody>
          <a:bodyPr wrap="square" lIns="0" tIns="0" rIns="0" bIns="0" rtlCol="0" anchor="ctr"/>
          <a:lstStyle/>
          <a:p>
            <a:pPr indent="0" marL="0">
              <a:buNone/>
            </a:pPr>
            <a:r>
              <a:rPr lang="en-US" sz="1350" b="1" dirty="0">
                <a:solidFill>
                  <a:srgbClr val="EC8079"/>
                </a:solidFill>
                <a:latin typeface="Arial" pitchFamily="34" charset="0"/>
                <a:ea typeface="Arial" pitchFamily="34" charset="-122"/>
                <a:cs typeface="Arial" pitchFamily="34" charset="-120"/>
              </a:rPr>
              <a:t>Human review queue</a:t>
            </a:r>
            <a:endParaRPr lang="en-US" sz="1350" dirty="0"/>
          </a:p>
        </p:txBody>
      </p:sp>
      <p:sp>
        <p:nvSpPr>
          <p:cNvPr id="64" name="Text 62"/>
          <p:cNvSpPr txBox="1"/>
          <p:nvPr/>
        </p:nvSpPr>
        <p:spPr>
          <a:xfrm>
            <a:off x="8321040" y="5065776"/>
            <a:ext cx="3200400" cy="237744"/>
          </a:xfrm>
          <a:prstGeom prst="rect">
            <a:avLst/>
          </a:prstGeom>
          <a:noFill/>
          <a:ln/>
        </p:spPr>
        <p:txBody>
          <a:bodyPr wrap="square" lIns="0" tIns="0" rIns="0" bIns="0" rtlCol="0" anchor="ctr"/>
          <a:lstStyle/>
          <a:p>
            <a:pPr indent="0" marL="0">
              <a:buNone/>
            </a:pPr>
            <a:r>
              <a:rPr lang="en-US" sz="1050" dirty="0">
                <a:solidFill>
                  <a:srgbClr val="9BA1C1"/>
                </a:solidFill>
                <a:latin typeface="Arial" pitchFamily="34" charset="0"/>
                <a:ea typeface="Arial" pitchFamily="34" charset="-122"/>
                <a:cs typeface="Arial" pitchFamily="34" charset="-120"/>
              </a:rPr>
              <a:t>fed by agents 1 · 2 · 3</a:t>
            </a:r>
            <a:endParaRPr lang="en-US" sz="1050" dirty="0"/>
          </a:p>
        </p:txBody>
      </p:sp>
      <p:sp>
        <p:nvSpPr>
          <p:cNvPr id="65" name="Text 63"/>
          <p:cNvSpPr txBox="1"/>
          <p:nvPr/>
        </p:nvSpPr>
        <p:spPr>
          <a:xfrm>
            <a:off x="502920" y="5897880"/>
            <a:ext cx="11185855" cy="310896"/>
          </a:xfrm>
          <a:prstGeom prst="rect">
            <a:avLst/>
          </a:prstGeom>
          <a:noFill/>
          <a:ln/>
        </p:spPr>
        <p:txBody>
          <a:bodyPr wrap="square" lIns="0" tIns="0" rIns="0" bIns="0" rtlCol="0" anchor="ctr"/>
          <a:lstStyle/>
          <a:p>
            <a:pPr indent="0" marL="0">
              <a:buNone/>
            </a:pPr>
            <a:r>
              <a:rPr lang="en-US" sz="1050" i="1" dirty="0">
                <a:solidFill>
                  <a:srgbClr val="6E7699"/>
                </a:solidFill>
                <a:latin typeface="Arial" pitchFamily="34" charset="0"/>
                <a:ea typeface="Arial" pitchFamily="34" charset="-122"/>
                <a:cs typeface="Arial" pitchFamily="34" charset="-120"/>
              </a:rPr>
              <a:t>Agents 1, 2 and 3 escalate anything below their confidence threshold to the review queue — marked in red. Nothing uncertain becomes data by default.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AGENT REGISTER</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Capture, validate, ingest</a:t>
            </a:r>
            <a:endParaRPr lang="en-US" sz="3000" dirty="0"/>
          </a:p>
        </p:txBody>
      </p:sp>
      <p:sp>
        <p:nvSpPr>
          <p:cNvPr id="4" name="Shape 2"/>
          <p:cNvSpPr/>
          <p:nvPr/>
        </p:nvSpPr>
        <p:spPr>
          <a:xfrm>
            <a:off x="502920" y="1481328"/>
            <a:ext cx="11185855" cy="1463040"/>
          </a:xfrm>
          <a:prstGeom prst="roundRect">
            <a:avLst>
              <a:gd name="adj" fmla="val 3750"/>
            </a:avLst>
          </a:prstGeom>
          <a:solidFill>
            <a:srgbClr val="252943"/>
          </a:solidFill>
          <a:ln w="12700">
            <a:solidFill>
              <a:srgbClr val="252943"/>
            </a:solidFill>
            <a:prstDash val="solid"/>
          </a:ln>
        </p:spPr>
      </p:sp>
      <p:sp>
        <p:nvSpPr>
          <p:cNvPr id="5" name="Shape 3"/>
          <p:cNvSpPr/>
          <p:nvPr/>
        </p:nvSpPr>
        <p:spPr>
          <a:xfrm>
            <a:off x="777240" y="1737360"/>
            <a:ext cx="384048" cy="384048"/>
          </a:xfrm>
          <a:prstGeom prst="ellipse">
            <a:avLst/>
          </a:prstGeom>
          <a:solidFill>
            <a:srgbClr val="E0A458"/>
          </a:solidFill>
          <a:ln w="12700">
            <a:solidFill>
              <a:srgbClr val="E0A458"/>
            </a:solidFill>
            <a:prstDash val="solid"/>
          </a:ln>
        </p:spPr>
      </p:sp>
      <p:sp>
        <p:nvSpPr>
          <p:cNvPr id="6" name="Text 4"/>
          <p:cNvSpPr txBox="1"/>
          <p:nvPr/>
        </p:nvSpPr>
        <p:spPr>
          <a:xfrm>
            <a:off x="777240" y="1737360"/>
            <a:ext cx="384048" cy="384048"/>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1</a:t>
            </a:r>
            <a:endParaRPr lang="en-US" sz="1200" dirty="0"/>
          </a:p>
        </p:txBody>
      </p:sp>
      <p:sp>
        <p:nvSpPr>
          <p:cNvPr id="7" name="Text 5"/>
          <p:cNvSpPr txBox="1"/>
          <p:nvPr/>
        </p:nvSpPr>
        <p:spPr>
          <a:xfrm>
            <a:off x="1325880" y="1664208"/>
            <a:ext cx="3840480" cy="310896"/>
          </a:xfrm>
          <a:prstGeom prst="rect">
            <a:avLst/>
          </a:prstGeom>
          <a:noFill/>
          <a:ln/>
        </p:spPr>
        <p:txBody>
          <a:bodyPr wrap="square" lIns="0" tIns="0" rIns="0" bIns="0" rtlCol="0" anchor="ctr"/>
          <a:lstStyle/>
          <a:p>
            <a:pPr indent="0" marL="0">
              <a:buNone/>
            </a:pPr>
            <a:r>
              <a:rPr lang="en-US" sz="1700" b="1" dirty="0">
                <a:solidFill>
                  <a:srgbClr val="E0A458"/>
                </a:solidFill>
                <a:latin typeface="Arial" pitchFamily="34" charset="0"/>
                <a:ea typeface="Arial" pitchFamily="34" charset="-122"/>
                <a:cs typeface="Arial" pitchFamily="34" charset="-120"/>
              </a:rPr>
              <a:t>Capture Coach</a:t>
            </a:r>
            <a:endParaRPr lang="en-US" sz="1700" dirty="0"/>
          </a:p>
        </p:txBody>
      </p:sp>
      <p:sp>
        <p:nvSpPr>
          <p:cNvPr id="8" name="Text 6"/>
          <p:cNvSpPr txBox="1"/>
          <p:nvPr/>
        </p:nvSpPr>
        <p:spPr>
          <a:xfrm>
            <a:off x="1325880" y="1993392"/>
            <a:ext cx="5120640" cy="786384"/>
          </a:xfrm>
          <a:prstGeom prst="rect">
            <a:avLst/>
          </a:prstGeom>
          <a:noFill/>
          <a:ln/>
        </p:spPr>
        <p:txBody>
          <a:bodyPr wrap="square" lIns="0" tIns="0" rIns="0" bIns="0" rtlCol="0" anchor="t"/>
          <a:lstStyle/>
          <a:p>
            <a:pPr indent="0" marL="0">
              <a:lnSpc>
                <a:spcPct val="116000"/>
              </a:lnSpc>
              <a:buNone/>
            </a:pPr>
            <a:r>
              <a:rPr lang="en-US" sz="1150" dirty="0">
                <a:solidFill>
                  <a:srgbClr val="9BA1C1"/>
                </a:solidFill>
                <a:latin typeface="Arial" pitchFamily="34" charset="0"/>
                <a:ea typeface="Arial" pitchFamily="34" charset="-122"/>
                <a:cs typeface="Arial" pitchFamily="34" charset="-120"/>
              </a:rPr>
              <a:t>The number of coaching turns is unknown in advance, the evidence is multimodal, and the decision to stop depends on a statistic that only emerges as frames accumulate.</a:t>
            </a:r>
            <a:endParaRPr lang="en-US" sz="1150" dirty="0"/>
          </a:p>
        </p:txBody>
      </p:sp>
      <p:sp>
        <p:nvSpPr>
          <p:cNvPr id="9" name="Text 7"/>
          <p:cNvSpPr txBox="1"/>
          <p:nvPr/>
        </p:nvSpPr>
        <p:spPr>
          <a:xfrm>
            <a:off x="6812280" y="1664208"/>
            <a:ext cx="109728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TOOLS</a:t>
            </a:r>
            <a:endParaRPr lang="en-US" sz="850" dirty="0"/>
          </a:p>
        </p:txBody>
      </p:sp>
      <p:sp>
        <p:nvSpPr>
          <p:cNvPr id="10" name="Text 8"/>
          <p:cNvSpPr txBox="1"/>
          <p:nvPr/>
        </p:nvSpPr>
        <p:spPr>
          <a:xfrm>
            <a:off x="6812280" y="1883664"/>
            <a:ext cx="4663440" cy="475488"/>
          </a:xfrm>
          <a:prstGeom prst="rect">
            <a:avLst/>
          </a:prstGeom>
          <a:noFill/>
          <a:ln/>
        </p:spPr>
        <p:txBody>
          <a:bodyPr wrap="square" lIns="0" tIns="0" rIns="0" bIns="0" rtlCol="0" anchor="t"/>
          <a:lstStyle/>
          <a:p>
            <a:pPr indent="0" marL="0">
              <a:lnSpc>
                <a:spcPct val="112000"/>
              </a:lnSpc>
              <a:buNone/>
            </a:pPr>
            <a:r>
              <a:rPr lang="en-US" sz="1050" dirty="0">
                <a:solidFill>
                  <a:srgbClr val="F2F3F8"/>
                </a:solidFill>
                <a:latin typeface="Arial" pitchFamily="34" charset="0"/>
                <a:ea typeface="Arial" pitchFamily="34" charset="-122"/>
                <a:cs typeface="Arial" pitchFamily="34" charset="-120"/>
              </a:rPr>
              <a:t>head_visible · feet_visible · bbox_coverage · blur_variance</a:t>
            </a:r>
            <a:endParaRPr lang="en-US" sz="1050" dirty="0"/>
          </a:p>
          <a:p>
            <a:pPr indent="0" marL="0">
              <a:lnSpc>
                <a:spcPct val="112000"/>
              </a:lnSpc>
              <a:buNone/>
            </a:pPr>
            <a:r>
              <a:rPr lang="en-US" sz="1050" dirty="0">
                <a:solidFill>
                  <a:srgbClr val="F2F3F8"/>
                </a:solidFill>
                <a:latin typeface="Arial" pitchFamily="34" charset="0"/>
                <a:ea typeface="Arial" pitchFamily="34" charset="-122"/>
                <a:cs typeface="Arial" pitchFamily="34" charset="-120"/>
              </a:rPr>
              <a:t>pose_confidence · beta_variance · lighting · clothing_looseness</a:t>
            </a:r>
            <a:endParaRPr lang="en-US" sz="1050" dirty="0"/>
          </a:p>
        </p:txBody>
      </p:sp>
      <p:sp>
        <p:nvSpPr>
          <p:cNvPr id="11" name="Text 9"/>
          <p:cNvSpPr txBox="1"/>
          <p:nvPr/>
        </p:nvSpPr>
        <p:spPr>
          <a:xfrm>
            <a:off x="6812280" y="2395728"/>
            <a:ext cx="128016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RETURNS</a:t>
            </a:r>
            <a:endParaRPr lang="en-US" sz="850" dirty="0"/>
          </a:p>
        </p:txBody>
      </p:sp>
      <p:sp>
        <p:nvSpPr>
          <p:cNvPr id="12" name="Text 10"/>
          <p:cNvSpPr txBox="1"/>
          <p:nvPr/>
        </p:nvSpPr>
        <p:spPr>
          <a:xfrm>
            <a:off x="8092440" y="2395728"/>
            <a:ext cx="3383280" cy="219456"/>
          </a:xfrm>
          <a:prstGeom prst="rect">
            <a:avLst/>
          </a:prstGeom>
          <a:noFill/>
          <a:ln/>
        </p:spPr>
        <p:txBody>
          <a:bodyPr wrap="square" lIns="0" tIns="0" rIns="0" bIns="0" rtlCol="0" anchor="ctr"/>
          <a:lstStyle/>
          <a:p>
            <a:pPr indent="0" marL="0">
              <a:buNone/>
            </a:pPr>
            <a:r>
              <a:rPr lang="en-US" sz="1050" b="1" dirty="0">
                <a:solidFill>
                  <a:srgbClr val="83B4DE"/>
                </a:solidFill>
                <a:latin typeface="Arial" pitchFamily="34" charset="0"/>
                <a:ea typeface="Arial" pitchFamily="34" charset="-122"/>
                <a:cs typeface="Arial" pitchFamily="34" charset="-120"/>
              </a:rPr>
              <a:t>CaptureAssessment</a:t>
            </a:r>
            <a:endParaRPr lang="en-US" sz="1050" dirty="0"/>
          </a:p>
        </p:txBody>
      </p:sp>
      <p:sp>
        <p:nvSpPr>
          <p:cNvPr id="13" name="Shape 11"/>
          <p:cNvSpPr/>
          <p:nvPr/>
        </p:nvSpPr>
        <p:spPr>
          <a:xfrm>
            <a:off x="502920" y="3108960"/>
            <a:ext cx="11185855" cy="1463040"/>
          </a:xfrm>
          <a:prstGeom prst="roundRect">
            <a:avLst>
              <a:gd name="adj" fmla="val 3750"/>
            </a:avLst>
          </a:prstGeom>
          <a:solidFill>
            <a:srgbClr val="252943"/>
          </a:solidFill>
          <a:ln w="12700">
            <a:solidFill>
              <a:srgbClr val="252943"/>
            </a:solidFill>
            <a:prstDash val="solid"/>
          </a:ln>
        </p:spPr>
      </p:sp>
      <p:sp>
        <p:nvSpPr>
          <p:cNvPr id="14" name="Shape 12"/>
          <p:cNvSpPr/>
          <p:nvPr/>
        </p:nvSpPr>
        <p:spPr>
          <a:xfrm>
            <a:off x="777240" y="3364992"/>
            <a:ext cx="384048" cy="384048"/>
          </a:xfrm>
          <a:prstGeom prst="ellipse">
            <a:avLst/>
          </a:prstGeom>
          <a:solidFill>
            <a:srgbClr val="E0A458"/>
          </a:solidFill>
          <a:ln w="12700">
            <a:solidFill>
              <a:srgbClr val="E0A458"/>
            </a:solidFill>
            <a:prstDash val="solid"/>
          </a:ln>
        </p:spPr>
      </p:sp>
      <p:sp>
        <p:nvSpPr>
          <p:cNvPr id="15" name="Text 13"/>
          <p:cNvSpPr txBox="1"/>
          <p:nvPr/>
        </p:nvSpPr>
        <p:spPr>
          <a:xfrm>
            <a:off x="777240" y="3364992"/>
            <a:ext cx="384048" cy="384048"/>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2</a:t>
            </a:r>
            <a:endParaRPr lang="en-US" sz="1200" dirty="0"/>
          </a:p>
        </p:txBody>
      </p:sp>
      <p:sp>
        <p:nvSpPr>
          <p:cNvPr id="16" name="Text 14"/>
          <p:cNvSpPr txBox="1"/>
          <p:nvPr/>
        </p:nvSpPr>
        <p:spPr>
          <a:xfrm>
            <a:off x="1325880" y="3291840"/>
            <a:ext cx="3840480" cy="310896"/>
          </a:xfrm>
          <a:prstGeom prst="rect">
            <a:avLst/>
          </a:prstGeom>
          <a:noFill/>
          <a:ln/>
        </p:spPr>
        <p:txBody>
          <a:bodyPr wrap="square" lIns="0" tIns="0" rIns="0" bIns="0" rtlCol="0" anchor="ctr"/>
          <a:lstStyle/>
          <a:p>
            <a:pPr indent="0" marL="0">
              <a:buNone/>
            </a:pPr>
            <a:r>
              <a:rPr lang="en-US" sz="1700" b="1" dirty="0">
                <a:solidFill>
                  <a:srgbClr val="E0A458"/>
                </a:solidFill>
                <a:latin typeface="Arial" pitchFamily="34" charset="0"/>
                <a:ea typeface="Arial" pitchFamily="34" charset="-122"/>
                <a:cs typeface="Arial" pitchFamily="34" charset="-120"/>
              </a:rPr>
              <a:t>Anthropometric Validator</a:t>
            </a:r>
            <a:endParaRPr lang="en-US" sz="1700" dirty="0"/>
          </a:p>
        </p:txBody>
      </p:sp>
      <p:sp>
        <p:nvSpPr>
          <p:cNvPr id="17" name="Text 15"/>
          <p:cNvSpPr txBox="1"/>
          <p:nvPr/>
        </p:nvSpPr>
        <p:spPr>
          <a:xfrm>
            <a:off x="1325880" y="3621024"/>
            <a:ext cx="5120640" cy="786384"/>
          </a:xfrm>
          <a:prstGeom prst="rect">
            <a:avLst/>
          </a:prstGeom>
          <a:noFill/>
          <a:ln/>
        </p:spPr>
        <p:txBody>
          <a:bodyPr wrap="square" lIns="0" tIns="0" rIns="0" bIns="0" rtlCol="0" anchor="t"/>
          <a:lstStyle/>
          <a:p>
            <a:pPr indent="0" marL="0">
              <a:lnSpc>
                <a:spcPct val="116000"/>
              </a:lnSpc>
              <a:buNone/>
            </a:pPr>
            <a:r>
              <a:rPr lang="en-US" sz="1150" dirty="0">
                <a:solidFill>
                  <a:srgbClr val="9BA1C1"/>
                </a:solidFill>
                <a:latin typeface="Arial" pitchFamily="34" charset="0"/>
                <a:ea typeface="Arial" pitchFamily="34" charset="-122"/>
                <a:cs typeface="Arial" pitchFamily="34" charset="-120"/>
              </a:rPr>
              <a:t>Implausibility has several causes — bad scale, loose clothing, a mis-fitted mesh — and the right remedy differs per cause.</a:t>
            </a:r>
            <a:endParaRPr lang="en-US" sz="1150" dirty="0"/>
          </a:p>
        </p:txBody>
      </p:sp>
      <p:sp>
        <p:nvSpPr>
          <p:cNvPr id="18" name="Text 16"/>
          <p:cNvSpPr txBox="1"/>
          <p:nvPr/>
        </p:nvSpPr>
        <p:spPr>
          <a:xfrm>
            <a:off x="6812280" y="3291840"/>
            <a:ext cx="109728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TOOLS</a:t>
            </a:r>
            <a:endParaRPr lang="en-US" sz="850" dirty="0"/>
          </a:p>
        </p:txBody>
      </p:sp>
      <p:sp>
        <p:nvSpPr>
          <p:cNvPr id="19" name="Text 17"/>
          <p:cNvSpPr txBox="1"/>
          <p:nvPr/>
        </p:nvSpPr>
        <p:spPr>
          <a:xfrm>
            <a:off x="6812280" y="3511296"/>
            <a:ext cx="4663440" cy="475488"/>
          </a:xfrm>
          <a:prstGeom prst="rect">
            <a:avLst/>
          </a:prstGeom>
          <a:noFill/>
          <a:ln/>
        </p:spPr>
        <p:txBody>
          <a:bodyPr wrap="square" lIns="0" tIns="0" rIns="0" bIns="0" rtlCol="0" anchor="t"/>
          <a:lstStyle/>
          <a:p>
            <a:pPr indent="0" marL="0">
              <a:lnSpc>
                <a:spcPct val="112000"/>
              </a:lnSpc>
              <a:buNone/>
            </a:pPr>
            <a:r>
              <a:rPr lang="en-US" sz="1050" dirty="0">
                <a:solidFill>
                  <a:srgbClr val="F2F3F8"/>
                </a:solidFill>
                <a:latin typeface="Arial" pitchFamily="34" charset="0"/>
                <a:ea typeface="Arial" pitchFamily="34" charset="-122"/>
                <a:cs typeface="Arial" pitchFamily="34" charset="-120"/>
              </a:rPr>
              <a:t>mahalanobis_vs_ansur · marginal_percentile</a:t>
            </a:r>
            <a:endParaRPr lang="en-US" sz="1050" dirty="0"/>
          </a:p>
          <a:p>
            <a:pPr indent="0" marL="0">
              <a:lnSpc>
                <a:spcPct val="112000"/>
              </a:lnSpc>
              <a:buNone/>
            </a:pPr>
            <a:r>
              <a:rPr lang="en-US" sz="1050" dirty="0">
                <a:solidFill>
                  <a:srgbClr val="F2F3F8"/>
                </a:solidFill>
                <a:latin typeface="Arial" pitchFamily="34" charset="0"/>
                <a:ea typeface="Arial" pitchFamily="34" charset="-122"/>
                <a:cs typeface="Arial" pitchFamily="34" charset="-120"/>
              </a:rPr>
              <a:t>ratio_checks · recompute_with_scale</a:t>
            </a:r>
            <a:endParaRPr lang="en-US" sz="1050" dirty="0"/>
          </a:p>
        </p:txBody>
      </p:sp>
      <p:sp>
        <p:nvSpPr>
          <p:cNvPr id="20" name="Text 18"/>
          <p:cNvSpPr txBox="1"/>
          <p:nvPr/>
        </p:nvSpPr>
        <p:spPr>
          <a:xfrm>
            <a:off x="6812280" y="4023360"/>
            <a:ext cx="128016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RETURNS</a:t>
            </a:r>
            <a:endParaRPr lang="en-US" sz="850" dirty="0"/>
          </a:p>
        </p:txBody>
      </p:sp>
      <p:sp>
        <p:nvSpPr>
          <p:cNvPr id="21" name="Text 19"/>
          <p:cNvSpPr txBox="1"/>
          <p:nvPr/>
        </p:nvSpPr>
        <p:spPr>
          <a:xfrm>
            <a:off x="8092440" y="4023360"/>
            <a:ext cx="3383280" cy="219456"/>
          </a:xfrm>
          <a:prstGeom prst="rect">
            <a:avLst/>
          </a:prstGeom>
          <a:noFill/>
          <a:ln/>
        </p:spPr>
        <p:txBody>
          <a:bodyPr wrap="square" lIns="0" tIns="0" rIns="0" bIns="0" rtlCol="0" anchor="ctr"/>
          <a:lstStyle/>
          <a:p>
            <a:pPr indent="0" marL="0">
              <a:buNone/>
            </a:pPr>
            <a:r>
              <a:rPr lang="en-US" sz="1050" b="1" dirty="0">
                <a:solidFill>
                  <a:srgbClr val="83B4DE"/>
                </a:solidFill>
                <a:latin typeface="Arial" pitchFamily="34" charset="0"/>
                <a:ea typeface="Arial" pitchFamily="34" charset="-122"/>
                <a:cs typeface="Arial" pitchFamily="34" charset="-120"/>
              </a:rPr>
              <a:t>ValidationVerdict</a:t>
            </a:r>
            <a:endParaRPr lang="en-US" sz="1050" dirty="0"/>
          </a:p>
        </p:txBody>
      </p:sp>
      <p:sp>
        <p:nvSpPr>
          <p:cNvPr id="22" name="Shape 20"/>
          <p:cNvSpPr/>
          <p:nvPr/>
        </p:nvSpPr>
        <p:spPr>
          <a:xfrm>
            <a:off x="502920" y="4736592"/>
            <a:ext cx="11185855" cy="1463040"/>
          </a:xfrm>
          <a:prstGeom prst="roundRect">
            <a:avLst>
              <a:gd name="adj" fmla="val 3750"/>
            </a:avLst>
          </a:prstGeom>
          <a:solidFill>
            <a:srgbClr val="252943"/>
          </a:solidFill>
          <a:ln w="12700">
            <a:solidFill>
              <a:srgbClr val="252943"/>
            </a:solidFill>
            <a:prstDash val="solid"/>
          </a:ln>
        </p:spPr>
      </p:sp>
      <p:sp>
        <p:nvSpPr>
          <p:cNvPr id="23" name="Shape 21"/>
          <p:cNvSpPr/>
          <p:nvPr/>
        </p:nvSpPr>
        <p:spPr>
          <a:xfrm>
            <a:off x="777240" y="4992624"/>
            <a:ext cx="384048" cy="384048"/>
          </a:xfrm>
          <a:prstGeom prst="ellipse">
            <a:avLst/>
          </a:prstGeom>
          <a:solidFill>
            <a:srgbClr val="E0A458"/>
          </a:solidFill>
          <a:ln w="12700">
            <a:solidFill>
              <a:srgbClr val="E0A458"/>
            </a:solidFill>
            <a:prstDash val="solid"/>
          </a:ln>
        </p:spPr>
      </p:sp>
      <p:sp>
        <p:nvSpPr>
          <p:cNvPr id="24" name="Text 22"/>
          <p:cNvSpPr txBox="1"/>
          <p:nvPr/>
        </p:nvSpPr>
        <p:spPr>
          <a:xfrm>
            <a:off x="777240" y="4992624"/>
            <a:ext cx="384048" cy="384048"/>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3</a:t>
            </a:r>
            <a:endParaRPr lang="en-US" sz="1200" dirty="0"/>
          </a:p>
        </p:txBody>
      </p:sp>
      <p:sp>
        <p:nvSpPr>
          <p:cNvPr id="25" name="Text 23"/>
          <p:cNvSpPr txBox="1"/>
          <p:nvPr/>
        </p:nvSpPr>
        <p:spPr>
          <a:xfrm>
            <a:off x="1325880" y="4919472"/>
            <a:ext cx="3840480" cy="310896"/>
          </a:xfrm>
          <a:prstGeom prst="rect">
            <a:avLst/>
          </a:prstGeom>
          <a:noFill/>
          <a:ln/>
        </p:spPr>
        <p:txBody>
          <a:bodyPr wrap="square" lIns="0" tIns="0" rIns="0" bIns="0" rtlCol="0" anchor="ctr"/>
          <a:lstStyle/>
          <a:p>
            <a:pPr indent="0" marL="0">
              <a:buNone/>
            </a:pPr>
            <a:r>
              <a:rPr lang="en-US" sz="1700" b="1" dirty="0">
                <a:solidFill>
                  <a:srgbClr val="E0A458"/>
                </a:solidFill>
                <a:latin typeface="Arial" pitchFamily="34" charset="0"/>
                <a:ea typeface="Arial" pitchFamily="34" charset="-122"/>
                <a:cs typeface="Arial" pitchFamily="34" charset="-120"/>
              </a:rPr>
              <a:t>Catalog Ingestor</a:t>
            </a:r>
            <a:endParaRPr lang="en-US" sz="1700" dirty="0"/>
          </a:p>
        </p:txBody>
      </p:sp>
      <p:sp>
        <p:nvSpPr>
          <p:cNvPr id="26" name="Text 24"/>
          <p:cNvSpPr txBox="1"/>
          <p:nvPr/>
        </p:nvSpPr>
        <p:spPr>
          <a:xfrm>
            <a:off x="1325880" y="5248656"/>
            <a:ext cx="5120640" cy="786384"/>
          </a:xfrm>
          <a:prstGeom prst="rect">
            <a:avLst/>
          </a:prstGeom>
          <a:noFill/>
          <a:ln/>
        </p:spPr>
        <p:txBody>
          <a:bodyPr wrap="square" lIns="0" tIns="0" rIns="0" bIns="0" rtlCol="0" anchor="t"/>
          <a:lstStyle/>
          <a:p>
            <a:pPr indent="0" marL="0">
              <a:lnSpc>
                <a:spcPct val="116000"/>
              </a:lnSpc>
              <a:buNone/>
            </a:pPr>
            <a:r>
              <a:rPr lang="en-US" sz="1150" dirty="0">
                <a:solidFill>
                  <a:srgbClr val="9BA1C1"/>
                </a:solidFill>
                <a:latin typeface="Arial" pitchFamily="34" charset="0"/>
                <a:ea typeface="Arial" pitchFamily="34" charset="-122"/>
                <a:cs typeface="Arial" pitchFamily="34" charset="-120"/>
              </a:rPr>
              <a:t>The canonical agentic task: heterogeneous HTML, PDFs and images, incompatible conventions, and one classification — body or flat measurements — that decides whether every recommendation downstream is right.</a:t>
            </a:r>
            <a:endParaRPr lang="en-US" sz="1150" dirty="0"/>
          </a:p>
        </p:txBody>
      </p:sp>
      <p:sp>
        <p:nvSpPr>
          <p:cNvPr id="27" name="Text 25"/>
          <p:cNvSpPr txBox="1"/>
          <p:nvPr/>
        </p:nvSpPr>
        <p:spPr>
          <a:xfrm>
            <a:off x="6812280" y="4919472"/>
            <a:ext cx="109728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TOOLS</a:t>
            </a:r>
            <a:endParaRPr lang="en-US" sz="850" dirty="0"/>
          </a:p>
        </p:txBody>
      </p:sp>
      <p:sp>
        <p:nvSpPr>
          <p:cNvPr id="28" name="Text 26"/>
          <p:cNvSpPr txBox="1"/>
          <p:nvPr/>
        </p:nvSpPr>
        <p:spPr>
          <a:xfrm>
            <a:off x="6812280" y="5138928"/>
            <a:ext cx="4663440" cy="475488"/>
          </a:xfrm>
          <a:prstGeom prst="rect">
            <a:avLst/>
          </a:prstGeom>
          <a:noFill/>
          <a:ln/>
        </p:spPr>
        <p:txBody>
          <a:bodyPr wrap="square" lIns="0" tIns="0" rIns="0" bIns="0" rtlCol="0" anchor="t"/>
          <a:lstStyle/>
          <a:p>
            <a:pPr indent="0" marL="0">
              <a:lnSpc>
                <a:spcPct val="112000"/>
              </a:lnSpc>
              <a:buNone/>
            </a:pPr>
            <a:r>
              <a:rPr lang="en-US" sz="1050" dirty="0">
                <a:solidFill>
                  <a:srgbClr val="F2F3F8"/>
                </a:solidFill>
                <a:latin typeface="Arial" pitchFamily="34" charset="0"/>
                <a:ea typeface="Arial" pitchFamily="34" charset="-122"/>
                <a:cs typeface="Arial" pitchFamily="34" charset="-120"/>
              </a:rPr>
              <a:t>fetch_page · html_to_text · ocr_image · convert_units</a:t>
            </a:r>
            <a:endParaRPr lang="en-US" sz="1050" dirty="0"/>
          </a:p>
          <a:p>
            <a:pPr indent="0" marL="0">
              <a:lnSpc>
                <a:spcPct val="112000"/>
              </a:lnSpc>
              <a:buNone/>
            </a:pPr>
            <a:r>
              <a:rPr lang="en-US" sz="1050" dirty="0">
                <a:solidFill>
                  <a:srgbClr val="F2F3F8"/>
                </a:solidFill>
                <a:latin typeface="Arial" pitchFamily="34" charset="0"/>
                <a:ea typeface="Arial" pitchFamily="34" charset="-122"/>
                <a:cs typeface="Arial" pitchFamily="34" charset="-120"/>
              </a:rPr>
              <a:t>lookup_existing_chart · validate_schema · write_garment_size</a:t>
            </a:r>
            <a:endParaRPr lang="en-US" sz="1050" dirty="0"/>
          </a:p>
        </p:txBody>
      </p:sp>
      <p:sp>
        <p:nvSpPr>
          <p:cNvPr id="29" name="Text 27"/>
          <p:cNvSpPr txBox="1"/>
          <p:nvPr/>
        </p:nvSpPr>
        <p:spPr>
          <a:xfrm>
            <a:off x="6812280" y="5650992"/>
            <a:ext cx="128016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RETURNS</a:t>
            </a:r>
            <a:endParaRPr lang="en-US" sz="850" dirty="0"/>
          </a:p>
        </p:txBody>
      </p:sp>
      <p:sp>
        <p:nvSpPr>
          <p:cNvPr id="30" name="Text 28"/>
          <p:cNvSpPr txBox="1"/>
          <p:nvPr/>
        </p:nvSpPr>
        <p:spPr>
          <a:xfrm>
            <a:off x="8092440" y="5650992"/>
            <a:ext cx="3383280" cy="219456"/>
          </a:xfrm>
          <a:prstGeom prst="rect">
            <a:avLst/>
          </a:prstGeom>
          <a:noFill/>
          <a:ln/>
        </p:spPr>
        <p:txBody>
          <a:bodyPr wrap="square" lIns="0" tIns="0" rIns="0" bIns="0" rtlCol="0" anchor="ctr"/>
          <a:lstStyle/>
          <a:p>
            <a:pPr indent="0" marL="0">
              <a:buNone/>
            </a:pPr>
            <a:r>
              <a:rPr lang="en-US" sz="1050" b="1" dirty="0">
                <a:solidFill>
                  <a:srgbClr val="83B4DE"/>
                </a:solidFill>
                <a:latin typeface="Arial" pitchFamily="34" charset="0"/>
                <a:ea typeface="Arial" pitchFamily="34" charset="-122"/>
                <a:cs typeface="Arial" pitchFamily="34" charset="-120"/>
              </a:rPr>
              <a:t>SizeChartExtraction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AGENT REGISTER</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Advise, label, gate</a:t>
            </a:r>
            <a:endParaRPr lang="en-US" sz="3000" dirty="0"/>
          </a:p>
        </p:txBody>
      </p:sp>
      <p:sp>
        <p:nvSpPr>
          <p:cNvPr id="4" name="Shape 2"/>
          <p:cNvSpPr/>
          <p:nvPr/>
        </p:nvSpPr>
        <p:spPr>
          <a:xfrm>
            <a:off x="502920" y="1481328"/>
            <a:ext cx="11185855" cy="1463040"/>
          </a:xfrm>
          <a:prstGeom prst="roundRect">
            <a:avLst>
              <a:gd name="adj" fmla="val 3750"/>
            </a:avLst>
          </a:prstGeom>
          <a:solidFill>
            <a:srgbClr val="252943"/>
          </a:solidFill>
          <a:ln w="12700">
            <a:solidFill>
              <a:srgbClr val="252943"/>
            </a:solidFill>
            <a:prstDash val="solid"/>
          </a:ln>
        </p:spPr>
      </p:sp>
      <p:sp>
        <p:nvSpPr>
          <p:cNvPr id="5" name="Shape 3"/>
          <p:cNvSpPr/>
          <p:nvPr/>
        </p:nvSpPr>
        <p:spPr>
          <a:xfrm>
            <a:off x="777240" y="1737360"/>
            <a:ext cx="384048" cy="384048"/>
          </a:xfrm>
          <a:prstGeom prst="ellipse">
            <a:avLst/>
          </a:prstGeom>
          <a:solidFill>
            <a:srgbClr val="E0A458"/>
          </a:solidFill>
          <a:ln w="12700">
            <a:solidFill>
              <a:srgbClr val="E0A458"/>
            </a:solidFill>
            <a:prstDash val="solid"/>
          </a:ln>
        </p:spPr>
      </p:sp>
      <p:sp>
        <p:nvSpPr>
          <p:cNvPr id="6" name="Text 4"/>
          <p:cNvSpPr txBox="1"/>
          <p:nvPr/>
        </p:nvSpPr>
        <p:spPr>
          <a:xfrm>
            <a:off x="777240" y="1737360"/>
            <a:ext cx="384048" cy="384048"/>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4</a:t>
            </a:r>
            <a:endParaRPr lang="en-US" sz="1200" dirty="0"/>
          </a:p>
        </p:txBody>
      </p:sp>
      <p:sp>
        <p:nvSpPr>
          <p:cNvPr id="7" name="Text 5"/>
          <p:cNvSpPr txBox="1"/>
          <p:nvPr/>
        </p:nvSpPr>
        <p:spPr>
          <a:xfrm>
            <a:off x="1325880" y="1664208"/>
            <a:ext cx="3840480" cy="310896"/>
          </a:xfrm>
          <a:prstGeom prst="rect">
            <a:avLst/>
          </a:prstGeom>
          <a:noFill/>
          <a:ln/>
        </p:spPr>
        <p:txBody>
          <a:bodyPr wrap="square" lIns="0" tIns="0" rIns="0" bIns="0" rtlCol="0" anchor="ctr"/>
          <a:lstStyle/>
          <a:p>
            <a:pPr indent="0" marL="0">
              <a:buNone/>
            </a:pPr>
            <a:r>
              <a:rPr lang="en-US" sz="1700" b="1" dirty="0">
                <a:solidFill>
                  <a:srgbClr val="E0A458"/>
                </a:solidFill>
                <a:latin typeface="Arial" pitchFamily="34" charset="0"/>
                <a:ea typeface="Arial" pitchFamily="34" charset="-122"/>
                <a:cs typeface="Arial" pitchFamily="34" charset="-120"/>
              </a:rPr>
              <a:t>Fit Advisor</a:t>
            </a:r>
            <a:endParaRPr lang="en-US" sz="1700" dirty="0"/>
          </a:p>
        </p:txBody>
      </p:sp>
      <p:sp>
        <p:nvSpPr>
          <p:cNvPr id="8" name="Text 6"/>
          <p:cNvSpPr txBox="1"/>
          <p:nvPr/>
        </p:nvSpPr>
        <p:spPr>
          <a:xfrm>
            <a:off x="1325880" y="1993392"/>
            <a:ext cx="5120640" cy="786384"/>
          </a:xfrm>
          <a:prstGeom prst="rect">
            <a:avLst/>
          </a:prstGeom>
          <a:noFill/>
          <a:ln/>
        </p:spPr>
        <p:txBody>
          <a:bodyPr wrap="square" lIns="0" tIns="0" rIns="0" bIns="0" rtlCol="0" anchor="t"/>
          <a:lstStyle/>
          <a:p>
            <a:pPr indent="0" marL="0">
              <a:lnSpc>
                <a:spcPct val="116000"/>
              </a:lnSpc>
              <a:buNone/>
            </a:pPr>
            <a:r>
              <a:rPr lang="en-US" sz="1150" dirty="0">
                <a:solidFill>
                  <a:srgbClr val="9BA1C1"/>
                </a:solidFill>
                <a:latin typeface="Arial" pitchFamily="34" charset="0"/>
                <a:ea typeface="Arial" pitchFamily="34" charset="-122"/>
                <a:cs typeface="Arial" pitchFamily="34" charset="-120"/>
              </a:rPr>
              <a:t>Generation and multi-turn follow-up are language tasks. Choosing the size is not — so it calls the engine as a tool and explains what came back.</a:t>
            </a:r>
            <a:endParaRPr lang="en-US" sz="1150" dirty="0"/>
          </a:p>
        </p:txBody>
      </p:sp>
      <p:sp>
        <p:nvSpPr>
          <p:cNvPr id="9" name="Text 7"/>
          <p:cNvSpPr txBox="1"/>
          <p:nvPr/>
        </p:nvSpPr>
        <p:spPr>
          <a:xfrm>
            <a:off x="6812280" y="1664208"/>
            <a:ext cx="109728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TOOLS</a:t>
            </a:r>
            <a:endParaRPr lang="en-US" sz="850" dirty="0"/>
          </a:p>
        </p:txBody>
      </p:sp>
      <p:sp>
        <p:nvSpPr>
          <p:cNvPr id="10" name="Text 8"/>
          <p:cNvSpPr txBox="1"/>
          <p:nvPr/>
        </p:nvSpPr>
        <p:spPr>
          <a:xfrm>
            <a:off x="6812280" y="1883664"/>
            <a:ext cx="4663440" cy="475488"/>
          </a:xfrm>
          <a:prstGeom prst="rect">
            <a:avLst/>
          </a:prstGeom>
          <a:noFill/>
          <a:ln/>
        </p:spPr>
        <p:txBody>
          <a:bodyPr wrap="square" lIns="0" tIns="0" rIns="0" bIns="0" rtlCol="0" anchor="t"/>
          <a:lstStyle/>
          <a:p>
            <a:pPr indent="0" marL="0">
              <a:lnSpc>
                <a:spcPct val="112000"/>
              </a:lnSpc>
              <a:buNone/>
            </a:pPr>
            <a:r>
              <a:rPr lang="en-US" sz="1050" dirty="0">
                <a:solidFill>
                  <a:srgbClr val="F2F3F8"/>
                </a:solidFill>
                <a:latin typeface="Arial" pitchFamily="34" charset="0"/>
                <a:ea typeface="Arial" pitchFamily="34" charset="-122"/>
                <a:cs typeface="Arial" pitchFamily="34" charset="-120"/>
              </a:rPr>
              <a:t>run_fit_engine · get_body_profile</a:t>
            </a:r>
            <a:endParaRPr lang="en-US" sz="1050" dirty="0"/>
          </a:p>
          <a:p>
            <a:pPr indent="0" marL="0">
              <a:lnSpc>
                <a:spcPct val="112000"/>
              </a:lnSpc>
              <a:buNone/>
            </a:pPr>
            <a:r>
              <a:rPr lang="en-US" sz="1050" dirty="0">
                <a:solidFill>
                  <a:srgbClr val="F2F3F8"/>
                </a:solidFill>
                <a:latin typeface="Arial" pitchFamily="34" charset="0"/>
                <a:ea typeface="Arial" pitchFamily="34" charset="-122"/>
                <a:cs typeface="Arial" pitchFamily="34" charset="-120"/>
              </a:rPr>
              <a:t>retrieve_brand_notes · simulate_alternative</a:t>
            </a:r>
            <a:endParaRPr lang="en-US" sz="1050" dirty="0"/>
          </a:p>
        </p:txBody>
      </p:sp>
      <p:sp>
        <p:nvSpPr>
          <p:cNvPr id="11" name="Text 9"/>
          <p:cNvSpPr txBox="1"/>
          <p:nvPr/>
        </p:nvSpPr>
        <p:spPr>
          <a:xfrm>
            <a:off x="6812280" y="2395728"/>
            <a:ext cx="128016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RETURNS</a:t>
            </a:r>
            <a:endParaRPr lang="en-US" sz="850" dirty="0"/>
          </a:p>
        </p:txBody>
      </p:sp>
      <p:sp>
        <p:nvSpPr>
          <p:cNvPr id="12" name="Text 10"/>
          <p:cNvSpPr txBox="1"/>
          <p:nvPr/>
        </p:nvSpPr>
        <p:spPr>
          <a:xfrm>
            <a:off x="8092440" y="2395728"/>
            <a:ext cx="3383280" cy="219456"/>
          </a:xfrm>
          <a:prstGeom prst="rect">
            <a:avLst/>
          </a:prstGeom>
          <a:noFill/>
          <a:ln/>
        </p:spPr>
        <p:txBody>
          <a:bodyPr wrap="square" lIns="0" tIns="0" rIns="0" bIns="0" rtlCol="0" anchor="ctr"/>
          <a:lstStyle/>
          <a:p>
            <a:pPr indent="0" marL="0">
              <a:buNone/>
            </a:pPr>
            <a:r>
              <a:rPr lang="en-US" sz="1050" b="1" dirty="0">
                <a:solidFill>
                  <a:srgbClr val="83B4DE"/>
                </a:solidFill>
                <a:latin typeface="Arial" pitchFamily="34" charset="0"/>
                <a:ea typeface="Arial" pitchFamily="34" charset="-122"/>
                <a:cs typeface="Arial" pitchFamily="34" charset="-120"/>
              </a:rPr>
              <a:t>FitExplanation</a:t>
            </a:r>
            <a:endParaRPr lang="en-US" sz="1050" dirty="0"/>
          </a:p>
        </p:txBody>
      </p:sp>
      <p:sp>
        <p:nvSpPr>
          <p:cNvPr id="13" name="Shape 11"/>
          <p:cNvSpPr/>
          <p:nvPr/>
        </p:nvSpPr>
        <p:spPr>
          <a:xfrm>
            <a:off x="502920" y="3108960"/>
            <a:ext cx="11185855" cy="1463040"/>
          </a:xfrm>
          <a:prstGeom prst="roundRect">
            <a:avLst>
              <a:gd name="adj" fmla="val 3750"/>
            </a:avLst>
          </a:prstGeom>
          <a:solidFill>
            <a:srgbClr val="252943"/>
          </a:solidFill>
          <a:ln w="12700">
            <a:solidFill>
              <a:srgbClr val="252943"/>
            </a:solidFill>
            <a:prstDash val="solid"/>
          </a:ln>
        </p:spPr>
      </p:sp>
      <p:sp>
        <p:nvSpPr>
          <p:cNvPr id="14" name="Shape 12"/>
          <p:cNvSpPr/>
          <p:nvPr/>
        </p:nvSpPr>
        <p:spPr>
          <a:xfrm>
            <a:off x="777240" y="3364992"/>
            <a:ext cx="384048" cy="384048"/>
          </a:xfrm>
          <a:prstGeom prst="ellipse">
            <a:avLst/>
          </a:prstGeom>
          <a:solidFill>
            <a:srgbClr val="E0A458"/>
          </a:solidFill>
          <a:ln w="12700">
            <a:solidFill>
              <a:srgbClr val="E0A458"/>
            </a:solidFill>
            <a:prstDash val="solid"/>
          </a:ln>
        </p:spPr>
      </p:sp>
      <p:sp>
        <p:nvSpPr>
          <p:cNvPr id="15" name="Text 13"/>
          <p:cNvSpPr txBox="1"/>
          <p:nvPr/>
        </p:nvSpPr>
        <p:spPr>
          <a:xfrm>
            <a:off x="777240" y="3364992"/>
            <a:ext cx="384048" cy="384048"/>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5</a:t>
            </a:r>
            <a:endParaRPr lang="en-US" sz="1200" dirty="0"/>
          </a:p>
        </p:txBody>
      </p:sp>
      <p:sp>
        <p:nvSpPr>
          <p:cNvPr id="16" name="Text 14"/>
          <p:cNvSpPr txBox="1"/>
          <p:nvPr/>
        </p:nvSpPr>
        <p:spPr>
          <a:xfrm>
            <a:off x="1325880" y="3291840"/>
            <a:ext cx="3840480" cy="310896"/>
          </a:xfrm>
          <a:prstGeom prst="rect">
            <a:avLst/>
          </a:prstGeom>
          <a:noFill/>
          <a:ln/>
        </p:spPr>
        <p:txBody>
          <a:bodyPr wrap="square" lIns="0" tIns="0" rIns="0" bIns="0" rtlCol="0" anchor="ctr"/>
          <a:lstStyle/>
          <a:p>
            <a:pPr indent="0" marL="0">
              <a:buNone/>
            </a:pPr>
            <a:r>
              <a:rPr lang="en-US" sz="1700" b="1" dirty="0">
                <a:solidFill>
                  <a:srgbClr val="E0A458"/>
                </a:solidFill>
                <a:latin typeface="Arial" pitchFamily="34" charset="0"/>
                <a:ea typeface="Arial" pitchFamily="34" charset="-122"/>
                <a:cs typeface="Arial" pitchFamily="34" charset="-120"/>
              </a:rPr>
              <a:t>Return Analyst</a:t>
            </a:r>
            <a:endParaRPr lang="en-US" sz="1700" dirty="0"/>
          </a:p>
        </p:txBody>
      </p:sp>
      <p:sp>
        <p:nvSpPr>
          <p:cNvPr id="17" name="Text 15"/>
          <p:cNvSpPr txBox="1"/>
          <p:nvPr/>
        </p:nvSpPr>
        <p:spPr>
          <a:xfrm>
            <a:off x="1325880" y="3621024"/>
            <a:ext cx="5120640" cy="786384"/>
          </a:xfrm>
          <a:prstGeom prst="rect">
            <a:avLst/>
          </a:prstGeom>
          <a:noFill/>
          <a:ln/>
        </p:spPr>
        <p:txBody>
          <a:bodyPr wrap="square" lIns="0" tIns="0" rIns="0" bIns="0" rtlCol="0" anchor="t"/>
          <a:lstStyle/>
          <a:p>
            <a:pPr indent="0" marL="0">
              <a:lnSpc>
                <a:spcPct val="116000"/>
              </a:lnSpc>
              <a:buNone/>
            </a:pPr>
            <a:r>
              <a:rPr lang="en-US" sz="1150" dirty="0">
                <a:solidFill>
                  <a:srgbClr val="9BA1C1"/>
                </a:solidFill>
                <a:latin typeface="Arial" pitchFamily="34" charset="0"/>
                <a:ea typeface="Arial" pitchFamily="34" charset="-122"/>
                <a:cs typeface="Arial" pitchFamily="34" charset="-120"/>
              </a:rPr>
              <a:t>Free-text complaints carry the label the learning loop needs. Mapping them onto the engine's own landmarks is judgement work with real ambiguity.</a:t>
            </a:r>
            <a:endParaRPr lang="en-US" sz="1150" dirty="0"/>
          </a:p>
        </p:txBody>
      </p:sp>
      <p:sp>
        <p:nvSpPr>
          <p:cNvPr id="18" name="Text 16"/>
          <p:cNvSpPr txBox="1"/>
          <p:nvPr/>
        </p:nvSpPr>
        <p:spPr>
          <a:xfrm>
            <a:off x="6812280" y="3291840"/>
            <a:ext cx="109728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TOOLS</a:t>
            </a:r>
            <a:endParaRPr lang="en-US" sz="850" dirty="0"/>
          </a:p>
        </p:txBody>
      </p:sp>
      <p:sp>
        <p:nvSpPr>
          <p:cNvPr id="19" name="Text 17"/>
          <p:cNvSpPr txBox="1"/>
          <p:nvPr/>
        </p:nvSpPr>
        <p:spPr>
          <a:xfrm>
            <a:off x="6812280" y="3511296"/>
            <a:ext cx="4663440" cy="475488"/>
          </a:xfrm>
          <a:prstGeom prst="rect">
            <a:avLst/>
          </a:prstGeom>
          <a:noFill/>
          <a:ln/>
        </p:spPr>
        <p:txBody>
          <a:bodyPr wrap="square" lIns="0" tIns="0" rIns="0" bIns="0" rtlCol="0" anchor="t"/>
          <a:lstStyle/>
          <a:p>
            <a:pPr indent="0" marL="0">
              <a:lnSpc>
                <a:spcPct val="112000"/>
              </a:lnSpc>
              <a:buNone/>
            </a:pPr>
            <a:r>
              <a:rPr lang="en-US" sz="1050" dirty="0">
                <a:solidFill>
                  <a:srgbClr val="F2F3F8"/>
                </a:solidFill>
                <a:latin typeface="Arial" pitchFamily="34" charset="0"/>
                <a:ea typeface="Arial" pitchFamily="34" charset="-122"/>
                <a:cs typeface="Arial" pitchFamily="34" charset="-120"/>
              </a:rPr>
              <a:t>landmark_taxonomy · write_return_signal</a:t>
            </a:r>
            <a:endParaRPr lang="en-US" sz="1050" dirty="0"/>
          </a:p>
          <a:p>
            <a:pPr indent="0" marL="0">
              <a:lnSpc>
                <a:spcPct val="112000"/>
              </a:lnSpc>
              <a:buNone/>
            </a:pPr>
            <a:r>
              <a:rPr lang="en-US" sz="1050" dirty="0">
                <a:solidFill>
                  <a:srgbClr val="F2F3F8"/>
                </a:solidFill>
                <a:latin typeface="Arial" pitchFamily="34" charset="0"/>
                <a:ea typeface="Arial" pitchFamily="34" charset="-122"/>
                <a:cs typeface="Arial" pitchFamily="34" charset="-120"/>
              </a:rPr>
              <a:t>trained on hand-labelled RentTheRunway and ModCloth reviews</a:t>
            </a:r>
            <a:endParaRPr lang="en-US" sz="1050" dirty="0"/>
          </a:p>
        </p:txBody>
      </p:sp>
      <p:sp>
        <p:nvSpPr>
          <p:cNvPr id="20" name="Text 18"/>
          <p:cNvSpPr txBox="1"/>
          <p:nvPr/>
        </p:nvSpPr>
        <p:spPr>
          <a:xfrm>
            <a:off x="6812280" y="4023360"/>
            <a:ext cx="128016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RETURNS</a:t>
            </a:r>
            <a:endParaRPr lang="en-US" sz="850" dirty="0"/>
          </a:p>
        </p:txBody>
      </p:sp>
      <p:sp>
        <p:nvSpPr>
          <p:cNvPr id="21" name="Text 19"/>
          <p:cNvSpPr txBox="1"/>
          <p:nvPr/>
        </p:nvSpPr>
        <p:spPr>
          <a:xfrm>
            <a:off x="8092440" y="4023360"/>
            <a:ext cx="3383280" cy="219456"/>
          </a:xfrm>
          <a:prstGeom prst="rect">
            <a:avLst/>
          </a:prstGeom>
          <a:noFill/>
          <a:ln/>
        </p:spPr>
        <p:txBody>
          <a:bodyPr wrap="square" lIns="0" tIns="0" rIns="0" bIns="0" rtlCol="0" anchor="ctr"/>
          <a:lstStyle/>
          <a:p>
            <a:pPr indent="0" marL="0">
              <a:buNone/>
            </a:pPr>
            <a:r>
              <a:rPr lang="en-US" sz="1050" b="1" dirty="0">
                <a:solidFill>
                  <a:srgbClr val="83B4DE"/>
                </a:solidFill>
                <a:latin typeface="Arial" pitchFamily="34" charset="0"/>
                <a:ea typeface="Arial" pitchFamily="34" charset="-122"/>
                <a:cs typeface="Arial" pitchFamily="34" charset="-120"/>
              </a:rPr>
              <a:t>ReturnSignal</a:t>
            </a:r>
            <a:endParaRPr lang="en-US" sz="1050" dirty="0"/>
          </a:p>
        </p:txBody>
      </p:sp>
      <p:sp>
        <p:nvSpPr>
          <p:cNvPr id="22" name="Shape 20"/>
          <p:cNvSpPr/>
          <p:nvPr/>
        </p:nvSpPr>
        <p:spPr>
          <a:xfrm>
            <a:off x="502920" y="4736592"/>
            <a:ext cx="11185855" cy="1463040"/>
          </a:xfrm>
          <a:prstGeom prst="roundRect">
            <a:avLst>
              <a:gd name="adj" fmla="val 3750"/>
            </a:avLst>
          </a:prstGeom>
          <a:solidFill>
            <a:srgbClr val="252943"/>
          </a:solidFill>
          <a:ln w="12700">
            <a:solidFill>
              <a:srgbClr val="252943"/>
            </a:solidFill>
            <a:prstDash val="solid"/>
          </a:ln>
        </p:spPr>
      </p:sp>
      <p:sp>
        <p:nvSpPr>
          <p:cNvPr id="23" name="Shape 21"/>
          <p:cNvSpPr/>
          <p:nvPr/>
        </p:nvSpPr>
        <p:spPr>
          <a:xfrm>
            <a:off x="777240" y="4992624"/>
            <a:ext cx="384048" cy="384048"/>
          </a:xfrm>
          <a:prstGeom prst="ellipse">
            <a:avLst/>
          </a:prstGeom>
          <a:solidFill>
            <a:srgbClr val="E0A458"/>
          </a:solidFill>
          <a:ln w="12700">
            <a:solidFill>
              <a:srgbClr val="E0A458"/>
            </a:solidFill>
            <a:prstDash val="solid"/>
          </a:ln>
        </p:spPr>
      </p:sp>
      <p:sp>
        <p:nvSpPr>
          <p:cNvPr id="24" name="Text 22"/>
          <p:cNvSpPr txBox="1"/>
          <p:nvPr/>
        </p:nvSpPr>
        <p:spPr>
          <a:xfrm>
            <a:off x="777240" y="4992624"/>
            <a:ext cx="384048" cy="384048"/>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6</a:t>
            </a:r>
            <a:endParaRPr lang="en-US" sz="1200" dirty="0"/>
          </a:p>
        </p:txBody>
      </p:sp>
      <p:sp>
        <p:nvSpPr>
          <p:cNvPr id="25" name="Text 23"/>
          <p:cNvSpPr txBox="1"/>
          <p:nvPr/>
        </p:nvSpPr>
        <p:spPr>
          <a:xfrm>
            <a:off x="1325880" y="4919472"/>
            <a:ext cx="3840480" cy="310896"/>
          </a:xfrm>
          <a:prstGeom prst="rect">
            <a:avLst/>
          </a:prstGeom>
          <a:noFill/>
          <a:ln/>
        </p:spPr>
        <p:txBody>
          <a:bodyPr wrap="square" lIns="0" tIns="0" rIns="0" bIns="0" rtlCol="0" anchor="ctr"/>
          <a:lstStyle/>
          <a:p>
            <a:pPr indent="0" marL="0">
              <a:buNone/>
            </a:pPr>
            <a:r>
              <a:rPr lang="en-US" sz="1700" b="1" dirty="0">
                <a:solidFill>
                  <a:srgbClr val="E0A458"/>
                </a:solidFill>
                <a:latin typeface="Arial" pitchFamily="34" charset="0"/>
                <a:ea typeface="Arial" pitchFamily="34" charset="-122"/>
                <a:cs typeface="Arial" pitchFamily="34" charset="-120"/>
              </a:rPr>
              <a:t>Review Agent</a:t>
            </a:r>
            <a:endParaRPr lang="en-US" sz="1700" dirty="0"/>
          </a:p>
        </p:txBody>
      </p:sp>
      <p:sp>
        <p:nvSpPr>
          <p:cNvPr id="26" name="Text 24"/>
          <p:cNvSpPr txBox="1"/>
          <p:nvPr/>
        </p:nvSpPr>
        <p:spPr>
          <a:xfrm>
            <a:off x="1325880" y="5248656"/>
            <a:ext cx="5120640" cy="786384"/>
          </a:xfrm>
          <a:prstGeom prst="rect">
            <a:avLst/>
          </a:prstGeom>
          <a:noFill/>
          <a:ln/>
        </p:spPr>
        <p:txBody>
          <a:bodyPr wrap="square" lIns="0" tIns="0" rIns="0" bIns="0" rtlCol="0" anchor="t"/>
          <a:lstStyle/>
          <a:p>
            <a:pPr indent="0" marL="0">
              <a:lnSpc>
                <a:spcPct val="116000"/>
              </a:lnSpc>
              <a:buNone/>
            </a:pPr>
            <a:r>
              <a:rPr lang="en-US" sz="1150" dirty="0">
                <a:solidFill>
                  <a:srgbClr val="9BA1C1"/>
                </a:solidFill>
                <a:latin typeface="Arial" pitchFamily="34" charset="0"/>
                <a:ea typeface="Arial" pitchFamily="34" charset="-122"/>
                <a:cs typeface="Arial" pitchFamily="34" charset="-120"/>
              </a:rPr>
              <a:t>Runs the golden sets, judges the outputs that have no numeric ground truth, and blocks any prompt or model version that regresses. It is what makes this a system rather than a notebook.</a:t>
            </a:r>
            <a:endParaRPr lang="en-US" sz="1150" dirty="0"/>
          </a:p>
        </p:txBody>
      </p:sp>
      <p:sp>
        <p:nvSpPr>
          <p:cNvPr id="27" name="Text 25"/>
          <p:cNvSpPr txBox="1"/>
          <p:nvPr/>
        </p:nvSpPr>
        <p:spPr>
          <a:xfrm>
            <a:off x="6812280" y="4919472"/>
            <a:ext cx="109728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TOOLS</a:t>
            </a:r>
            <a:endParaRPr lang="en-US" sz="850" dirty="0"/>
          </a:p>
        </p:txBody>
      </p:sp>
      <p:sp>
        <p:nvSpPr>
          <p:cNvPr id="28" name="Text 26"/>
          <p:cNvSpPr txBox="1"/>
          <p:nvPr/>
        </p:nvSpPr>
        <p:spPr>
          <a:xfrm>
            <a:off x="6812280" y="5138928"/>
            <a:ext cx="4663440" cy="475488"/>
          </a:xfrm>
          <a:prstGeom prst="rect">
            <a:avLst/>
          </a:prstGeom>
          <a:noFill/>
          <a:ln/>
        </p:spPr>
        <p:txBody>
          <a:bodyPr wrap="square" lIns="0" tIns="0" rIns="0" bIns="0" rtlCol="0" anchor="t"/>
          <a:lstStyle/>
          <a:p>
            <a:pPr indent="0" marL="0">
              <a:lnSpc>
                <a:spcPct val="112000"/>
              </a:lnSpc>
              <a:buNone/>
            </a:pPr>
            <a:r>
              <a:rPr lang="en-US" sz="1050" dirty="0">
                <a:solidFill>
                  <a:srgbClr val="F2F3F8"/>
                </a:solidFill>
                <a:latin typeface="Arial" pitchFamily="34" charset="0"/>
                <a:ea typeface="Arial" pitchFamily="34" charset="-122"/>
                <a:cs typeface="Arial" pitchFamily="34" charset="-120"/>
              </a:rPr>
              <a:t>run_suite · judge_explanation</a:t>
            </a:r>
            <a:endParaRPr lang="en-US" sz="1050" dirty="0"/>
          </a:p>
          <a:p>
            <a:pPr indent="0" marL="0">
              <a:lnSpc>
                <a:spcPct val="112000"/>
              </a:lnSpc>
              <a:buNone/>
            </a:pPr>
            <a:r>
              <a:rPr lang="en-US" sz="1050" dirty="0">
                <a:solidFill>
                  <a:srgbClr val="F2F3F8"/>
                </a:solidFill>
                <a:latin typeface="Arial" pitchFamily="34" charset="0"/>
                <a:ea typeface="Arial" pitchFamily="34" charset="-122"/>
                <a:cs typeface="Arial" pitchFamily="34" charset="-120"/>
              </a:rPr>
              <a:t>compare_to_baseline · promote_version</a:t>
            </a:r>
            <a:endParaRPr lang="en-US" sz="1050" dirty="0"/>
          </a:p>
        </p:txBody>
      </p:sp>
      <p:sp>
        <p:nvSpPr>
          <p:cNvPr id="29" name="Text 27"/>
          <p:cNvSpPr txBox="1"/>
          <p:nvPr/>
        </p:nvSpPr>
        <p:spPr>
          <a:xfrm>
            <a:off x="6812280" y="5650992"/>
            <a:ext cx="128016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RETURNS</a:t>
            </a:r>
            <a:endParaRPr lang="en-US" sz="850" dirty="0"/>
          </a:p>
        </p:txBody>
      </p:sp>
      <p:sp>
        <p:nvSpPr>
          <p:cNvPr id="30" name="Text 28"/>
          <p:cNvSpPr txBox="1"/>
          <p:nvPr/>
        </p:nvSpPr>
        <p:spPr>
          <a:xfrm>
            <a:off x="8092440" y="5650992"/>
            <a:ext cx="3383280" cy="219456"/>
          </a:xfrm>
          <a:prstGeom prst="rect">
            <a:avLst/>
          </a:prstGeom>
          <a:noFill/>
          <a:ln/>
        </p:spPr>
        <p:txBody>
          <a:bodyPr wrap="square" lIns="0" tIns="0" rIns="0" bIns="0" rtlCol="0" anchor="ctr"/>
          <a:lstStyle/>
          <a:p>
            <a:pPr indent="0" marL="0">
              <a:buNone/>
            </a:pPr>
            <a:r>
              <a:rPr lang="en-US" sz="1050" b="1" dirty="0">
                <a:solidFill>
                  <a:srgbClr val="83B4DE"/>
                </a:solidFill>
                <a:latin typeface="Arial" pitchFamily="34" charset="0"/>
                <a:ea typeface="Arial" pitchFamily="34" charset="-122"/>
                <a:cs typeface="Arial" pitchFamily="34" charset="-120"/>
              </a:rPr>
              <a:t>Scorecard + gate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CAPTURE PIPELINE</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Twelve seconds of video, plus one number</a:t>
            </a:r>
            <a:endParaRPr lang="en-US" sz="3000" dirty="0"/>
          </a:p>
        </p:txBody>
      </p:sp>
      <p:sp>
        <p:nvSpPr>
          <p:cNvPr id="4" name="Text 2"/>
          <p:cNvSpPr txBox="1"/>
          <p:nvPr/>
        </p:nvSpPr>
        <p:spPr>
          <a:xfrm>
            <a:off x="502920" y="1042416"/>
            <a:ext cx="11185855" cy="310896"/>
          </a:xfrm>
          <a:prstGeom prst="rect">
            <a:avLst/>
          </a:prstGeom>
          <a:noFill/>
          <a:ln/>
        </p:spPr>
        <p:txBody>
          <a:bodyPr wrap="square" lIns="0" tIns="0" rIns="0" bIns="0" rtlCol="0" anchor="ctr"/>
          <a:lstStyle/>
          <a:p>
            <a:pPr algn="l" indent="0" marL="0">
              <a:buNone/>
            </a:pPr>
            <a:r>
              <a:rPr lang="en-US" sz="1300" dirty="0">
                <a:solidFill>
                  <a:srgbClr val="9BA1C1"/>
                </a:solidFill>
                <a:latin typeface="Arial" pitchFamily="34" charset="0"/>
                <a:ea typeface="Arial" pitchFamily="34" charset="-122"/>
                <a:cs typeface="Arial" pitchFamily="34" charset="-120"/>
              </a:rPr>
              <a:t>Video is used not to reconstruct geometry, but because shape is constant across frames while pose is not.</a:t>
            </a:r>
            <a:endParaRPr lang="en-US" sz="1300" dirty="0"/>
          </a:p>
        </p:txBody>
      </p:sp>
      <p:sp>
        <p:nvSpPr>
          <p:cNvPr id="5" name="Shape 3"/>
          <p:cNvSpPr/>
          <p:nvPr/>
        </p:nvSpPr>
        <p:spPr>
          <a:xfrm>
            <a:off x="502920" y="1883664"/>
            <a:ext cx="2002536" cy="786384"/>
          </a:xfrm>
          <a:prstGeom prst="roundRect">
            <a:avLst>
              <a:gd name="adj" fmla="val 5814"/>
            </a:avLst>
          </a:prstGeom>
          <a:solidFill>
            <a:srgbClr val="252943"/>
          </a:solidFill>
          <a:ln w="12700">
            <a:solidFill>
              <a:srgbClr val="6E7699"/>
            </a:solidFill>
            <a:prstDash val="solid"/>
          </a:ln>
        </p:spPr>
      </p:sp>
      <p:sp>
        <p:nvSpPr>
          <p:cNvPr id="6" name="Text 4"/>
          <p:cNvSpPr txBox="1"/>
          <p:nvPr/>
        </p:nvSpPr>
        <p:spPr>
          <a:xfrm>
            <a:off x="502920" y="2020824"/>
            <a:ext cx="2002536" cy="237744"/>
          </a:xfrm>
          <a:prstGeom prst="rect">
            <a:avLst/>
          </a:prstGeom>
          <a:noFill/>
          <a:ln/>
        </p:spPr>
        <p:txBody>
          <a:bodyPr wrap="square" lIns="0" tIns="0" rIns="0" bIns="0" rtlCol="0" anchor="ctr"/>
          <a:lstStyle/>
          <a:p>
            <a:pPr algn="ctr" indent="0" marL="0">
              <a:buNone/>
            </a:pPr>
            <a:r>
              <a:rPr lang="en-US" sz="1250" b="1" dirty="0">
                <a:solidFill>
                  <a:srgbClr val="F2F3F8"/>
                </a:solidFill>
                <a:latin typeface="Arial" pitchFamily="34" charset="0"/>
                <a:ea typeface="Arial" pitchFamily="34" charset="-122"/>
                <a:cs typeface="Arial" pitchFamily="34" charset="-120"/>
              </a:rPr>
              <a:t>Video</a:t>
            </a:r>
            <a:endParaRPr lang="en-US" sz="1250" dirty="0"/>
          </a:p>
        </p:txBody>
      </p:sp>
      <p:sp>
        <p:nvSpPr>
          <p:cNvPr id="7" name="Text 5"/>
          <p:cNvSpPr txBox="1"/>
          <p:nvPr/>
        </p:nvSpPr>
        <p:spPr>
          <a:xfrm>
            <a:off x="502920" y="2258568"/>
            <a:ext cx="2002536" cy="219456"/>
          </a:xfrm>
          <a:prstGeom prst="rect">
            <a:avLst/>
          </a:prstGeom>
          <a:noFill/>
          <a:ln/>
        </p:spPr>
        <p:txBody>
          <a:bodyPr wrap="square" lIns="0" tIns="0" rIns="0" bIns="0" rtlCol="0" anchor="ctr"/>
          <a:lstStyle/>
          <a:p>
            <a:pPr algn="ctr" indent="0" marL="0">
              <a:buNone/>
            </a:pPr>
            <a:r>
              <a:rPr lang="en-US" sz="950" dirty="0">
                <a:solidFill>
                  <a:srgbClr val="9BA1C1"/>
                </a:solidFill>
                <a:latin typeface="Arial" pitchFamily="34" charset="0"/>
                <a:ea typeface="Arial" pitchFamily="34" charset="-122"/>
                <a:cs typeface="Arial" pitchFamily="34" charset="-120"/>
              </a:rPr>
              <a:t>10–15 s, half turn</a:t>
            </a:r>
            <a:endParaRPr lang="en-US" sz="950" dirty="0"/>
          </a:p>
        </p:txBody>
      </p:sp>
      <p:sp>
        <p:nvSpPr>
          <p:cNvPr id="8" name="Shape 6"/>
          <p:cNvSpPr/>
          <p:nvPr/>
        </p:nvSpPr>
        <p:spPr>
          <a:xfrm>
            <a:off x="2542032" y="2276856"/>
            <a:ext cx="210312" cy="0"/>
          </a:xfrm>
          <a:prstGeom prst="line">
            <a:avLst/>
          </a:prstGeom>
          <a:noFill/>
          <a:ln w="15875">
            <a:solidFill>
              <a:srgbClr val="9BA1C1"/>
            </a:solidFill>
            <a:prstDash val="solid"/>
            <a:tailEnd type="triangle"/>
          </a:ln>
        </p:spPr>
      </p:sp>
      <p:sp>
        <p:nvSpPr>
          <p:cNvPr id="9" name="Shape 7"/>
          <p:cNvSpPr/>
          <p:nvPr/>
        </p:nvSpPr>
        <p:spPr>
          <a:xfrm>
            <a:off x="2788920" y="1883664"/>
            <a:ext cx="2002536" cy="786384"/>
          </a:xfrm>
          <a:prstGeom prst="roundRect">
            <a:avLst>
              <a:gd name="adj" fmla="val 5814"/>
            </a:avLst>
          </a:prstGeom>
          <a:solidFill>
            <a:srgbClr val="252943"/>
          </a:solidFill>
          <a:ln w="12700">
            <a:solidFill>
              <a:srgbClr val="6E7699"/>
            </a:solidFill>
            <a:prstDash val="solid"/>
          </a:ln>
        </p:spPr>
      </p:sp>
      <p:sp>
        <p:nvSpPr>
          <p:cNvPr id="10" name="Text 8"/>
          <p:cNvSpPr txBox="1"/>
          <p:nvPr/>
        </p:nvSpPr>
        <p:spPr>
          <a:xfrm>
            <a:off x="2788920" y="2020824"/>
            <a:ext cx="2002536" cy="237744"/>
          </a:xfrm>
          <a:prstGeom prst="rect">
            <a:avLst/>
          </a:prstGeom>
          <a:noFill/>
          <a:ln/>
        </p:spPr>
        <p:txBody>
          <a:bodyPr wrap="square" lIns="0" tIns="0" rIns="0" bIns="0" rtlCol="0" anchor="ctr"/>
          <a:lstStyle/>
          <a:p>
            <a:pPr algn="ctr" indent="0" marL="0">
              <a:buNone/>
            </a:pPr>
            <a:r>
              <a:rPr lang="en-US" sz="1250" b="1" dirty="0">
                <a:solidFill>
                  <a:srgbClr val="F2F3F8"/>
                </a:solidFill>
                <a:latin typeface="Arial" pitchFamily="34" charset="0"/>
                <a:ea typeface="Arial" pitchFamily="34" charset="-122"/>
                <a:cs typeface="Arial" pitchFamily="34" charset="-120"/>
              </a:rPr>
              <a:t>Per-frame</a:t>
            </a:r>
            <a:endParaRPr lang="en-US" sz="1250" dirty="0"/>
          </a:p>
        </p:txBody>
      </p:sp>
      <p:sp>
        <p:nvSpPr>
          <p:cNvPr id="11" name="Text 9"/>
          <p:cNvSpPr txBox="1"/>
          <p:nvPr/>
        </p:nvSpPr>
        <p:spPr>
          <a:xfrm>
            <a:off x="2788920" y="2258568"/>
            <a:ext cx="2002536" cy="219456"/>
          </a:xfrm>
          <a:prstGeom prst="rect">
            <a:avLst/>
          </a:prstGeom>
          <a:noFill/>
          <a:ln/>
        </p:spPr>
        <p:txBody>
          <a:bodyPr wrap="square" lIns="0" tIns="0" rIns="0" bIns="0" rtlCol="0" anchor="ctr"/>
          <a:lstStyle/>
          <a:p>
            <a:pPr algn="ctr" indent="0" marL="0">
              <a:buNone/>
            </a:pPr>
            <a:r>
              <a:rPr lang="en-US" sz="950" dirty="0">
                <a:solidFill>
                  <a:srgbClr val="9BA1C1"/>
                </a:solidFill>
                <a:latin typeface="Arial" pitchFamily="34" charset="0"/>
                <a:ea typeface="Arial" pitchFamily="34" charset="-122"/>
                <a:cs typeface="Arial" pitchFamily="34" charset="-120"/>
              </a:rPr>
              <a:t>mesh recovery</a:t>
            </a:r>
            <a:endParaRPr lang="en-US" sz="950" dirty="0"/>
          </a:p>
        </p:txBody>
      </p:sp>
      <p:sp>
        <p:nvSpPr>
          <p:cNvPr id="12" name="Shape 10"/>
          <p:cNvSpPr/>
          <p:nvPr/>
        </p:nvSpPr>
        <p:spPr>
          <a:xfrm>
            <a:off x="4828032" y="2276856"/>
            <a:ext cx="210312" cy="0"/>
          </a:xfrm>
          <a:prstGeom prst="line">
            <a:avLst/>
          </a:prstGeom>
          <a:noFill/>
          <a:ln w="15875">
            <a:solidFill>
              <a:srgbClr val="9BA1C1"/>
            </a:solidFill>
            <a:prstDash val="solid"/>
            <a:tailEnd type="triangle"/>
          </a:ln>
        </p:spPr>
      </p:sp>
      <p:sp>
        <p:nvSpPr>
          <p:cNvPr id="13" name="Shape 11"/>
          <p:cNvSpPr/>
          <p:nvPr/>
        </p:nvSpPr>
        <p:spPr>
          <a:xfrm>
            <a:off x="5074920" y="1883664"/>
            <a:ext cx="2002536" cy="786384"/>
          </a:xfrm>
          <a:prstGeom prst="roundRect">
            <a:avLst>
              <a:gd name="adj" fmla="val 5814"/>
            </a:avLst>
          </a:prstGeom>
          <a:solidFill>
            <a:srgbClr val="3A2530"/>
          </a:solidFill>
          <a:ln w="19050">
            <a:solidFill>
              <a:srgbClr val="EC8079"/>
            </a:solidFill>
            <a:prstDash val="solid"/>
          </a:ln>
        </p:spPr>
      </p:sp>
      <p:sp>
        <p:nvSpPr>
          <p:cNvPr id="14" name="Text 12"/>
          <p:cNvSpPr txBox="1"/>
          <p:nvPr/>
        </p:nvSpPr>
        <p:spPr>
          <a:xfrm>
            <a:off x="5074920" y="2020824"/>
            <a:ext cx="2002536" cy="237744"/>
          </a:xfrm>
          <a:prstGeom prst="rect">
            <a:avLst/>
          </a:prstGeom>
          <a:noFill/>
          <a:ln/>
        </p:spPr>
        <p:txBody>
          <a:bodyPr wrap="square" lIns="0" tIns="0" rIns="0" bIns="0" rtlCol="0" anchor="ctr"/>
          <a:lstStyle/>
          <a:p>
            <a:pPr algn="ctr" indent="0" marL="0">
              <a:buNone/>
            </a:pPr>
            <a:r>
              <a:rPr lang="en-US" sz="1250" b="1" dirty="0">
                <a:solidFill>
                  <a:srgbClr val="EC8079"/>
                </a:solidFill>
                <a:latin typeface="Arial" pitchFamily="34" charset="0"/>
                <a:ea typeface="Arial" pitchFamily="34" charset="-122"/>
                <a:cs typeface="Arial" pitchFamily="34" charset="-120"/>
              </a:rPr>
              <a:t>Hard gates</a:t>
            </a:r>
            <a:endParaRPr lang="en-US" sz="1250" dirty="0"/>
          </a:p>
        </p:txBody>
      </p:sp>
      <p:sp>
        <p:nvSpPr>
          <p:cNvPr id="15" name="Text 13"/>
          <p:cNvSpPr txBox="1"/>
          <p:nvPr/>
        </p:nvSpPr>
        <p:spPr>
          <a:xfrm>
            <a:off x="5074920" y="2258568"/>
            <a:ext cx="2002536" cy="219456"/>
          </a:xfrm>
          <a:prstGeom prst="rect">
            <a:avLst/>
          </a:prstGeom>
          <a:noFill/>
          <a:ln/>
        </p:spPr>
        <p:txBody>
          <a:bodyPr wrap="square" lIns="0" tIns="0" rIns="0" bIns="0" rtlCol="0" anchor="ctr"/>
          <a:lstStyle/>
          <a:p>
            <a:pPr algn="ctr" indent="0" marL="0">
              <a:buNone/>
            </a:pPr>
            <a:r>
              <a:rPr lang="en-US" sz="950" dirty="0">
                <a:solidFill>
                  <a:srgbClr val="9BA1C1"/>
                </a:solidFill>
                <a:latin typeface="Arial" pitchFamily="34" charset="0"/>
                <a:ea typeface="Arial" pitchFamily="34" charset="-122"/>
                <a:cs typeface="Arial" pitchFamily="34" charset="-120"/>
              </a:rPr>
              <a:t>head · feet · in frame</a:t>
            </a:r>
            <a:endParaRPr lang="en-US" sz="950" dirty="0"/>
          </a:p>
        </p:txBody>
      </p:sp>
      <p:sp>
        <p:nvSpPr>
          <p:cNvPr id="16" name="Shape 14"/>
          <p:cNvSpPr/>
          <p:nvPr/>
        </p:nvSpPr>
        <p:spPr>
          <a:xfrm>
            <a:off x="7114032" y="2276856"/>
            <a:ext cx="210312" cy="0"/>
          </a:xfrm>
          <a:prstGeom prst="line">
            <a:avLst/>
          </a:prstGeom>
          <a:noFill/>
          <a:ln w="15875">
            <a:solidFill>
              <a:srgbClr val="9BA1C1"/>
            </a:solidFill>
            <a:prstDash val="solid"/>
            <a:tailEnd type="triangle"/>
          </a:ln>
        </p:spPr>
      </p:sp>
      <p:sp>
        <p:nvSpPr>
          <p:cNvPr id="17" name="Shape 15"/>
          <p:cNvSpPr/>
          <p:nvPr/>
        </p:nvSpPr>
        <p:spPr>
          <a:xfrm>
            <a:off x="7360920" y="1883664"/>
            <a:ext cx="2002536" cy="786384"/>
          </a:xfrm>
          <a:prstGeom prst="roundRect">
            <a:avLst>
              <a:gd name="adj" fmla="val 5814"/>
            </a:avLst>
          </a:prstGeom>
          <a:solidFill>
            <a:srgbClr val="3A3A62"/>
          </a:solidFill>
          <a:ln w="19050">
            <a:solidFill>
              <a:srgbClr val="E0A458"/>
            </a:solidFill>
            <a:prstDash val="solid"/>
          </a:ln>
        </p:spPr>
      </p:sp>
      <p:sp>
        <p:nvSpPr>
          <p:cNvPr id="18" name="Text 16"/>
          <p:cNvSpPr txBox="1"/>
          <p:nvPr/>
        </p:nvSpPr>
        <p:spPr>
          <a:xfrm>
            <a:off x="7360920" y="2020824"/>
            <a:ext cx="2002536" cy="237744"/>
          </a:xfrm>
          <a:prstGeom prst="rect">
            <a:avLst/>
          </a:prstGeom>
          <a:noFill/>
          <a:ln/>
        </p:spPr>
        <p:txBody>
          <a:bodyPr wrap="square" lIns="0" tIns="0" rIns="0" bIns="0" rtlCol="0" anchor="ctr"/>
          <a:lstStyle/>
          <a:p>
            <a:pPr algn="ctr" indent="0" marL="0">
              <a:buNone/>
            </a:pPr>
            <a:r>
              <a:rPr lang="en-US" sz="1250" b="1" dirty="0">
                <a:solidFill>
                  <a:srgbClr val="E0A458"/>
                </a:solidFill>
                <a:latin typeface="Arial" pitchFamily="34" charset="0"/>
                <a:ea typeface="Arial" pitchFamily="34" charset="-122"/>
                <a:cs typeface="Arial" pitchFamily="34" charset="-120"/>
              </a:rPr>
              <a:t>β aggregation</a:t>
            </a:r>
            <a:endParaRPr lang="en-US" sz="1250" dirty="0"/>
          </a:p>
        </p:txBody>
      </p:sp>
      <p:sp>
        <p:nvSpPr>
          <p:cNvPr id="19" name="Text 17"/>
          <p:cNvSpPr txBox="1"/>
          <p:nvPr/>
        </p:nvSpPr>
        <p:spPr>
          <a:xfrm>
            <a:off x="7360920" y="2258568"/>
            <a:ext cx="2002536" cy="219456"/>
          </a:xfrm>
          <a:prstGeom prst="rect">
            <a:avLst/>
          </a:prstGeom>
          <a:noFill/>
          <a:ln/>
        </p:spPr>
        <p:txBody>
          <a:bodyPr wrap="square" lIns="0" tIns="0" rIns="0" bIns="0" rtlCol="0" anchor="ctr"/>
          <a:lstStyle/>
          <a:p>
            <a:pPr algn="ctr" indent="0" marL="0">
              <a:buNone/>
            </a:pPr>
            <a:r>
              <a:rPr lang="en-US" sz="950" dirty="0">
                <a:solidFill>
                  <a:srgbClr val="9BA1C1"/>
                </a:solidFill>
                <a:latin typeface="Arial" pitchFamily="34" charset="0"/>
                <a:ea typeface="Arial" pitchFamily="34" charset="-122"/>
                <a:cs typeface="Arial" pitchFamily="34" charset="-120"/>
              </a:rPr>
              <a:t>one shape, N poses</a:t>
            </a:r>
            <a:endParaRPr lang="en-US" sz="950" dirty="0"/>
          </a:p>
        </p:txBody>
      </p:sp>
      <p:sp>
        <p:nvSpPr>
          <p:cNvPr id="20" name="Shape 18"/>
          <p:cNvSpPr/>
          <p:nvPr/>
        </p:nvSpPr>
        <p:spPr>
          <a:xfrm>
            <a:off x="9400032" y="2276856"/>
            <a:ext cx="210312" cy="0"/>
          </a:xfrm>
          <a:prstGeom prst="line">
            <a:avLst/>
          </a:prstGeom>
          <a:noFill/>
          <a:ln w="15875">
            <a:solidFill>
              <a:srgbClr val="9BA1C1"/>
            </a:solidFill>
            <a:prstDash val="solid"/>
            <a:tailEnd type="triangle"/>
          </a:ln>
        </p:spPr>
      </p:sp>
      <p:sp>
        <p:nvSpPr>
          <p:cNvPr id="21" name="Shape 19"/>
          <p:cNvSpPr/>
          <p:nvPr/>
        </p:nvSpPr>
        <p:spPr>
          <a:xfrm>
            <a:off x="9646920" y="1883664"/>
            <a:ext cx="2002536" cy="786384"/>
          </a:xfrm>
          <a:prstGeom prst="roundRect">
            <a:avLst>
              <a:gd name="adj" fmla="val 5814"/>
            </a:avLst>
          </a:prstGeom>
          <a:solidFill>
            <a:srgbClr val="252943"/>
          </a:solidFill>
          <a:ln w="12700">
            <a:solidFill>
              <a:srgbClr val="6E7699"/>
            </a:solidFill>
            <a:prstDash val="solid"/>
          </a:ln>
        </p:spPr>
      </p:sp>
      <p:sp>
        <p:nvSpPr>
          <p:cNvPr id="22" name="Text 20"/>
          <p:cNvSpPr txBox="1"/>
          <p:nvPr/>
        </p:nvSpPr>
        <p:spPr>
          <a:xfrm>
            <a:off x="9646920" y="2020824"/>
            <a:ext cx="2002536" cy="237744"/>
          </a:xfrm>
          <a:prstGeom prst="rect">
            <a:avLst/>
          </a:prstGeom>
          <a:noFill/>
          <a:ln/>
        </p:spPr>
        <p:txBody>
          <a:bodyPr wrap="square" lIns="0" tIns="0" rIns="0" bIns="0" rtlCol="0" anchor="ctr"/>
          <a:lstStyle/>
          <a:p>
            <a:pPr algn="ctr" indent="0" marL="0">
              <a:buNone/>
            </a:pPr>
            <a:r>
              <a:rPr lang="en-US" sz="1250" b="1" dirty="0">
                <a:solidFill>
                  <a:srgbClr val="F2F3F8"/>
                </a:solidFill>
                <a:latin typeface="Arial" pitchFamily="34" charset="0"/>
                <a:ea typeface="Arial" pitchFamily="34" charset="-122"/>
                <a:cs typeface="Arial" pitchFamily="34" charset="-120"/>
              </a:rPr>
              <a:t>Converged?</a:t>
            </a:r>
            <a:endParaRPr lang="en-US" sz="1250" dirty="0"/>
          </a:p>
        </p:txBody>
      </p:sp>
      <p:sp>
        <p:nvSpPr>
          <p:cNvPr id="23" name="Text 21"/>
          <p:cNvSpPr txBox="1"/>
          <p:nvPr/>
        </p:nvSpPr>
        <p:spPr>
          <a:xfrm>
            <a:off x="9646920" y="2258568"/>
            <a:ext cx="2002536" cy="219456"/>
          </a:xfrm>
          <a:prstGeom prst="rect">
            <a:avLst/>
          </a:prstGeom>
          <a:noFill/>
          <a:ln/>
        </p:spPr>
        <p:txBody>
          <a:bodyPr wrap="square" lIns="0" tIns="0" rIns="0" bIns="0" rtlCol="0" anchor="ctr"/>
          <a:lstStyle/>
          <a:p>
            <a:pPr algn="ctr" indent="0" marL="0">
              <a:buNone/>
            </a:pPr>
            <a:r>
              <a:rPr lang="en-US" sz="950" dirty="0">
                <a:solidFill>
                  <a:srgbClr val="9BA1C1"/>
                </a:solidFill>
                <a:latin typeface="Arial" pitchFamily="34" charset="0"/>
                <a:ea typeface="Arial" pitchFamily="34" charset="-122"/>
                <a:cs typeface="Arial" pitchFamily="34" charset="-120"/>
              </a:rPr>
              <a:t>var(β) &lt; τ</a:t>
            </a:r>
            <a:endParaRPr lang="en-US" sz="950" dirty="0"/>
          </a:p>
        </p:txBody>
      </p:sp>
      <p:sp>
        <p:nvSpPr>
          <p:cNvPr id="24" name="Shape 22"/>
          <p:cNvSpPr/>
          <p:nvPr/>
        </p:nvSpPr>
        <p:spPr>
          <a:xfrm>
            <a:off x="10648188" y="2670048"/>
            <a:ext cx="0" cy="384048"/>
          </a:xfrm>
          <a:prstGeom prst="line">
            <a:avLst/>
          </a:prstGeom>
          <a:noFill/>
          <a:ln w="15875">
            <a:solidFill>
              <a:srgbClr val="9BA1C1"/>
            </a:solidFill>
            <a:prstDash val="dash"/>
          </a:ln>
        </p:spPr>
      </p:sp>
      <p:sp>
        <p:nvSpPr>
          <p:cNvPr id="25" name="Shape 23"/>
          <p:cNvSpPr/>
          <p:nvPr/>
        </p:nvSpPr>
        <p:spPr>
          <a:xfrm>
            <a:off x="3790188" y="3054096"/>
            <a:ext cx="6858000" cy="0"/>
          </a:xfrm>
          <a:prstGeom prst="line">
            <a:avLst/>
          </a:prstGeom>
          <a:noFill/>
          <a:ln w="15875">
            <a:solidFill>
              <a:srgbClr val="9BA1C1"/>
            </a:solidFill>
            <a:prstDash val="dash"/>
          </a:ln>
        </p:spPr>
      </p:sp>
      <p:sp>
        <p:nvSpPr>
          <p:cNvPr id="26" name="Shape 24"/>
          <p:cNvSpPr/>
          <p:nvPr/>
        </p:nvSpPr>
        <p:spPr>
          <a:xfrm>
            <a:off x="3790188" y="2798064"/>
            <a:ext cx="0" cy="256032"/>
          </a:xfrm>
          <a:prstGeom prst="line">
            <a:avLst/>
          </a:prstGeom>
          <a:noFill/>
          <a:ln w="15875">
            <a:solidFill>
              <a:srgbClr val="9BA1C1"/>
            </a:solidFill>
            <a:prstDash val="solid"/>
            <a:headEnd type="triangle"/>
          </a:ln>
        </p:spPr>
      </p:sp>
      <p:sp>
        <p:nvSpPr>
          <p:cNvPr id="27" name="Text 25"/>
          <p:cNvSpPr txBox="1"/>
          <p:nvPr/>
        </p:nvSpPr>
        <p:spPr>
          <a:xfrm>
            <a:off x="3927348" y="3072384"/>
            <a:ext cx="7498080" cy="256032"/>
          </a:xfrm>
          <a:prstGeom prst="rect">
            <a:avLst/>
          </a:prstGeom>
          <a:noFill/>
          <a:ln/>
        </p:spPr>
        <p:txBody>
          <a:bodyPr wrap="square" lIns="0" tIns="0" rIns="0" bIns="0" rtlCol="0" anchor="ctr"/>
          <a:lstStyle/>
          <a:p>
            <a:pPr indent="0" marL="0">
              <a:buNone/>
            </a:pPr>
            <a:r>
              <a:rPr lang="en-US" sz="1050" i="1" dirty="0">
                <a:solidFill>
                  <a:srgbClr val="9BA1C1"/>
                </a:solidFill>
                <a:latin typeface="Arial" pitchFamily="34" charset="0"/>
                <a:ea typeface="Arial" pitchFamily="34" charset="-122"/>
                <a:cs typeface="Arial" pitchFamily="34" charset="-120"/>
              </a:rPr>
              <a:t>no — the coach asks for a wider turn, better light, or a steadier hand</a:t>
            </a:r>
            <a:endParaRPr lang="en-US" sz="1050" dirty="0"/>
          </a:p>
        </p:txBody>
      </p:sp>
      <p:sp>
        <p:nvSpPr>
          <p:cNvPr id="28" name="Shape 26"/>
          <p:cNvSpPr/>
          <p:nvPr/>
        </p:nvSpPr>
        <p:spPr>
          <a:xfrm>
            <a:off x="7818120" y="3712464"/>
            <a:ext cx="3840480" cy="786384"/>
          </a:xfrm>
          <a:prstGeom prst="roundRect">
            <a:avLst>
              <a:gd name="adj" fmla="val 5814"/>
            </a:avLst>
          </a:prstGeom>
          <a:solidFill>
            <a:srgbClr val="3A3A62"/>
          </a:solidFill>
          <a:ln w="19050">
            <a:solidFill>
              <a:srgbClr val="E0A458"/>
            </a:solidFill>
            <a:prstDash val="solid"/>
          </a:ln>
        </p:spPr>
      </p:sp>
      <p:sp>
        <p:nvSpPr>
          <p:cNvPr id="29" name="Text 27"/>
          <p:cNvSpPr txBox="1"/>
          <p:nvPr/>
        </p:nvSpPr>
        <p:spPr>
          <a:xfrm>
            <a:off x="7818120" y="3849624"/>
            <a:ext cx="3840480" cy="237744"/>
          </a:xfrm>
          <a:prstGeom prst="rect">
            <a:avLst/>
          </a:prstGeom>
          <a:noFill/>
          <a:ln/>
        </p:spPr>
        <p:txBody>
          <a:bodyPr wrap="square" lIns="0" tIns="0" rIns="0" bIns="0" rtlCol="0" anchor="ctr"/>
          <a:lstStyle/>
          <a:p>
            <a:pPr algn="ctr" indent="0" marL="0">
              <a:buNone/>
            </a:pPr>
            <a:r>
              <a:rPr lang="en-US" sz="1250" b="1" dirty="0">
                <a:solidFill>
                  <a:srgbClr val="E0A458"/>
                </a:solidFill>
                <a:latin typeface="Arial" pitchFamily="34" charset="0"/>
                <a:ea typeface="Arial" pitchFamily="34" charset="-122"/>
                <a:cs typeface="Arial" pitchFamily="34" charset="-120"/>
              </a:rPr>
              <a:t>Metric scale from height</a:t>
            </a:r>
            <a:endParaRPr lang="en-US" sz="1250" dirty="0"/>
          </a:p>
        </p:txBody>
      </p:sp>
      <p:sp>
        <p:nvSpPr>
          <p:cNvPr id="30" name="Text 28"/>
          <p:cNvSpPr txBox="1"/>
          <p:nvPr/>
        </p:nvSpPr>
        <p:spPr>
          <a:xfrm>
            <a:off x="7818120" y="4087368"/>
            <a:ext cx="3840480" cy="219456"/>
          </a:xfrm>
          <a:prstGeom prst="rect">
            <a:avLst/>
          </a:prstGeom>
          <a:noFill/>
          <a:ln/>
        </p:spPr>
        <p:txBody>
          <a:bodyPr wrap="square" lIns="0" tIns="0" rIns="0" bIns="0" rtlCol="0" anchor="ctr"/>
          <a:lstStyle/>
          <a:p>
            <a:pPr algn="ctr" indent="0" marL="0">
              <a:buNone/>
            </a:pPr>
            <a:r>
              <a:rPr lang="en-US" sz="1000" dirty="0">
                <a:solidFill>
                  <a:srgbClr val="9BA1C1"/>
                </a:solidFill>
                <a:latin typeface="Arial" pitchFamily="34" charset="0"/>
                <a:ea typeface="Arial" pitchFamily="34" charset="-122"/>
                <a:cs typeface="Arial" pitchFamily="34" charset="-120"/>
              </a:rPr>
              <a:t>s = H_reported / extent(mesh)</a:t>
            </a:r>
            <a:endParaRPr lang="en-US" sz="1000" dirty="0"/>
          </a:p>
        </p:txBody>
      </p:sp>
      <p:sp>
        <p:nvSpPr>
          <p:cNvPr id="31" name="Shape 29"/>
          <p:cNvSpPr/>
          <p:nvPr/>
        </p:nvSpPr>
        <p:spPr>
          <a:xfrm>
            <a:off x="3950208" y="3712464"/>
            <a:ext cx="3566160" cy="786384"/>
          </a:xfrm>
          <a:prstGeom prst="roundRect">
            <a:avLst>
              <a:gd name="adj" fmla="val 5814"/>
            </a:avLst>
          </a:prstGeom>
          <a:solidFill>
            <a:srgbClr val="252943"/>
          </a:solidFill>
          <a:ln w="12700">
            <a:solidFill>
              <a:srgbClr val="6E7699"/>
            </a:solidFill>
            <a:prstDash val="solid"/>
          </a:ln>
        </p:spPr>
      </p:sp>
      <p:sp>
        <p:nvSpPr>
          <p:cNvPr id="32" name="Text 30"/>
          <p:cNvSpPr txBox="1"/>
          <p:nvPr/>
        </p:nvSpPr>
        <p:spPr>
          <a:xfrm>
            <a:off x="3950208" y="3849624"/>
            <a:ext cx="3566160" cy="237744"/>
          </a:xfrm>
          <a:prstGeom prst="rect">
            <a:avLst/>
          </a:prstGeom>
          <a:noFill/>
          <a:ln/>
        </p:spPr>
        <p:txBody>
          <a:bodyPr wrap="square" lIns="0" tIns="0" rIns="0" bIns="0" rtlCol="0" anchor="ctr"/>
          <a:lstStyle/>
          <a:p>
            <a:pPr algn="ctr" indent="0" marL="0">
              <a:buNone/>
            </a:pPr>
            <a:r>
              <a:rPr lang="en-US" sz="1250" b="1" dirty="0">
                <a:solidFill>
                  <a:srgbClr val="F2F3F8"/>
                </a:solidFill>
                <a:latin typeface="Arial" pitchFamily="34" charset="0"/>
                <a:ea typeface="Arial" pitchFamily="34" charset="-122"/>
                <a:cs typeface="Arial" pitchFamily="34" charset="-120"/>
              </a:rPr>
              <a:t>Leg measurements</a:t>
            </a:r>
            <a:endParaRPr lang="en-US" sz="1250" dirty="0"/>
          </a:p>
        </p:txBody>
      </p:sp>
      <p:sp>
        <p:nvSpPr>
          <p:cNvPr id="33" name="Text 31"/>
          <p:cNvSpPr txBox="1"/>
          <p:nvPr/>
        </p:nvSpPr>
        <p:spPr>
          <a:xfrm>
            <a:off x="3950208" y="4087368"/>
            <a:ext cx="3566160" cy="219456"/>
          </a:xfrm>
          <a:prstGeom prst="rect">
            <a:avLst/>
          </a:prstGeom>
          <a:noFill/>
          <a:ln/>
        </p:spPr>
        <p:txBody>
          <a:bodyPr wrap="square" lIns="0" tIns="0" rIns="0" bIns="0" rtlCol="0" anchor="ctr"/>
          <a:lstStyle/>
          <a:p>
            <a:pPr algn="ctr" indent="0" marL="0">
              <a:buNone/>
            </a:pPr>
            <a:r>
              <a:rPr lang="en-US" sz="950" dirty="0">
                <a:solidFill>
                  <a:srgbClr val="9BA1C1"/>
                </a:solidFill>
                <a:latin typeface="Arial" pitchFamily="34" charset="0"/>
                <a:ea typeface="Arial" pitchFamily="34" charset="-122"/>
                <a:cs typeface="Arial" pitchFamily="34" charset="-120"/>
              </a:rPr>
              <a:t>9 landmarks, in centimetres</a:t>
            </a:r>
            <a:endParaRPr lang="en-US" sz="950" dirty="0"/>
          </a:p>
        </p:txBody>
      </p:sp>
      <p:sp>
        <p:nvSpPr>
          <p:cNvPr id="34" name="Shape 32"/>
          <p:cNvSpPr/>
          <p:nvPr/>
        </p:nvSpPr>
        <p:spPr>
          <a:xfrm>
            <a:off x="502920" y="3712464"/>
            <a:ext cx="3145536" cy="786384"/>
          </a:xfrm>
          <a:prstGeom prst="roundRect">
            <a:avLst>
              <a:gd name="adj" fmla="val 5814"/>
            </a:avLst>
          </a:prstGeom>
          <a:solidFill>
            <a:srgbClr val="252943"/>
          </a:solidFill>
          <a:ln w="12700">
            <a:solidFill>
              <a:srgbClr val="6E7699"/>
            </a:solidFill>
            <a:prstDash val="solid"/>
          </a:ln>
        </p:spPr>
      </p:sp>
      <p:sp>
        <p:nvSpPr>
          <p:cNvPr id="35" name="Text 33"/>
          <p:cNvSpPr txBox="1"/>
          <p:nvPr/>
        </p:nvSpPr>
        <p:spPr>
          <a:xfrm>
            <a:off x="502920" y="3849624"/>
            <a:ext cx="3145536" cy="237744"/>
          </a:xfrm>
          <a:prstGeom prst="rect">
            <a:avLst/>
          </a:prstGeom>
          <a:noFill/>
          <a:ln/>
        </p:spPr>
        <p:txBody>
          <a:bodyPr wrap="square" lIns="0" tIns="0" rIns="0" bIns="0" rtlCol="0" anchor="ctr"/>
          <a:lstStyle/>
          <a:p>
            <a:pPr algn="ctr" indent="0" marL="0">
              <a:buNone/>
            </a:pPr>
            <a:r>
              <a:rPr lang="en-US" sz="1250" b="1" dirty="0">
                <a:solidFill>
                  <a:srgbClr val="F2F3F8"/>
                </a:solidFill>
                <a:latin typeface="Arial" pitchFamily="34" charset="0"/>
                <a:ea typeface="Arial" pitchFamily="34" charset="-122"/>
                <a:cs typeface="Arial" pitchFamily="34" charset="-120"/>
              </a:rPr>
              <a:t>Validator — agent 2</a:t>
            </a:r>
            <a:endParaRPr lang="en-US" sz="1250" dirty="0"/>
          </a:p>
        </p:txBody>
      </p:sp>
      <p:sp>
        <p:nvSpPr>
          <p:cNvPr id="36" name="Text 34"/>
          <p:cNvSpPr txBox="1"/>
          <p:nvPr/>
        </p:nvSpPr>
        <p:spPr>
          <a:xfrm>
            <a:off x="502920" y="4087368"/>
            <a:ext cx="3145536" cy="219456"/>
          </a:xfrm>
          <a:prstGeom prst="rect">
            <a:avLst/>
          </a:prstGeom>
          <a:noFill/>
          <a:ln/>
        </p:spPr>
        <p:txBody>
          <a:bodyPr wrap="square" lIns="0" tIns="0" rIns="0" bIns="0" rtlCol="0" anchor="ctr"/>
          <a:lstStyle/>
          <a:p>
            <a:pPr algn="ctr" indent="0" marL="0">
              <a:buNone/>
            </a:pPr>
            <a:r>
              <a:rPr lang="en-US" sz="950" dirty="0">
                <a:solidFill>
                  <a:srgbClr val="9BA1C1"/>
                </a:solidFill>
                <a:latin typeface="Arial" pitchFamily="34" charset="0"/>
                <a:ea typeface="Arial" pitchFamily="34" charset="-122"/>
                <a:cs typeface="Arial" pitchFamily="34" charset="-120"/>
              </a:rPr>
              <a:t>plausibility vs ANSUR II</a:t>
            </a:r>
            <a:endParaRPr lang="en-US" sz="950" dirty="0"/>
          </a:p>
        </p:txBody>
      </p:sp>
      <p:sp>
        <p:nvSpPr>
          <p:cNvPr id="37" name="Shape 35"/>
          <p:cNvSpPr/>
          <p:nvPr/>
        </p:nvSpPr>
        <p:spPr>
          <a:xfrm>
            <a:off x="11484864" y="2670048"/>
            <a:ext cx="0" cy="566928"/>
          </a:xfrm>
          <a:prstGeom prst="line">
            <a:avLst/>
          </a:prstGeom>
          <a:noFill/>
          <a:ln w="15875">
            <a:solidFill>
              <a:srgbClr val="E0A458"/>
            </a:solidFill>
            <a:prstDash val="solid"/>
          </a:ln>
        </p:spPr>
      </p:sp>
      <p:sp>
        <p:nvSpPr>
          <p:cNvPr id="38" name="Shape 36"/>
          <p:cNvSpPr/>
          <p:nvPr/>
        </p:nvSpPr>
        <p:spPr>
          <a:xfrm>
            <a:off x="9738360" y="3236976"/>
            <a:ext cx="1746504" cy="0"/>
          </a:xfrm>
          <a:prstGeom prst="line">
            <a:avLst/>
          </a:prstGeom>
          <a:noFill/>
          <a:ln w="15875">
            <a:solidFill>
              <a:srgbClr val="E0A458"/>
            </a:solidFill>
            <a:prstDash val="solid"/>
          </a:ln>
        </p:spPr>
      </p:sp>
      <p:sp>
        <p:nvSpPr>
          <p:cNvPr id="39" name="Shape 37"/>
          <p:cNvSpPr/>
          <p:nvPr/>
        </p:nvSpPr>
        <p:spPr>
          <a:xfrm>
            <a:off x="9738360" y="3236976"/>
            <a:ext cx="0" cy="438912"/>
          </a:xfrm>
          <a:prstGeom prst="line">
            <a:avLst/>
          </a:prstGeom>
          <a:noFill/>
          <a:ln w="15875">
            <a:solidFill>
              <a:srgbClr val="E0A458"/>
            </a:solidFill>
            <a:prstDash val="solid"/>
            <a:tailEnd type="triangle"/>
          </a:ln>
        </p:spPr>
      </p:sp>
      <p:sp>
        <p:nvSpPr>
          <p:cNvPr id="40" name="Text 38"/>
          <p:cNvSpPr txBox="1"/>
          <p:nvPr/>
        </p:nvSpPr>
        <p:spPr>
          <a:xfrm>
            <a:off x="10424160" y="2999232"/>
            <a:ext cx="822960" cy="219456"/>
          </a:xfrm>
          <a:prstGeom prst="rect">
            <a:avLst/>
          </a:prstGeom>
          <a:noFill/>
          <a:ln/>
        </p:spPr>
        <p:txBody>
          <a:bodyPr wrap="square" lIns="0" tIns="0" rIns="0" bIns="0" rtlCol="0" anchor="ctr"/>
          <a:lstStyle/>
          <a:p>
            <a:pPr indent="0" marL="0">
              <a:buNone/>
            </a:pPr>
            <a:r>
              <a:rPr lang="en-US" sz="1050" i="1" dirty="0">
                <a:solidFill>
                  <a:srgbClr val="E0A458"/>
                </a:solidFill>
                <a:latin typeface="Arial" pitchFamily="34" charset="0"/>
                <a:ea typeface="Arial" pitchFamily="34" charset="-122"/>
                <a:cs typeface="Arial" pitchFamily="34" charset="-120"/>
              </a:rPr>
              <a:t>yes</a:t>
            </a:r>
            <a:endParaRPr lang="en-US" sz="1050" dirty="0"/>
          </a:p>
        </p:txBody>
      </p:sp>
      <p:sp>
        <p:nvSpPr>
          <p:cNvPr id="41" name="Shape 39"/>
          <p:cNvSpPr/>
          <p:nvPr/>
        </p:nvSpPr>
        <p:spPr>
          <a:xfrm>
            <a:off x="7552944" y="4105656"/>
            <a:ext cx="228600" cy="0"/>
          </a:xfrm>
          <a:prstGeom prst="line">
            <a:avLst/>
          </a:prstGeom>
          <a:noFill/>
          <a:ln w="15875">
            <a:solidFill>
              <a:srgbClr val="E0A458"/>
            </a:solidFill>
            <a:prstDash val="solid"/>
            <a:headEnd type="triangle"/>
          </a:ln>
        </p:spPr>
      </p:sp>
      <p:sp>
        <p:nvSpPr>
          <p:cNvPr id="42" name="Shape 40"/>
          <p:cNvSpPr/>
          <p:nvPr/>
        </p:nvSpPr>
        <p:spPr>
          <a:xfrm>
            <a:off x="3685032" y="4105656"/>
            <a:ext cx="228600" cy="0"/>
          </a:xfrm>
          <a:prstGeom prst="line">
            <a:avLst/>
          </a:prstGeom>
          <a:noFill/>
          <a:ln w="15875">
            <a:solidFill>
              <a:srgbClr val="9BA1C1"/>
            </a:solidFill>
            <a:prstDash val="solid"/>
            <a:headEnd type="triangle"/>
          </a:ln>
        </p:spPr>
      </p:sp>
      <p:sp>
        <p:nvSpPr>
          <p:cNvPr id="43" name="Shape 41"/>
          <p:cNvSpPr/>
          <p:nvPr/>
        </p:nvSpPr>
        <p:spPr>
          <a:xfrm>
            <a:off x="7818120" y="4864608"/>
            <a:ext cx="3840480" cy="566928"/>
          </a:xfrm>
          <a:prstGeom prst="roundRect">
            <a:avLst>
              <a:gd name="adj" fmla="val 8065"/>
            </a:avLst>
          </a:prstGeom>
          <a:solidFill>
            <a:srgbClr val="3A2530"/>
          </a:solidFill>
          <a:ln w="19050">
            <a:solidFill>
              <a:srgbClr val="EC8079"/>
            </a:solidFill>
            <a:prstDash val="solid"/>
          </a:ln>
        </p:spPr>
      </p:sp>
      <p:sp>
        <p:nvSpPr>
          <p:cNvPr id="44" name="Text 42"/>
          <p:cNvSpPr txBox="1"/>
          <p:nvPr/>
        </p:nvSpPr>
        <p:spPr>
          <a:xfrm>
            <a:off x="7818120" y="4864608"/>
            <a:ext cx="3840480" cy="566928"/>
          </a:xfrm>
          <a:prstGeom prst="rect">
            <a:avLst/>
          </a:prstGeom>
          <a:noFill/>
          <a:ln/>
        </p:spPr>
        <p:txBody>
          <a:bodyPr wrap="square" lIns="0" tIns="0" rIns="0" bIns="0" rtlCol="0" anchor="ctr"/>
          <a:lstStyle/>
          <a:p>
            <a:pPr algn="ctr" indent="0" marL="0">
              <a:buNone/>
            </a:pPr>
            <a:r>
              <a:rPr lang="en-US" sz="1200" b="1" dirty="0">
                <a:solidFill>
                  <a:srgbClr val="EC8079"/>
                </a:solidFill>
                <a:latin typeface="Arial" pitchFamily="34" charset="0"/>
                <a:ea typeface="Arial" pitchFamily="34" charset="-122"/>
                <a:cs typeface="Arial" pitchFamily="34" charset="-120"/>
              </a:rPr>
              <a:t>Re-capture, with the reason named</a:t>
            </a:r>
            <a:endParaRPr lang="en-US" sz="1200" dirty="0"/>
          </a:p>
        </p:txBody>
      </p:sp>
      <p:sp>
        <p:nvSpPr>
          <p:cNvPr id="45" name="Shape 43"/>
          <p:cNvSpPr/>
          <p:nvPr/>
        </p:nvSpPr>
        <p:spPr>
          <a:xfrm>
            <a:off x="7818120" y="5614416"/>
            <a:ext cx="3840480" cy="566928"/>
          </a:xfrm>
          <a:prstGeom prst="roundRect">
            <a:avLst>
              <a:gd name="adj" fmla="val 8065"/>
            </a:avLst>
          </a:prstGeom>
          <a:solidFill>
            <a:srgbClr val="252943"/>
          </a:solidFill>
          <a:ln w="12700">
            <a:solidFill>
              <a:srgbClr val="6E7699"/>
            </a:solidFill>
            <a:prstDash val="solid"/>
          </a:ln>
        </p:spPr>
      </p:sp>
      <p:sp>
        <p:nvSpPr>
          <p:cNvPr id="46" name="Text 44"/>
          <p:cNvSpPr txBox="1"/>
          <p:nvPr/>
        </p:nvSpPr>
        <p:spPr>
          <a:xfrm>
            <a:off x="7818120" y="5614416"/>
            <a:ext cx="3840480" cy="566928"/>
          </a:xfrm>
          <a:prstGeom prst="rect">
            <a:avLst/>
          </a:prstGeom>
          <a:noFill/>
          <a:ln/>
        </p:spPr>
        <p:txBody>
          <a:bodyPr wrap="square" lIns="0" tIns="0" rIns="0" bIns="0" rtlCol="0" anchor="ctr"/>
          <a:lstStyle/>
          <a:p>
            <a:pPr algn="ctr" indent="0" marL="0">
              <a:buNone/>
            </a:pPr>
            <a:r>
              <a:rPr lang="en-US" sz="1200" b="1" dirty="0">
                <a:solidFill>
                  <a:srgbClr val="F2F3F8"/>
                </a:solidFill>
                <a:latin typeface="Arial" pitchFamily="34" charset="0"/>
                <a:ea typeface="Arial" pitchFamily="34" charset="-122"/>
                <a:cs typeface="Arial" pitchFamily="34" charset="-120"/>
              </a:rPr>
              <a:t>Manual entry — fallback</a:t>
            </a:r>
            <a:endParaRPr lang="en-US" sz="1200" dirty="0"/>
          </a:p>
        </p:txBody>
      </p:sp>
      <p:sp>
        <p:nvSpPr>
          <p:cNvPr id="47" name="Shape 45"/>
          <p:cNvSpPr/>
          <p:nvPr/>
        </p:nvSpPr>
        <p:spPr>
          <a:xfrm>
            <a:off x="6076188" y="2670048"/>
            <a:ext cx="0" cy="731520"/>
          </a:xfrm>
          <a:prstGeom prst="line">
            <a:avLst/>
          </a:prstGeom>
          <a:noFill/>
          <a:ln w="15875">
            <a:solidFill>
              <a:srgbClr val="EC8079"/>
            </a:solidFill>
            <a:prstDash val="solid"/>
          </a:ln>
        </p:spPr>
      </p:sp>
      <p:sp>
        <p:nvSpPr>
          <p:cNvPr id="48" name="Shape 46"/>
          <p:cNvSpPr/>
          <p:nvPr/>
        </p:nvSpPr>
        <p:spPr>
          <a:xfrm>
            <a:off x="3803904" y="3401568"/>
            <a:ext cx="2272284" cy="0"/>
          </a:xfrm>
          <a:prstGeom prst="line">
            <a:avLst/>
          </a:prstGeom>
          <a:noFill/>
          <a:ln w="15875">
            <a:solidFill>
              <a:srgbClr val="EC8079"/>
            </a:solidFill>
            <a:prstDash val="solid"/>
          </a:ln>
        </p:spPr>
      </p:sp>
      <p:sp>
        <p:nvSpPr>
          <p:cNvPr id="49" name="Shape 47"/>
          <p:cNvSpPr/>
          <p:nvPr/>
        </p:nvSpPr>
        <p:spPr>
          <a:xfrm>
            <a:off x="3803904" y="3401568"/>
            <a:ext cx="0" cy="1746504"/>
          </a:xfrm>
          <a:prstGeom prst="line">
            <a:avLst/>
          </a:prstGeom>
          <a:noFill/>
          <a:ln w="15875">
            <a:solidFill>
              <a:srgbClr val="EC8079"/>
            </a:solidFill>
            <a:prstDash val="solid"/>
          </a:ln>
        </p:spPr>
      </p:sp>
      <p:sp>
        <p:nvSpPr>
          <p:cNvPr id="50" name="Shape 48"/>
          <p:cNvSpPr/>
          <p:nvPr/>
        </p:nvSpPr>
        <p:spPr>
          <a:xfrm>
            <a:off x="3803904" y="5148072"/>
            <a:ext cx="3977640" cy="0"/>
          </a:xfrm>
          <a:prstGeom prst="line">
            <a:avLst/>
          </a:prstGeom>
          <a:noFill/>
          <a:ln w="15875">
            <a:solidFill>
              <a:srgbClr val="EC8079"/>
            </a:solidFill>
            <a:prstDash val="solid"/>
            <a:tailEnd type="triangle"/>
          </a:ln>
        </p:spPr>
      </p:sp>
      <p:sp>
        <p:nvSpPr>
          <p:cNvPr id="51" name="Text 49"/>
          <p:cNvSpPr txBox="1"/>
          <p:nvPr/>
        </p:nvSpPr>
        <p:spPr>
          <a:xfrm>
            <a:off x="3977640" y="4882896"/>
            <a:ext cx="1463040" cy="219456"/>
          </a:xfrm>
          <a:prstGeom prst="rect">
            <a:avLst/>
          </a:prstGeom>
          <a:noFill/>
          <a:ln/>
        </p:spPr>
        <p:txBody>
          <a:bodyPr wrap="square" lIns="0" tIns="0" rIns="0" bIns="0" rtlCol="0" anchor="ctr"/>
          <a:lstStyle/>
          <a:p>
            <a:pPr indent="0" marL="0">
              <a:buNone/>
            </a:pPr>
            <a:r>
              <a:rPr lang="en-US" sz="1050" i="1" dirty="0">
                <a:solidFill>
                  <a:srgbClr val="EC8079"/>
                </a:solidFill>
                <a:latin typeface="Arial" pitchFamily="34" charset="0"/>
                <a:ea typeface="Arial" pitchFamily="34" charset="-122"/>
                <a:cs typeface="Arial" pitchFamily="34" charset="-120"/>
              </a:rPr>
              <a:t>gate failed</a:t>
            </a:r>
            <a:endParaRPr lang="en-US" sz="1050" dirty="0"/>
          </a:p>
        </p:txBody>
      </p:sp>
      <p:sp>
        <p:nvSpPr>
          <p:cNvPr id="52" name="Shape 50"/>
          <p:cNvSpPr/>
          <p:nvPr/>
        </p:nvSpPr>
        <p:spPr>
          <a:xfrm>
            <a:off x="822960" y="4498848"/>
            <a:ext cx="0" cy="1399032"/>
          </a:xfrm>
          <a:prstGeom prst="line">
            <a:avLst/>
          </a:prstGeom>
          <a:noFill/>
          <a:ln w="15875">
            <a:solidFill>
              <a:srgbClr val="9BA1C1"/>
            </a:solidFill>
            <a:prstDash val="solid"/>
          </a:ln>
        </p:spPr>
      </p:sp>
      <p:sp>
        <p:nvSpPr>
          <p:cNvPr id="53" name="Shape 51"/>
          <p:cNvSpPr/>
          <p:nvPr/>
        </p:nvSpPr>
        <p:spPr>
          <a:xfrm>
            <a:off x="822960" y="5897880"/>
            <a:ext cx="6958584" cy="0"/>
          </a:xfrm>
          <a:prstGeom prst="line">
            <a:avLst/>
          </a:prstGeom>
          <a:noFill/>
          <a:ln w="15875">
            <a:solidFill>
              <a:srgbClr val="9BA1C1"/>
            </a:solidFill>
            <a:prstDash val="solid"/>
            <a:tailEnd type="triangle"/>
          </a:ln>
        </p:spPr>
      </p:sp>
      <p:sp>
        <p:nvSpPr>
          <p:cNvPr id="54" name="Text 52"/>
          <p:cNvSpPr txBox="1"/>
          <p:nvPr/>
        </p:nvSpPr>
        <p:spPr>
          <a:xfrm>
            <a:off x="1005840" y="5632704"/>
            <a:ext cx="3108960" cy="219456"/>
          </a:xfrm>
          <a:prstGeom prst="rect">
            <a:avLst/>
          </a:prstGeom>
          <a:noFill/>
          <a:ln/>
        </p:spPr>
        <p:txBody>
          <a:bodyPr wrap="square" lIns="0" tIns="0" rIns="0" bIns="0" rtlCol="0" anchor="ctr"/>
          <a:lstStyle/>
          <a:p>
            <a:pPr indent="0" marL="0">
              <a:buNone/>
            </a:pPr>
            <a:r>
              <a:rPr lang="en-US" sz="1050" i="1" dirty="0">
                <a:solidFill>
                  <a:srgbClr val="9BA1C1"/>
                </a:solidFill>
                <a:latin typeface="Arial" pitchFamily="34" charset="0"/>
                <a:ea typeface="Arial" pitchFamily="34" charset="-122"/>
                <a:cs typeface="Arial" pitchFamily="34" charset="-120"/>
              </a:rPr>
              <a:t>implausible after one retry</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3F8"/>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THE ONE CONSTRAINT THAT CANNOT BE TRADED</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1B1D33"/>
                </a:solidFill>
                <a:latin typeface="Arial" pitchFamily="34" charset="0"/>
                <a:ea typeface="Arial" pitchFamily="34" charset="-122"/>
                <a:cs typeface="Arial" pitchFamily="34" charset="-120"/>
              </a:rPr>
              <a:t>No head in frame, no centimetres</a:t>
            </a:r>
            <a:endParaRPr lang="en-US" sz="3000" dirty="0"/>
          </a:p>
        </p:txBody>
      </p:sp>
      <p:sp>
        <p:nvSpPr>
          <p:cNvPr id="4" name="Text 2"/>
          <p:cNvSpPr txBox="1"/>
          <p:nvPr/>
        </p:nvSpPr>
        <p:spPr>
          <a:xfrm>
            <a:off x="502920" y="1042416"/>
            <a:ext cx="11185855" cy="310896"/>
          </a:xfrm>
          <a:prstGeom prst="rect">
            <a:avLst/>
          </a:prstGeom>
          <a:noFill/>
          <a:ln/>
        </p:spPr>
        <p:txBody>
          <a:bodyPr wrap="square" lIns="0" tIns="0" rIns="0" bIns="0" rtlCol="0" anchor="ctr"/>
          <a:lstStyle/>
          <a:p>
            <a:pPr algn="l" indent="0" marL="0">
              <a:buNone/>
            </a:pPr>
            <a:r>
              <a:rPr lang="en-US" sz="1300" dirty="0">
                <a:solidFill>
                  <a:srgbClr val="4E5470"/>
                </a:solidFill>
                <a:latin typeface="Arial" pitchFamily="34" charset="0"/>
                <a:ea typeface="Arial" pitchFamily="34" charset="-122"/>
                <a:cs typeface="Arial" pitchFamily="34" charset="-120"/>
              </a:rPr>
              <a:t>Monocular video is scale-ambiguous. β gives proportions; the centimetres come from outside.</a:t>
            </a:r>
            <a:endParaRPr lang="en-US" sz="1300" dirty="0"/>
          </a:p>
        </p:txBody>
      </p:sp>
      <p:sp>
        <p:nvSpPr>
          <p:cNvPr id="5" name="Shape 3"/>
          <p:cNvSpPr/>
          <p:nvPr/>
        </p:nvSpPr>
        <p:spPr>
          <a:xfrm>
            <a:off x="502920" y="1792224"/>
            <a:ext cx="11185855" cy="713232"/>
          </a:xfrm>
          <a:prstGeom prst="roundRect">
            <a:avLst>
              <a:gd name="adj" fmla="val 7692"/>
            </a:avLst>
          </a:prstGeom>
          <a:solidFill>
            <a:srgbClr val="FFFFFF"/>
          </a:solidFill>
          <a:ln w="12700">
            <a:solidFill>
              <a:srgbClr val="E2E6F0"/>
            </a:solidFill>
            <a:prstDash val="solid"/>
          </a:ln>
        </p:spPr>
      </p:sp>
      <p:sp>
        <p:nvSpPr>
          <p:cNvPr id="6" name="Text 4"/>
          <p:cNvSpPr txBox="1"/>
          <p:nvPr/>
        </p:nvSpPr>
        <p:spPr>
          <a:xfrm>
            <a:off x="502920" y="1792224"/>
            <a:ext cx="11185855" cy="713232"/>
          </a:xfrm>
          <a:prstGeom prst="rect">
            <a:avLst/>
          </a:prstGeom>
          <a:noFill/>
          <a:ln/>
        </p:spPr>
        <p:txBody>
          <a:bodyPr wrap="square" lIns="0" tIns="0" rIns="0" bIns="0" rtlCol="0" anchor="ctr"/>
          <a:lstStyle/>
          <a:p>
            <a:pPr algn="ctr" indent="0" marL="0">
              <a:buNone/>
            </a:pPr>
            <a:r>
              <a:rPr lang="en-US" sz="2100" b="1" dirty="0">
                <a:solidFill>
                  <a:srgbClr val="1B1D33"/>
                </a:solidFill>
                <a:latin typeface="Arial" pitchFamily="34" charset="0"/>
                <a:ea typeface="Arial" pitchFamily="34" charset="-122"/>
                <a:cs typeface="Arial" pitchFamily="34" charset="-120"/>
              </a:rPr>
              <a:t>s  =  H_reported_cm  /  extent_mesh( crown → heel )</a:t>
            </a:r>
            <a:endParaRPr lang="en-US" sz="2100" dirty="0"/>
          </a:p>
        </p:txBody>
      </p:sp>
      <p:sp>
        <p:nvSpPr>
          <p:cNvPr id="7" name="Shape 5"/>
          <p:cNvSpPr/>
          <p:nvPr/>
        </p:nvSpPr>
        <p:spPr>
          <a:xfrm>
            <a:off x="502920" y="2743200"/>
            <a:ext cx="5394960" cy="2212848"/>
          </a:xfrm>
          <a:prstGeom prst="roundRect">
            <a:avLst>
              <a:gd name="adj" fmla="val 2479"/>
            </a:avLst>
          </a:prstGeom>
          <a:solidFill>
            <a:srgbClr val="E8F1EC"/>
          </a:solidFill>
          <a:ln w="19050">
            <a:solidFill>
              <a:srgbClr val="1B6440"/>
            </a:solidFill>
            <a:prstDash val="solid"/>
          </a:ln>
        </p:spPr>
      </p:sp>
      <p:sp>
        <p:nvSpPr>
          <p:cNvPr id="8" name="Text 6"/>
          <p:cNvSpPr txBox="1"/>
          <p:nvPr/>
        </p:nvSpPr>
        <p:spPr>
          <a:xfrm>
            <a:off x="850392" y="2944368"/>
            <a:ext cx="4663440" cy="329184"/>
          </a:xfrm>
          <a:prstGeom prst="rect">
            <a:avLst/>
          </a:prstGeom>
          <a:noFill/>
          <a:ln/>
        </p:spPr>
        <p:txBody>
          <a:bodyPr wrap="square" lIns="0" tIns="0" rIns="0" bIns="0" rtlCol="0" anchor="ctr"/>
          <a:lstStyle/>
          <a:p>
            <a:pPr indent="0" marL="0">
              <a:buNone/>
            </a:pPr>
            <a:r>
              <a:rPr lang="en-US" sz="1800" b="1" dirty="0">
                <a:solidFill>
                  <a:srgbClr val="1B6440"/>
                </a:solidFill>
                <a:latin typeface="Arial" pitchFamily="34" charset="0"/>
                <a:ea typeface="Arial" pitchFamily="34" charset="-122"/>
                <a:cs typeface="Arial" pitchFamily="34" charset="-120"/>
              </a:rPr>
              <a:t>Head in frame</a:t>
            </a:r>
            <a:endParaRPr lang="en-US" sz="1800" dirty="0"/>
          </a:p>
        </p:txBody>
      </p:sp>
      <p:sp>
        <p:nvSpPr>
          <p:cNvPr id="9" name="Text 7"/>
          <p:cNvSpPr txBox="1"/>
          <p:nvPr/>
        </p:nvSpPr>
        <p:spPr>
          <a:xfrm>
            <a:off x="850392" y="3401568"/>
            <a:ext cx="4663440" cy="1005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D33"/>
                </a:solidFill>
                <a:latin typeface="Arial" pitchFamily="34" charset="0"/>
                <a:ea typeface="Arial" pitchFamily="34" charset="-122"/>
                <a:cs typeface="Arial" pitchFamily="34" charset="-120"/>
              </a:rPr>
              <a:t>extent is known</a:t>
            </a:r>
            <a:endParaRPr lang="en-US" sz="1300" dirty="0"/>
          </a:p>
          <a:p>
            <a:pPr marL="342900" indent="-342900">
              <a:spcAft>
                <a:spcPts val="600"/>
              </a:spcAft>
              <a:buSzPct val="100000"/>
              <a:buChar char="•"/>
            </a:pPr>
            <a:r>
              <a:rPr lang="en-US" sz="1300" dirty="0">
                <a:solidFill>
                  <a:srgbClr val="1B1D33"/>
                </a:solidFill>
                <a:latin typeface="Arial" pitchFamily="34" charset="0"/>
                <a:ea typeface="Arial" pitchFamily="34" charset="-122"/>
                <a:cs typeface="Arial" pitchFamily="34" charset="-120"/>
              </a:rPr>
              <a:t>s resolves</a:t>
            </a:r>
            <a:endParaRPr lang="en-US" sz="1300" dirty="0"/>
          </a:p>
          <a:p>
            <a:pPr marL="342900" indent="-342900">
              <a:spcAft>
                <a:spcPts val="600"/>
              </a:spcAft>
              <a:buSzPct val="100000"/>
              <a:buChar char="•"/>
            </a:pPr>
            <a:r>
              <a:rPr lang="en-US" sz="1300" dirty="0">
                <a:solidFill>
                  <a:srgbClr val="1B1D33"/>
                </a:solidFill>
                <a:latin typeface="Arial" pitchFamily="34" charset="0"/>
                <a:ea typeface="Arial" pitchFamily="34" charset="-122"/>
                <a:cs typeface="Arial" pitchFamily="34" charset="-120"/>
              </a:rPr>
              <a:t>measurements land in centimetres</a:t>
            </a:r>
            <a:endParaRPr lang="en-US" sz="1300" dirty="0"/>
          </a:p>
        </p:txBody>
      </p:sp>
      <p:sp>
        <p:nvSpPr>
          <p:cNvPr id="10" name="Text 8"/>
          <p:cNvSpPr txBox="1"/>
          <p:nvPr/>
        </p:nvSpPr>
        <p:spPr>
          <a:xfrm>
            <a:off x="850392" y="4443984"/>
            <a:ext cx="4663440" cy="292608"/>
          </a:xfrm>
          <a:prstGeom prst="rect">
            <a:avLst/>
          </a:prstGeom>
          <a:noFill/>
          <a:ln/>
        </p:spPr>
        <p:txBody>
          <a:bodyPr wrap="square" lIns="0" tIns="0" rIns="0" bIns="0" rtlCol="0" anchor="ctr"/>
          <a:lstStyle/>
          <a:p>
            <a:pPr indent="0" marL="0">
              <a:buNone/>
            </a:pPr>
            <a:r>
              <a:rPr lang="en-US" sz="1200" b="1" spc="200" kern="0" dirty="0">
                <a:solidFill>
                  <a:srgbClr val="1B6440"/>
                </a:solidFill>
                <a:latin typeface="Arial" pitchFamily="34" charset="0"/>
                <a:ea typeface="Arial" pitchFamily="34" charset="-122"/>
                <a:cs typeface="Arial" pitchFamily="34" charset="-120"/>
              </a:rPr>
              <a:t>PROCEED</a:t>
            </a:r>
            <a:endParaRPr lang="en-US" sz="1200" dirty="0"/>
          </a:p>
        </p:txBody>
      </p:sp>
      <p:sp>
        <p:nvSpPr>
          <p:cNvPr id="11" name="Shape 9"/>
          <p:cNvSpPr/>
          <p:nvPr/>
        </p:nvSpPr>
        <p:spPr>
          <a:xfrm>
            <a:off x="6281928" y="2743200"/>
            <a:ext cx="5394960" cy="2212848"/>
          </a:xfrm>
          <a:prstGeom prst="roundRect">
            <a:avLst>
              <a:gd name="adj" fmla="val 2479"/>
            </a:avLst>
          </a:prstGeom>
          <a:solidFill>
            <a:srgbClr val="F7E5E4"/>
          </a:solidFill>
          <a:ln w="19050">
            <a:solidFill>
              <a:srgbClr val="A9302B"/>
            </a:solidFill>
            <a:prstDash val="solid"/>
          </a:ln>
        </p:spPr>
      </p:sp>
      <p:sp>
        <p:nvSpPr>
          <p:cNvPr id="12" name="Text 10"/>
          <p:cNvSpPr txBox="1"/>
          <p:nvPr/>
        </p:nvSpPr>
        <p:spPr>
          <a:xfrm>
            <a:off x="6629400" y="2944368"/>
            <a:ext cx="4663440" cy="329184"/>
          </a:xfrm>
          <a:prstGeom prst="rect">
            <a:avLst/>
          </a:prstGeom>
          <a:noFill/>
          <a:ln/>
        </p:spPr>
        <p:txBody>
          <a:bodyPr wrap="square" lIns="0" tIns="0" rIns="0" bIns="0" rtlCol="0" anchor="ctr"/>
          <a:lstStyle/>
          <a:p>
            <a:pPr indent="0" marL="0">
              <a:buNone/>
            </a:pPr>
            <a:r>
              <a:rPr lang="en-US" sz="1800" b="1" dirty="0">
                <a:solidFill>
                  <a:srgbClr val="A9302B"/>
                </a:solidFill>
                <a:latin typeface="Arial" pitchFamily="34" charset="0"/>
                <a:ea typeface="Arial" pitchFamily="34" charset="-122"/>
                <a:cs typeface="Arial" pitchFamily="34" charset="-120"/>
              </a:rPr>
              <a:t>Crown outside frame</a:t>
            </a:r>
            <a:endParaRPr lang="en-US" sz="1800" dirty="0"/>
          </a:p>
        </p:txBody>
      </p:sp>
      <p:sp>
        <p:nvSpPr>
          <p:cNvPr id="13" name="Text 11"/>
          <p:cNvSpPr txBox="1"/>
          <p:nvPr/>
        </p:nvSpPr>
        <p:spPr>
          <a:xfrm>
            <a:off x="6629400" y="3401568"/>
            <a:ext cx="4663440" cy="1005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D33"/>
                </a:solidFill>
                <a:latin typeface="Arial" pitchFamily="34" charset="0"/>
                <a:ea typeface="Arial" pitchFamily="34" charset="-122"/>
                <a:cs typeface="Arial" pitchFamily="34" charset="-120"/>
              </a:rPr>
              <a:t>extent is unknown</a:t>
            </a:r>
            <a:endParaRPr lang="en-US" sz="1300" dirty="0"/>
          </a:p>
          <a:p>
            <a:pPr marL="342900" indent="-342900">
              <a:spcAft>
                <a:spcPts val="600"/>
              </a:spcAft>
              <a:buSzPct val="100000"/>
              <a:buChar char="•"/>
            </a:pPr>
            <a:r>
              <a:rPr lang="en-US" sz="1300" dirty="0">
                <a:solidFill>
                  <a:srgbClr val="1B1D33"/>
                </a:solidFill>
                <a:latin typeface="Arial" pitchFamily="34" charset="0"/>
                <a:ea typeface="Arial" pitchFamily="34" charset="-122"/>
                <a:cs typeface="Arial" pitchFamily="34" charset="-120"/>
              </a:rPr>
              <a:t>s is unrecoverable</a:t>
            </a:r>
            <a:endParaRPr lang="en-US" sz="1300" dirty="0"/>
          </a:p>
          <a:p>
            <a:pPr marL="342900" indent="-342900">
              <a:spcAft>
                <a:spcPts val="600"/>
              </a:spcAft>
              <a:buSzPct val="100000"/>
              <a:buChar char="•"/>
            </a:pPr>
            <a:r>
              <a:rPr lang="en-US" sz="1300" dirty="0">
                <a:solidFill>
                  <a:srgbClr val="1B1D33"/>
                </a:solidFill>
                <a:latin typeface="Arial" pitchFamily="34" charset="0"/>
                <a:ea typeface="Arial" pitchFamily="34" charset="-122"/>
                <a:cs typeface="Arial" pitchFamily="34" charset="-120"/>
              </a:rPr>
              <a:t>every measurement is unitless</a:t>
            </a:r>
            <a:endParaRPr lang="en-US" sz="1300" dirty="0"/>
          </a:p>
        </p:txBody>
      </p:sp>
      <p:sp>
        <p:nvSpPr>
          <p:cNvPr id="14" name="Text 12"/>
          <p:cNvSpPr txBox="1"/>
          <p:nvPr/>
        </p:nvSpPr>
        <p:spPr>
          <a:xfrm>
            <a:off x="6629400" y="4443984"/>
            <a:ext cx="4663440" cy="292608"/>
          </a:xfrm>
          <a:prstGeom prst="rect">
            <a:avLst/>
          </a:prstGeom>
          <a:noFill/>
          <a:ln/>
        </p:spPr>
        <p:txBody>
          <a:bodyPr wrap="square" lIns="0" tIns="0" rIns="0" bIns="0" rtlCol="0" anchor="ctr"/>
          <a:lstStyle/>
          <a:p>
            <a:pPr indent="0" marL="0">
              <a:buNone/>
            </a:pPr>
            <a:r>
              <a:rPr lang="en-US" sz="1200" b="1" spc="200" kern="0" dirty="0">
                <a:solidFill>
                  <a:srgbClr val="A9302B"/>
                </a:solidFill>
                <a:latin typeface="Arial" pitchFamily="34" charset="0"/>
                <a:ea typeface="Arial" pitchFamily="34" charset="-122"/>
                <a:cs typeface="Arial" pitchFamily="34" charset="-120"/>
              </a:rPr>
              <a:t>HARD FAILURE</a:t>
            </a:r>
            <a:endParaRPr lang="en-US" sz="1200" dirty="0"/>
          </a:p>
        </p:txBody>
      </p:sp>
      <p:sp>
        <p:nvSpPr>
          <p:cNvPr id="15" name="Shape 13"/>
          <p:cNvSpPr/>
          <p:nvPr/>
        </p:nvSpPr>
        <p:spPr>
          <a:xfrm>
            <a:off x="502920" y="5193792"/>
            <a:ext cx="11185855" cy="1042416"/>
          </a:xfrm>
          <a:prstGeom prst="roundRect">
            <a:avLst>
              <a:gd name="adj" fmla="val 5263"/>
            </a:avLst>
          </a:prstGeom>
          <a:solidFill>
            <a:srgbClr val="FFF6E6"/>
          </a:solidFill>
          <a:ln w="19050">
            <a:solidFill>
              <a:srgbClr val="C08A1E"/>
            </a:solidFill>
            <a:prstDash val="solid"/>
          </a:ln>
        </p:spPr>
      </p:sp>
      <p:sp>
        <p:nvSpPr>
          <p:cNvPr id="16" name="Text 14"/>
          <p:cNvSpPr txBox="1"/>
          <p:nvPr/>
        </p:nvSpPr>
        <p:spPr>
          <a:xfrm>
            <a:off x="813816" y="5321808"/>
            <a:ext cx="10515600" cy="274320"/>
          </a:xfrm>
          <a:prstGeom prst="rect">
            <a:avLst/>
          </a:prstGeom>
          <a:noFill/>
          <a:ln/>
        </p:spPr>
        <p:txBody>
          <a:bodyPr wrap="square" lIns="0" tIns="0" rIns="0" bIns="0" rtlCol="0" anchor="ctr"/>
          <a:lstStyle/>
          <a:p>
            <a:pPr indent="0" marL="0">
              <a:buNone/>
            </a:pPr>
            <a:r>
              <a:rPr lang="en-US" sz="1350" b="1" dirty="0">
                <a:solidFill>
                  <a:srgbClr val="7A5410"/>
                </a:solidFill>
                <a:latin typeface="Arial" pitchFamily="34" charset="0"/>
                <a:ea typeface="Arial" pitchFamily="34" charset="-122"/>
                <a:cs typeface="Arial" pitchFamily="34" charset="-120"/>
              </a:rPr>
              <a:t>Blocking gates return a cause, never a generic failure.</a:t>
            </a:r>
            <a:endParaRPr lang="en-US" sz="1350" dirty="0"/>
          </a:p>
        </p:txBody>
      </p:sp>
      <p:sp>
        <p:nvSpPr>
          <p:cNvPr id="17" name="Text 15"/>
          <p:cNvSpPr txBox="1"/>
          <p:nvPr/>
        </p:nvSpPr>
        <p:spPr>
          <a:xfrm>
            <a:off x="813816" y="5614416"/>
            <a:ext cx="10515600" cy="512064"/>
          </a:xfrm>
          <a:prstGeom prst="rect">
            <a:avLst/>
          </a:prstGeom>
          <a:noFill/>
          <a:ln/>
        </p:spPr>
        <p:txBody>
          <a:bodyPr wrap="square" lIns="0" tIns="0" rIns="0" bIns="0" rtlCol="0" anchor="t"/>
          <a:lstStyle/>
          <a:p>
            <a:pPr indent="0" marL="0">
              <a:lnSpc>
                <a:spcPct val="115000"/>
              </a:lnSpc>
              <a:buNone/>
            </a:pPr>
            <a:r>
              <a:rPr lang="en-US" sz="1250" i="1" dirty="0">
                <a:solidFill>
                  <a:srgbClr val="1B1D33"/>
                </a:solidFill>
                <a:latin typeface="Arial" pitchFamily="34" charset="0"/>
                <a:ea typeface="Arial" pitchFamily="34" charset="-122"/>
                <a:cs typeface="Arial" pitchFamily="34" charset="-120"/>
              </a:rPr>
              <a:t>“We can’t see the top of your head. We need your full body, head to feet, to turn the scan into centimetres — move the phone further away and record again.”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GATES AND SIGNALS</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Four blocking checks, five coaching signals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517904"/>
          <a:ext cx="11185855" cy="914400"/>
        </p:xfrm>
        <a:graphic>
          <a:graphicData uri="http://schemas.openxmlformats.org/drawingml/2006/table">
            <a:tbl>
              <a:tblPr/>
              <a:tblGrid>
                <a:gridCol w="2651760"/>
                <a:gridCol w="1600200"/>
                <a:gridCol w="6933895"/>
              </a:tblGrid>
              <a:tr h="402336">
                <a:tc>
                  <a:txBody>
                    <a:bodyPr/>
                    <a:lstStyle/>
                    <a:p>
                      <a:pPr indent="0" marL="0">
                        <a:buNone/>
                      </a:pPr>
                      <a:r>
                        <a:rPr lang="en-US" sz="1250" b="1" dirty="0">
                          <a:solidFill>
                            <a:srgbClr val="F2F3F8"/>
                          </a:solidFill>
                          <a:latin typeface="Arial" pitchFamily="34" charset="0"/>
                          <a:ea typeface="Arial" pitchFamily="34" charset="-122"/>
                          <a:cs typeface="Arial" pitchFamily="34" charset="-120"/>
                        </a:rPr>
                        <a:t>Check</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b="1" dirty="0">
                          <a:solidFill>
                            <a:srgbClr val="F2F3F8"/>
                          </a:solidFill>
                          <a:latin typeface="Arial" pitchFamily="34" charset="0"/>
                          <a:ea typeface="Arial" pitchFamily="34" charset="-122"/>
                          <a:cs typeface="Arial" pitchFamily="34" charset="-120"/>
                        </a:rPr>
                        <a:t>Type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b="1" dirty="0">
                          <a:solidFill>
                            <a:srgbClr val="F2F3F8"/>
                          </a:solidFill>
                          <a:latin typeface="Arial" pitchFamily="34" charset="0"/>
                          <a:ea typeface="Arial" pitchFamily="34" charset="-122"/>
                          <a:cs typeface="Arial" pitchFamily="34" charset="-120"/>
                        </a:rPr>
                        <a:t>Consequence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head_visible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BLOCKING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Scale unrecoverable. Discard the session and name the cause.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feet_visible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BLOCKING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Extent incomplete — the same failure at the other end.</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body_in_frame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BLOCKING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Mesh recovery is unreliable on partial bodies.</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min_frames</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BLOCKING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Fewer than k usable frames to aggregate.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rotation_coverage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coaching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Keep filming; ask for a wider turn.</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blur_variance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coaching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Drop the affected frames, lower confidence.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lighting_estimate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coaching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Ask the user to turn towards the light.</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clothing_looseness</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confidence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Flag on the set — the dominant error source.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beta_variance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stop rule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Below τ, stop. Above τ, keep filming.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bl>
          </a:graphicData>
        </a:graphic>
      </p:graphicFrame>
      <p:sp>
        <p:nvSpPr>
          <p:cNvPr id="5" name="Text 2"/>
          <p:cNvSpPr txBox="1"/>
          <p:nvPr/>
        </p:nvSpPr>
        <p:spPr>
          <a:xfrm>
            <a:off x="502920" y="5705856"/>
            <a:ext cx="11185855" cy="585216"/>
          </a:xfrm>
          <a:prstGeom prst="rect">
            <a:avLst/>
          </a:prstGeom>
          <a:noFill/>
          <a:ln/>
        </p:spPr>
        <p:txBody>
          <a:bodyPr wrap="square" lIns="0" tIns="0" rIns="0" bIns="0" rtlCol="0" anchor="ctr"/>
          <a:lstStyle/>
          <a:p>
            <a:pPr indent="0" marL="0">
              <a:lnSpc>
                <a:spcPct val="115000"/>
              </a:lnSpc>
              <a:buNone/>
            </a:pPr>
            <a:r>
              <a:rPr lang="en-US" sz="1250" i="1" dirty="0">
                <a:solidFill>
                  <a:srgbClr val="E0A458"/>
                </a:solidFill>
                <a:latin typeface="Arial" pitchFamily="34" charset="0"/>
                <a:ea typeface="Arial" pitchFamily="34" charset="-122"/>
                <a:cs typeface="Arial" pitchFamily="34" charset="-120"/>
              </a:rPr>
              <a:t>“Scan failed, please try again” teaches the user nothing and guarantees a second failure. Every blocking message names the cause and the one physical action that fixes it.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MEASUREMENT ON FIXED TOPOLOGY</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Nine landmarks, defined once, reused for every body</a:t>
            </a:r>
            <a:endParaRPr lang="en-US" sz="3000" dirty="0"/>
          </a:p>
        </p:txBody>
      </p:sp>
      <p:sp>
        <p:nvSpPr>
          <p:cNvPr id="4" name="Text 2"/>
          <p:cNvSpPr txBox="1"/>
          <p:nvPr/>
        </p:nvSpPr>
        <p:spPr>
          <a:xfrm>
            <a:off x="502920" y="1042416"/>
            <a:ext cx="11185855" cy="310896"/>
          </a:xfrm>
          <a:prstGeom prst="rect">
            <a:avLst/>
          </a:prstGeom>
          <a:noFill/>
          <a:ln/>
        </p:spPr>
        <p:txBody>
          <a:bodyPr wrap="square" lIns="0" tIns="0" rIns="0" bIns="0" rtlCol="0" anchor="ctr"/>
          <a:lstStyle/>
          <a:p>
            <a:pPr algn="l" indent="0" marL="0">
              <a:buNone/>
            </a:pPr>
            <a:r>
              <a:rPr lang="en-US" sz="1300" dirty="0">
                <a:solidFill>
                  <a:srgbClr val="9BA1C1"/>
                </a:solidFill>
                <a:latin typeface="Arial" pitchFamily="34" charset="0"/>
                <a:ea typeface="Arial" pitchFamily="34" charset="-122"/>
                <a:cs typeface="Arial" pitchFamily="34" charset="-120"/>
              </a:rPr>
              <a:t>SMPL vertex indices are constant across bodies, so measurement paths are hard-coded rather than searched for.</a:t>
            </a:r>
            <a:endParaRPr lang="en-US" sz="1300" dirty="0"/>
          </a:p>
        </p:txBody>
      </p:sp>
      <p:sp>
        <p:nvSpPr>
          <p:cNvPr id="5" name="Shape 3"/>
          <p:cNvSpPr/>
          <p:nvPr/>
        </p:nvSpPr>
        <p:spPr>
          <a:xfrm>
            <a:off x="502920" y="1938528"/>
            <a:ext cx="3547872" cy="1060704"/>
          </a:xfrm>
          <a:prstGeom prst="roundRect">
            <a:avLst>
              <a:gd name="adj" fmla="val 5172"/>
            </a:avLst>
          </a:prstGeom>
          <a:solidFill>
            <a:srgbClr val="252943"/>
          </a:solidFill>
          <a:ln w="12700">
            <a:solidFill>
              <a:srgbClr val="252943"/>
            </a:solidFill>
            <a:prstDash val="solid"/>
          </a:ln>
        </p:spPr>
      </p:sp>
      <p:sp>
        <p:nvSpPr>
          <p:cNvPr id="6" name="Shape 4"/>
          <p:cNvSpPr/>
          <p:nvPr/>
        </p:nvSpPr>
        <p:spPr>
          <a:xfrm>
            <a:off x="740664" y="2157984"/>
            <a:ext cx="0" cy="146304"/>
          </a:xfrm>
          <a:prstGeom prst="line">
            <a:avLst/>
          </a:prstGeom>
          <a:noFill/>
          <a:ln w="12700">
            <a:solidFill>
              <a:srgbClr val="E0A458"/>
            </a:solidFill>
            <a:prstDash val="solid"/>
          </a:ln>
        </p:spPr>
      </p:sp>
      <p:sp>
        <p:nvSpPr>
          <p:cNvPr id="7" name="Shape 5"/>
          <p:cNvSpPr/>
          <p:nvPr/>
        </p:nvSpPr>
        <p:spPr>
          <a:xfrm>
            <a:off x="841248" y="2157984"/>
            <a:ext cx="0" cy="82296"/>
          </a:xfrm>
          <a:prstGeom prst="line">
            <a:avLst/>
          </a:prstGeom>
          <a:noFill/>
          <a:ln w="12700">
            <a:solidFill>
              <a:srgbClr val="6E7699"/>
            </a:solidFill>
            <a:prstDash val="solid"/>
          </a:ln>
        </p:spPr>
      </p:sp>
      <p:sp>
        <p:nvSpPr>
          <p:cNvPr id="8" name="Shape 6"/>
          <p:cNvSpPr/>
          <p:nvPr/>
        </p:nvSpPr>
        <p:spPr>
          <a:xfrm>
            <a:off x="941832" y="2157984"/>
            <a:ext cx="0" cy="82296"/>
          </a:xfrm>
          <a:prstGeom prst="line">
            <a:avLst/>
          </a:prstGeom>
          <a:noFill/>
          <a:ln w="12700">
            <a:solidFill>
              <a:srgbClr val="6E7699"/>
            </a:solidFill>
            <a:prstDash val="solid"/>
          </a:ln>
        </p:spPr>
      </p:sp>
      <p:sp>
        <p:nvSpPr>
          <p:cNvPr id="9" name="Shape 7"/>
          <p:cNvSpPr/>
          <p:nvPr/>
        </p:nvSpPr>
        <p:spPr>
          <a:xfrm>
            <a:off x="1042416" y="2157984"/>
            <a:ext cx="0" cy="82296"/>
          </a:xfrm>
          <a:prstGeom prst="line">
            <a:avLst/>
          </a:prstGeom>
          <a:noFill/>
          <a:ln w="12700">
            <a:solidFill>
              <a:srgbClr val="6E7699"/>
            </a:solidFill>
            <a:prstDash val="solid"/>
          </a:ln>
        </p:spPr>
      </p:sp>
      <p:sp>
        <p:nvSpPr>
          <p:cNvPr id="10" name="Shape 8"/>
          <p:cNvSpPr/>
          <p:nvPr/>
        </p:nvSpPr>
        <p:spPr>
          <a:xfrm>
            <a:off x="1143000" y="2157984"/>
            <a:ext cx="0" cy="82296"/>
          </a:xfrm>
          <a:prstGeom prst="line">
            <a:avLst/>
          </a:prstGeom>
          <a:noFill/>
          <a:ln w="12700">
            <a:solidFill>
              <a:srgbClr val="6E7699"/>
            </a:solidFill>
            <a:prstDash val="solid"/>
          </a:ln>
        </p:spPr>
      </p:sp>
      <p:sp>
        <p:nvSpPr>
          <p:cNvPr id="11" name="Shape 9"/>
          <p:cNvSpPr/>
          <p:nvPr/>
        </p:nvSpPr>
        <p:spPr>
          <a:xfrm>
            <a:off x="1243584" y="2157984"/>
            <a:ext cx="0" cy="82296"/>
          </a:xfrm>
          <a:prstGeom prst="line">
            <a:avLst/>
          </a:prstGeom>
          <a:noFill/>
          <a:ln w="12700">
            <a:solidFill>
              <a:srgbClr val="6E7699"/>
            </a:solidFill>
            <a:prstDash val="solid"/>
          </a:ln>
        </p:spPr>
      </p:sp>
      <p:sp>
        <p:nvSpPr>
          <p:cNvPr id="12" name="Shape 10"/>
          <p:cNvSpPr/>
          <p:nvPr/>
        </p:nvSpPr>
        <p:spPr>
          <a:xfrm>
            <a:off x="1344168" y="2157984"/>
            <a:ext cx="0" cy="82296"/>
          </a:xfrm>
          <a:prstGeom prst="line">
            <a:avLst/>
          </a:prstGeom>
          <a:noFill/>
          <a:ln w="12700">
            <a:solidFill>
              <a:srgbClr val="6E7699"/>
            </a:solidFill>
            <a:prstDash val="solid"/>
          </a:ln>
        </p:spPr>
      </p:sp>
      <p:sp>
        <p:nvSpPr>
          <p:cNvPr id="13" name="Text 11"/>
          <p:cNvSpPr txBox="1"/>
          <p:nvPr/>
        </p:nvSpPr>
        <p:spPr>
          <a:xfrm>
            <a:off x="740664" y="2340864"/>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Waist girth</a:t>
            </a:r>
            <a:endParaRPr lang="en-US" sz="1400" dirty="0"/>
          </a:p>
        </p:txBody>
      </p:sp>
      <p:sp>
        <p:nvSpPr>
          <p:cNvPr id="14" name="Text 12"/>
          <p:cNvSpPr txBox="1"/>
          <p:nvPr/>
        </p:nvSpPr>
        <p:spPr>
          <a:xfrm>
            <a:off x="740664" y="2596896"/>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horizontal section</a:t>
            </a:r>
            <a:endParaRPr lang="en-US" sz="1000" dirty="0"/>
          </a:p>
        </p:txBody>
      </p:sp>
      <p:sp>
        <p:nvSpPr>
          <p:cNvPr id="15" name="Text 13"/>
          <p:cNvSpPr txBox="1"/>
          <p:nvPr/>
        </p:nvSpPr>
        <p:spPr>
          <a:xfrm>
            <a:off x="740664" y="2761488"/>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narrowest between ribs and hip</a:t>
            </a:r>
            <a:endParaRPr lang="en-US" sz="1000" dirty="0"/>
          </a:p>
        </p:txBody>
      </p:sp>
      <p:sp>
        <p:nvSpPr>
          <p:cNvPr id="16" name="Shape 14"/>
          <p:cNvSpPr/>
          <p:nvPr/>
        </p:nvSpPr>
        <p:spPr>
          <a:xfrm>
            <a:off x="4270248" y="1938528"/>
            <a:ext cx="3547872" cy="1060704"/>
          </a:xfrm>
          <a:prstGeom prst="roundRect">
            <a:avLst>
              <a:gd name="adj" fmla="val 5172"/>
            </a:avLst>
          </a:prstGeom>
          <a:solidFill>
            <a:srgbClr val="252943"/>
          </a:solidFill>
          <a:ln w="12700">
            <a:solidFill>
              <a:srgbClr val="252943"/>
            </a:solidFill>
            <a:prstDash val="solid"/>
          </a:ln>
        </p:spPr>
      </p:sp>
      <p:sp>
        <p:nvSpPr>
          <p:cNvPr id="17" name="Shape 15"/>
          <p:cNvSpPr/>
          <p:nvPr/>
        </p:nvSpPr>
        <p:spPr>
          <a:xfrm>
            <a:off x="4507992" y="2157984"/>
            <a:ext cx="0" cy="146304"/>
          </a:xfrm>
          <a:prstGeom prst="line">
            <a:avLst/>
          </a:prstGeom>
          <a:noFill/>
          <a:ln w="12700">
            <a:solidFill>
              <a:srgbClr val="E0A458"/>
            </a:solidFill>
            <a:prstDash val="solid"/>
          </a:ln>
        </p:spPr>
      </p:sp>
      <p:sp>
        <p:nvSpPr>
          <p:cNvPr id="18" name="Shape 16"/>
          <p:cNvSpPr/>
          <p:nvPr/>
        </p:nvSpPr>
        <p:spPr>
          <a:xfrm>
            <a:off x="4608576" y="2157984"/>
            <a:ext cx="0" cy="82296"/>
          </a:xfrm>
          <a:prstGeom prst="line">
            <a:avLst/>
          </a:prstGeom>
          <a:noFill/>
          <a:ln w="12700">
            <a:solidFill>
              <a:srgbClr val="6E7699"/>
            </a:solidFill>
            <a:prstDash val="solid"/>
          </a:ln>
        </p:spPr>
      </p:sp>
      <p:sp>
        <p:nvSpPr>
          <p:cNvPr id="19" name="Shape 17"/>
          <p:cNvSpPr/>
          <p:nvPr/>
        </p:nvSpPr>
        <p:spPr>
          <a:xfrm>
            <a:off x="4709160" y="2157984"/>
            <a:ext cx="0" cy="82296"/>
          </a:xfrm>
          <a:prstGeom prst="line">
            <a:avLst/>
          </a:prstGeom>
          <a:noFill/>
          <a:ln w="12700">
            <a:solidFill>
              <a:srgbClr val="6E7699"/>
            </a:solidFill>
            <a:prstDash val="solid"/>
          </a:ln>
        </p:spPr>
      </p:sp>
      <p:sp>
        <p:nvSpPr>
          <p:cNvPr id="20" name="Shape 18"/>
          <p:cNvSpPr/>
          <p:nvPr/>
        </p:nvSpPr>
        <p:spPr>
          <a:xfrm>
            <a:off x="4809744" y="2157984"/>
            <a:ext cx="0" cy="82296"/>
          </a:xfrm>
          <a:prstGeom prst="line">
            <a:avLst/>
          </a:prstGeom>
          <a:noFill/>
          <a:ln w="12700">
            <a:solidFill>
              <a:srgbClr val="6E7699"/>
            </a:solidFill>
            <a:prstDash val="solid"/>
          </a:ln>
        </p:spPr>
      </p:sp>
      <p:sp>
        <p:nvSpPr>
          <p:cNvPr id="21" name="Shape 19"/>
          <p:cNvSpPr/>
          <p:nvPr/>
        </p:nvSpPr>
        <p:spPr>
          <a:xfrm>
            <a:off x="4910328" y="2157984"/>
            <a:ext cx="0" cy="82296"/>
          </a:xfrm>
          <a:prstGeom prst="line">
            <a:avLst/>
          </a:prstGeom>
          <a:noFill/>
          <a:ln w="12700">
            <a:solidFill>
              <a:srgbClr val="6E7699"/>
            </a:solidFill>
            <a:prstDash val="solid"/>
          </a:ln>
        </p:spPr>
      </p:sp>
      <p:sp>
        <p:nvSpPr>
          <p:cNvPr id="22" name="Shape 20"/>
          <p:cNvSpPr/>
          <p:nvPr/>
        </p:nvSpPr>
        <p:spPr>
          <a:xfrm>
            <a:off x="5010912" y="2157984"/>
            <a:ext cx="0" cy="82296"/>
          </a:xfrm>
          <a:prstGeom prst="line">
            <a:avLst/>
          </a:prstGeom>
          <a:noFill/>
          <a:ln w="12700">
            <a:solidFill>
              <a:srgbClr val="6E7699"/>
            </a:solidFill>
            <a:prstDash val="solid"/>
          </a:ln>
        </p:spPr>
      </p:sp>
      <p:sp>
        <p:nvSpPr>
          <p:cNvPr id="23" name="Shape 21"/>
          <p:cNvSpPr/>
          <p:nvPr/>
        </p:nvSpPr>
        <p:spPr>
          <a:xfrm>
            <a:off x="5111496" y="2157984"/>
            <a:ext cx="0" cy="82296"/>
          </a:xfrm>
          <a:prstGeom prst="line">
            <a:avLst/>
          </a:prstGeom>
          <a:noFill/>
          <a:ln w="12700">
            <a:solidFill>
              <a:srgbClr val="6E7699"/>
            </a:solidFill>
            <a:prstDash val="solid"/>
          </a:ln>
        </p:spPr>
      </p:sp>
      <p:sp>
        <p:nvSpPr>
          <p:cNvPr id="24" name="Text 22"/>
          <p:cNvSpPr txBox="1"/>
          <p:nvPr/>
        </p:nvSpPr>
        <p:spPr>
          <a:xfrm>
            <a:off x="4507992" y="2340864"/>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Hip / seat girth</a:t>
            </a:r>
            <a:endParaRPr lang="en-US" sz="1400" dirty="0"/>
          </a:p>
        </p:txBody>
      </p:sp>
      <p:sp>
        <p:nvSpPr>
          <p:cNvPr id="25" name="Text 23"/>
          <p:cNvSpPr txBox="1"/>
          <p:nvPr/>
        </p:nvSpPr>
        <p:spPr>
          <a:xfrm>
            <a:off x="4507992" y="2596896"/>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horizontal section</a:t>
            </a:r>
            <a:endParaRPr lang="en-US" sz="1000" dirty="0"/>
          </a:p>
        </p:txBody>
      </p:sp>
      <p:sp>
        <p:nvSpPr>
          <p:cNvPr id="26" name="Text 24"/>
          <p:cNvSpPr txBox="1"/>
          <p:nvPr/>
        </p:nvSpPr>
        <p:spPr>
          <a:xfrm>
            <a:off x="4507992" y="2761488"/>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widest across the buttocks</a:t>
            </a:r>
            <a:endParaRPr lang="en-US" sz="1000" dirty="0"/>
          </a:p>
        </p:txBody>
      </p:sp>
      <p:sp>
        <p:nvSpPr>
          <p:cNvPr id="27" name="Shape 25"/>
          <p:cNvSpPr/>
          <p:nvPr/>
        </p:nvSpPr>
        <p:spPr>
          <a:xfrm>
            <a:off x="8037576" y="1938528"/>
            <a:ext cx="3547872" cy="1060704"/>
          </a:xfrm>
          <a:prstGeom prst="roundRect">
            <a:avLst>
              <a:gd name="adj" fmla="val 5172"/>
            </a:avLst>
          </a:prstGeom>
          <a:solidFill>
            <a:srgbClr val="252943"/>
          </a:solidFill>
          <a:ln w="12700">
            <a:solidFill>
              <a:srgbClr val="252943"/>
            </a:solidFill>
            <a:prstDash val="solid"/>
          </a:ln>
        </p:spPr>
      </p:sp>
      <p:sp>
        <p:nvSpPr>
          <p:cNvPr id="28" name="Shape 26"/>
          <p:cNvSpPr/>
          <p:nvPr/>
        </p:nvSpPr>
        <p:spPr>
          <a:xfrm>
            <a:off x="8275320" y="2157984"/>
            <a:ext cx="0" cy="146304"/>
          </a:xfrm>
          <a:prstGeom prst="line">
            <a:avLst/>
          </a:prstGeom>
          <a:noFill/>
          <a:ln w="12700">
            <a:solidFill>
              <a:srgbClr val="E0A458"/>
            </a:solidFill>
            <a:prstDash val="solid"/>
          </a:ln>
        </p:spPr>
      </p:sp>
      <p:sp>
        <p:nvSpPr>
          <p:cNvPr id="29" name="Shape 27"/>
          <p:cNvSpPr/>
          <p:nvPr/>
        </p:nvSpPr>
        <p:spPr>
          <a:xfrm>
            <a:off x="8375904" y="2157984"/>
            <a:ext cx="0" cy="82296"/>
          </a:xfrm>
          <a:prstGeom prst="line">
            <a:avLst/>
          </a:prstGeom>
          <a:noFill/>
          <a:ln w="12700">
            <a:solidFill>
              <a:srgbClr val="6E7699"/>
            </a:solidFill>
            <a:prstDash val="solid"/>
          </a:ln>
        </p:spPr>
      </p:sp>
      <p:sp>
        <p:nvSpPr>
          <p:cNvPr id="30" name="Shape 28"/>
          <p:cNvSpPr/>
          <p:nvPr/>
        </p:nvSpPr>
        <p:spPr>
          <a:xfrm>
            <a:off x="8476488" y="2157984"/>
            <a:ext cx="0" cy="82296"/>
          </a:xfrm>
          <a:prstGeom prst="line">
            <a:avLst/>
          </a:prstGeom>
          <a:noFill/>
          <a:ln w="12700">
            <a:solidFill>
              <a:srgbClr val="6E7699"/>
            </a:solidFill>
            <a:prstDash val="solid"/>
          </a:ln>
        </p:spPr>
      </p:sp>
      <p:sp>
        <p:nvSpPr>
          <p:cNvPr id="31" name="Shape 29"/>
          <p:cNvSpPr/>
          <p:nvPr/>
        </p:nvSpPr>
        <p:spPr>
          <a:xfrm>
            <a:off x="8577072" y="2157984"/>
            <a:ext cx="0" cy="82296"/>
          </a:xfrm>
          <a:prstGeom prst="line">
            <a:avLst/>
          </a:prstGeom>
          <a:noFill/>
          <a:ln w="12700">
            <a:solidFill>
              <a:srgbClr val="6E7699"/>
            </a:solidFill>
            <a:prstDash val="solid"/>
          </a:ln>
        </p:spPr>
      </p:sp>
      <p:sp>
        <p:nvSpPr>
          <p:cNvPr id="32" name="Shape 30"/>
          <p:cNvSpPr/>
          <p:nvPr/>
        </p:nvSpPr>
        <p:spPr>
          <a:xfrm>
            <a:off x="8677656" y="2157984"/>
            <a:ext cx="0" cy="82296"/>
          </a:xfrm>
          <a:prstGeom prst="line">
            <a:avLst/>
          </a:prstGeom>
          <a:noFill/>
          <a:ln w="12700">
            <a:solidFill>
              <a:srgbClr val="6E7699"/>
            </a:solidFill>
            <a:prstDash val="solid"/>
          </a:ln>
        </p:spPr>
      </p:sp>
      <p:sp>
        <p:nvSpPr>
          <p:cNvPr id="33" name="Shape 31"/>
          <p:cNvSpPr/>
          <p:nvPr/>
        </p:nvSpPr>
        <p:spPr>
          <a:xfrm>
            <a:off x="8778240" y="2157984"/>
            <a:ext cx="0" cy="82296"/>
          </a:xfrm>
          <a:prstGeom prst="line">
            <a:avLst/>
          </a:prstGeom>
          <a:noFill/>
          <a:ln w="12700">
            <a:solidFill>
              <a:srgbClr val="6E7699"/>
            </a:solidFill>
            <a:prstDash val="solid"/>
          </a:ln>
        </p:spPr>
      </p:sp>
      <p:sp>
        <p:nvSpPr>
          <p:cNvPr id="34" name="Shape 32"/>
          <p:cNvSpPr/>
          <p:nvPr/>
        </p:nvSpPr>
        <p:spPr>
          <a:xfrm>
            <a:off x="8878824" y="2157984"/>
            <a:ext cx="0" cy="82296"/>
          </a:xfrm>
          <a:prstGeom prst="line">
            <a:avLst/>
          </a:prstGeom>
          <a:noFill/>
          <a:ln w="12700">
            <a:solidFill>
              <a:srgbClr val="6E7699"/>
            </a:solidFill>
            <a:prstDash val="solid"/>
          </a:ln>
        </p:spPr>
      </p:sp>
      <p:sp>
        <p:nvSpPr>
          <p:cNvPr id="35" name="Text 33"/>
          <p:cNvSpPr txBox="1"/>
          <p:nvPr/>
        </p:nvSpPr>
        <p:spPr>
          <a:xfrm>
            <a:off x="8275320" y="2340864"/>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Thigh girth</a:t>
            </a:r>
            <a:endParaRPr lang="en-US" sz="1400" dirty="0"/>
          </a:p>
        </p:txBody>
      </p:sp>
      <p:sp>
        <p:nvSpPr>
          <p:cNvPr id="36" name="Text 34"/>
          <p:cNvSpPr txBox="1"/>
          <p:nvPr/>
        </p:nvSpPr>
        <p:spPr>
          <a:xfrm>
            <a:off x="8275320" y="2596896"/>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horizontal section</a:t>
            </a:r>
            <a:endParaRPr lang="en-US" sz="1000" dirty="0"/>
          </a:p>
        </p:txBody>
      </p:sp>
      <p:sp>
        <p:nvSpPr>
          <p:cNvPr id="37" name="Text 35"/>
          <p:cNvSpPr txBox="1"/>
          <p:nvPr/>
        </p:nvSpPr>
        <p:spPr>
          <a:xfrm>
            <a:off x="8275320" y="2761488"/>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just below the crotch vertex</a:t>
            </a:r>
            <a:endParaRPr lang="en-US" sz="1000" dirty="0"/>
          </a:p>
        </p:txBody>
      </p:sp>
      <p:sp>
        <p:nvSpPr>
          <p:cNvPr id="38" name="Shape 36"/>
          <p:cNvSpPr/>
          <p:nvPr/>
        </p:nvSpPr>
        <p:spPr>
          <a:xfrm>
            <a:off x="502920" y="3163824"/>
            <a:ext cx="3547872" cy="1060704"/>
          </a:xfrm>
          <a:prstGeom prst="roundRect">
            <a:avLst>
              <a:gd name="adj" fmla="val 5172"/>
            </a:avLst>
          </a:prstGeom>
          <a:solidFill>
            <a:srgbClr val="252943"/>
          </a:solidFill>
          <a:ln w="12700">
            <a:solidFill>
              <a:srgbClr val="252943"/>
            </a:solidFill>
            <a:prstDash val="solid"/>
          </a:ln>
        </p:spPr>
      </p:sp>
      <p:sp>
        <p:nvSpPr>
          <p:cNvPr id="39" name="Shape 37"/>
          <p:cNvSpPr/>
          <p:nvPr/>
        </p:nvSpPr>
        <p:spPr>
          <a:xfrm>
            <a:off x="740664" y="3383280"/>
            <a:ext cx="0" cy="146304"/>
          </a:xfrm>
          <a:prstGeom prst="line">
            <a:avLst/>
          </a:prstGeom>
          <a:noFill/>
          <a:ln w="12700">
            <a:solidFill>
              <a:srgbClr val="E0A458"/>
            </a:solidFill>
            <a:prstDash val="solid"/>
          </a:ln>
        </p:spPr>
      </p:sp>
      <p:sp>
        <p:nvSpPr>
          <p:cNvPr id="40" name="Shape 38"/>
          <p:cNvSpPr/>
          <p:nvPr/>
        </p:nvSpPr>
        <p:spPr>
          <a:xfrm>
            <a:off x="841248" y="3383280"/>
            <a:ext cx="0" cy="82296"/>
          </a:xfrm>
          <a:prstGeom prst="line">
            <a:avLst/>
          </a:prstGeom>
          <a:noFill/>
          <a:ln w="12700">
            <a:solidFill>
              <a:srgbClr val="6E7699"/>
            </a:solidFill>
            <a:prstDash val="solid"/>
          </a:ln>
        </p:spPr>
      </p:sp>
      <p:sp>
        <p:nvSpPr>
          <p:cNvPr id="41" name="Shape 39"/>
          <p:cNvSpPr/>
          <p:nvPr/>
        </p:nvSpPr>
        <p:spPr>
          <a:xfrm>
            <a:off x="941832" y="3383280"/>
            <a:ext cx="0" cy="82296"/>
          </a:xfrm>
          <a:prstGeom prst="line">
            <a:avLst/>
          </a:prstGeom>
          <a:noFill/>
          <a:ln w="12700">
            <a:solidFill>
              <a:srgbClr val="6E7699"/>
            </a:solidFill>
            <a:prstDash val="solid"/>
          </a:ln>
        </p:spPr>
      </p:sp>
      <p:sp>
        <p:nvSpPr>
          <p:cNvPr id="42" name="Shape 40"/>
          <p:cNvSpPr/>
          <p:nvPr/>
        </p:nvSpPr>
        <p:spPr>
          <a:xfrm>
            <a:off x="1042416" y="3383280"/>
            <a:ext cx="0" cy="82296"/>
          </a:xfrm>
          <a:prstGeom prst="line">
            <a:avLst/>
          </a:prstGeom>
          <a:noFill/>
          <a:ln w="12700">
            <a:solidFill>
              <a:srgbClr val="6E7699"/>
            </a:solidFill>
            <a:prstDash val="solid"/>
          </a:ln>
        </p:spPr>
      </p:sp>
      <p:sp>
        <p:nvSpPr>
          <p:cNvPr id="43" name="Shape 41"/>
          <p:cNvSpPr/>
          <p:nvPr/>
        </p:nvSpPr>
        <p:spPr>
          <a:xfrm>
            <a:off x="1143000" y="3383280"/>
            <a:ext cx="0" cy="82296"/>
          </a:xfrm>
          <a:prstGeom prst="line">
            <a:avLst/>
          </a:prstGeom>
          <a:noFill/>
          <a:ln w="12700">
            <a:solidFill>
              <a:srgbClr val="6E7699"/>
            </a:solidFill>
            <a:prstDash val="solid"/>
          </a:ln>
        </p:spPr>
      </p:sp>
      <p:sp>
        <p:nvSpPr>
          <p:cNvPr id="44" name="Shape 42"/>
          <p:cNvSpPr/>
          <p:nvPr/>
        </p:nvSpPr>
        <p:spPr>
          <a:xfrm>
            <a:off x="1243584" y="3383280"/>
            <a:ext cx="0" cy="82296"/>
          </a:xfrm>
          <a:prstGeom prst="line">
            <a:avLst/>
          </a:prstGeom>
          <a:noFill/>
          <a:ln w="12700">
            <a:solidFill>
              <a:srgbClr val="6E7699"/>
            </a:solidFill>
            <a:prstDash val="solid"/>
          </a:ln>
        </p:spPr>
      </p:sp>
      <p:sp>
        <p:nvSpPr>
          <p:cNvPr id="45" name="Shape 43"/>
          <p:cNvSpPr/>
          <p:nvPr/>
        </p:nvSpPr>
        <p:spPr>
          <a:xfrm>
            <a:off x="1344168" y="3383280"/>
            <a:ext cx="0" cy="82296"/>
          </a:xfrm>
          <a:prstGeom prst="line">
            <a:avLst/>
          </a:prstGeom>
          <a:noFill/>
          <a:ln w="12700">
            <a:solidFill>
              <a:srgbClr val="6E7699"/>
            </a:solidFill>
            <a:prstDash val="solid"/>
          </a:ln>
        </p:spPr>
      </p:sp>
      <p:sp>
        <p:nvSpPr>
          <p:cNvPr id="46" name="Text 44"/>
          <p:cNvSpPr txBox="1"/>
          <p:nvPr/>
        </p:nvSpPr>
        <p:spPr>
          <a:xfrm>
            <a:off x="740664" y="3566160"/>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Knee girth</a:t>
            </a:r>
            <a:endParaRPr lang="en-US" sz="1400" dirty="0"/>
          </a:p>
        </p:txBody>
      </p:sp>
      <p:sp>
        <p:nvSpPr>
          <p:cNvPr id="47" name="Text 45"/>
          <p:cNvSpPr txBox="1"/>
          <p:nvPr/>
        </p:nvSpPr>
        <p:spPr>
          <a:xfrm>
            <a:off x="740664" y="3822192"/>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horizontal section</a:t>
            </a:r>
            <a:endParaRPr lang="en-US" sz="1000" dirty="0"/>
          </a:p>
        </p:txBody>
      </p:sp>
      <p:sp>
        <p:nvSpPr>
          <p:cNvPr id="48" name="Text 46"/>
          <p:cNvSpPr txBox="1"/>
          <p:nvPr/>
        </p:nvSpPr>
        <p:spPr>
          <a:xfrm>
            <a:off x="740664" y="3986784"/>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at the patella landmark</a:t>
            </a:r>
            <a:endParaRPr lang="en-US" sz="1000" dirty="0"/>
          </a:p>
        </p:txBody>
      </p:sp>
      <p:sp>
        <p:nvSpPr>
          <p:cNvPr id="49" name="Shape 47"/>
          <p:cNvSpPr/>
          <p:nvPr/>
        </p:nvSpPr>
        <p:spPr>
          <a:xfrm>
            <a:off x="4270248" y="3163824"/>
            <a:ext cx="3547872" cy="1060704"/>
          </a:xfrm>
          <a:prstGeom prst="roundRect">
            <a:avLst>
              <a:gd name="adj" fmla="val 5172"/>
            </a:avLst>
          </a:prstGeom>
          <a:solidFill>
            <a:srgbClr val="252943"/>
          </a:solidFill>
          <a:ln w="12700">
            <a:solidFill>
              <a:srgbClr val="252943"/>
            </a:solidFill>
            <a:prstDash val="solid"/>
          </a:ln>
        </p:spPr>
      </p:sp>
      <p:sp>
        <p:nvSpPr>
          <p:cNvPr id="50" name="Shape 48"/>
          <p:cNvSpPr/>
          <p:nvPr/>
        </p:nvSpPr>
        <p:spPr>
          <a:xfrm>
            <a:off x="4507992" y="3383280"/>
            <a:ext cx="0" cy="146304"/>
          </a:xfrm>
          <a:prstGeom prst="line">
            <a:avLst/>
          </a:prstGeom>
          <a:noFill/>
          <a:ln w="12700">
            <a:solidFill>
              <a:srgbClr val="E0A458"/>
            </a:solidFill>
            <a:prstDash val="solid"/>
          </a:ln>
        </p:spPr>
      </p:sp>
      <p:sp>
        <p:nvSpPr>
          <p:cNvPr id="51" name="Shape 49"/>
          <p:cNvSpPr/>
          <p:nvPr/>
        </p:nvSpPr>
        <p:spPr>
          <a:xfrm>
            <a:off x="4608576" y="3383280"/>
            <a:ext cx="0" cy="82296"/>
          </a:xfrm>
          <a:prstGeom prst="line">
            <a:avLst/>
          </a:prstGeom>
          <a:noFill/>
          <a:ln w="12700">
            <a:solidFill>
              <a:srgbClr val="6E7699"/>
            </a:solidFill>
            <a:prstDash val="solid"/>
          </a:ln>
        </p:spPr>
      </p:sp>
      <p:sp>
        <p:nvSpPr>
          <p:cNvPr id="52" name="Shape 50"/>
          <p:cNvSpPr/>
          <p:nvPr/>
        </p:nvSpPr>
        <p:spPr>
          <a:xfrm>
            <a:off x="4709160" y="3383280"/>
            <a:ext cx="0" cy="82296"/>
          </a:xfrm>
          <a:prstGeom prst="line">
            <a:avLst/>
          </a:prstGeom>
          <a:noFill/>
          <a:ln w="12700">
            <a:solidFill>
              <a:srgbClr val="6E7699"/>
            </a:solidFill>
            <a:prstDash val="solid"/>
          </a:ln>
        </p:spPr>
      </p:sp>
      <p:sp>
        <p:nvSpPr>
          <p:cNvPr id="53" name="Shape 51"/>
          <p:cNvSpPr/>
          <p:nvPr/>
        </p:nvSpPr>
        <p:spPr>
          <a:xfrm>
            <a:off x="4809744" y="3383280"/>
            <a:ext cx="0" cy="82296"/>
          </a:xfrm>
          <a:prstGeom prst="line">
            <a:avLst/>
          </a:prstGeom>
          <a:noFill/>
          <a:ln w="12700">
            <a:solidFill>
              <a:srgbClr val="6E7699"/>
            </a:solidFill>
            <a:prstDash val="solid"/>
          </a:ln>
        </p:spPr>
      </p:sp>
      <p:sp>
        <p:nvSpPr>
          <p:cNvPr id="54" name="Shape 52"/>
          <p:cNvSpPr/>
          <p:nvPr/>
        </p:nvSpPr>
        <p:spPr>
          <a:xfrm>
            <a:off x="4910328" y="3383280"/>
            <a:ext cx="0" cy="82296"/>
          </a:xfrm>
          <a:prstGeom prst="line">
            <a:avLst/>
          </a:prstGeom>
          <a:noFill/>
          <a:ln w="12700">
            <a:solidFill>
              <a:srgbClr val="6E7699"/>
            </a:solidFill>
            <a:prstDash val="solid"/>
          </a:ln>
        </p:spPr>
      </p:sp>
      <p:sp>
        <p:nvSpPr>
          <p:cNvPr id="55" name="Shape 53"/>
          <p:cNvSpPr/>
          <p:nvPr/>
        </p:nvSpPr>
        <p:spPr>
          <a:xfrm>
            <a:off x="5010912" y="3383280"/>
            <a:ext cx="0" cy="82296"/>
          </a:xfrm>
          <a:prstGeom prst="line">
            <a:avLst/>
          </a:prstGeom>
          <a:noFill/>
          <a:ln w="12700">
            <a:solidFill>
              <a:srgbClr val="6E7699"/>
            </a:solidFill>
            <a:prstDash val="solid"/>
          </a:ln>
        </p:spPr>
      </p:sp>
      <p:sp>
        <p:nvSpPr>
          <p:cNvPr id="56" name="Shape 54"/>
          <p:cNvSpPr/>
          <p:nvPr/>
        </p:nvSpPr>
        <p:spPr>
          <a:xfrm>
            <a:off x="5111496" y="3383280"/>
            <a:ext cx="0" cy="82296"/>
          </a:xfrm>
          <a:prstGeom prst="line">
            <a:avLst/>
          </a:prstGeom>
          <a:noFill/>
          <a:ln w="12700">
            <a:solidFill>
              <a:srgbClr val="6E7699"/>
            </a:solidFill>
            <a:prstDash val="solid"/>
          </a:ln>
        </p:spPr>
      </p:sp>
      <p:sp>
        <p:nvSpPr>
          <p:cNvPr id="57" name="Text 55"/>
          <p:cNvSpPr txBox="1"/>
          <p:nvPr/>
        </p:nvSpPr>
        <p:spPr>
          <a:xfrm>
            <a:off x="4507992" y="3566160"/>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Calf girth</a:t>
            </a:r>
            <a:endParaRPr lang="en-US" sz="1400" dirty="0"/>
          </a:p>
        </p:txBody>
      </p:sp>
      <p:sp>
        <p:nvSpPr>
          <p:cNvPr id="58" name="Text 56"/>
          <p:cNvSpPr txBox="1"/>
          <p:nvPr/>
        </p:nvSpPr>
        <p:spPr>
          <a:xfrm>
            <a:off x="4507992" y="3822192"/>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horizontal section</a:t>
            </a:r>
            <a:endParaRPr lang="en-US" sz="1000" dirty="0"/>
          </a:p>
        </p:txBody>
      </p:sp>
      <p:sp>
        <p:nvSpPr>
          <p:cNvPr id="59" name="Text 57"/>
          <p:cNvSpPr txBox="1"/>
          <p:nvPr/>
        </p:nvSpPr>
        <p:spPr>
          <a:xfrm>
            <a:off x="4507992" y="3986784"/>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widest below the knee</a:t>
            </a:r>
            <a:endParaRPr lang="en-US" sz="1000" dirty="0"/>
          </a:p>
        </p:txBody>
      </p:sp>
      <p:sp>
        <p:nvSpPr>
          <p:cNvPr id="60" name="Shape 58"/>
          <p:cNvSpPr/>
          <p:nvPr/>
        </p:nvSpPr>
        <p:spPr>
          <a:xfrm>
            <a:off x="8037576" y="3163824"/>
            <a:ext cx="3547872" cy="1060704"/>
          </a:xfrm>
          <a:prstGeom prst="roundRect">
            <a:avLst>
              <a:gd name="adj" fmla="val 5172"/>
            </a:avLst>
          </a:prstGeom>
          <a:solidFill>
            <a:srgbClr val="252943"/>
          </a:solidFill>
          <a:ln w="12700">
            <a:solidFill>
              <a:srgbClr val="252943"/>
            </a:solidFill>
            <a:prstDash val="solid"/>
          </a:ln>
        </p:spPr>
      </p:sp>
      <p:sp>
        <p:nvSpPr>
          <p:cNvPr id="61" name="Shape 59"/>
          <p:cNvSpPr/>
          <p:nvPr/>
        </p:nvSpPr>
        <p:spPr>
          <a:xfrm>
            <a:off x="8275320" y="3383280"/>
            <a:ext cx="0" cy="146304"/>
          </a:xfrm>
          <a:prstGeom prst="line">
            <a:avLst/>
          </a:prstGeom>
          <a:noFill/>
          <a:ln w="12700">
            <a:solidFill>
              <a:srgbClr val="E0A458"/>
            </a:solidFill>
            <a:prstDash val="solid"/>
          </a:ln>
        </p:spPr>
      </p:sp>
      <p:sp>
        <p:nvSpPr>
          <p:cNvPr id="62" name="Shape 60"/>
          <p:cNvSpPr/>
          <p:nvPr/>
        </p:nvSpPr>
        <p:spPr>
          <a:xfrm>
            <a:off x="8375904" y="3383280"/>
            <a:ext cx="0" cy="82296"/>
          </a:xfrm>
          <a:prstGeom prst="line">
            <a:avLst/>
          </a:prstGeom>
          <a:noFill/>
          <a:ln w="12700">
            <a:solidFill>
              <a:srgbClr val="6E7699"/>
            </a:solidFill>
            <a:prstDash val="solid"/>
          </a:ln>
        </p:spPr>
      </p:sp>
      <p:sp>
        <p:nvSpPr>
          <p:cNvPr id="63" name="Shape 61"/>
          <p:cNvSpPr/>
          <p:nvPr/>
        </p:nvSpPr>
        <p:spPr>
          <a:xfrm>
            <a:off x="8476488" y="3383280"/>
            <a:ext cx="0" cy="82296"/>
          </a:xfrm>
          <a:prstGeom prst="line">
            <a:avLst/>
          </a:prstGeom>
          <a:noFill/>
          <a:ln w="12700">
            <a:solidFill>
              <a:srgbClr val="6E7699"/>
            </a:solidFill>
            <a:prstDash val="solid"/>
          </a:ln>
        </p:spPr>
      </p:sp>
      <p:sp>
        <p:nvSpPr>
          <p:cNvPr id="64" name="Shape 62"/>
          <p:cNvSpPr/>
          <p:nvPr/>
        </p:nvSpPr>
        <p:spPr>
          <a:xfrm>
            <a:off x="8577072" y="3383280"/>
            <a:ext cx="0" cy="82296"/>
          </a:xfrm>
          <a:prstGeom prst="line">
            <a:avLst/>
          </a:prstGeom>
          <a:noFill/>
          <a:ln w="12700">
            <a:solidFill>
              <a:srgbClr val="6E7699"/>
            </a:solidFill>
            <a:prstDash val="solid"/>
          </a:ln>
        </p:spPr>
      </p:sp>
      <p:sp>
        <p:nvSpPr>
          <p:cNvPr id="65" name="Shape 63"/>
          <p:cNvSpPr/>
          <p:nvPr/>
        </p:nvSpPr>
        <p:spPr>
          <a:xfrm>
            <a:off x="8677656" y="3383280"/>
            <a:ext cx="0" cy="82296"/>
          </a:xfrm>
          <a:prstGeom prst="line">
            <a:avLst/>
          </a:prstGeom>
          <a:noFill/>
          <a:ln w="12700">
            <a:solidFill>
              <a:srgbClr val="6E7699"/>
            </a:solidFill>
            <a:prstDash val="solid"/>
          </a:ln>
        </p:spPr>
      </p:sp>
      <p:sp>
        <p:nvSpPr>
          <p:cNvPr id="66" name="Shape 64"/>
          <p:cNvSpPr/>
          <p:nvPr/>
        </p:nvSpPr>
        <p:spPr>
          <a:xfrm>
            <a:off x="8778240" y="3383280"/>
            <a:ext cx="0" cy="82296"/>
          </a:xfrm>
          <a:prstGeom prst="line">
            <a:avLst/>
          </a:prstGeom>
          <a:noFill/>
          <a:ln w="12700">
            <a:solidFill>
              <a:srgbClr val="6E7699"/>
            </a:solidFill>
            <a:prstDash val="solid"/>
          </a:ln>
        </p:spPr>
      </p:sp>
      <p:sp>
        <p:nvSpPr>
          <p:cNvPr id="67" name="Shape 65"/>
          <p:cNvSpPr/>
          <p:nvPr/>
        </p:nvSpPr>
        <p:spPr>
          <a:xfrm>
            <a:off x="8878824" y="3383280"/>
            <a:ext cx="0" cy="82296"/>
          </a:xfrm>
          <a:prstGeom prst="line">
            <a:avLst/>
          </a:prstGeom>
          <a:noFill/>
          <a:ln w="12700">
            <a:solidFill>
              <a:srgbClr val="6E7699"/>
            </a:solidFill>
            <a:prstDash val="solid"/>
          </a:ln>
        </p:spPr>
      </p:sp>
      <p:sp>
        <p:nvSpPr>
          <p:cNvPr id="68" name="Text 66"/>
          <p:cNvSpPr txBox="1"/>
          <p:nvPr/>
        </p:nvSpPr>
        <p:spPr>
          <a:xfrm>
            <a:off x="8275320" y="3566160"/>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Ankle girth</a:t>
            </a:r>
            <a:endParaRPr lang="en-US" sz="1400" dirty="0"/>
          </a:p>
        </p:txBody>
      </p:sp>
      <p:sp>
        <p:nvSpPr>
          <p:cNvPr id="69" name="Text 67"/>
          <p:cNvSpPr txBox="1"/>
          <p:nvPr/>
        </p:nvSpPr>
        <p:spPr>
          <a:xfrm>
            <a:off x="8275320" y="3822192"/>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horizontal section</a:t>
            </a:r>
            <a:endParaRPr lang="en-US" sz="1000" dirty="0"/>
          </a:p>
        </p:txBody>
      </p:sp>
      <p:sp>
        <p:nvSpPr>
          <p:cNvPr id="70" name="Text 68"/>
          <p:cNvSpPr txBox="1"/>
          <p:nvPr/>
        </p:nvSpPr>
        <p:spPr>
          <a:xfrm>
            <a:off x="8275320" y="3986784"/>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narrowest above the foot</a:t>
            </a:r>
            <a:endParaRPr lang="en-US" sz="1000" dirty="0"/>
          </a:p>
        </p:txBody>
      </p:sp>
      <p:sp>
        <p:nvSpPr>
          <p:cNvPr id="71" name="Shape 69"/>
          <p:cNvSpPr/>
          <p:nvPr/>
        </p:nvSpPr>
        <p:spPr>
          <a:xfrm>
            <a:off x="502920" y="4389120"/>
            <a:ext cx="3547872" cy="1060704"/>
          </a:xfrm>
          <a:prstGeom prst="roundRect">
            <a:avLst>
              <a:gd name="adj" fmla="val 5172"/>
            </a:avLst>
          </a:prstGeom>
          <a:solidFill>
            <a:srgbClr val="252943"/>
          </a:solidFill>
          <a:ln w="12700">
            <a:solidFill>
              <a:srgbClr val="252943"/>
            </a:solidFill>
            <a:prstDash val="solid"/>
          </a:ln>
        </p:spPr>
      </p:sp>
      <p:sp>
        <p:nvSpPr>
          <p:cNvPr id="72" name="Shape 70"/>
          <p:cNvSpPr/>
          <p:nvPr/>
        </p:nvSpPr>
        <p:spPr>
          <a:xfrm>
            <a:off x="740664" y="4608576"/>
            <a:ext cx="0" cy="146304"/>
          </a:xfrm>
          <a:prstGeom prst="line">
            <a:avLst/>
          </a:prstGeom>
          <a:noFill/>
          <a:ln w="12700">
            <a:solidFill>
              <a:srgbClr val="E0A458"/>
            </a:solidFill>
            <a:prstDash val="solid"/>
          </a:ln>
        </p:spPr>
      </p:sp>
      <p:sp>
        <p:nvSpPr>
          <p:cNvPr id="73" name="Shape 71"/>
          <p:cNvSpPr/>
          <p:nvPr/>
        </p:nvSpPr>
        <p:spPr>
          <a:xfrm>
            <a:off x="841248" y="4608576"/>
            <a:ext cx="0" cy="82296"/>
          </a:xfrm>
          <a:prstGeom prst="line">
            <a:avLst/>
          </a:prstGeom>
          <a:noFill/>
          <a:ln w="12700">
            <a:solidFill>
              <a:srgbClr val="6E7699"/>
            </a:solidFill>
            <a:prstDash val="solid"/>
          </a:ln>
        </p:spPr>
      </p:sp>
      <p:sp>
        <p:nvSpPr>
          <p:cNvPr id="74" name="Shape 72"/>
          <p:cNvSpPr/>
          <p:nvPr/>
        </p:nvSpPr>
        <p:spPr>
          <a:xfrm>
            <a:off x="941832" y="4608576"/>
            <a:ext cx="0" cy="82296"/>
          </a:xfrm>
          <a:prstGeom prst="line">
            <a:avLst/>
          </a:prstGeom>
          <a:noFill/>
          <a:ln w="12700">
            <a:solidFill>
              <a:srgbClr val="6E7699"/>
            </a:solidFill>
            <a:prstDash val="solid"/>
          </a:ln>
        </p:spPr>
      </p:sp>
      <p:sp>
        <p:nvSpPr>
          <p:cNvPr id="75" name="Shape 73"/>
          <p:cNvSpPr/>
          <p:nvPr/>
        </p:nvSpPr>
        <p:spPr>
          <a:xfrm>
            <a:off x="1042416" y="4608576"/>
            <a:ext cx="0" cy="82296"/>
          </a:xfrm>
          <a:prstGeom prst="line">
            <a:avLst/>
          </a:prstGeom>
          <a:noFill/>
          <a:ln w="12700">
            <a:solidFill>
              <a:srgbClr val="6E7699"/>
            </a:solidFill>
            <a:prstDash val="solid"/>
          </a:ln>
        </p:spPr>
      </p:sp>
      <p:sp>
        <p:nvSpPr>
          <p:cNvPr id="76" name="Shape 74"/>
          <p:cNvSpPr/>
          <p:nvPr/>
        </p:nvSpPr>
        <p:spPr>
          <a:xfrm>
            <a:off x="1143000" y="4608576"/>
            <a:ext cx="0" cy="82296"/>
          </a:xfrm>
          <a:prstGeom prst="line">
            <a:avLst/>
          </a:prstGeom>
          <a:noFill/>
          <a:ln w="12700">
            <a:solidFill>
              <a:srgbClr val="6E7699"/>
            </a:solidFill>
            <a:prstDash val="solid"/>
          </a:ln>
        </p:spPr>
      </p:sp>
      <p:sp>
        <p:nvSpPr>
          <p:cNvPr id="77" name="Shape 75"/>
          <p:cNvSpPr/>
          <p:nvPr/>
        </p:nvSpPr>
        <p:spPr>
          <a:xfrm>
            <a:off x="1243584" y="4608576"/>
            <a:ext cx="0" cy="82296"/>
          </a:xfrm>
          <a:prstGeom prst="line">
            <a:avLst/>
          </a:prstGeom>
          <a:noFill/>
          <a:ln w="12700">
            <a:solidFill>
              <a:srgbClr val="6E7699"/>
            </a:solidFill>
            <a:prstDash val="solid"/>
          </a:ln>
        </p:spPr>
      </p:sp>
      <p:sp>
        <p:nvSpPr>
          <p:cNvPr id="78" name="Shape 76"/>
          <p:cNvSpPr/>
          <p:nvPr/>
        </p:nvSpPr>
        <p:spPr>
          <a:xfrm>
            <a:off x="1344168" y="4608576"/>
            <a:ext cx="0" cy="82296"/>
          </a:xfrm>
          <a:prstGeom prst="line">
            <a:avLst/>
          </a:prstGeom>
          <a:noFill/>
          <a:ln w="12700">
            <a:solidFill>
              <a:srgbClr val="6E7699"/>
            </a:solidFill>
            <a:prstDash val="solid"/>
          </a:ln>
        </p:spPr>
      </p:sp>
      <p:sp>
        <p:nvSpPr>
          <p:cNvPr id="79" name="Text 77"/>
          <p:cNvSpPr txBox="1"/>
          <p:nvPr/>
        </p:nvSpPr>
        <p:spPr>
          <a:xfrm>
            <a:off x="740664" y="4791456"/>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Inseam</a:t>
            </a:r>
            <a:endParaRPr lang="en-US" sz="1400" dirty="0"/>
          </a:p>
        </p:txBody>
      </p:sp>
      <p:sp>
        <p:nvSpPr>
          <p:cNvPr id="80" name="Text 78"/>
          <p:cNvSpPr txBox="1"/>
          <p:nvPr/>
        </p:nvSpPr>
        <p:spPr>
          <a:xfrm>
            <a:off x="740664" y="5047488"/>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geodesic path</a:t>
            </a:r>
            <a:endParaRPr lang="en-US" sz="1000" dirty="0"/>
          </a:p>
        </p:txBody>
      </p:sp>
      <p:sp>
        <p:nvSpPr>
          <p:cNvPr id="81" name="Text 79"/>
          <p:cNvSpPr txBox="1"/>
          <p:nvPr/>
        </p:nvSpPr>
        <p:spPr>
          <a:xfrm>
            <a:off x="740664" y="5212080"/>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crotch vertex to medial ankle</a:t>
            </a:r>
            <a:endParaRPr lang="en-US" sz="1000" dirty="0"/>
          </a:p>
        </p:txBody>
      </p:sp>
      <p:sp>
        <p:nvSpPr>
          <p:cNvPr id="82" name="Shape 80"/>
          <p:cNvSpPr/>
          <p:nvPr/>
        </p:nvSpPr>
        <p:spPr>
          <a:xfrm>
            <a:off x="4270248" y="4389120"/>
            <a:ext cx="3547872" cy="1060704"/>
          </a:xfrm>
          <a:prstGeom prst="roundRect">
            <a:avLst>
              <a:gd name="adj" fmla="val 5172"/>
            </a:avLst>
          </a:prstGeom>
          <a:solidFill>
            <a:srgbClr val="252943"/>
          </a:solidFill>
          <a:ln w="12700">
            <a:solidFill>
              <a:srgbClr val="252943"/>
            </a:solidFill>
            <a:prstDash val="solid"/>
          </a:ln>
        </p:spPr>
      </p:sp>
      <p:sp>
        <p:nvSpPr>
          <p:cNvPr id="83" name="Shape 81"/>
          <p:cNvSpPr/>
          <p:nvPr/>
        </p:nvSpPr>
        <p:spPr>
          <a:xfrm>
            <a:off x="4507992" y="4608576"/>
            <a:ext cx="0" cy="146304"/>
          </a:xfrm>
          <a:prstGeom prst="line">
            <a:avLst/>
          </a:prstGeom>
          <a:noFill/>
          <a:ln w="12700">
            <a:solidFill>
              <a:srgbClr val="E0A458"/>
            </a:solidFill>
            <a:prstDash val="solid"/>
          </a:ln>
        </p:spPr>
      </p:sp>
      <p:sp>
        <p:nvSpPr>
          <p:cNvPr id="84" name="Shape 82"/>
          <p:cNvSpPr/>
          <p:nvPr/>
        </p:nvSpPr>
        <p:spPr>
          <a:xfrm>
            <a:off x="4608576" y="4608576"/>
            <a:ext cx="0" cy="82296"/>
          </a:xfrm>
          <a:prstGeom prst="line">
            <a:avLst/>
          </a:prstGeom>
          <a:noFill/>
          <a:ln w="12700">
            <a:solidFill>
              <a:srgbClr val="6E7699"/>
            </a:solidFill>
            <a:prstDash val="solid"/>
          </a:ln>
        </p:spPr>
      </p:sp>
      <p:sp>
        <p:nvSpPr>
          <p:cNvPr id="85" name="Shape 83"/>
          <p:cNvSpPr/>
          <p:nvPr/>
        </p:nvSpPr>
        <p:spPr>
          <a:xfrm>
            <a:off x="4709160" y="4608576"/>
            <a:ext cx="0" cy="82296"/>
          </a:xfrm>
          <a:prstGeom prst="line">
            <a:avLst/>
          </a:prstGeom>
          <a:noFill/>
          <a:ln w="12700">
            <a:solidFill>
              <a:srgbClr val="6E7699"/>
            </a:solidFill>
            <a:prstDash val="solid"/>
          </a:ln>
        </p:spPr>
      </p:sp>
      <p:sp>
        <p:nvSpPr>
          <p:cNvPr id="86" name="Shape 84"/>
          <p:cNvSpPr/>
          <p:nvPr/>
        </p:nvSpPr>
        <p:spPr>
          <a:xfrm>
            <a:off x="4809744" y="4608576"/>
            <a:ext cx="0" cy="82296"/>
          </a:xfrm>
          <a:prstGeom prst="line">
            <a:avLst/>
          </a:prstGeom>
          <a:noFill/>
          <a:ln w="12700">
            <a:solidFill>
              <a:srgbClr val="6E7699"/>
            </a:solidFill>
            <a:prstDash val="solid"/>
          </a:ln>
        </p:spPr>
      </p:sp>
      <p:sp>
        <p:nvSpPr>
          <p:cNvPr id="87" name="Shape 85"/>
          <p:cNvSpPr/>
          <p:nvPr/>
        </p:nvSpPr>
        <p:spPr>
          <a:xfrm>
            <a:off x="4910328" y="4608576"/>
            <a:ext cx="0" cy="82296"/>
          </a:xfrm>
          <a:prstGeom prst="line">
            <a:avLst/>
          </a:prstGeom>
          <a:noFill/>
          <a:ln w="12700">
            <a:solidFill>
              <a:srgbClr val="6E7699"/>
            </a:solidFill>
            <a:prstDash val="solid"/>
          </a:ln>
        </p:spPr>
      </p:sp>
      <p:sp>
        <p:nvSpPr>
          <p:cNvPr id="88" name="Shape 86"/>
          <p:cNvSpPr/>
          <p:nvPr/>
        </p:nvSpPr>
        <p:spPr>
          <a:xfrm>
            <a:off x="5010912" y="4608576"/>
            <a:ext cx="0" cy="82296"/>
          </a:xfrm>
          <a:prstGeom prst="line">
            <a:avLst/>
          </a:prstGeom>
          <a:noFill/>
          <a:ln w="12700">
            <a:solidFill>
              <a:srgbClr val="6E7699"/>
            </a:solidFill>
            <a:prstDash val="solid"/>
          </a:ln>
        </p:spPr>
      </p:sp>
      <p:sp>
        <p:nvSpPr>
          <p:cNvPr id="89" name="Shape 87"/>
          <p:cNvSpPr/>
          <p:nvPr/>
        </p:nvSpPr>
        <p:spPr>
          <a:xfrm>
            <a:off x="5111496" y="4608576"/>
            <a:ext cx="0" cy="82296"/>
          </a:xfrm>
          <a:prstGeom prst="line">
            <a:avLst/>
          </a:prstGeom>
          <a:noFill/>
          <a:ln w="12700">
            <a:solidFill>
              <a:srgbClr val="6E7699"/>
            </a:solidFill>
            <a:prstDash val="solid"/>
          </a:ln>
        </p:spPr>
      </p:sp>
      <p:sp>
        <p:nvSpPr>
          <p:cNvPr id="90" name="Text 88"/>
          <p:cNvSpPr txBox="1"/>
          <p:nvPr/>
        </p:nvSpPr>
        <p:spPr>
          <a:xfrm>
            <a:off x="4507992" y="4791456"/>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Outseam</a:t>
            </a:r>
            <a:endParaRPr lang="en-US" sz="1400" dirty="0"/>
          </a:p>
        </p:txBody>
      </p:sp>
      <p:sp>
        <p:nvSpPr>
          <p:cNvPr id="91" name="Text 89"/>
          <p:cNvSpPr txBox="1"/>
          <p:nvPr/>
        </p:nvSpPr>
        <p:spPr>
          <a:xfrm>
            <a:off x="4507992" y="5047488"/>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geodesic path</a:t>
            </a:r>
            <a:endParaRPr lang="en-US" sz="1000" dirty="0"/>
          </a:p>
        </p:txBody>
      </p:sp>
      <p:sp>
        <p:nvSpPr>
          <p:cNvPr id="92" name="Text 90"/>
          <p:cNvSpPr txBox="1"/>
          <p:nvPr/>
        </p:nvSpPr>
        <p:spPr>
          <a:xfrm>
            <a:off x="4507992" y="5212080"/>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waist plane to lateral ankle</a:t>
            </a:r>
            <a:endParaRPr lang="en-US" sz="1000" dirty="0"/>
          </a:p>
        </p:txBody>
      </p:sp>
      <p:sp>
        <p:nvSpPr>
          <p:cNvPr id="93" name="Shape 91"/>
          <p:cNvSpPr/>
          <p:nvPr/>
        </p:nvSpPr>
        <p:spPr>
          <a:xfrm>
            <a:off x="8037576" y="4389120"/>
            <a:ext cx="3547872" cy="1060704"/>
          </a:xfrm>
          <a:prstGeom prst="roundRect">
            <a:avLst>
              <a:gd name="adj" fmla="val 5172"/>
            </a:avLst>
          </a:prstGeom>
          <a:solidFill>
            <a:srgbClr val="252943"/>
          </a:solidFill>
          <a:ln w="12700">
            <a:solidFill>
              <a:srgbClr val="252943"/>
            </a:solidFill>
            <a:prstDash val="solid"/>
          </a:ln>
        </p:spPr>
      </p:sp>
      <p:sp>
        <p:nvSpPr>
          <p:cNvPr id="94" name="Shape 92"/>
          <p:cNvSpPr/>
          <p:nvPr/>
        </p:nvSpPr>
        <p:spPr>
          <a:xfrm>
            <a:off x="8275320" y="4608576"/>
            <a:ext cx="0" cy="146304"/>
          </a:xfrm>
          <a:prstGeom prst="line">
            <a:avLst/>
          </a:prstGeom>
          <a:noFill/>
          <a:ln w="12700">
            <a:solidFill>
              <a:srgbClr val="E0A458"/>
            </a:solidFill>
            <a:prstDash val="solid"/>
          </a:ln>
        </p:spPr>
      </p:sp>
      <p:sp>
        <p:nvSpPr>
          <p:cNvPr id="95" name="Shape 93"/>
          <p:cNvSpPr/>
          <p:nvPr/>
        </p:nvSpPr>
        <p:spPr>
          <a:xfrm>
            <a:off x="8375904" y="4608576"/>
            <a:ext cx="0" cy="82296"/>
          </a:xfrm>
          <a:prstGeom prst="line">
            <a:avLst/>
          </a:prstGeom>
          <a:noFill/>
          <a:ln w="12700">
            <a:solidFill>
              <a:srgbClr val="6E7699"/>
            </a:solidFill>
            <a:prstDash val="solid"/>
          </a:ln>
        </p:spPr>
      </p:sp>
      <p:sp>
        <p:nvSpPr>
          <p:cNvPr id="96" name="Shape 94"/>
          <p:cNvSpPr/>
          <p:nvPr/>
        </p:nvSpPr>
        <p:spPr>
          <a:xfrm>
            <a:off x="8476488" y="4608576"/>
            <a:ext cx="0" cy="82296"/>
          </a:xfrm>
          <a:prstGeom prst="line">
            <a:avLst/>
          </a:prstGeom>
          <a:noFill/>
          <a:ln w="12700">
            <a:solidFill>
              <a:srgbClr val="6E7699"/>
            </a:solidFill>
            <a:prstDash val="solid"/>
          </a:ln>
        </p:spPr>
      </p:sp>
      <p:sp>
        <p:nvSpPr>
          <p:cNvPr id="97" name="Shape 95"/>
          <p:cNvSpPr/>
          <p:nvPr/>
        </p:nvSpPr>
        <p:spPr>
          <a:xfrm>
            <a:off x="8577072" y="4608576"/>
            <a:ext cx="0" cy="82296"/>
          </a:xfrm>
          <a:prstGeom prst="line">
            <a:avLst/>
          </a:prstGeom>
          <a:noFill/>
          <a:ln w="12700">
            <a:solidFill>
              <a:srgbClr val="6E7699"/>
            </a:solidFill>
            <a:prstDash val="solid"/>
          </a:ln>
        </p:spPr>
      </p:sp>
      <p:sp>
        <p:nvSpPr>
          <p:cNvPr id="98" name="Shape 96"/>
          <p:cNvSpPr/>
          <p:nvPr/>
        </p:nvSpPr>
        <p:spPr>
          <a:xfrm>
            <a:off x="8677656" y="4608576"/>
            <a:ext cx="0" cy="82296"/>
          </a:xfrm>
          <a:prstGeom prst="line">
            <a:avLst/>
          </a:prstGeom>
          <a:noFill/>
          <a:ln w="12700">
            <a:solidFill>
              <a:srgbClr val="6E7699"/>
            </a:solidFill>
            <a:prstDash val="solid"/>
          </a:ln>
        </p:spPr>
      </p:sp>
      <p:sp>
        <p:nvSpPr>
          <p:cNvPr id="99" name="Shape 97"/>
          <p:cNvSpPr/>
          <p:nvPr/>
        </p:nvSpPr>
        <p:spPr>
          <a:xfrm>
            <a:off x="8778240" y="4608576"/>
            <a:ext cx="0" cy="82296"/>
          </a:xfrm>
          <a:prstGeom prst="line">
            <a:avLst/>
          </a:prstGeom>
          <a:noFill/>
          <a:ln w="12700">
            <a:solidFill>
              <a:srgbClr val="6E7699"/>
            </a:solidFill>
            <a:prstDash val="solid"/>
          </a:ln>
        </p:spPr>
      </p:sp>
      <p:sp>
        <p:nvSpPr>
          <p:cNvPr id="100" name="Shape 98"/>
          <p:cNvSpPr/>
          <p:nvPr/>
        </p:nvSpPr>
        <p:spPr>
          <a:xfrm>
            <a:off x="8878824" y="4608576"/>
            <a:ext cx="0" cy="82296"/>
          </a:xfrm>
          <a:prstGeom prst="line">
            <a:avLst/>
          </a:prstGeom>
          <a:noFill/>
          <a:ln w="12700">
            <a:solidFill>
              <a:srgbClr val="6E7699"/>
            </a:solidFill>
            <a:prstDash val="solid"/>
          </a:ln>
        </p:spPr>
      </p:sp>
      <p:sp>
        <p:nvSpPr>
          <p:cNvPr id="101" name="Text 99"/>
          <p:cNvSpPr txBox="1"/>
          <p:nvPr/>
        </p:nvSpPr>
        <p:spPr>
          <a:xfrm>
            <a:off x="8275320" y="4791456"/>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Rise</a:t>
            </a:r>
            <a:endParaRPr lang="en-US" sz="1400" dirty="0"/>
          </a:p>
        </p:txBody>
      </p:sp>
      <p:sp>
        <p:nvSpPr>
          <p:cNvPr id="102" name="Text 100"/>
          <p:cNvSpPr txBox="1"/>
          <p:nvPr/>
        </p:nvSpPr>
        <p:spPr>
          <a:xfrm>
            <a:off x="8275320" y="5047488"/>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vertical delta</a:t>
            </a:r>
            <a:endParaRPr lang="en-US" sz="1000" dirty="0"/>
          </a:p>
        </p:txBody>
      </p:sp>
      <p:sp>
        <p:nvSpPr>
          <p:cNvPr id="103" name="Text 101"/>
          <p:cNvSpPr txBox="1"/>
          <p:nvPr/>
        </p:nvSpPr>
        <p:spPr>
          <a:xfrm>
            <a:off x="8275320" y="5212080"/>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waist plane to crotch vertex</a:t>
            </a:r>
            <a:endParaRPr lang="en-US" sz="1000" dirty="0"/>
          </a:p>
        </p:txBody>
      </p:sp>
      <p:sp>
        <p:nvSpPr>
          <p:cNvPr id="104" name="Text 102"/>
          <p:cNvSpPr txBox="1"/>
          <p:nvPr/>
        </p:nvSpPr>
        <p:spPr>
          <a:xfrm>
            <a:off x="502920" y="5806440"/>
            <a:ext cx="11185855" cy="310896"/>
          </a:xfrm>
          <a:prstGeom prst="rect">
            <a:avLst/>
          </a:prstGeom>
          <a:noFill/>
          <a:ln/>
        </p:spPr>
        <p:txBody>
          <a:bodyPr wrap="square" lIns="0" tIns="0" rIns="0" bIns="0" rtlCol="0" anchor="ctr"/>
          <a:lstStyle/>
          <a:p>
            <a:pPr indent="0" marL="0">
              <a:buNone/>
            </a:pPr>
            <a:r>
              <a:rPr lang="en-US" sz="1050" i="1" dirty="0">
                <a:solidFill>
                  <a:srgbClr val="6E7699"/>
                </a:solidFill>
                <a:latin typeface="Arial" pitchFamily="34" charset="0"/>
                <a:ea typeface="Arial" pitchFamily="34" charset="-122"/>
                <a:cs typeface="Arial" pitchFamily="34" charset="-120"/>
              </a:rPr>
              <a:t>Expect 1.5–3 cm mean absolute error against a 4 cm size step. The crotch landmark is the main ambiguity; loose clothing is the dominant error source.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DATA STRATEGY</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Synthetic only where the ground truth is geometric</a:t>
            </a:r>
            <a:endParaRPr lang="en-US" sz="3000" dirty="0"/>
          </a:p>
        </p:txBody>
      </p:sp>
      <p:sp>
        <p:nvSpPr>
          <p:cNvPr id="4" name="Shape 2"/>
          <p:cNvSpPr/>
          <p:nvPr/>
        </p:nvSpPr>
        <p:spPr>
          <a:xfrm>
            <a:off x="502920" y="1463040"/>
            <a:ext cx="11185855" cy="658368"/>
          </a:xfrm>
          <a:prstGeom prst="roundRect">
            <a:avLst>
              <a:gd name="adj" fmla="val 8333"/>
            </a:avLst>
          </a:prstGeom>
          <a:solidFill>
            <a:srgbClr val="3A2530"/>
          </a:solidFill>
          <a:ln w="19050">
            <a:solidFill>
              <a:srgbClr val="EC8079"/>
            </a:solidFill>
            <a:prstDash val="solid"/>
          </a:ln>
        </p:spPr>
      </p:sp>
      <p:sp>
        <p:nvSpPr>
          <p:cNvPr id="5" name="Text 3"/>
          <p:cNvSpPr txBox="1"/>
          <p:nvPr/>
        </p:nvSpPr>
        <p:spPr>
          <a:xfrm>
            <a:off x="777240" y="1463040"/>
            <a:ext cx="10637215" cy="658368"/>
          </a:xfrm>
          <a:prstGeom prst="rect">
            <a:avLst/>
          </a:prstGeom>
          <a:noFill/>
          <a:ln/>
        </p:spPr>
        <p:txBody>
          <a:bodyPr wrap="square" lIns="0" tIns="0" rIns="0" bIns="0" rtlCol="0" anchor="ctr"/>
          <a:lstStyle/>
          <a:p>
            <a:pPr indent="0" marL="0">
              <a:buNone/>
            </a:pPr>
            <a:r>
              <a:rPr lang="en-US" sz="1300" dirty="0">
                <a:solidFill>
                  <a:srgbClr val="F2F3F8"/>
                </a:solidFill>
                <a:latin typeface="Arial" pitchFamily="34" charset="0"/>
                <a:ea typeface="Arial" pitchFamily="34" charset="-122"/>
                <a:cs typeface="Arial" pitchFamily="34" charset="-120"/>
              </a:rPr>
              <a:t>The trap: generate the fit labels with a rule, train a model to recover it, report the accuracy. That measures the learner against your own generator, and proves nothing.</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2340864"/>
          <a:ext cx="11185855" cy="914400"/>
        </p:xfrm>
        <a:graphic>
          <a:graphicData uri="http://schemas.openxmlformats.org/drawingml/2006/table">
            <a:tbl>
              <a:tblPr/>
              <a:tblGrid>
                <a:gridCol w="2743200"/>
                <a:gridCol w="3108960"/>
                <a:gridCol w="5333695"/>
              </a:tblGrid>
              <a:tr h="457200">
                <a:tc>
                  <a:txBody>
                    <a:bodyPr/>
                    <a:lstStyle/>
                    <a:p>
                      <a:pPr indent="0" marL="0">
                        <a:buNone/>
                      </a:pPr>
                      <a:r>
                        <a:rPr lang="en-US" sz="1200" b="1" dirty="0">
                          <a:solidFill>
                            <a:srgbClr val="F2F3F8"/>
                          </a:solidFill>
                          <a:latin typeface="Arial" pitchFamily="34" charset="0"/>
                          <a:ea typeface="Arial" pitchFamily="34" charset="-122"/>
                          <a:cs typeface="Arial" pitchFamily="34" charset="-120"/>
                        </a:rPr>
                        <a:t>Source</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b="1" dirty="0">
                          <a:solidFill>
                            <a:srgbClr val="F2F3F8"/>
                          </a:solidFill>
                          <a:latin typeface="Arial" pitchFamily="34" charset="0"/>
                          <a:ea typeface="Arial" pitchFamily="34" charset="-122"/>
                          <a:cs typeface="Arial" pitchFamily="34" charset="-120"/>
                        </a:rPr>
                        <a:t>Role</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b="1" dirty="0">
                          <a:solidFill>
                            <a:srgbClr val="F2F3F8"/>
                          </a:solidFill>
                          <a:latin typeface="Arial" pitchFamily="34" charset="0"/>
                          <a:ea typeface="Arial" pitchFamily="34" charset="-122"/>
                          <a:cs typeface="Arial" pitchFamily="34" charset="-120"/>
                        </a:rPr>
                        <a:t>Why it is legitimate</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57200">
                <a:tc>
                  <a:txBody>
                    <a:bodyPr/>
                    <a:lstStyle/>
                    <a:p>
                      <a:pPr indent="0" marL="0">
                        <a:buNone/>
                      </a:pPr>
                      <a:r>
                        <a:rPr lang="en-US" sz="1200" dirty="0">
                          <a:solidFill>
                            <a:srgbClr val="F2F3F8"/>
                          </a:solidFill>
                          <a:latin typeface="Arial" pitchFamily="34" charset="0"/>
                          <a:ea typeface="Arial" pitchFamily="34" charset="-122"/>
                          <a:cs typeface="Arial" pitchFamily="34" charset="-120"/>
                        </a:rPr>
                        <a:t>SURREAL  (synthetic)</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Train and tune the extractor</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Bodies rendered FROM known β — measurements exact by construction</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57200">
                <a:tc>
                  <a:txBody>
                    <a:bodyPr/>
                    <a:lstStyle/>
                    <a:p>
                      <a:pPr indent="0" marL="0">
                        <a:buNone/>
                      </a:pPr>
                      <a:r>
                        <a:rPr lang="en-US" sz="1200" dirty="0">
                          <a:solidFill>
                            <a:srgbClr val="F2F3F8"/>
                          </a:solidFill>
                          <a:latin typeface="Arial" pitchFamily="34" charset="0"/>
                          <a:ea typeface="Arial" pitchFamily="34" charset="-122"/>
                          <a:cs typeface="Arial" pitchFamily="34" charset="-120"/>
                        </a:rPr>
                        <a:t>AMASS</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Motion for synthetic captures</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Real mocap, so synthetic video moves like a person</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57200">
                <a:tc>
                  <a:txBody>
                    <a:bodyPr/>
                    <a:lstStyle/>
                    <a:p>
                      <a:pPr indent="0" marL="0">
                        <a:buNone/>
                      </a:pPr>
                      <a:r>
                        <a:rPr lang="en-US" sz="1200" dirty="0">
                          <a:solidFill>
                            <a:srgbClr val="F2F3F8"/>
                          </a:solidFill>
                          <a:latin typeface="Arial" pitchFamily="34" charset="0"/>
                          <a:ea typeface="Arial" pitchFamily="34" charset="-122"/>
                          <a:cs typeface="Arial" pitchFamily="34" charset="-120"/>
                        </a:rPr>
                        <a:t>BodyM</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Validation on real humans</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Real silhouettes with ground-truth measurements — the reported numbers</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57200">
                <a:tc>
                  <a:txBody>
                    <a:bodyPr/>
                    <a:lstStyle/>
                    <a:p>
                      <a:pPr indent="0" marL="0">
                        <a:buNone/>
                      </a:pPr>
                      <a:r>
                        <a:rPr lang="en-US" sz="1200" dirty="0">
                          <a:solidFill>
                            <a:srgbClr val="F2F3F8"/>
                          </a:solidFill>
                          <a:latin typeface="Arial" pitchFamily="34" charset="0"/>
                          <a:ea typeface="Arial" pitchFamily="34" charset="-122"/>
                          <a:cs typeface="Arial" pitchFamily="34" charset="-120"/>
                        </a:rPr>
                        <a:t>ANSUR II</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Plausibility prior, β sampling</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Public-domain anthropometry with a real covariance structure</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57200">
                <a:tc>
                  <a:txBody>
                    <a:bodyPr/>
                    <a:lstStyle/>
                    <a:p>
                      <a:pPr indent="0" marL="0">
                        <a:buNone/>
                      </a:pPr>
                      <a:r>
                        <a:rPr lang="en-US" sz="1200" dirty="0">
                          <a:solidFill>
                            <a:srgbClr val="F2F3F8"/>
                          </a:solidFill>
                          <a:latin typeface="Arial" pitchFamily="34" charset="0"/>
                          <a:ea typeface="Arial" pitchFamily="34" charset="-122"/>
                          <a:cs typeface="Arial" pitchFamily="34" charset="-120"/>
                        </a:rPr>
                        <a:t>RentTheRunway · ModCloth</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Real fit outcomes and review text</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Genuine small / fit / large labels plus free text for agent 5</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57200">
                <a:tc>
                  <a:txBody>
                    <a:bodyPr/>
                    <a:lstStyle/>
                    <a:p>
                      <a:pPr indent="0" marL="0">
                        <a:buNone/>
                      </a:pPr>
                      <a:r>
                        <a:rPr lang="en-US" sz="1200" dirty="0">
                          <a:solidFill>
                            <a:srgbClr val="F2F3F8"/>
                          </a:solidFill>
                          <a:latin typeface="Arial" pitchFamily="34" charset="0"/>
                          <a:ea typeface="Arial" pitchFamily="34" charset="-122"/>
                          <a:cs typeface="Arial" pitchFamily="34" charset="-120"/>
                        </a:rPr>
                        <a:t>Scraped size charts</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Input and golden set for agent 3</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Public, non-personal, low volume — research TDM exception applies</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bl>
          </a:graphicData>
        </a:graphic>
      </p:graphicFrame>
      <p:sp>
        <p:nvSpPr>
          <p:cNvPr id="7" name="Shape 4"/>
          <p:cNvSpPr/>
          <p:nvPr/>
        </p:nvSpPr>
        <p:spPr>
          <a:xfrm>
            <a:off x="502920" y="5541264"/>
            <a:ext cx="11185855" cy="749808"/>
          </a:xfrm>
          <a:prstGeom prst="roundRect">
            <a:avLst>
              <a:gd name="adj" fmla="val 7317"/>
            </a:avLst>
          </a:prstGeom>
          <a:solidFill>
            <a:srgbClr val="2F3355"/>
          </a:solidFill>
          <a:ln w="19050">
            <a:solidFill>
              <a:srgbClr val="E0A458"/>
            </a:solidFill>
            <a:prstDash val="solid"/>
          </a:ln>
        </p:spPr>
      </p:sp>
      <p:sp>
        <p:nvSpPr>
          <p:cNvPr id="8" name="Text 5"/>
          <p:cNvSpPr txBox="1"/>
          <p:nvPr/>
        </p:nvSpPr>
        <p:spPr>
          <a:xfrm>
            <a:off x="777240" y="5614416"/>
            <a:ext cx="3931920" cy="274320"/>
          </a:xfrm>
          <a:prstGeom prst="rect">
            <a:avLst/>
          </a:prstGeom>
          <a:noFill/>
          <a:ln/>
        </p:spPr>
        <p:txBody>
          <a:bodyPr wrap="square" lIns="0" tIns="0" rIns="0" bIns="0" rtlCol="0" anchor="ctr"/>
          <a:lstStyle/>
          <a:p>
            <a:pPr indent="0" marL="0">
              <a:buNone/>
            </a:pPr>
            <a:r>
              <a:rPr lang="en-US" sz="1200" b="1" dirty="0">
                <a:solidFill>
                  <a:srgbClr val="E0A458"/>
                </a:solidFill>
                <a:latin typeface="Arial" pitchFamily="34" charset="0"/>
                <a:ea typeface="Arial" pitchFamily="34" charset="-122"/>
                <a:cs typeface="Arial" pitchFamily="34" charset="-120"/>
              </a:rPr>
              <a:t>Limitation to state, not to discover in the viva:</a:t>
            </a:r>
            <a:endParaRPr lang="en-US" sz="1200" dirty="0"/>
          </a:p>
        </p:txBody>
      </p:sp>
      <p:sp>
        <p:nvSpPr>
          <p:cNvPr id="9" name="Text 6"/>
          <p:cNvSpPr txBox="1"/>
          <p:nvPr/>
        </p:nvSpPr>
        <p:spPr>
          <a:xfrm>
            <a:off x="777240" y="5888736"/>
            <a:ext cx="10607040" cy="274320"/>
          </a:xfrm>
          <a:prstGeom prst="rect">
            <a:avLst/>
          </a:prstGeom>
          <a:noFill/>
          <a:ln/>
        </p:spPr>
        <p:txBody>
          <a:bodyPr wrap="square" lIns="0" tIns="0" rIns="0" bIns="0" rtlCol="0" anchor="ctr"/>
          <a:lstStyle/>
          <a:p>
            <a:pPr indent="0" marL="0">
              <a:buNone/>
            </a:pPr>
            <a:r>
              <a:rPr lang="en-US" sz="1200" dirty="0">
                <a:solidFill>
                  <a:srgbClr val="F2F3F8"/>
                </a:solidFill>
                <a:latin typeface="Arial" pitchFamily="34" charset="0"/>
                <a:ea typeface="Arial" pitchFamily="34" charset="-122"/>
                <a:cs typeface="Arial" pitchFamily="34" charset="-120"/>
              </a:rPr>
              <a:t>the public datasets carry fit feedback, not keep-or-return. The true outcome is approximated by a self-reported fit label.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EVALUATION</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Three suites, committed golden sets, one results file</a:t>
            </a:r>
            <a:endParaRPr lang="en-US" sz="3000" dirty="0"/>
          </a:p>
        </p:txBody>
      </p:sp>
      <p:sp>
        <p:nvSpPr>
          <p:cNvPr id="4" name="Shape 2"/>
          <p:cNvSpPr/>
          <p:nvPr/>
        </p:nvSpPr>
        <p:spPr>
          <a:xfrm>
            <a:off x="502920" y="1572768"/>
            <a:ext cx="3547872" cy="3986784"/>
          </a:xfrm>
          <a:prstGeom prst="roundRect">
            <a:avLst>
              <a:gd name="adj" fmla="val 1546"/>
            </a:avLst>
          </a:prstGeom>
          <a:solidFill>
            <a:srgbClr val="252943"/>
          </a:solidFill>
          <a:ln w="12700">
            <a:solidFill>
              <a:srgbClr val="252943"/>
            </a:solidFill>
            <a:prstDash val="solid"/>
          </a:ln>
        </p:spPr>
      </p:sp>
      <p:sp>
        <p:nvSpPr>
          <p:cNvPr id="5" name="Shape 3"/>
          <p:cNvSpPr/>
          <p:nvPr/>
        </p:nvSpPr>
        <p:spPr>
          <a:xfrm>
            <a:off x="777240" y="1810512"/>
            <a:ext cx="402336" cy="402336"/>
          </a:xfrm>
          <a:prstGeom prst="ellipse">
            <a:avLst/>
          </a:prstGeom>
          <a:solidFill>
            <a:srgbClr val="83B4DE"/>
          </a:solidFill>
          <a:ln w="12700">
            <a:solidFill>
              <a:srgbClr val="83B4DE"/>
            </a:solidFill>
            <a:prstDash val="solid"/>
          </a:ln>
        </p:spPr>
      </p:sp>
      <p:sp>
        <p:nvSpPr>
          <p:cNvPr id="6" name="Text 4"/>
          <p:cNvSpPr txBox="1"/>
          <p:nvPr/>
        </p:nvSpPr>
        <p:spPr>
          <a:xfrm>
            <a:off x="777240" y="1810512"/>
            <a:ext cx="402336" cy="402336"/>
          </a:xfrm>
          <a:prstGeom prst="rect">
            <a:avLst/>
          </a:prstGeom>
          <a:noFill/>
          <a:ln/>
        </p:spPr>
        <p:txBody>
          <a:bodyPr wrap="square" lIns="0" tIns="0" rIns="0" bIns="0" rtlCol="0" anchor="ctr"/>
          <a:lstStyle/>
          <a:p>
            <a:pPr algn="ctr" indent="0" marL="0">
              <a:buNone/>
            </a:pPr>
            <a:r>
              <a:rPr lang="en-US" sz="1500" b="1" dirty="0">
                <a:solidFill>
                  <a:srgbClr val="1B1D33"/>
                </a:solidFill>
                <a:latin typeface="Arial" pitchFamily="34" charset="0"/>
                <a:ea typeface="Arial" pitchFamily="34" charset="-122"/>
                <a:cs typeface="Arial" pitchFamily="34" charset="-120"/>
              </a:rPr>
              <a:t>A</a:t>
            </a:r>
            <a:endParaRPr lang="en-US" sz="1500" dirty="0"/>
          </a:p>
        </p:txBody>
      </p:sp>
      <p:sp>
        <p:nvSpPr>
          <p:cNvPr id="7" name="Text 5"/>
          <p:cNvSpPr txBox="1"/>
          <p:nvPr/>
        </p:nvSpPr>
        <p:spPr>
          <a:xfrm>
            <a:off x="1307592" y="1810512"/>
            <a:ext cx="2560320" cy="402336"/>
          </a:xfrm>
          <a:prstGeom prst="rect">
            <a:avLst/>
          </a:prstGeom>
          <a:noFill/>
          <a:ln/>
        </p:spPr>
        <p:txBody>
          <a:bodyPr wrap="square" lIns="0" tIns="0" rIns="0" bIns="0" rtlCol="0" anchor="ctr"/>
          <a:lstStyle/>
          <a:p>
            <a:pPr indent="0" marL="0">
              <a:buNone/>
            </a:pPr>
            <a:r>
              <a:rPr lang="en-US" sz="1700" b="1" dirty="0">
                <a:solidFill>
                  <a:srgbClr val="83B4DE"/>
                </a:solidFill>
                <a:latin typeface="Arial" pitchFamily="34" charset="0"/>
                <a:ea typeface="Arial" pitchFamily="34" charset="-122"/>
                <a:cs typeface="Arial" pitchFamily="34" charset="-120"/>
              </a:rPr>
              <a:t>Measurement</a:t>
            </a:r>
            <a:endParaRPr lang="en-US" sz="1700" dirty="0"/>
          </a:p>
        </p:txBody>
      </p:sp>
      <p:sp>
        <p:nvSpPr>
          <p:cNvPr id="8" name="Text 6"/>
          <p:cNvSpPr txBox="1"/>
          <p:nvPr/>
        </p:nvSpPr>
        <p:spPr>
          <a:xfrm>
            <a:off x="777240" y="2395728"/>
            <a:ext cx="3017520" cy="3017520"/>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MAE per landmark on BodyM, plus share within 1 cm and 2 cm</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Ceiling test on SURREAL: extractor error given a perfect mesh</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Core ablation: MAE against number of aggregated frames</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Scale sensitivity: height wrong by ±1, ±2, ±3 cm</a:t>
            </a:r>
            <a:endParaRPr lang="en-US" sz="1150" dirty="0"/>
          </a:p>
        </p:txBody>
      </p:sp>
      <p:sp>
        <p:nvSpPr>
          <p:cNvPr id="9" name="Shape 7"/>
          <p:cNvSpPr/>
          <p:nvPr/>
        </p:nvSpPr>
        <p:spPr>
          <a:xfrm>
            <a:off x="4270248" y="1572768"/>
            <a:ext cx="3547872" cy="3986784"/>
          </a:xfrm>
          <a:prstGeom prst="roundRect">
            <a:avLst>
              <a:gd name="adj" fmla="val 1546"/>
            </a:avLst>
          </a:prstGeom>
          <a:solidFill>
            <a:srgbClr val="252943"/>
          </a:solidFill>
          <a:ln w="12700">
            <a:solidFill>
              <a:srgbClr val="252943"/>
            </a:solidFill>
            <a:prstDash val="solid"/>
          </a:ln>
        </p:spPr>
      </p:sp>
      <p:sp>
        <p:nvSpPr>
          <p:cNvPr id="10" name="Shape 8"/>
          <p:cNvSpPr/>
          <p:nvPr/>
        </p:nvSpPr>
        <p:spPr>
          <a:xfrm>
            <a:off x="4544568" y="1810512"/>
            <a:ext cx="402336" cy="402336"/>
          </a:xfrm>
          <a:prstGeom prst="ellipse">
            <a:avLst/>
          </a:prstGeom>
          <a:solidFill>
            <a:srgbClr val="E0A458"/>
          </a:solidFill>
          <a:ln w="12700">
            <a:solidFill>
              <a:srgbClr val="E0A458"/>
            </a:solidFill>
            <a:prstDash val="solid"/>
          </a:ln>
        </p:spPr>
      </p:sp>
      <p:sp>
        <p:nvSpPr>
          <p:cNvPr id="11" name="Text 9"/>
          <p:cNvSpPr txBox="1"/>
          <p:nvPr/>
        </p:nvSpPr>
        <p:spPr>
          <a:xfrm>
            <a:off x="4544568" y="1810512"/>
            <a:ext cx="402336" cy="402336"/>
          </a:xfrm>
          <a:prstGeom prst="rect">
            <a:avLst/>
          </a:prstGeom>
          <a:noFill/>
          <a:ln/>
        </p:spPr>
        <p:txBody>
          <a:bodyPr wrap="square" lIns="0" tIns="0" rIns="0" bIns="0" rtlCol="0" anchor="ctr"/>
          <a:lstStyle/>
          <a:p>
            <a:pPr algn="ctr" indent="0" marL="0">
              <a:buNone/>
            </a:pPr>
            <a:r>
              <a:rPr lang="en-US" sz="1500" b="1" dirty="0">
                <a:solidFill>
                  <a:srgbClr val="1B1D33"/>
                </a:solidFill>
                <a:latin typeface="Arial" pitchFamily="34" charset="0"/>
                <a:ea typeface="Arial" pitchFamily="34" charset="-122"/>
                <a:cs typeface="Arial" pitchFamily="34" charset="-120"/>
              </a:rPr>
              <a:t>B</a:t>
            </a:r>
            <a:endParaRPr lang="en-US" sz="1500" dirty="0"/>
          </a:p>
        </p:txBody>
      </p:sp>
      <p:sp>
        <p:nvSpPr>
          <p:cNvPr id="12" name="Text 10"/>
          <p:cNvSpPr txBox="1"/>
          <p:nvPr/>
        </p:nvSpPr>
        <p:spPr>
          <a:xfrm>
            <a:off x="5074920" y="1810512"/>
            <a:ext cx="2560320" cy="402336"/>
          </a:xfrm>
          <a:prstGeom prst="rect">
            <a:avLst/>
          </a:prstGeom>
          <a:noFill/>
          <a:ln/>
        </p:spPr>
        <p:txBody>
          <a:bodyPr wrap="square" lIns="0" tIns="0" rIns="0" bIns="0" rtlCol="0" anchor="ctr"/>
          <a:lstStyle/>
          <a:p>
            <a:pPr indent="0" marL="0">
              <a:buNone/>
            </a:pPr>
            <a:r>
              <a:rPr lang="en-US" sz="1700" b="1" dirty="0">
                <a:solidFill>
                  <a:srgbClr val="E0A458"/>
                </a:solidFill>
                <a:latin typeface="Arial" pitchFamily="34" charset="0"/>
                <a:ea typeface="Arial" pitchFamily="34" charset="-122"/>
                <a:cs typeface="Arial" pitchFamily="34" charset="-120"/>
              </a:rPr>
              <a:t>Extraction</a:t>
            </a:r>
            <a:endParaRPr lang="en-US" sz="1700" dirty="0"/>
          </a:p>
        </p:txBody>
      </p:sp>
      <p:sp>
        <p:nvSpPr>
          <p:cNvPr id="13" name="Text 11"/>
          <p:cNvSpPr txBox="1"/>
          <p:nvPr/>
        </p:nvSpPr>
        <p:spPr>
          <a:xfrm>
            <a:off x="4544568" y="2395728"/>
            <a:ext cx="3017520" cy="3017520"/>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50 hand-labelled charts, ~10 brands across 5 categories</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Field-level precision, recall, F1; unit-conversion errors</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body-vs-flat accuracy — the single most consequential field</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Fabricated rows: must be zero, or explained</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Injection test on a deliberately poisoned page</a:t>
            </a:r>
            <a:endParaRPr lang="en-US" sz="1150" dirty="0"/>
          </a:p>
        </p:txBody>
      </p:sp>
      <p:sp>
        <p:nvSpPr>
          <p:cNvPr id="14" name="Shape 12"/>
          <p:cNvSpPr/>
          <p:nvPr/>
        </p:nvSpPr>
        <p:spPr>
          <a:xfrm>
            <a:off x="8037576" y="1572768"/>
            <a:ext cx="3547872" cy="3986784"/>
          </a:xfrm>
          <a:prstGeom prst="roundRect">
            <a:avLst>
              <a:gd name="adj" fmla="val 1546"/>
            </a:avLst>
          </a:prstGeom>
          <a:solidFill>
            <a:srgbClr val="252943"/>
          </a:solidFill>
          <a:ln w="12700">
            <a:solidFill>
              <a:srgbClr val="252943"/>
            </a:solidFill>
            <a:prstDash val="solid"/>
          </a:ln>
        </p:spPr>
      </p:sp>
      <p:sp>
        <p:nvSpPr>
          <p:cNvPr id="15" name="Shape 13"/>
          <p:cNvSpPr/>
          <p:nvPr/>
        </p:nvSpPr>
        <p:spPr>
          <a:xfrm>
            <a:off x="8311896" y="1810512"/>
            <a:ext cx="402336" cy="402336"/>
          </a:xfrm>
          <a:prstGeom prst="ellipse">
            <a:avLst/>
          </a:prstGeom>
          <a:solidFill>
            <a:srgbClr val="6FC095"/>
          </a:solidFill>
          <a:ln w="12700">
            <a:solidFill>
              <a:srgbClr val="6FC095"/>
            </a:solidFill>
            <a:prstDash val="solid"/>
          </a:ln>
        </p:spPr>
      </p:sp>
      <p:sp>
        <p:nvSpPr>
          <p:cNvPr id="16" name="Text 14"/>
          <p:cNvSpPr txBox="1"/>
          <p:nvPr/>
        </p:nvSpPr>
        <p:spPr>
          <a:xfrm>
            <a:off x="8311896" y="1810512"/>
            <a:ext cx="402336" cy="402336"/>
          </a:xfrm>
          <a:prstGeom prst="rect">
            <a:avLst/>
          </a:prstGeom>
          <a:noFill/>
          <a:ln/>
        </p:spPr>
        <p:txBody>
          <a:bodyPr wrap="square" lIns="0" tIns="0" rIns="0" bIns="0" rtlCol="0" anchor="ctr"/>
          <a:lstStyle/>
          <a:p>
            <a:pPr algn="ctr" indent="0" marL="0">
              <a:buNone/>
            </a:pPr>
            <a:r>
              <a:rPr lang="en-US" sz="1500" b="1" dirty="0">
                <a:solidFill>
                  <a:srgbClr val="1B1D33"/>
                </a:solidFill>
                <a:latin typeface="Arial" pitchFamily="34" charset="0"/>
                <a:ea typeface="Arial" pitchFamily="34" charset="-122"/>
                <a:cs typeface="Arial" pitchFamily="34" charset="-120"/>
              </a:rPr>
              <a:t>C</a:t>
            </a:r>
            <a:endParaRPr lang="en-US" sz="1500" dirty="0"/>
          </a:p>
        </p:txBody>
      </p:sp>
      <p:sp>
        <p:nvSpPr>
          <p:cNvPr id="17" name="Text 15"/>
          <p:cNvSpPr txBox="1"/>
          <p:nvPr/>
        </p:nvSpPr>
        <p:spPr>
          <a:xfrm>
            <a:off x="8842248" y="1810512"/>
            <a:ext cx="2560320" cy="402336"/>
          </a:xfrm>
          <a:prstGeom prst="rect">
            <a:avLst/>
          </a:prstGeom>
          <a:noFill/>
          <a:ln/>
        </p:spPr>
        <p:txBody>
          <a:bodyPr wrap="square" lIns="0" tIns="0" rIns="0" bIns="0" rtlCol="0" anchor="ctr"/>
          <a:lstStyle/>
          <a:p>
            <a:pPr indent="0" marL="0">
              <a:buNone/>
            </a:pPr>
            <a:r>
              <a:rPr lang="en-US" sz="1700" b="1" dirty="0">
                <a:solidFill>
                  <a:srgbClr val="6FC095"/>
                </a:solidFill>
                <a:latin typeface="Arial" pitchFamily="34" charset="0"/>
                <a:ea typeface="Arial" pitchFamily="34" charset="-122"/>
                <a:cs typeface="Arial" pitchFamily="34" charset="-120"/>
              </a:rPr>
              <a:t>Agent behaviour</a:t>
            </a:r>
            <a:endParaRPr lang="en-US" sz="1700" dirty="0"/>
          </a:p>
        </p:txBody>
      </p:sp>
      <p:sp>
        <p:nvSpPr>
          <p:cNvPr id="18" name="Text 16"/>
          <p:cNvSpPr txBox="1"/>
          <p:nvPr/>
        </p:nvSpPr>
        <p:spPr>
          <a:xfrm>
            <a:off x="8311896" y="2395728"/>
            <a:ext cx="3017520" cy="3017520"/>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Bad-clip set scored as a confusion matrix over four verdicts</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Message quality: does it name the cause and one action?</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Faithfulness, judged helpfulness, Cohen's κ vs human raters</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Trajectory: tool choice, retries, cost and latency per task</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Agentic ablation: monolith → chain → multi-agent</a:t>
            </a:r>
            <a:endParaRPr lang="en-US" sz="1150" dirty="0"/>
          </a:p>
        </p:txBody>
      </p:sp>
      <p:sp>
        <p:nvSpPr>
          <p:cNvPr id="19" name="Text 17"/>
          <p:cNvSpPr txBox="1"/>
          <p:nvPr/>
        </p:nvSpPr>
        <p:spPr>
          <a:xfrm>
            <a:off x="502920" y="5742432"/>
            <a:ext cx="11185855" cy="548640"/>
          </a:xfrm>
          <a:prstGeom prst="rect">
            <a:avLst/>
          </a:prstGeom>
          <a:noFill/>
          <a:ln/>
        </p:spPr>
        <p:txBody>
          <a:bodyPr wrap="square" lIns="0" tIns="0" rIns="0" bIns="0" rtlCol="0" anchor="ctr"/>
          <a:lstStyle/>
          <a:p>
            <a:pPr indent="0" marL="0">
              <a:lnSpc>
                <a:spcPct val="115000"/>
              </a:lnSpc>
              <a:buNone/>
            </a:pPr>
            <a:r>
              <a:rPr lang="en-US" sz="1250" i="1" dirty="0">
                <a:solidFill>
                  <a:srgbClr val="9BA1C1"/>
                </a:solidFill>
                <a:latin typeface="Arial" pitchFamily="34" charset="0"/>
                <a:ea typeface="Arial" pitchFamily="34" charset="-122"/>
                <a:cs typeface="Arial" pitchFamily="34" charset="-120"/>
              </a:rPr>
              <a:t>Model choice is a result, not a footnote: small fast model for agents 3 and 5 at volume, large model for 1, 4 and 6 — with the quality-versus-cost curve reported per task.</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WHY THIS PROJECT CAN MEASURE HALLUCINATION</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Two invariants a machine can check</a:t>
            </a:r>
            <a:endParaRPr lang="en-US" sz="3000" dirty="0"/>
          </a:p>
        </p:txBody>
      </p:sp>
      <p:sp>
        <p:nvSpPr>
          <p:cNvPr id="4" name="Shape 2"/>
          <p:cNvSpPr/>
          <p:nvPr/>
        </p:nvSpPr>
        <p:spPr>
          <a:xfrm>
            <a:off x="502920" y="1591056"/>
            <a:ext cx="11185855" cy="2011680"/>
          </a:xfrm>
          <a:prstGeom prst="roundRect">
            <a:avLst>
              <a:gd name="adj" fmla="val 2727"/>
            </a:avLst>
          </a:prstGeom>
          <a:solidFill>
            <a:srgbClr val="252943"/>
          </a:solidFill>
          <a:ln w="12700">
            <a:solidFill>
              <a:srgbClr val="252943"/>
            </a:solidFill>
            <a:prstDash val="solid"/>
          </a:ln>
        </p:spPr>
      </p:sp>
      <p:sp>
        <p:nvSpPr>
          <p:cNvPr id="5" name="Shape 3"/>
          <p:cNvSpPr/>
          <p:nvPr/>
        </p:nvSpPr>
        <p:spPr>
          <a:xfrm>
            <a:off x="832104" y="1901952"/>
            <a:ext cx="402336" cy="402336"/>
          </a:xfrm>
          <a:prstGeom prst="ellipse">
            <a:avLst/>
          </a:prstGeom>
          <a:solidFill>
            <a:srgbClr val="83B4DE"/>
          </a:solidFill>
          <a:ln w="12700">
            <a:solidFill>
              <a:srgbClr val="83B4DE"/>
            </a:solidFill>
            <a:prstDash val="solid"/>
          </a:ln>
        </p:spPr>
      </p:sp>
      <p:sp>
        <p:nvSpPr>
          <p:cNvPr id="6" name="Text 4"/>
          <p:cNvSpPr txBox="1"/>
          <p:nvPr/>
        </p:nvSpPr>
        <p:spPr>
          <a:xfrm>
            <a:off x="832104" y="1901952"/>
            <a:ext cx="402336" cy="402336"/>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1</a:t>
            </a:r>
            <a:endParaRPr lang="en-US" sz="1200" dirty="0"/>
          </a:p>
        </p:txBody>
      </p:sp>
      <p:sp>
        <p:nvSpPr>
          <p:cNvPr id="7" name="Text 5"/>
          <p:cNvSpPr txBox="1"/>
          <p:nvPr/>
        </p:nvSpPr>
        <p:spPr>
          <a:xfrm>
            <a:off x="1417320" y="1847088"/>
            <a:ext cx="5486400" cy="329184"/>
          </a:xfrm>
          <a:prstGeom prst="rect">
            <a:avLst/>
          </a:prstGeom>
          <a:noFill/>
          <a:ln/>
        </p:spPr>
        <p:txBody>
          <a:bodyPr wrap="square" lIns="0" tIns="0" rIns="0" bIns="0" rtlCol="0" anchor="ctr"/>
          <a:lstStyle/>
          <a:p>
            <a:pPr indent="0" marL="0">
              <a:buNone/>
            </a:pPr>
            <a:r>
              <a:rPr lang="en-US" sz="1800" b="1" dirty="0">
                <a:solidFill>
                  <a:srgbClr val="83B4DE"/>
                </a:solidFill>
                <a:latin typeface="Arial" pitchFamily="34" charset="0"/>
                <a:ea typeface="Arial" pitchFamily="34" charset="-122"/>
                <a:cs typeface="Arial" pitchFamily="34" charset="-120"/>
              </a:rPr>
              <a:t>The explanation is verifiable</a:t>
            </a:r>
            <a:endParaRPr lang="en-US" sz="1800" dirty="0"/>
          </a:p>
        </p:txBody>
      </p:sp>
      <p:sp>
        <p:nvSpPr>
          <p:cNvPr id="8" name="Shape 6"/>
          <p:cNvSpPr/>
          <p:nvPr/>
        </p:nvSpPr>
        <p:spPr>
          <a:xfrm>
            <a:off x="1417320" y="2267712"/>
            <a:ext cx="5486400" cy="457200"/>
          </a:xfrm>
          <a:prstGeom prst="roundRect">
            <a:avLst>
              <a:gd name="adj" fmla="val 10000"/>
            </a:avLst>
          </a:prstGeom>
          <a:solidFill>
            <a:srgbClr val="1B1D33"/>
          </a:solidFill>
          <a:ln w="12700">
            <a:solidFill>
              <a:srgbClr val="83B4DE"/>
            </a:solidFill>
            <a:prstDash val="solid"/>
          </a:ln>
        </p:spPr>
      </p:sp>
      <p:sp>
        <p:nvSpPr>
          <p:cNvPr id="9" name="Text 7"/>
          <p:cNvSpPr txBox="1"/>
          <p:nvPr/>
        </p:nvSpPr>
        <p:spPr>
          <a:xfrm>
            <a:off x="1417320" y="2267712"/>
            <a:ext cx="5486400" cy="457200"/>
          </a:xfrm>
          <a:prstGeom prst="rect">
            <a:avLst/>
          </a:prstGeom>
          <a:noFill/>
          <a:ln/>
        </p:spPr>
        <p:txBody>
          <a:bodyPr wrap="square" lIns="0" tIns="0" rIns="0" bIns="0" rtlCol="0" anchor="ctr"/>
          <a:lstStyle/>
          <a:p>
            <a:pPr algn="ctr" indent="0" marL="0">
              <a:buNone/>
            </a:pPr>
            <a:r>
              <a:rPr lang="en-US" sz="1350" b="1" dirty="0">
                <a:solidFill>
                  <a:srgbClr val="F2F3F8"/>
                </a:solidFill>
                <a:latin typeface="Arial" pitchFamily="34" charset="0"/>
                <a:ea typeface="Arial" pitchFamily="34" charset="-122"/>
                <a:cs typeface="Arial" pitchFamily="34" charset="-120"/>
              </a:rPr>
              <a:t>cited_landmarks  ⊆  engine.rationale.landmarks</a:t>
            </a:r>
            <a:endParaRPr lang="en-US" sz="1350" dirty="0"/>
          </a:p>
        </p:txBody>
      </p:sp>
      <p:sp>
        <p:nvSpPr>
          <p:cNvPr id="10" name="Text 8"/>
          <p:cNvSpPr txBox="1"/>
          <p:nvPr/>
        </p:nvSpPr>
        <p:spPr>
          <a:xfrm>
            <a:off x="7269480" y="1865376"/>
            <a:ext cx="4114800" cy="1463040"/>
          </a:xfrm>
          <a:prstGeom prst="rect">
            <a:avLst/>
          </a:prstGeom>
          <a:noFill/>
          <a:ln/>
        </p:spPr>
        <p:txBody>
          <a:bodyPr wrap="square" lIns="0" tIns="0" rIns="0" bIns="0" rtlCol="0" anchor="t"/>
          <a:lstStyle/>
          <a:p>
            <a:pPr indent="0" marL="0">
              <a:lnSpc>
                <a:spcPct val="118000"/>
              </a:lnSpc>
              <a:buNone/>
            </a:pPr>
            <a:r>
              <a:rPr lang="en-US" sz="1150" dirty="0">
                <a:solidFill>
                  <a:srgbClr val="9BA1C1"/>
                </a:solidFill>
                <a:latin typeface="Arial" pitchFamily="34" charset="0"/>
                <a:ea typeface="Arial" pitchFamily="34" charset="-122"/>
                <a:cs typeface="Arial" pitchFamily="34" charset="-120"/>
              </a:rPr>
              <a:t>The Fit Advisor explains a deterministic output. If the engine says the waist is 2 cm tight and the text says it is loose, that is a detectable hallucination with real ground truth — not a matter of opinion. Zero tolerance, checked in code on every run.</a:t>
            </a:r>
            <a:endParaRPr lang="en-US" sz="1150" dirty="0"/>
          </a:p>
        </p:txBody>
      </p:sp>
      <p:sp>
        <p:nvSpPr>
          <p:cNvPr id="11" name="Shape 9"/>
          <p:cNvSpPr/>
          <p:nvPr/>
        </p:nvSpPr>
        <p:spPr>
          <a:xfrm>
            <a:off x="502920" y="3803904"/>
            <a:ext cx="11185855" cy="2011680"/>
          </a:xfrm>
          <a:prstGeom prst="roundRect">
            <a:avLst>
              <a:gd name="adj" fmla="val 2727"/>
            </a:avLst>
          </a:prstGeom>
          <a:solidFill>
            <a:srgbClr val="252943"/>
          </a:solidFill>
          <a:ln w="12700">
            <a:solidFill>
              <a:srgbClr val="252943"/>
            </a:solidFill>
            <a:prstDash val="solid"/>
          </a:ln>
        </p:spPr>
      </p:sp>
      <p:sp>
        <p:nvSpPr>
          <p:cNvPr id="12" name="Shape 10"/>
          <p:cNvSpPr/>
          <p:nvPr/>
        </p:nvSpPr>
        <p:spPr>
          <a:xfrm>
            <a:off x="832104" y="4114800"/>
            <a:ext cx="402336" cy="402336"/>
          </a:xfrm>
          <a:prstGeom prst="ellipse">
            <a:avLst/>
          </a:prstGeom>
          <a:solidFill>
            <a:srgbClr val="E0A458"/>
          </a:solidFill>
          <a:ln w="12700">
            <a:solidFill>
              <a:srgbClr val="E0A458"/>
            </a:solidFill>
            <a:prstDash val="solid"/>
          </a:ln>
        </p:spPr>
      </p:sp>
      <p:sp>
        <p:nvSpPr>
          <p:cNvPr id="13" name="Text 11"/>
          <p:cNvSpPr txBox="1"/>
          <p:nvPr/>
        </p:nvSpPr>
        <p:spPr>
          <a:xfrm>
            <a:off x="832104" y="4114800"/>
            <a:ext cx="402336" cy="402336"/>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2</a:t>
            </a:r>
            <a:endParaRPr lang="en-US" sz="1200" dirty="0"/>
          </a:p>
        </p:txBody>
      </p:sp>
      <p:sp>
        <p:nvSpPr>
          <p:cNvPr id="14" name="Text 12"/>
          <p:cNvSpPr txBox="1"/>
          <p:nvPr/>
        </p:nvSpPr>
        <p:spPr>
          <a:xfrm>
            <a:off x="1417320" y="4059936"/>
            <a:ext cx="5486400" cy="329184"/>
          </a:xfrm>
          <a:prstGeom prst="rect">
            <a:avLst/>
          </a:prstGeom>
          <a:noFill/>
          <a:ln/>
        </p:spPr>
        <p:txBody>
          <a:bodyPr wrap="square" lIns="0" tIns="0" rIns="0" bIns="0" rtlCol="0" anchor="ctr"/>
          <a:lstStyle/>
          <a:p>
            <a:pPr indent="0" marL="0">
              <a:buNone/>
            </a:pPr>
            <a:r>
              <a:rPr lang="en-US" sz="1800" b="1" dirty="0">
                <a:solidFill>
                  <a:srgbClr val="E0A458"/>
                </a:solidFill>
                <a:latin typeface="Arial" pitchFamily="34" charset="0"/>
                <a:ea typeface="Arial" pitchFamily="34" charset="-122"/>
                <a:cs typeface="Arial" pitchFamily="34" charset="-120"/>
              </a:rPr>
              <a:t>The extraction is attributable</a:t>
            </a:r>
            <a:endParaRPr lang="en-US" sz="1800" dirty="0"/>
          </a:p>
        </p:txBody>
      </p:sp>
      <p:sp>
        <p:nvSpPr>
          <p:cNvPr id="15" name="Shape 13"/>
          <p:cNvSpPr/>
          <p:nvPr/>
        </p:nvSpPr>
        <p:spPr>
          <a:xfrm>
            <a:off x="1417320" y="4480560"/>
            <a:ext cx="5486400" cy="457200"/>
          </a:xfrm>
          <a:prstGeom prst="roundRect">
            <a:avLst>
              <a:gd name="adj" fmla="val 10000"/>
            </a:avLst>
          </a:prstGeom>
          <a:solidFill>
            <a:srgbClr val="1B1D33"/>
          </a:solidFill>
          <a:ln w="12700">
            <a:solidFill>
              <a:srgbClr val="E0A458"/>
            </a:solidFill>
            <a:prstDash val="solid"/>
          </a:ln>
        </p:spPr>
      </p:sp>
      <p:sp>
        <p:nvSpPr>
          <p:cNvPr id="16" name="Text 14"/>
          <p:cNvSpPr txBox="1"/>
          <p:nvPr/>
        </p:nvSpPr>
        <p:spPr>
          <a:xfrm>
            <a:off x="1417320" y="4480560"/>
            <a:ext cx="5486400" cy="457200"/>
          </a:xfrm>
          <a:prstGeom prst="rect">
            <a:avLst/>
          </a:prstGeom>
          <a:noFill/>
          <a:ln/>
        </p:spPr>
        <p:txBody>
          <a:bodyPr wrap="square" lIns="0" tIns="0" rIns="0" bIns="0" rtlCol="0" anchor="ctr"/>
          <a:lstStyle/>
          <a:p>
            <a:pPr algn="ctr" indent="0" marL="0">
              <a:buNone/>
            </a:pPr>
            <a:r>
              <a:rPr lang="en-US" sz="1350" b="1" dirty="0">
                <a:solidFill>
                  <a:srgbClr val="F2F3F8"/>
                </a:solidFill>
                <a:latin typeface="Arial" pitchFamily="34" charset="0"/>
                <a:ea typeface="Arial" pitchFamily="34" charset="-122"/>
                <a:cs typeface="Arial" pitchFamily="34" charset="-120"/>
              </a:rPr>
              <a:t>kind_evidence  ∈  source_page_text</a:t>
            </a:r>
            <a:endParaRPr lang="en-US" sz="1350" dirty="0"/>
          </a:p>
        </p:txBody>
      </p:sp>
      <p:sp>
        <p:nvSpPr>
          <p:cNvPr id="17" name="Text 15"/>
          <p:cNvSpPr txBox="1"/>
          <p:nvPr/>
        </p:nvSpPr>
        <p:spPr>
          <a:xfrm>
            <a:off x="7269480" y="4078224"/>
            <a:ext cx="4114800" cy="1463040"/>
          </a:xfrm>
          <a:prstGeom prst="rect">
            <a:avLst/>
          </a:prstGeom>
          <a:noFill/>
          <a:ln/>
        </p:spPr>
        <p:txBody>
          <a:bodyPr wrap="square" lIns="0" tIns="0" rIns="0" bIns="0" rtlCol="0" anchor="t"/>
          <a:lstStyle/>
          <a:p>
            <a:pPr indent="0" marL="0">
              <a:lnSpc>
                <a:spcPct val="118000"/>
              </a:lnSpc>
              <a:buNone/>
            </a:pPr>
            <a:r>
              <a:rPr lang="en-US" sz="1150" dirty="0">
                <a:solidFill>
                  <a:srgbClr val="9BA1C1"/>
                </a:solidFill>
                <a:latin typeface="Arial" pitchFamily="34" charset="0"/>
                <a:ea typeface="Arial" pitchFamily="34" charset="-122"/>
                <a:cs typeface="Arial" pitchFamily="34" charset="-120"/>
              </a:rPr>
              <a:t>The Catalog Ingestor must return a verbatim quote from the page justifying its body-versus-flat call. A quote that is not a substring of the source fails validation, so the most consequential field in the pipeline cannot be asserted without evidence.</a:t>
            </a:r>
            <a:endParaRPr lang="en-US" sz="1150" dirty="0"/>
          </a:p>
        </p:txBody>
      </p:sp>
      <p:sp>
        <p:nvSpPr>
          <p:cNvPr id="18" name="Text 16"/>
          <p:cNvSpPr txBox="1"/>
          <p:nvPr/>
        </p:nvSpPr>
        <p:spPr>
          <a:xfrm>
            <a:off x="502920" y="6053328"/>
            <a:ext cx="11185855" cy="310896"/>
          </a:xfrm>
          <a:prstGeom prst="rect">
            <a:avLst/>
          </a:prstGeom>
          <a:noFill/>
          <a:ln/>
        </p:spPr>
        <p:txBody>
          <a:bodyPr wrap="square" lIns="0" tIns="0" rIns="0" bIns="0" rtlCol="0" anchor="ctr"/>
          <a:lstStyle/>
          <a:p>
            <a:pPr indent="0" marL="0">
              <a:buNone/>
            </a:pPr>
            <a:r>
              <a:rPr lang="en-US" sz="1250" i="1" dirty="0">
                <a:solidFill>
                  <a:srgbClr val="E0A458"/>
                </a:solidFill>
                <a:latin typeface="Arial" pitchFamily="34" charset="0"/>
                <a:ea typeface="Arial" pitchFamily="34" charset="-122"/>
                <a:cs typeface="Arial" pitchFamily="34" charset="-120"/>
              </a:rPr>
              <a:t>Both turn a subjective evaluation into a programmatic one. That is the practical value of keeping the core deterministic.</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DEPLOYMENT</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What runs where</a:t>
            </a:r>
            <a:endParaRPr lang="en-US" sz="3000" dirty="0"/>
          </a:p>
        </p:txBody>
      </p:sp>
      <p:sp>
        <p:nvSpPr>
          <p:cNvPr id="4" name="Text 2"/>
          <p:cNvSpPr txBox="1"/>
          <p:nvPr/>
        </p:nvSpPr>
        <p:spPr>
          <a:xfrm>
            <a:off x="502920" y="1042416"/>
            <a:ext cx="11185855" cy="310896"/>
          </a:xfrm>
          <a:prstGeom prst="rect">
            <a:avLst/>
          </a:prstGeom>
          <a:noFill/>
          <a:ln/>
        </p:spPr>
        <p:txBody>
          <a:bodyPr wrap="square" lIns="0" tIns="0" rIns="0" bIns="0" rtlCol="0" anchor="ctr"/>
          <a:lstStyle/>
          <a:p>
            <a:pPr algn="l" indent="0" marL="0">
              <a:buNone/>
            </a:pPr>
            <a:r>
              <a:rPr lang="en-US" sz="1300" dirty="0">
                <a:solidFill>
                  <a:srgbClr val="9BA1C1"/>
                </a:solidFill>
                <a:latin typeface="Arial" pitchFamily="34" charset="0"/>
                <a:ea typeface="Arial" pitchFamily="34" charset="-122"/>
                <a:cs typeface="Arial" pitchFamily="34" charset="-120"/>
              </a:rPr>
              <a:t>Vercel and Supabase carry the product. One layer cannot live on either of them.</a:t>
            </a:r>
            <a:endParaRPr lang="en-US" sz="1300" dirty="0"/>
          </a:p>
        </p:txBody>
      </p:sp>
      <p:sp>
        <p:nvSpPr>
          <p:cNvPr id="5" name="Shape 3"/>
          <p:cNvSpPr/>
          <p:nvPr/>
        </p:nvSpPr>
        <p:spPr>
          <a:xfrm>
            <a:off x="1737360" y="1572768"/>
            <a:ext cx="8138160" cy="841248"/>
          </a:xfrm>
          <a:prstGeom prst="roundRect">
            <a:avLst>
              <a:gd name="adj" fmla="val 5435"/>
            </a:avLst>
          </a:prstGeom>
          <a:solidFill>
            <a:srgbClr val="252943"/>
          </a:solidFill>
          <a:ln w="12700">
            <a:solidFill>
              <a:srgbClr val="6E7699"/>
            </a:solidFill>
            <a:prstDash val="solid"/>
          </a:ln>
        </p:spPr>
      </p:sp>
      <p:sp>
        <p:nvSpPr>
          <p:cNvPr id="6" name="Text 4"/>
          <p:cNvSpPr txBox="1"/>
          <p:nvPr/>
        </p:nvSpPr>
        <p:spPr>
          <a:xfrm>
            <a:off x="2011680" y="1700784"/>
            <a:ext cx="7589520" cy="292608"/>
          </a:xfrm>
          <a:prstGeom prst="rect">
            <a:avLst/>
          </a:prstGeom>
          <a:noFill/>
          <a:ln/>
        </p:spPr>
        <p:txBody>
          <a:bodyPr wrap="square" lIns="0" tIns="0" rIns="0" bIns="0" rtlCol="0" anchor="ctr"/>
          <a:lstStyle/>
          <a:p>
            <a:pPr indent="0" marL="0">
              <a:buNone/>
            </a:pPr>
            <a:r>
              <a:rPr lang="en-US" sz="1500" b="1" dirty="0">
                <a:solidFill>
                  <a:srgbClr val="F2F3F8"/>
                </a:solidFill>
                <a:latin typeface="Arial" pitchFamily="34" charset="0"/>
                <a:ea typeface="Arial" pitchFamily="34" charset="-122"/>
                <a:cs typeface="Arial" pitchFamily="34" charset="-120"/>
              </a:rPr>
              <a:t>Browser · Next.js on Vercel</a:t>
            </a:r>
            <a:endParaRPr lang="en-US" sz="1500" dirty="0"/>
          </a:p>
        </p:txBody>
      </p:sp>
      <p:sp>
        <p:nvSpPr>
          <p:cNvPr id="7" name="Text 5"/>
          <p:cNvSpPr txBox="1"/>
          <p:nvPr/>
        </p:nvSpPr>
        <p:spPr>
          <a:xfrm>
            <a:off x="2011680" y="1993392"/>
            <a:ext cx="7589520" cy="256032"/>
          </a:xfrm>
          <a:prstGeom prst="rect">
            <a:avLst/>
          </a:prstGeom>
          <a:noFill/>
          <a:ln/>
        </p:spPr>
        <p:txBody>
          <a:bodyPr wrap="square" lIns="0" tIns="0" rIns="0" bIns="0" rtlCol="0" anchor="ctr"/>
          <a:lstStyle/>
          <a:p>
            <a:pPr indent="0" marL="0">
              <a:buNone/>
            </a:pPr>
            <a:r>
              <a:rPr lang="en-US" sz="1100" dirty="0">
                <a:solidFill>
                  <a:srgbClr val="9BA1C1"/>
                </a:solidFill>
                <a:latin typeface="Arial" pitchFamily="34" charset="0"/>
                <a:ea typeface="Arial" pitchFamily="34" charset="-122"/>
                <a:cs typeface="Arial" pitchFamily="34" charset="-120"/>
              </a:rPr>
              <a:t>UI · auth · light API routes · triggers the worker</a:t>
            </a:r>
            <a:endParaRPr lang="en-US" sz="1100" dirty="0"/>
          </a:p>
        </p:txBody>
      </p:sp>
      <p:sp>
        <p:nvSpPr>
          <p:cNvPr id="8" name="Shape 6"/>
          <p:cNvSpPr/>
          <p:nvPr/>
        </p:nvSpPr>
        <p:spPr>
          <a:xfrm>
            <a:off x="1737360" y="2798064"/>
            <a:ext cx="8138160" cy="841248"/>
          </a:xfrm>
          <a:prstGeom prst="roundRect">
            <a:avLst>
              <a:gd name="adj" fmla="val 5435"/>
            </a:avLst>
          </a:prstGeom>
          <a:solidFill>
            <a:srgbClr val="1F3A34"/>
          </a:solidFill>
          <a:ln w="19050">
            <a:solidFill>
              <a:srgbClr val="6FC095"/>
            </a:solidFill>
            <a:prstDash val="solid"/>
          </a:ln>
        </p:spPr>
      </p:sp>
      <p:sp>
        <p:nvSpPr>
          <p:cNvPr id="9" name="Text 7"/>
          <p:cNvSpPr txBox="1"/>
          <p:nvPr/>
        </p:nvSpPr>
        <p:spPr>
          <a:xfrm>
            <a:off x="2011680" y="2926080"/>
            <a:ext cx="7589520" cy="292608"/>
          </a:xfrm>
          <a:prstGeom prst="rect">
            <a:avLst/>
          </a:prstGeom>
          <a:noFill/>
          <a:ln/>
        </p:spPr>
        <p:txBody>
          <a:bodyPr wrap="square" lIns="0" tIns="0" rIns="0" bIns="0" rtlCol="0" anchor="ctr"/>
          <a:lstStyle/>
          <a:p>
            <a:pPr indent="0" marL="0">
              <a:buNone/>
            </a:pPr>
            <a:r>
              <a:rPr lang="en-US" sz="1500" b="1" dirty="0">
                <a:solidFill>
                  <a:srgbClr val="6FC095"/>
                </a:solidFill>
                <a:latin typeface="Arial" pitchFamily="34" charset="0"/>
                <a:ea typeface="Arial" pitchFamily="34" charset="-122"/>
                <a:cs typeface="Arial" pitchFamily="34" charset="-120"/>
              </a:rPr>
              <a:t>Supabase · eu-central-1</a:t>
            </a:r>
            <a:endParaRPr lang="en-US" sz="1500" dirty="0"/>
          </a:p>
        </p:txBody>
      </p:sp>
      <p:sp>
        <p:nvSpPr>
          <p:cNvPr id="10" name="Text 8"/>
          <p:cNvSpPr txBox="1"/>
          <p:nvPr/>
        </p:nvSpPr>
        <p:spPr>
          <a:xfrm>
            <a:off x="2011680" y="3218688"/>
            <a:ext cx="7589520" cy="256032"/>
          </a:xfrm>
          <a:prstGeom prst="rect">
            <a:avLst/>
          </a:prstGeom>
          <a:noFill/>
          <a:ln/>
        </p:spPr>
        <p:txBody>
          <a:bodyPr wrap="square" lIns="0" tIns="0" rIns="0" bIns="0" rtlCol="0" anchor="ctr"/>
          <a:lstStyle/>
          <a:p>
            <a:pPr indent="0" marL="0">
              <a:buNone/>
            </a:pPr>
            <a:r>
              <a:rPr lang="en-US" sz="1100" dirty="0">
                <a:solidFill>
                  <a:srgbClr val="9BA1C1"/>
                </a:solidFill>
                <a:latin typeface="Arial" pitchFamily="34" charset="0"/>
                <a:ea typeface="Arial" pitchFamily="34" charset="-122"/>
                <a:cs typeface="Arial" pitchFamily="34" charset="-120"/>
              </a:rPr>
              <a:t>Postgres · Auth · private Storage · Realtime · pgvector for the body k-NN</a:t>
            </a:r>
            <a:endParaRPr lang="en-US" sz="1100" dirty="0"/>
          </a:p>
        </p:txBody>
      </p:sp>
      <p:sp>
        <p:nvSpPr>
          <p:cNvPr id="11" name="Shape 9"/>
          <p:cNvSpPr/>
          <p:nvPr/>
        </p:nvSpPr>
        <p:spPr>
          <a:xfrm>
            <a:off x="1737360" y="4023360"/>
            <a:ext cx="8138160" cy="1005840"/>
          </a:xfrm>
          <a:prstGeom prst="roundRect">
            <a:avLst>
              <a:gd name="adj" fmla="val 4545"/>
            </a:avLst>
          </a:prstGeom>
          <a:solidFill>
            <a:srgbClr val="223050"/>
          </a:solidFill>
          <a:ln w="19050">
            <a:solidFill>
              <a:srgbClr val="83B4DE"/>
            </a:solidFill>
            <a:prstDash val="solid"/>
          </a:ln>
        </p:spPr>
      </p:sp>
      <p:sp>
        <p:nvSpPr>
          <p:cNvPr id="12" name="Text 10"/>
          <p:cNvSpPr txBox="1"/>
          <p:nvPr/>
        </p:nvSpPr>
        <p:spPr>
          <a:xfrm>
            <a:off x="2011680" y="4133088"/>
            <a:ext cx="7589520" cy="292608"/>
          </a:xfrm>
          <a:prstGeom prst="rect">
            <a:avLst/>
          </a:prstGeom>
          <a:noFill/>
          <a:ln/>
        </p:spPr>
        <p:txBody>
          <a:bodyPr wrap="square" lIns="0" tIns="0" rIns="0" bIns="0" rtlCol="0" anchor="ctr"/>
          <a:lstStyle/>
          <a:p>
            <a:pPr indent="0" marL="0">
              <a:buNone/>
            </a:pPr>
            <a:r>
              <a:rPr lang="en-US" sz="1500" b="1" dirty="0">
                <a:solidFill>
                  <a:srgbClr val="83B4DE"/>
                </a:solidFill>
                <a:latin typeface="Arial" pitchFamily="34" charset="0"/>
                <a:ea typeface="Arial" pitchFamily="34" charset="-122"/>
                <a:cs typeface="Arial" pitchFamily="34" charset="-120"/>
              </a:rPr>
              <a:t>Modal · Python worker, scales to zero</a:t>
            </a:r>
            <a:endParaRPr lang="en-US" sz="1500" dirty="0"/>
          </a:p>
        </p:txBody>
      </p:sp>
      <p:sp>
        <p:nvSpPr>
          <p:cNvPr id="13" name="Text 11"/>
          <p:cNvSpPr txBox="1"/>
          <p:nvPr/>
        </p:nvSpPr>
        <p:spPr>
          <a:xfrm>
            <a:off x="2011680" y="4425696"/>
            <a:ext cx="7589520" cy="256032"/>
          </a:xfrm>
          <a:prstGeom prst="rect">
            <a:avLst/>
          </a:prstGeom>
          <a:noFill/>
          <a:ln/>
        </p:spPr>
        <p:txBody>
          <a:bodyPr wrap="square" lIns="0" tIns="0" rIns="0" bIns="0" rtlCol="0" anchor="ctr"/>
          <a:lstStyle/>
          <a:p>
            <a:pPr indent="0" marL="0">
              <a:buNone/>
            </a:pPr>
            <a:r>
              <a:rPr lang="en-US" sz="1100" dirty="0">
                <a:solidFill>
                  <a:srgbClr val="9BA1C1"/>
                </a:solidFill>
                <a:latin typeface="Arial" pitchFamily="34" charset="0"/>
                <a:ea typeface="Arial" pitchFamily="34" charset="-122"/>
                <a:cs typeface="Arial" pitchFamily="34" charset="-120"/>
              </a:rPr>
              <a:t>mesh recovery · measurement extractor · fit engine · the six LangGraph agents</a:t>
            </a:r>
            <a:endParaRPr lang="en-US" sz="1100" dirty="0"/>
          </a:p>
        </p:txBody>
      </p:sp>
      <p:sp>
        <p:nvSpPr>
          <p:cNvPr id="14" name="Text 12"/>
          <p:cNvSpPr txBox="1"/>
          <p:nvPr/>
        </p:nvSpPr>
        <p:spPr>
          <a:xfrm>
            <a:off x="2011680" y="4663440"/>
            <a:ext cx="7589520" cy="256032"/>
          </a:xfrm>
          <a:prstGeom prst="rect">
            <a:avLst/>
          </a:prstGeom>
          <a:noFill/>
          <a:ln/>
        </p:spPr>
        <p:txBody>
          <a:bodyPr wrap="square" lIns="0" tIns="0" rIns="0" bIns="0" rtlCol="0" anchor="ctr"/>
          <a:lstStyle/>
          <a:p>
            <a:pPr indent="0" marL="0">
              <a:buNone/>
            </a:pPr>
            <a:r>
              <a:rPr lang="en-US" sz="1100" i="1" dirty="0">
                <a:solidFill>
                  <a:srgbClr val="E0A458"/>
                </a:solidFill>
                <a:latin typeface="Arial" pitchFamily="34" charset="0"/>
                <a:ea typeface="Arial" pitchFamily="34" charset="-122"/>
                <a:cs typeface="Arial" pitchFamily="34" charset="-120"/>
              </a:rPr>
              <a:t>agents call the Anthropic API — Haiku 4.5 at volume, Opus 5 for reasoning and judging</a:t>
            </a:r>
            <a:endParaRPr lang="en-US" sz="1100" dirty="0"/>
          </a:p>
        </p:txBody>
      </p:sp>
      <p:sp>
        <p:nvSpPr>
          <p:cNvPr id="15" name="Shape 13"/>
          <p:cNvSpPr/>
          <p:nvPr/>
        </p:nvSpPr>
        <p:spPr>
          <a:xfrm>
            <a:off x="1325880" y="2103120"/>
            <a:ext cx="0" cy="1920240"/>
          </a:xfrm>
          <a:prstGeom prst="line">
            <a:avLst/>
          </a:prstGeom>
          <a:noFill/>
          <a:ln w="15875">
            <a:solidFill>
              <a:srgbClr val="9BA1C1"/>
            </a:solidFill>
            <a:prstDash val="solid"/>
          </a:ln>
        </p:spPr>
      </p:sp>
      <p:sp>
        <p:nvSpPr>
          <p:cNvPr id="16" name="Shape 14"/>
          <p:cNvSpPr/>
          <p:nvPr/>
        </p:nvSpPr>
        <p:spPr>
          <a:xfrm>
            <a:off x="1325880" y="2103120"/>
            <a:ext cx="365760" cy="0"/>
          </a:xfrm>
          <a:prstGeom prst="line">
            <a:avLst/>
          </a:prstGeom>
          <a:noFill/>
          <a:ln w="15875">
            <a:solidFill>
              <a:srgbClr val="9BA1C1"/>
            </a:solidFill>
            <a:prstDash val="solid"/>
          </a:ln>
        </p:spPr>
      </p:sp>
      <p:sp>
        <p:nvSpPr>
          <p:cNvPr id="17" name="Shape 15"/>
          <p:cNvSpPr/>
          <p:nvPr/>
        </p:nvSpPr>
        <p:spPr>
          <a:xfrm>
            <a:off x="1325880" y="4023360"/>
            <a:ext cx="365760" cy="0"/>
          </a:xfrm>
          <a:prstGeom prst="line">
            <a:avLst/>
          </a:prstGeom>
          <a:noFill/>
          <a:ln w="15875">
            <a:solidFill>
              <a:srgbClr val="9BA1C1"/>
            </a:solidFill>
            <a:prstDash val="solid"/>
            <a:tailEnd type="triangle"/>
          </a:ln>
        </p:spPr>
      </p:sp>
      <p:sp>
        <p:nvSpPr>
          <p:cNvPr id="18" name="Text 16"/>
          <p:cNvSpPr txBox="1"/>
          <p:nvPr/>
        </p:nvSpPr>
        <p:spPr>
          <a:xfrm>
            <a:off x="502920" y="2926080"/>
            <a:ext cx="777240" cy="237744"/>
          </a:xfrm>
          <a:prstGeom prst="rect">
            <a:avLst/>
          </a:prstGeom>
          <a:noFill/>
          <a:ln/>
        </p:spPr>
        <p:txBody>
          <a:bodyPr wrap="square" lIns="0" tIns="0" rIns="0" bIns="0" rtlCol="0" anchor="ctr"/>
          <a:lstStyle/>
          <a:p>
            <a:pPr indent="0" marL="0">
              <a:buNone/>
            </a:pPr>
            <a:r>
              <a:rPr lang="en-US" sz="950" i="1" dirty="0">
                <a:solidFill>
                  <a:srgbClr val="9BA1C1"/>
                </a:solidFill>
                <a:latin typeface="Arial" pitchFamily="34" charset="0"/>
                <a:ea typeface="Arial" pitchFamily="34" charset="-122"/>
                <a:cs typeface="Arial" pitchFamily="34" charset="-120"/>
              </a:rPr>
              <a:t>trigger</a:t>
            </a:r>
            <a:endParaRPr lang="en-US" sz="950" dirty="0"/>
          </a:p>
        </p:txBody>
      </p:sp>
      <p:sp>
        <p:nvSpPr>
          <p:cNvPr id="19" name="Shape 17"/>
          <p:cNvSpPr/>
          <p:nvPr/>
        </p:nvSpPr>
        <p:spPr>
          <a:xfrm>
            <a:off x="10149840" y="3639312"/>
            <a:ext cx="0" cy="384048"/>
          </a:xfrm>
          <a:prstGeom prst="line">
            <a:avLst/>
          </a:prstGeom>
          <a:noFill/>
          <a:ln w="15875">
            <a:solidFill>
              <a:srgbClr val="83B4DE"/>
            </a:solidFill>
            <a:prstDash val="solid"/>
            <a:headEnd type="triangle"/>
          </a:ln>
        </p:spPr>
      </p:sp>
      <p:sp>
        <p:nvSpPr>
          <p:cNvPr id="20" name="Text 18"/>
          <p:cNvSpPr txBox="1"/>
          <p:nvPr/>
        </p:nvSpPr>
        <p:spPr>
          <a:xfrm>
            <a:off x="10378440" y="3639312"/>
            <a:ext cx="1325880" cy="384048"/>
          </a:xfrm>
          <a:prstGeom prst="rect">
            <a:avLst/>
          </a:prstGeom>
          <a:noFill/>
          <a:ln/>
        </p:spPr>
        <p:txBody>
          <a:bodyPr wrap="square" lIns="0" tIns="0" rIns="0" bIns="0" rtlCol="0" anchor="ctr"/>
          <a:lstStyle/>
          <a:p>
            <a:pPr indent="0" marL="0">
              <a:buNone/>
            </a:pPr>
            <a:r>
              <a:rPr lang="en-US" sz="950" i="1" dirty="0">
                <a:solidFill>
                  <a:srgbClr val="83B4DE"/>
                </a:solidFill>
                <a:latin typeface="Arial" pitchFamily="34" charset="0"/>
                <a:ea typeface="Arial" pitchFamily="34" charset="-122"/>
                <a:cs typeface="Arial" pitchFamily="34" charset="-120"/>
              </a:rPr>
              <a:t>writes state</a:t>
            </a:r>
            <a:endParaRPr lang="en-US" sz="950" dirty="0"/>
          </a:p>
        </p:txBody>
      </p:sp>
      <p:sp>
        <p:nvSpPr>
          <p:cNvPr id="21" name="Shape 19"/>
          <p:cNvSpPr/>
          <p:nvPr/>
        </p:nvSpPr>
        <p:spPr>
          <a:xfrm>
            <a:off x="10149840" y="2414016"/>
            <a:ext cx="0" cy="384048"/>
          </a:xfrm>
          <a:prstGeom prst="line">
            <a:avLst/>
          </a:prstGeom>
          <a:noFill/>
          <a:ln w="15875">
            <a:solidFill>
              <a:srgbClr val="6FC095"/>
            </a:solidFill>
            <a:prstDash val="solid"/>
            <a:headEnd type="triangle"/>
          </a:ln>
        </p:spPr>
      </p:sp>
      <p:sp>
        <p:nvSpPr>
          <p:cNvPr id="22" name="Text 20"/>
          <p:cNvSpPr txBox="1"/>
          <p:nvPr/>
        </p:nvSpPr>
        <p:spPr>
          <a:xfrm>
            <a:off x="10378440" y="2414016"/>
            <a:ext cx="1325880" cy="384048"/>
          </a:xfrm>
          <a:prstGeom prst="rect">
            <a:avLst/>
          </a:prstGeom>
          <a:noFill/>
          <a:ln/>
        </p:spPr>
        <p:txBody>
          <a:bodyPr wrap="square" lIns="0" tIns="0" rIns="0" bIns="0" rtlCol="0" anchor="ctr"/>
          <a:lstStyle/>
          <a:p>
            <a:pPr indent="0" marL="0">
              <a:buNone/>
            </a:pPr>
            <a:r>
              <a:rPr lang="en-US" sz="950" i="1" dirty="0">
                <a:solidFill>
                  <a:srgbClr val="6FC095"/>
                </a:solidFill>
                <a:latin typeface="Arial" pitchFamily="34" charset="0"/>
                <a:ea typeface="Arial" pitchFamily="34" charset="-122"/>
                <a:cs typeface="Arial" pitchFamily="34" charset="-120"/>
              </a:rPr>
              <a:t>realtime</a:t>
            </a:r>
            <a:endParaRPr lang="en-US" sz="950" dirty="0"/>
          </a:p>
        </p:txBody>
      </p:sp>
      <p:sp>
        <p:nvSpPr>
          <p:cNvPr id="23" name="Shape 21"/>
          <p:cNvSpPr/>
          <p:nvPr/>
        </p:nvSpPr>
        <p:spPr>
          <a:xfrm>
            <a:off x="502920" y="5285232"/>
            <a:ext cx="11185855" cy="896112"/>
          </a:xfrm>
          <a:prstGeom prst="roundRect">
            <a:avLst>
              <a:gd name="adj" fmla="val 6122"/>
            </a:avLst>
          </a:prstGeom>
          <a:solidFill>
            <a:srgbClr val="3A2530"/>
          </a:solidFill>
          <a:ln w="19050">
            <a:solidFill>
              <a:srgbClr val="EC8079"/>
            </a:solidFill>
            <a:prstDash val="solid"/>
          </a:ln>
        </p:spPr>
      </p:sp>
      <p:sp>
        <p:nvSpPr>
          <p:cNvPr id="24" name="Text 22"/>
          <p:cNvSpPr txBox="1"/>
          <p:nvPr/>
        </p:nvSpPr>
        <p:spPr>
          <a:xfrm>
            <a:off x="777240" y="5394960"/>
            <a:ext cx="3840480" cy="256032"/>
          </a:xfrm>
          <a:prstGeom prst="rect">
            <a:avLst/>
          </a:prstGeom>
          <a:noFill/>
          <a:ln/>
        </p:spPr>
        <p:txBody>
          <a:bodyPr wrap="square" lIns="0" tIns="0" rIns="0" bIns="0" rtlCol="0" anchor="ctr"/>
          <a:lstStyle/>
          <a:p>
            <a:pPr indent="0" marL="0">
              <a:buNone/>
            </a:pPr>
            <a:r>
              <a:rPr lang="en-US" sz="1250" b="1" dirty="0">
                <a:solidFill>
                  <a:srgbClr val="EC8079"/>
                </a:solidFill>
                <a:latin typeface="Arial" pitchFamily="34" charset="0"/>
                <a:ea typeface="Arial" pitchFamily="34" charset="-122"/>
                <a:cs typeface="Arial" pitchFamily="34" charset="-120"/>
              </a:rPr>
              <a:t>Why the worker is not on Vercel</a:t>
            </a:r>
            <a:endParaRPr lang="en-US" sz="1250" dirty="0"/>
          </a:p>
        </p:txBody>
      </p:sp>
      <p:sp>
        <p:nvSpPr>
          <p:cNvPr id="25" name="Text 23"/>
          <p:cNvSpPr txBox="1"/>
          <p:nvPr/>
        </p:nvSpPr>
        <p:spPr>
          <a:xfrm>
            <a:off x="777240" y="5669280"/>
            <a:ext cx="10637215" cy="402336"/>
          </a:xfrm>
          <a:prstGeom prst="rect">
            <a:avLst/>
          </a:prstGeom>
          <a:noFill/>
          <a:ln/>
        </p:spPr>
        <p:txBody>
          <a:bodyPr wrap="square" lIns="0" tIns="0" rIns="0" bIns="0" rtlCol="0" anchor="ctr"/>
          <a:lstStyle/>
          <a:p>
            <a:pPr indent="0" marL="0">
              <a:buNone/>
            </a:pPr>
            <a:r>
              <a:rPr lang="en-US" sz="1200" dirty="0">
                <a:solidFill>
                  <a:srgbClr val="F2F3F8"/>
                </a:solidFill>
                <a:latin typeface="Arial" pitchFamily="34" charset="0"/>
                <a:ea typeface="Arial" pitchFamily="34" charset="-122"/>
                <a:cs typeface="Arial" pitchFamily="34" charset="-120"/>
              </a:rPr>
              <a:t>PyTorch plus the SMPL weights exceed a serverless bundle on their own, and mesh recovery over hundreds of frames takes minutes with no GPU. Not an optimisation problem — the wrong machine.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INTERFACE</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The UI exposes the system, it does not hide it</a:t>
            </a:r>
            <a:endParaRPr lang="en-US" sz="3000" dirty="0"/>
          </a:p>
        </p:txBody>
      </p:sp>
      <p:sp>
        <p:nvSpPr>
          <p:cNvPr id="4" name="Text 2"/>
          <p:cNvSpPr txBox="1"/>
          <p:nvPr/>
        </p:nvSpPr>
        <p:spPr>
          <a:xfrm>
            <a:off x="502920" y="1042416"/>
            <a:ext cx="11185855" cy="310896"/>
          </a:xfrm>
          <a:prstGeom prst="rect">
            <a:avLst/>
          </a:prstGeom>
          <a:noFill/>
          <a:ln/>
        </p:spPr>
        <p:txBody>
          <a:bodyPr wrap="square" lIns="0" tIns="0" rIns="0" bIns="0" rtlCol="0" anchor="ctr"/>
          <a:lstStyle/>
          <a:p>
            <a:pPr algn="l" indent="0" marL="0">
              <a:buNone/>
            </a:pPr>
            <a:r>
              <a:rPr lang="en-US" sz="1300" dirty="0">
                <a:solidFill>
                  <a:srgbClr val="9BA1C1"/>
                </a:solidFill>
                <a:latin typeface="Arial" pitchFamily="34" charset="0"/>
                <a:ea typeface="Arial" pitchFamily="34" charset="-122"/>
                <a:cs typeface="Arial" pitchFamily="34" charset="-120"/>
              </a:rPr>
              <a:t>For this exam the machinery is the subject, so the screens are built to make it visible.</a:t>
            </a:r>
            <a:endParaRPr lang="en-US" sz="1300" dirty="0"/>
          </a:p>
        </p:txBody>
      </p:sp>
      <p:sp>
        <p:nvSpPr>
          <p:cNvPr id="5" name="Shape 3"/>
          <p:cNvSpPr/>
          <p:nvPr/>
        </p:nvSpPr>
        <p:spPr>
          <a:xfrm>
            <a:off x="502920" y="1664208"/>
            <a:ext cx="3547872" cy="1755648"/>
          </a:xfrm>
          <a:prstGeom prst="roundRect">
            <a:avLst>
              <a:gd name="adj" fmla="val 3125"/>
            </a:avLst>
          </a:prstGeom>
          <a:solidFill>
            <a:srgbClr val="252943"/>
          </a:solidFill>
          <a:ln w="12700">
            <a:solidFill>
              <a:srgbClr val="252943"/>
            </a:solidFill>
            <a:prstDash val="solid"/>
          </a:ln>
        </p:spPr>
      </p:sp>
      <p:sp>
        <p:nvSpPr>
          <p:cNvPr id="6" name="Shape 4"/>
          <p:cNvSpPr/>
          <p:nvPr/>
        </p:nvSpPr>
        <p:spPr>
          <a:xfrm>
            <a:off x="758952" y="1865376"/>
            <a:ext cx="347472" cy="347472"/>
          </a:xfrm>
          <a:prstGeom prst="ellipse">
            <a:avLst/>
          </a:prstGeom>
          <a:solidFill>
            <a:srgbClr val="83B4DE"/>
          </a:solidFill>
          <a:ln w="12700">
            <a:solidFill>
              <a:srgbClr val="83B4DE"/>
            </a:solidFill>
            <a:prstDash val="solid"/>
          </a:ln>
        </p:spPr>
      </p:sp>
      <p:sp>
        <p:nvSpPr>
          <p:cNvPr id="7" name="Text 5"/>
          <p:cNvSpPr txBox="1"/>
          <p:nvPr/>
        </p:nvSpPr>
        <p:spPr>
          <a:xfrm>
            <a:off x="758952" y="1865376"/>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1</a:t>
            </a:r>
            <a:endParaRPr lang="en-US" sz="1200" dirty="0"/>
          </a:p>
        </p:txBody>
      </p:sp>
      <p:sp>
        <p:nvSpPr>
          <p:cNvPr id="8" name="Text 6"/>
          <p:cNvSpPr txBox="1"/>
          <p:nvPr/>
        </p:nvSpPr>
        <p:spPr>
          <a:xfrm>
            <a:off x="1216152" y="1828800"/>
            <a:ext cx="2651760" cy="292608"/>
          </a:xfrm>
          <a:prstGeom prst="rect">
            <a:avLst/>
          </a:prstGeom>
          <a:noFill/>
          <a:ln/>
        </p:spPr>
        <p:txBody>
          <a:bodyPr wrap="square" lIns="0" tIns="0" rIns="0" bIns="0" rtlCol="0" anchor="ctr"/>
          <a:lstStyle/>
          <a:p>
            <a:pPr indent="0" marL="0">
              <a:buNone/>
            </a:pPr>
            <a:r>
              <a:rPr lang="en-US" sz="1500" b="1" dirty="0">
                <a:solidFill>
                  <a:srgbClr val="F2F3F8"/>
                </a:solidFill>
                <a:latin typeface="Arial" pitchFamily="34" charset="0"/>
                <a:ea typeface="Arial" pitchFamily="34" charset="-122"/>
                <a:cs typeface="Arial" pitchFamily="34" charset="-120"/>
              </a:rPr>
              <a:t>Capture</a:t>
            </a:r>
            <a:endParaRPr lang="en-US" sz="1500" dirty="0"/>
          </a:p>
        </p:txBody>
      </p:sp>
      <p:sp>
        <p:nvSpPr>
          <p:cNvPr id="9" name="Text 7"/>
          <p:cNvSpPr txBox="1"/>
          <p:nvPr/>
        </p:nvSpPr>
        <p:spPr>
          <a:xfrm>
            <a:off x="758952" y="2267712"/>
            <a:ext cx="3035808" cy="1005840"/>
          </a:xfrm>
          <a:prstGeom prst="rect">
            <a:avLst/>
          </a:prstGeom>
          <a:noFill/>
          <a:ln/>
        </p:spPr>
        <p:txBody>
          <a:bodyPr wrap="square" lIns="0" tIns="0" rIns="0" bIns="0" rtlCol="0" anchor="t"/>
          <a:lstStyle/>
          <a:p>
            <a:pPr indent="0" marL="0">
              <a:lnSpc>
                <a:spcPct val="116000"/>
              </a:lnSpc>
              <a:buNone/>
            </a:pPr>
            <a:r>
              <a:rPr lang="en-US" sz="1100" dirty="0">
                <a:solidFill>
                  <a:srgbClr val="9BA1C1"/>
                </a:solidFill>
                <a:latin typeface="Arial" pitchFamily="34" charset="0"/>
                <a:ea typeface="Arial" pitchFamily="34" charset="-122"/>
                <a:cs typeface="Arial" pitchFamily="34" charset="-120"/>
              </a:rPr>
              <a:t>Gate checklist lighting up live, the coach's current message, and the β-variance sparkline falling toward τ — the stop rule made visible.</a:t>
            </a:r>
            <a:endParaRPr lang="en-US" sz="1100" dirty="0"/>
          </a:p>
        </p:txBody>
      </p:sp>
      <p:sp>
        <p:nvSpPr>
          <p:cNvPr id="10" name="Shape 8"/>
          <p:cNvSpPr/>
          <p:nvPr/>
        </p:nvSpPr>
        <p:spPr>
          <a:xfrm>
            <a:off x="4270248" y="1664208"/>
            <a:ext cx="3547872" cy="1755648"/>
          </a:xfrm>
          <a:prstGeom prst="roundRect">
            <a:avLst>
              <a:gd name="adj" fmla="val 3125"/>
            </a:avLst>
          </a:prstGeom>
          <a:solidFill>
            <a:srgbClr val="252943"/>
          </a:solidFill>
          <a:ln w="12700">
            <a:solidFill>
              <a:srgbClr val="252943"/>
            </a:solidFill>
            <a:prstDash val="solid"/>
          </a:ln>
        </p:spPr>
      </p:sp>
      <p:sp>
        <p:nvSpPr>
          <p:cNvPr id="11" name="Shape 9"/>
          <p:cNvSpPr/>
          <p:nvPr/>
        </p:nvSpPr>
        <p:spPr>
          <a:xfrm>
            <a:off x="4526280" y="1865376"/>
            <a:ext cx="347472" cy="347472"/>
          </a:xfrm>
          <a:prstGeom prst="ellipse">
            <a:avLst/>
          </a:prstGeom>
          <a:solidFill>
            <a:srgbClr val="83B4DE"/>
          </a:solidFill>
          <a:ln w="12700">
            <a:solidFill>
              <a:srgbClr val="83B4DE"/>
            </a:solidFill>
            <a:prstDash val="solid"/>
          </a:ln>
        </p:spPr>
      </p:sp>
      <p:sp>
        <p:nvSpPr>
          <p:cNvPr id="12" name="Text 10"/>
          <p:cNvSpPr txBox="1"/>
          <p:nvPr/>
        </p:nvSpPr>
        <p:spPr>
          <a:xfrm>
            <a:off x="4526280" y="1865376"/>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2</a:t>
            </a:r>
            <a:endParaRPr lang="en-US" sz="1200" dirty="0"/>
          </a:p>
        </p:txBody>
      </p:sp>
      <p:sp>
        <p:nvSpPr>
          <p:cNvPr id="13" name="Text 11"/>
          <p:cNvSpPr txBox="1"/>
          <p:nvPr/>
        </p:nvSpPr>
        <p:spPr>
          <a:xfrm>
            <a:off x="4983480" y="1828800"/>
            <a:ext cx="2651760" cy="292608"/>
          </a:xfrm>
          <a:prstGeom prst="rect">
            <a:avLst/>
          </a:prstGeom>
          <a:noFill/>
          <a:ln/>
        </p:spPr>
        <p:txBody>
          <a:bodyPr wrap="square" lIns="0" tIns="0" rIns="0" bIns="0" rtlCol="0" anchor="ctr"/>
          <a:lstStyle/>
          <a:p>
            <a:pPr indent="0" marL="0">
              <a:buNone/>
            </a:pPr>
            <a:r>
              <a:rPr lang="en-US" sz="1500" b="1" dirty="0">
                <a:solidFill>
                  <a:srgbClr val="F2F3F8"/>
                </a:solidFill>
                <a:latin typeface="Arial" pitchFamily="34" charset="0"/>
                <a:ea typeface="Arial" pitchFamily="34" charset="-122"/>
                <a:cs typeface="Arial" pitchFamily="34" charset="-120"/>
              </a:rPr>
              <a:t>Profile</a:t>
            </a:r>
            <a:endParaRPr lang="en-US" sz="1500" dirty="0"/>
          </a:p>
        </p:txBody>
      </p:sp>
      <p:sp>
        <p:nvSpPr>
          <p:cNvPr id="14" name="Text 12"/>
          <p:cNvSpPr txBox="1"/>
          <p:nvPr/>
        </p:nvSpPr>
        <p:spPr>
          <a:xfrm>
            <a:off x="4526280" y="2267712"/>
            <a:ext cx="3035808" cy="1005840"/>
          </a:xfrm>
          <a:prstGeom prst="rect">
            <a:avLst/>
          </a:prstGeom>
          <a:noFill/>
          <a:ln/>
        </p:spPr>
        <p:txBody>
          <a:bodyPr wrap="square" lIns="0" tIns="0" rIns="0" bIns="0" rtlCol="0" anchor="t"/>
          <a:lstStyle/>
          <a:p>
            <a:pPr indent="0" marL="0">
              <a:lnSpc>
                <a:spcPct val="116000"/>
              </a:lnSpc>
              <a:buNone/>
            </a:pPr>
            <a:r>
              <a:rPr lang="en-US" sz="1100" dirty="0">
                <a:solidFill>
                  <a:srgbClr val="9BA1C1"/>
                </a:solidFill>
                <a:latin typeface="Arial" pitchFamily="34" charset="0"/>
                <a:ea typeface="Arial" pitchFamily="34" charset="-122"/>
                <a:cs typeface="Arial" pitchFamily="34" charset="-120"/>
              </a:rPr>
              <a:t>The leg mesh as a GLB in react-three-fiber, nine measurements with confidence bars, Mahalanobis percentile against ANSUR II.</a:t>
            </a:r>
            <a:endParaRPr lang="en-US" sz="1100" dirty="0"/>
          </a:p>
        </p:txBody>
      </p:sp>
      <p:sp>
        <p:nvSpPr>
          <p:cNvPr id="15" name="Shape 13"/>
          <p:cNvSpPr/>
          <p:nvPr/>
        </p:nvSpPr>
        <p:spPr>
          <a:xfrm>
            <a:off x="8037576" y="1664208"/>
            <a:ext cx="3547872" cy="1755648"/>
          </a:xfrm>
          <a:prstGeom prst="roundRect">
            <a:avLst>
              <a:gd name="adj" fmla="val 3125"/>
            </a:avLst>
          </a:prstGeom>
          <a:solidFill>
            <a:srgbClr val="252943"/>
          </a:solidFill>
          <a:ln w="12700">
            <a:solidFill>
              <a:srgbClr val="252943"/>
            </a:solidFill>
            <a:prstDash val="solid"/>
          </a:ln>
        </p:spPr>
      </p:sp>
      <p:sp>
        <p:nvSpPr>
          <p:cNvPr id="16" name="Shape 14"/>
          <p:cNvSpPr/>
          <p:nvPr/>
        </p:nvSpPr>
        <p:spPr>
          <a:xfrm>
            <a:off x="8293608" y="1865376"/>
            <a:ext cx="347472" cy="347472"/>
          </a:xfrm>
          <a:prstGeom prst="ellipse">
            <a:avLst/>
          </a:prstGeom>
          <a:solidFill>
            <a:srgbClr val="83B4DE"/>
          </a:solidFill>
          <a:ln w="12700">
            <a:solidFill>
              <a:srgbClr val="83B4DE"/>
            </a:solidFill>
            <a:prstDash val="solid"/>
          </a:ln>
        </p:spPr>
      </p:sp>
      <p:sp>
        <p:nvSpPr>
          <p:cNvPr id="17" name="Text 15"/>
          <p:cNvSpPr txBox="1"/>
          <p:nvPr/>
        </p:nvSpPr>
        <p:spPr>
          <a:xfrm>
            <a:off x="8293608" y="1865376"/>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3</a:t>
            </a:r>
            <a:endParaRPr lang="en-US" sz="1200" dirty="0"/>
          </a:p>
        </p:txBody>
      </p:sp>
      <p:sp>
        <p:nvSpPr>
          <p:cNvPr id="18" name="Text 16"/>
          <p:cNvSpPr txBox="1"/>
          <p:nvPr/>
        </p:nvSpPr>
        <p:spPr>
          <a:xfrm>
            <a:off x="8750808" y="1828800"/>
            <a:ext cx="2651760" cy="292608"/>
          </a:xfrm>
          <a:prstGeom prst="rect">
            <a:avLst/>
          </a:prstGeom>
          <a:noFill/>
          <a:ln/>
        </p:spPr>
        <p:txBody>
          <a:bodyPr wrap="square" lIns="0" tIns="0" rIns="0" bIns="0" rtlCol="0" anchor="ctr"/>
          <a:lstStyle/>
          <a:p>
            <a:pPr indent="0" marL="0">
              <a:buNone/>
            </a:pPr>
            <a:r>
              <a:rPr lang="en-US" sz="1500" b="1" dirty="0">
                <a:solidFill>
                  <a:srgbClr val="F2F3F8"/>
                </a:solidFill>
                <a:latin typeface="Arial" pitchFamily="34" charset="0"/>
                <a:ea typeface="Arial" pitchFamily="34" charset="-122"/>
                <a:cs typeface="Arial" pitchFamily="34" charset="-120"/>
              </a:rPr>
              <a:t>Recommendation</a:t>
            </a:r>
            <a:endParaRPr lang="en-US" sz="1500" dirty="0"/>
          </a:p>
        </p:txBody>
      </p:sp>
      <p:sp>
        <p:nvSpPr>
          <p:cNvPr id="19" name="Text 17"/>
          <p:cNvSpPr txBox="1"/>
          <p:nvPr/>
        </p:nvSpPr>
        <p:spPr>
          <a:xfrm>
            <a:off x="8293608" y="2267712"/>
            <a:ext cx="3035808" cy="1005840"/>
          </a:xfrm>
          <a:prstGeom prst="rect">
            <a:avLst/>
          </a:prstGeom>
          <a:noFill/>
          <a:ln/>
        </p:spPr>
        <p:txBody>
          <a:bodyPr wrap="square" lIns="0" tIns="0" rIns="0" bIns="0" rtlCol="0" anchor="t"/>
          <a:lstStyle/>
          <a:p>
            <a:pPr indent="0" marL="0">
              <a:lnSpc>
                <a:spcPct val="116000"/>
              </a:lnSpc>
              <a:buNone/>
            </a:pPr>
            <a:r>
              <a:rPr lang="en-US" sz="1100" dirty="0">
                <a:solidFill>
                  <a:srgbClr val="9BA1C1"/>
                </a:solidFill>
                <a:latin typeface="Arial" pitchFamily="34" charset="0"/>
                <a:ea typeface="Arial" pitchFamily="34" charset="-122"/>
                <a:cs typeface="Arial" pitchFamily="34" charset="-120"/>
              </a:rPr>
              <a:t>Delta-per-landmark chart: tolerance window as a band, the wearer's offset as a dot, beside the advisor's text.</a:t>
            </a:r>
            <a:endParaRPr lang="en-US" sz="1100" dirty="0"/>
          </a:p>
        </p:txBody>
      </p:sp>
      <p:sp>
        <p:nvSpPr>
          <p:cNvPr id="20" name="Shape 18"/>
          <p:cNvSpPr/>
          <p:nvPr/>
        </p:nvSpPr>
        <p:spPr>
          <a:xfrm>
            <a:off x="502920" y="3621024"/>
            <a:ext cx="5394960" cy="1792224"/>
          </a:xfrm>
          <a:prstGeom prst="roundRect">
            <a:avLst>
              <a:gd name="adj" fmla="val 3061"/>
            </a:avLst>
          </a:prstGeom>
          <a:solidFill>
            <a:srgbClr val="3A3A62"/>
          </a:solidFill>
          <a:ln w="19050">
            <a:solidFill>
              <a:srgbClr val="E0A458"/>
            </a:solidFill>
            <a:prstDash val="solid"/>
          </a:ln>
        </p:spPr>
      </p:sp>
      <p:sp>
        <p:nvSpPr>
          <p:cNvPr id="21" name="Shape 19"/>
          <p:cNvSpPr/>
          <p:nvPr/>
        </p:nvSpPr>
        <p:spPr>
          <a:xfrm>
            <a:off x="777240" y="3840480"/>
            <a:ext cx="384048" cy="384048"/>
          </a:xfrm>
          <a:prstGeom prst="ellipse">
            <a:avLst/>
          </a:prstGeom>
          <a:solidFill>
            <a:srgbClr val="E0A458"/>
          </a:solidFill>
          <a:ln w="12700">
            <a:solidFill>
              <a:srgbClr val="E0A458"/>
            </a:solidFill>
            <a:prstDash val="solid"/>
          </a:ln>
        </p:spPr>
      </p:sp>
      <p:sp>
        <p:nvSpPr>
          <p:cNvPr id="22" name="Text 20"/>
          <p:cNvSpPr txBox="1"/>
          <p:nvPr/>
        </p:nvSpPr>
        <p:spPr>
          <a:xfrm>
            <a:off x="777240" y="3840480"/>
            <a:ext cx="384048" cy="384048"/>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4</a:t>
            </a:r>
            <a:endParaRPr lang="en-US" sz="1200" dirty="0"/>
          </a:p>
        </p:txBody>
      </p:sp>
      <p:sp>
        <p:nvSpPr>
          <p:cNvPr id="23" name="Text 21"/>
          <p:cNvSpPr txBox="1"/>
          <p:nvPr/>
        </p:nvSpPr>
        <p:spPr>
          <a:xfrm>
            <a:off x="1289304" y="3785616"/>
            <a:ext cx="4206240" cy="329184"/>
          </a:xfrm>
          <a:prstGeom prst="rect">
            <a:avLst/>
          </a:prstGeom>
          <a:noFill/>
          <a:ln/>
        </p:spPr>
        <p:txBody>
          <a:bodyPr wrap="square" lIns="0" tIns="0" rIns="0" bIns="0" rtlCol="0" anchor="ctr"/>
          <a:lstStyle/>
          <a:p>
            <a:pPr indent="0" marL="0">
              <a:buNone/>
            </a:pPr>
            <a:r>
              <a:rPr lang="en-US" sz="1700" b="1" dirty="0">
                <a:solidFill>
                  <a:srgbClr val="E0A458"/>
                </a:solidFill>
                <a:latin typeface="Arial" pitchFamily="34" charset="0"/>
                <a:ea typeface="Arial" pitchFamily="34" charset="-122"/>
                <a:cs typeface="Arial" pitchFamily="34" charset="-120"/>
              </a:rPr>
              <a:t>Agent console</a:t>
            </a:r>
            <a:endParaRPr lang="en-US" sz="1700" dirty="0"/>
          </a:p>
        </p:txBody>
      </p:sp>
      <p:sp>
        <p:nvSpPr>
          <p:cNvPr id="24" name="Text 22"/>
          <p:cNvSpPr txBox="1"/>
          <p:nvPr/>
        </p:nvSpPr>
        <p:spPr>
          <a:xfrm>
            <a:off x="777240" y="4261104"/>
            <a:ext cx="4846320" cy="1005840"/>
          </a:xfrm>
          <a:prstGeom prst="rect">
            <a:avLst/>
          </a:prstGeom>
          <a:noFill/>
          <a:ln/>
        </p:spPr>
        <p:txBody>
          <a:bodyPr wrap="square" lIns="0" tIns="0" rIns="0" bIns="0" rtlCol="0" anchor="t"/>
          <a:lstStyle/>
          <a:p>
            <a:pPr indent="0" marL="0">
              <a:lnSpc>
                <a:spcPct val="118000"/>
              </a:lnSpc>
              <a:buNone/>
            </a:pPr>
            <a:r>
              <a:rPr lang="en-US" sz="1150" dirty="0">
                <a:solidFill>
                  <a:srgbClr val="F2F3F8"/>
                </a:solidFill>
                <a:latin typeface="Arial" pitchFamily="34" charset="0"/>
                <a:ea typeface="Arial" pitchFamily="34" charset="-122"/>
                <a:cs typeface="Arial" pitchFamily="34" charset="-120"/>
              </a:rPr>
              <a:t>The LangGraph topology drawn, the active node pulsing, tool calls streaming with arguments, latency and token cost per step, and the model badge per agent.</a:t>
            </a:r>
            <a:endParaRPr lang="en-US" sz="1150" dirty="0"/>
          </a:p>
        </p:txBody>
      </p:sp>
      <p:sp>
        <p:nvSpPr>
          <p:cNvPr id="25" name="Shape 23"/>
          <p:cNvSpPr/>
          <p:nvPr/>
        </p:nvSpPr>
        <p:spPr>
          <a:xfrm>
            <a:off x="6281928" y="3621024"/>
            <a:ext cx="5394960" cy="1792224"/>
          </a:xfrm>
          <a:prstGeom prst="roundRect">
            <a:avLst>
              <a:gd name="adj" fmla="val 3061"/>
            </a:avLst>
          </a:prstGeom>
          <a:solidFill>
            <a:srgbClr val="3A3A62"/>
          </a:solidFill>
          <a:ln w="19050">
            <a:solidFill>
              <a:srgbClr val="E0A458"/>
            </a:solidFill>
            <a:prstDash val="solid"/>
          </a:ln>
        </p:spPr>
      </p:sp>
      <p:sp>
        <p:nvSpPr>
          <p:cNvPr id="26" name="Shape 24"/>
          <p:cNvSpPr/>
          <p:nvPr/>
        </p:nvSpPr>
        <p:spPr>
          <a:xfrm>
            <a:off x="6556248" y="3840480"/>
            <a:ext cx="384048" cy="384048"/>
          </a:xfrm>
          <a:prstGeom prst="ellipse">
            <a:avLst/>
          </a:prstGeom>
          <a:solidFill>
            <a:srgbClr val="E0A458"/>
          </a:solidFill>
          <a:ln w="12700">
            <a:solidFill>
              <a:srgbClr val="E0A458"/>
            </a:solidFill>
            <a:prstDash val="solid"/>
          </a:ln>
        </p:spPr>
      </p:sp>
      <p:sp>
        <p:nvSpPr>
          <p:cNvPr id="27" name="Text 25"/>
          <p:cNvSpPr txBox="1"/>
          <p:nvPr/>
        </p:nvSpPr>
        <p:spPr>
          <a:xfrm>
            <a:off x="6556248" y="3840480"/>
            <a:ext cx="384048" cy="384048"/>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5</a:t>
            </a:r>
            <a:endParaRPr lang="en-US" sz="1200" dirty="0"/>
          </a:p>
        </p:txBody>
      </p:sp>
      <p:sp>
        <p:nvSpPr>
          <p:cNvPr id="28" name="Text 26"/>
          <p:cNvSpPr txBox="1"/>
          <p:nvPr/>
        </p:nvSpPr>
        <p:spPr>
          <a:xfrm>
            <a:off x="7068312" y="3785616"/>
            <a:ext cx="4206240" cy="329184"/>
          </a:xfrm>
          <a:prstGeom prst="rect">
            <a:avLst/>
          </a:prstGeom>
          <a:noFill/>
          <a:ln/>
        </p:spPr>
        <p:txBody>
          <a:bodyPr wrap="square" lIns="0" tIns="0" rIns="0" bIns="0" rtlCol="0" anchor="ctr"/>
          <a:lstStyle/>
          <a:p>
            <a:pPr indent="0" marL="0">
              <a:buNone/>
            </a:pPr>
            <a:r>
              <a:rPr lang="en-US" sz="1700" b="1" dirty="0">
                <a:solidFill>
                  <a:srgbClr val="E0A458"/>
                </a:solidFill>
                <a:latin typeface="Arial" pitchFamily="34" charset="0"/>
                <a:ea typeface="Arial" pitchFamily="34" charset="-122"/>
                <a:cs typeface="Arial" pitchFamily="34" charset="-120"/>
              </a:rPr>
              <a:t>Learning loop</a:t>
            </a:r>
            <a:endParaRPr lang="en-US" sz="1700" dirty="0"/>
          </a:p>
        </p:txBody>
      </p:sp>
      <p:sp>
        <p:nvSpPr>
          <p:cNvPr id="29" name="Text 27"/>
          <p:cNvSpPr txBox="1"/>
          <p:nvPr/>
        </p:nvSpPr>
        <p:spPr>
          <a:xfrm>
            <a:off x="6556248" y="4261104"/>
            <a:ext cx="4846320" cy="1005840"/>
          </a:xfrm>
          <a:prstGeom prst="rect">
            <a:avLst/>
          </a:prstGeom>
          <a:noFill/>
          <a:ln/>
        </p:spPr>
        <p:txBody>
          <a:bodyPr wrap="square" lIns="0" tIns="0" rIns="0" bIns="0" rtlCol="0" anchor="t"/>
          <a:lstStyle/>
          <a:p>
            <a:pPr indent="0" marL="0">
              <a:lnSpc>
                <a:spcPct val="118000"/>
              </a:lnSpc>
              <a:buNone/>
            </a:pPr>
            <a:r>
              <a:rPr lang="en-US" sz="1150" dirty="0">
                <a:solidFill>
                  <a:srgbClr val="F2F3F8"/>
                </a:solidFill>
                <a:latin typeface="Arial" pitchFamily="34" charset="0"/>
                <a:ea typeface="Arial" pitchFamily="34" charset="-122"/>
                <a:cs typeface="Arial" pitchFamily="34" charset="-120"/>
              </a:rPr>
              <a:t>Type a return reason in plain Italian; watch the structured signal appear, the per-brand calibration shift, and the recommendation change.</a:t>
            </a:r>
            <a:endParaRPr lang="en-US" sz="1150" dirty="0"/>
          </a:p>
        </p:txBody>
      </p:sp>
      <p:sp>
        <p:nvSpPr>
          <p:cNvPr id="30" name="Text 28"/>
          <p:cNvSpPr txBox="1"/>
          <p:nvPr/>
        </p:nvSpPr>
        <p:spPr>
          <a:xfrm>
            <a:off x="502920" y="5614416"/>
            <a:ext cx="11185855" cy="310896"/>
          </a:xfrm>
          <a:prstGeom prst="rect">
            <a:avLst/>
          </a:prstGeom>
          <a:noFill/>
          <a:ln/>
        </p:spPr>
        <p:txBody>
          <a:bodyPr wrap="square" lIns="0" tIns="0" rIns="0" bIns="0" rtlCol="0" anchor="ctr"/>
          <a:lstStyle/>
          <a:p>
            <a:pPr indent="0" marL="0">
              <a:buNone/>
            </a:pPr>
            <a:r>
              <a:rPr lang="en-US" sz="1250" i="1" dirty="0">
                <a:solidFill>
                  <a:srgbClr val="E0A458"/>
                </a:solidFill>
                <a:latin typeface="Arial" pitchFamily="34" charset="0"/>
                <a:ea typeface="Arial" pitchFamily="34" charset="-122"/>
                <a:cs typeface="Arial" pitchFamily="34" charset="-120"/>
              </a:rPr>
              <a:t>Screens 4 and 5 are the differentiators. Most demos stop at 3 and hide the machinery behind a chat box.</a:t>
            </a:r>
            <a:endParaRPr lang="en-US" sz="1250" dirty="0"/>
          </a:p>
        </p:txBody>
      </p:sp>
      <p:sp>
        <p:nvSpPr>
          <p:cNvPr id="31" name="Text 29"/>
          <p:cNvSpPr txBox="1"/>
          <p:nvPr/>
        </p:nvSpPr>
        <p:spPr>
          <a:xfrm>
            <a:off x="502920" y="5961888"/>
            <a:ext cx="11185855" cy="310896"/>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Insurance for the exam room: DEMO_MODE=replay re-plays a real stored agent run at original speed, so a cold start or bad wifi cannot end the demo.</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PLAN</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Fourteen weeks: vision risk first, interface last</a:t>
            </a:r>
            <a:endParaRPr lang="en-US" sz="3000" dirty="0"/>
          </a:p>
        </p:txBody>
      </p:sp>
      <p:sp>
        <p:nvSpPr>
          <p:cNvPr id="4" name="Shape 2"/>
          <p:cNvSpPr/>
          <p:nvPr/>
        </p:nvSpPr>
        <p:spPr>
          <a:xfrm>
            <a:off x="502920" y="1517904"/>
            <a:ext cx="11185855" cy="457200"/>
          </a:xfrm>
          <a:prstGeom prst="roundRect">
            <a:avLst>
              <a:gd name="adj" fmla="val 12000"/>
            </a:avLst>
          </a:prstGeom>
          <a:solidFill>
            <a:srgbClr val="252943"/>
          </a:solidFill>
          <a:ln w="12700">
            <a:solidFill>
              <a:srgbClr val="252943"/>
            </a:solidFill>
            <a:prstDash val="solid"/>
          </a:ln>
        </p:spPr>
      </p:sp>
      <p:sp>
        <p:nvSpPr>
          <p:cNvPr id="5" name="Text 3"/>
          <p:cNvSpPr txBox="1"/>
          <p:nvPr/>
        </p:nvSpPr>
        <p:spPr>
          <a:xfrm>
            <a:off x="704088" y="151790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1–2</a:t>
            </a:r>
            <a:endParaRPr lang="en-US" sz="1300" dirty="0"/>
          </a:p>
        </p:txBody>
      </p:sp>
      <p:sp>
        <p:nvSpPr>
          <p:cNvPr id="6" name="Text 4"/>
          <p:cNvSpPr txBox="1"/>
          <p:nvPr/>
        </p:nvSpPr>
        <p:spPr>
          <a:xfrm>
            <a:off x="1874520" y="151790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Mesh to measurement, once</a:t>
            </a:r>
            <a:endParaRPr lang="en-US" sz="1300" dirty="0"/>
          </a:p>
        </p:txBody>
      </p:sp>
      <p:sp>
        <p:nvSpPr>
          <p:cNvPr id="7" name="Text 5"/>
          <p:cNvSpPr txBox="1"/>
          <p:nvPr/>
        </p:nvSpPr>
        <p:spPr>
          <a:xfrm>
            <a:off x="5303520" y="151790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Landmark paths validated on SURREAL. Deliverable: one MAE number.</a:t>
            </a:r>
            <a:endParaRPr lang="en-US" sz="1150" dirty="0"/>
          </a:p>
        </p:txBody>
      </p:sp>
      <p:sp>
        <p:nvSpPr>
          <p:cNvPr id="8" name="Shape 6"/>
          <p:cNvSpPr/>
          <p:nvPr/>
        </p:nvSpPr>
        <p:spPr>
          <a:xfrm>
            <a:off x="502920" y="2043684"/>
            <a:ext cx="11185855" cy="457200"/>
          </a:xfrm>
          <a:prstGeom prst="roundRect">
            <a:avLst>
              <a:gd name="adj" fmla="val 12000"/>
            </a:avLst>
          </a:prstGeom>
          <a:solidFill>
            <a:srgbClr val="252943"/>
          </a:solidFill>
          <a:ln w="12700">
            <a:solidFill>
              <a:srgbClr val="252943"/>
            </a:solidFill>
            <a:prstDash val="solid"/>
          </a:ln>
        </p:spPr>
      </p:sp>
      <p:sp>
        <p:nvSpPr>
          <p:cNvPr id="9" name="Text 7"/>
          <p:cNvSpPr txBox="1"/>
          <p:nvPr/>
        </p:nvSpPr>
        <p:spPr>
          <a:xfrm>
            <a:off x="704088" y="204368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3</a:t>
            </a:r>
            <a:endParaRPr lang="en-US" sz="1300" dirty="0"/>
          </a:p>
        </p:txBody>
      </p:sp>
      <p:sp>
        <p:nvSpPr>
          <p:cNvPr id="10" name="Text 8"/>
          <p:cNvSpPr txBox="1"/>
          <p:nvPr/>
        </p:nvSpPr>
        <p:spPr>
          <a:xfrm>
            <a:off x="1874520" y="204368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Multi-frame β and metric scale</a:t>
            </a:r>
            <a:endParaRPr lang="en-US" sz="1300" dirty="0"/>
          </a:p>
        </p:txBody>
      </p:sp>
      <p:sp>
        <p:nvSpPr>
          <p:cNvPr id="11" name="Text 9"/>
          <p:cNvSpPr txBox="1"/>
          <p:nvPr/>
        </p:nvSpPr>
        <p:spPr>
          <a:xfrm>
            <a:off x="5303520" y="204368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The MAE-versus-frames curve; first validation on BodyM.</a:t>
            </a:r>
            <a:endParaRPr lang="en-US" sz="1150" dirty="0"/>
          </a:p>
        </p:txBody>
      </p:sp>
      <p:sp>
        <p:nvSpPr>
          <p:cNvPr id="12" name="Shape 10"/>
          <p:cNvSpPr/>
          <p:nvPr/>
        </p:nvSpPr>
        <p:spPr>
          <a:xfrm>
            <a:off x="502920" y="2569464"/>
            <a:ext cx="11185855" cy="457200"/>
          </a:xfrm>
          <a:prstGeom prst="roundRect">
            <a:avLst>
              <a:gd name="adj" fmla="val 12000"/>
            </a:avLst>
          </a:prstGeom>
          <a:solidFill>
            <a:srgbClr val="3A3A62"/>
          </a:solidFill>
          <a:ln w="12700">
            <a:solidFill>
              <a:srgbClr val="3A3A62"/>
            </a:solidFill>
            <a:prstDash val="solid"/>
          </a:ln>
        </p:spPr>
      </p:sp>
      <p:sp>
        <p:nvSpPr>
          <p:cNvPr id="13" name="Shape 11"/>
          <p:cNvSpPr/>
          <p:nvPr/>
        </p:nvSpPr>
        <p:spPr>
          <a:xfrm>
            <a:off x="502920" y="2569464"/>
            <a:ext cx="11185855" cy="457200"/>
          </a:xfrm>
          <a:prstGeom prst="roundRect">
            <a:avLst>
              <a:gd name="adj" fmla="val 10000"/>
            </a:avLst>
          </a:prstGeom>
          <a:solidFill>
            <a:srgbClr val="3A3A62"/>
          </a:solidFill>
          <a:ln w="19050">
            <a:solidFill>
              <a:srgbClr val="E0A458"/>
            </a:solidFill>
            <a:prstDash val="solid"/>
          </a:ln>
        </p:spPr>
      </p:sp>
      <p:sp>
        <p:nvSpPr>
          <p:cNvPr id="14" name="Text 12"/>
          <p:cNvSpPr txBox="1"/>
          <p:nvPr/>
        </p:nvSpPr>
        <p:spPr>
          <a:xfrm>
            <a:off x="704088" y="2569464"/>
            <a:ext cx="1051560" cy="457200"/>
          </a:xfrm>
          <a:prstGeom prst="rect">
            <a:avLst/>
          </a:prstGeom>
          <a:noFill/>
          <a:ln/>
        </p:spPr>
        <p:txBody>
          <a:bodyPr wrap="square" lIns="0" tIns="0" rIns="0" bIns="0" rtlCol="0" anchor="ctr"/>
          <a:lstStyle/>
          <a:p>
            <a:pPr indent="0" marL="0">
              <a:buNone/>
            </a:pPr>
            <a:r>
              <a:rPr lang="en-US" sz="1150" b="1" dirty="0">
                <a:solidFill>
                  <a:srgbClr val="E0A458"/>
                </a:solidFill>
                <a:latin typeface="Arial" pitchFamily="34" charset="0"/>
                <a:ea typeface="Arial" pitchFamily="34" charset="-122"/>
                <a:cs typeface="Arial" pitchFamily="34" charset="-120"/>
              </a:rPr>
              <a:t>GATE</a:t>
            </a:r>
            <a:endParaRPr lang="en-US" sz="1150" dirty="0"/>
          </a:p>
        </p:txBody>
      </p:sp>
      <p:sp>
        <p:nvSpPr>
          <p:cNvPr id="15" name="Text 13"/>
          <p:cNvSpPr txBox="1"/>
          <p:nvPr/>
        </p:nvSpPr>
        <p:spPr>
          <a:xfrm>
            <a:off x="1874520" y="256946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Decision point</a:t>
            </a:r>
            <a:endParaRPr lang="en-US" sz="1300" dirty="0"/>
          </a:p>
        </p:txBody>
      </p:sp>
      <p:sp>
        <p:nvSpPr>
          <p:cNvPr id="16" name="Text 14"/>
          <p:cNvSpPr txBox="1"/>
          <p:nvPr/>
        </p:nvSpPr>
        <p:spPr>
          <a:xfrm>
            <a:off x="5303520" y="256946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Worse than ~3 cm on leg girths? Switch to silhouette regression. Same agents.</a:t>
            </a:r>
            <a:endParaRPr lang="en-US" sz="1150" dirty="0"/>
          </a:p>
        </p:txBody>
      </p:sp>
      <p:sp>
        <p:nvSpPr>
          <p:cNvPr id="17" name="Shape 15"/>
          <p:cNvSpPr/>
          <p:nvPr/>
        </p:nvSpPr>
        <p:spPr>
          <a:xfrm>
            <a:off x="502920" y="3095244"/>
            <a:ext cx="11185855" cy="457200"/>
          </a:xfrm>
          <a:prstGeom prst="roundRect">
            <a:avLst>
              <a:gd name="adj" fmla="val 12000"/>
            </a:avLst>
          </a:prstGeom>
          <a:solidFill>
            <a:srgbClr val="252943"/>
          </a:solidFill>
          <a:ln w="12700">
            <a:solidFill>
              <a:srgbClr val="252943"/>
            </a:solidFill>
            <a:prstDash val="solid"/>
          </a:ln>
        </p:spPr>
      </p:sp>
      <p:sp>
        <p:nvSpPr>
          <p:cNvPr id="18" name="Text 16"/>
          <p:cNvSpPr txBox="1"/>
          <p:nvPr/>
        </p:nvSpPr>
        <p:spPr>
          <a:xfrm>
            <a:off x="704088" y="309524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4–5</a:t>
            </a:r>
            <a:endParaRPr lang="en-US" sz="1300" dirty="0"/>
          </a:p>
        </p:txBody>
      </p:sp>
      <p:sp>
        <p:nvSpPr>
          <p:cNvPr id="19" name="Text 17"/>
          <p:cNvSpPr txBox="1"/>
          <p:nvPr/>
        </p:nvSpPr>
        <p:spPr>
          <a:xfrm>
            <a:off x="1874520" y="309524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Coach, validator, fit engine</a:t>
            </a:r>
            <a:endParaRPr lang="en-US" sz="1300" dirty="0"/>
          </a:p>
        </p:txBody>
      </p:sp>
      <p:sp>
        <p:nvSpPr>
          <p:cNvPr id="20" name="Text 18"/>
          <p:cNvSpPr txBox="1"/>
          <p:nvPr/>
        </p:nvSpPr>
        <p:spPr>
          <a:xfrm>
            <a:off x="5303520" y="309524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Agents 1 and 2, the bad-clip set, tolerance windows, three brands by hand. Gradio as the internal tool from here on.</a:t>
            </a:r>
            <a:endParaRPr lang="en-US" sz="1150" dirty="0"/>
          </a:p>
        </p:txBody>
      </p:sp>
      <p:sp>
        <p:nvSpPr>
          <p:cNvPr id="21" name="Shape 19"/>
          <p:cNvSpPr/>
          <p:nvPr/>
        </p:nvSpPr>
        <p:spPr>
          <a:xfrm>
            <a:off x="502920" y="3621024"/>
            <a:ext cx="11185855" cy="457200"/>
          </a:xfrm>
          <a:prstGeom prst="roundRect">
            <a:avLst>
              <a:gd name="adj" fmla="val 12000"/>
            </a:avLst>
          </a:prstGeom>
          <a:solidFill>
            <a:srgbClr val="252943"/>
          </a:solidFill>
          <a:ln w="12700">
            <a:solidFill>
              <a:srgbClr val="252943"/>
            </a:solidFill>
            <a:prstDash val="solid"/>
          </a:ln>
        </p:spPr>
      </p:sp>
      <p:sp>
        <p:nvSpPr>
          <p:cNvPr id="22" name="Text 20"/>
          <p:cNvSpPr txBox="1"/>
          <p:nvPr/>
        </p:nvSpPr>
        <p:spPr>
          <a:xfrm>
            <a:off x="704088" y="362102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6–7</a:t>
            </a:r>
            <a:endParaRPr lang="en-US" sz="1300" dirty="0"/>
          </a:p>
        </p:txBody>
      </p:sp>
      <p:sp>
        <p:nvSpPr>
          <p:cNvPr id="23" name="Text 21"/>
          <p:cNvSpPr txBox="1"/>
          <p:nvPr/>
        </p:nvSpPr>
        <p:spPr>
          <a:xfrm>
            <a:off x="1874520" y="362102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MCP server, ingestor, analyst</a:t>
            </a:r>
            <a:endParaRPr lang="en-US" sz="1300" dirty="0"/>
          </a:p>
        </p:txBody>
      </p:sp>
      <p:sp>
        <p:nvSpPr>
          <p:cNvPr id="24" name="Text 22"/>
          <p:cNvSpPr txBox="1"/>
          <p:nvPr/>
        </p:nvSpPr>
        <p:spPr>
          <a:xfrm>
            <a:off x="5303520" y="362102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Core as tools. Label the 50 charts — the least interesting week; do not let it slip.</a:t>
            </a:r>
            <a:endParaRPr lang="en-US" sz="1150" dirty="0"/>
          </a:p>
        </p:txBody>
      </p:sp>
      <p:sp>
        <p:nvSpPr>
          <p:cNvPr id="25" name="Shape 23"/>
          <p:cNvSpPr/>
          <p:nvPr/>
        </p:nvSpPr>
        <p:spPr>
          <a:xfrm>
            <a:off x="502920" y="4146804"/>
            <a:ext cx="11185855" cy="457200"/>
          </a:xfrm>
          <a:prstGeom prst="roundRect">
            <a:avLst>
              <a:gd name="adj" fmla="val 12000"/>
            </a:avLst>
          </a:prstGeom>
          <a:solidFill>
            <a:srgbClr val="252943"/>
          </a:solidFill>
          <a:ln w="12700">
            <a:solidFill>
              <a:srgbClr val="252943"/>
            </a:solidFill>
            <a:prstDash val="solid"/>
          </a:ln>
        </p:spPr>
      </p:sp>
      <p:sp>
        <p:nvSpPr>
          <p:cNvPr id="26" name="Text 24"/>
          <p:cNvSpPr txBox="1"/>
          <p:nvPr/>
        </p:nvSpPr>
        <p:spPr>
          <a:xfrm>
            <a:off x="704088" y="414680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8–9</a:t>
            </a:r>
            <a:endParaRPr lang="en-US" sz="1300" dirty="0"/>
          </a:p>
        </p:txBody>
      </p:sp>
      <p:sp>
        <p:nvSpPr>
          <p:cNvPr id="27" name="Text 25"/>
          <p:cNvSpPr txBox="1"/>
          <p:nvPr/>
        </p:nvSpPr>
        <p:spPr>
          <a:xfrm>
            <a:off x="1874520" y="414680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Orchestration and review</a:t>
            </a:r>
            <a:endParaRPr lang="en-US" sz="1300" dirty="0"/>
          </a:p>
        </p:txBody>
      </p:sp>
      <p:sp>
        <p:nvSpPr>
          <p:cNvPr id="28" name="Text 26"/>
          <p:cNvSpPr txBox="1"/>
          <p:nvPr/>
        </p:nvSpPr>
        <p:spPr>
          <a:xfrm>
            <a:off x="5303520" y="414680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Full LangGraph graph, Langfuse traces, all three suites running, κ reported.</a:t>
            </a:r>
            <a:endParaRPr lang="en-US" sz="1150" dirty="0"/>
          </a:p>
        </p:txBody>
      </p:sp>
      <p:sp>
        <p:nvSpPr>
          <p:cNvPr id="29" name="Shape 27"/>
          <p:cNvSpPr/>
          <p:nvPr/>
        </p:nvSpPr>
        <p:spPr>
          <a:xfrm>
            <a:off x="502920" y="4672584"/>
            <a:ext cx="11185855" cy="457200"/>
          </a:xfrm>
          <a:prstGeom prst="roundRect">
            <a:avLst>
              <a:gd name="adj" fmla="val 12000"/>
            </a:avLst>
          </a:prstGeom>
          <a:solidFill>
            <a:srgbClr val="252943"/>
          </a:solidFill>
          <a:ln w="12700">
            <a:solidFill>
              <a:srgbClr val="252943"/>
            </a:solidFill>
            <a:prstDash val="solid"/>
          </a:ln>
        </p:spPr>
      </p:sp>
      <p:sp>
        <p:nvSpPr>
          <p:cNvPr id="30" name="Text 28"/>
          <p:cNvSpPr txBox="1"/>
          <p:nvPr/>
        </p:nvSpPr>
        <p:spPr>
          <a:xfrm>
            <a:off x="704088" y="467258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10</a:t>
            </a:r>
            <a:endParaRPr lang="en-US" sz="1300" dirty="0"/>
          </a:p>
        </p:txBody>
      </p:sp>
      <p:sp>
        <p:nvSpPr>
          <p:cNvPr id="31" name="Text 29"/>
          <p:cNvSpPr txBox="1"/>
          <p:nvPr/>
        </p:nvSpPr>
        <p:spPr>
          <a:xfrm>
            <a:off x="1874520" y="467258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The experiments that answer questions</a:t>
            </a:r>
            <a:endParaRPr lang="en-US" sz="1300" dirty="0"/>
          </a:p>
        </p:txBody>
      </p:sp>
      <p:sp>
        <p:nvSpPr>
          <p:cNvPr id="32" name="Text 30"/>
          <p:cNvSpPr txBox="1"/>
          <p:nvPr/>
        </p:nvSpPr>
        <p:spPr>
          <a:xfrm>
            <a:off x="5303520" y="467258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Agentic ablation, cost and latency curves, the calibration study.</a:t>
            </a:r>
            <a:endParaRPr lang="en-US" sz="1150" dirty="0"/>
          </a:p>
        </p:txBody>
      </p:sp>
      <p:sp>
        <p:nvSpPr>
          <p:cNvPr id="33" name="Shape 31"/>
          <p:cNvSpPr/>
          <p:nvPr/>
        </p:nvSpPr>
        <p:spPr>
          <a:xfrm>
            <a:off x="502920" y="5198364"/>
            <a:ext cx="11185855" cy="457200"/>
          </a:xfrm>
          <a:prstGeom prst="roundRect">
            <a:avLst>
              <a:gd name="adj" fmla="val 12000"/>
            </a:avLst>
          </a:prstGeom>
          <a:solidFill>
            <a:srgbClr val="252943"/>
          </a:solidFill>
          <a:ln w="12700">
            <a:solidFill>
              <a:srgbClr val="252943"/>
            </a:solidFill>
            <a:prstDash val="solid"/>
          </a:ln>
        </p:spPr>
      </p:sp>
      <p:sp>
        <p:nvSpPr>
          <p:cNvPr id="34" name="Text 32"/>
          <p:cNvSpPr txBox="1"/>
          <p:nvPr/>
        </p:nvSpPr>
        <p:spPr>
          <a:xfrm>
            <a:off x="704088" y="519836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11–13</a:t>
            </a:r>
            <a:endParaRPr lang="en-US" sz="1300" dirty="0"/>
          </a:p>
        </p:txBody>
      </p:sp>
      <p:sp>
        <p:nvSpPr>
          <p:cNvPr id="35" name="Text 33"/>
          <p:cNvSpPr txBox="1"/>
          <p:nvPr/>
        </p:nvSpPr>
        <p:spPr>
          <a:xfrm>
            <a:off x="1874520" y="519836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The Next.js UI</a:t>
            </a:r>
            <a:endParaRPr lang="en-US" sz="1300" dirty="0"/>
          </a:p>
        </p:txBody>
      </p:sp>
      <p:sp>
        <p:nvSpPr>
          <p:cNvPr id="36" name="Text 34"/>
          <p:cNvSpPr txBox="1"/>
          <p:nvPr/>
        </p:nvSpPr>
        <p:spPr>
          <a:xfrm>
            <a:off x="5303520" y="519836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Vercel plus Supabase Realtime, the five screens, react-three-fiber mesh, replay mode.</a:t>
            </a:r>
            <a:endParaRPr lang="en-US" sz="1150" dirty="0"/>
          </a:p>
        </p:txBody>
      </p:sp>
      <p:sp>
        <p:nvSpPr>
          <p:cNvPr id="37" name="Shape 35"/>
          <p:cNvSpPr/>
          <p:nvPr/>
        </p:nvSpPr>
        <p:spPr>
          <a:xfrm>
            <a:off x="502920" y="5724144"/>
            <a:ext cx="11185855" cy="457200"/>
          </a:xfrm>
          <a:prstGeom prst="roundRect">
            <a:avLst>
              <a:gd name="adj" fmla="val 12000"/>
            </a:avLst>
          </a:prstGeom>
          <a:solidFill>
            <a:srgbClr val="252943"/>
          </a:solidFill>
          <a:ln w="12700">
            <a:solidFill>
              <a:srgbClr val="252943"/>
            </a:solidFill>
            <a:prstDash val="solid"/>
          </a:ln>
        </p:spPr>
      </p:sp>
      <p:sp>
        <p:nvSpPr>
          <p:cNvPr id="38" name="Text 36"/>
          <p:cNvSpPr txBox="1"/>
          <p:nvPr/>
        </p:nvSpPr>
        <p:spPr>
          <a:xfrm>
            <a:off x="704088" y="572414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14</a:t>
            </a:r>
            <a:endParaRPr lang="en-US" sz="1300" dirty="0"/>
          </a:p>
        </p:txBody>
      </p:sp>
      <p:sp>
        <p:nvSpPr>
          <p:cNvPr id="39" name="Text 37"/>
          <p:cNvSpPr txBox="1"/>
          <p:nvPr/>
        </p:nvSpPr>
        <p:spPr>
          <a:xfrm>
            <a:off x="1874520" y="572414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Write-up and buffer</a:t>
            </a:r>
            <a:endParaRPr lang="en-US" sz="1300" dirty="0"/>
          </a:p>
        </p:txBody>
      </p:sp>
      <p:sp>
        <p:nvSpPr>
          <p:cNvPr id="40" name="Text 38"/>
          <p:cNvSpPr txBox="1"/>
          <p:nvPr/>
        </p:nvSpPr>
        <p:spPr>
          <a:xfrm>
            <a:off x="5303520" y="572414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Figures from committed CSVs. Something in weeks 6–9 will overrun.</a:t>
            </a:r>
            <a:endParaRPr lang="en-US" sz="1150" dirty="0"/>
          </a:p>
        </p:txBody>
      </p:sp>
      <p:sp>
        <p:nvSpPr>
          <p:cNvPr id="41" name="Text 39"/>
          <p:cNvSpPr txBox="1"/>
          <p:nvPr/>
        </p:nvSpPr>
        <p:spPr>
          <a:xfrm>
            <a:off x="502920" y="6309360"/>
            <a:ext cx="11185855" cy="310896"/>
          </a:xfrm>
          <a:prstGeom prst="rect">
            <a:avLst/>
          </a:prstGeom>
          <a:noFill/>
          <a:ln/>
        </p:spPr>
        <p:txBody>
          <a:bodyPr wrap="square" lIns="0" tIns="0" rIns="0" bIns="0" rtlCol="0" anchor="ctr"/>
          <a:lstStyle/>
          <a:p>
            <a:pPr indent="0" marL="0">
              <a:buNone/>
            </a:pPr>
            <a:r>
              <a:rPr lang="en-US" sz="1250" i="1" dirty="0">
                <a:solidFill>
                  <a:srgbClr val="E0A458"/>
                </a:solidFill>
                <a:latin typeface="Arial" pitchFamily="34" charset="0"/>
                <a:ea typeface="Arial" pitchFamily="34" charset="-122"/>
                <a:cs typeface="Arial" pitchFamily="34" charset="-120"/>
              </a:rPr>
              <a:t>Decide at week 3, not at week 9 — that is the difference between a project delivered and a project rescued.</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SCOPE DISCIPLINE</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What this project does not build</a:t>
            </a:r>
            <a:endParaRPr lang="en-US" sz="3000" dirty="0"/>
          </a:p>
        </p:txBody>
      </p:sp>
      <p:sp>
        <p:nvSpPr>
          <p:cNvPr id="4" name="Shape 2"/>
          <p:cNvSpPr/>
          <p:nvPr/>
        </p:nvSpPr>
        <p:spPr>
          <a:xfrm>
            <a:off x="502920" y="1627632"/>
            <a:ext cx="5394960" cy="1133856"/>
          </a:xfrm>
          <a:prstGeom prst="roundRect">
            <a:avLst>
              <a:gd name="adj" fmla="val 4839"/>
            </a:avLst>
          </a:prstGeom>
          <a:solidFill>
            <a:srgbClr val="252943"/>
          </a:solidFill>
          <a:ln w="12700">
            <a:solidFill>
              <a:srgbClr val="252943"/>
            </a:solidFill>
            <a:prstDash val="solid"/>
          </a:ln>
        </p:spPr>
      </p:sp>
      <p:sp>
        <p:nvSpPr>
          <p:cNvPr id="5" name="Shape 3"/>
          <p:cNvSpPr/>
          <p:nvPr/>
        </p:nvSpPr>
        <p:spPr>
          <a:xfrm>
            <a:off x="813816" y="1938528"/>
            <a:ext cx="310896" cy="310896"/>
          </a:xfrm>
          <a:prstGeom prst="ellipse">
            <a:avLst/>
          </a:prstGeom>
          <a:solidFill>
            <a:srgbClr val="3A2530"/>
          </a:solidFill>
          <a:ln w="15875">
            <a:solidFill>
              <a:srgbClr val="EC8079"/>
            </a:solidFill>
            <a:prstDash val="solid"/>
          </a:ln>
        </p:spPr>
      </p:sp>
      <p:sp>
        <p:nvSpPr>
          <p:cNvPr id="6" name="Text 4"/>
          <p:cNvSpPr txBox="1"/>
          <p:nvPr/>
        </p:nvSpPr>
        <p:spPr>
          <a:xfrm>
            <a:off x="813816" y="1938528"/>
            <a:ext cx="310896" cy="310896"/>
          </a:xfrm>
          <a:prstGeom prst="rect">
            <a:avLst/>
          </a:prstGeom>
          <a:noFill/>
          <a:ln/>
        </p:spPr>
        <p:txBody>
          <a:bodyPr wrap="square" lIns="0" tIns="0" rIns="0" bIns="0" rtlCol="0" anchor="ctr"/>
          <a:lstStyle/>
          <a:p>
            <a:pPr algn="ctr" indent="0" marL="0">
              <a:buNone/>
            </a:pPr>
            <a:r>
              <a:rPr lang="en-US" sz="1100" b="1" dirty="0">
                <a:solidFill>
                  <a:srgbClr val="EC8079"/>
                </a:solidFill>
                <a:latin typeface="Arial" pitchFamily="34" charset="0"/>
                <a:ea typeface="Arial" pitchFamily="34" charset="-122"/>
                <a:cs typeface="Arial" pitchFamily="34" charset="-120"/>
              </a:rPr>
              <a:t>✕</a:t>
            </a:r>
            <a:endParaRPr lang="en-US" sz="1100" dirty="0"/>
          </a:p>
        </p:txBody>
      </p:sp>
      <p:sp>
        <p:nvSpPr>
          <p:cNvPr id="7" name="Text 5"/>
          <p:cNvSpPr txBox="1"/>
          <p:nvPr/>
        </p:nvSpPr>
        <p:spPr>
          <a:xfrm>
            <a:off x="1289304" y="1865376"/>
            <a:ext cx="4389120" cy="292608"/>
          </a:xfrm>
          <a:prstGeom prst="rect">
            <a:avLst/>
          </a:prstGeom>
          <a:noFill/>
          <a:ln/>
        </p:spPr>
        <p:txBody>
          <a:bodyPr wrap="square" lIns="0" tIns="0" rIns="0" bIns="0" rtlCol="0" anchor="ctr"/>
          <a:lstStyle/>
          <a:p>
            <a:pPr indent="0" marL="0">
              <a:buNone/>
            </a:pPr>
            <a:r>
              <a:rPr lang="en-US" sz="1450" b="1" dirty="0">
                <a:solidFill>
                  <a:srgbClr val="F2F3F8"/>
                </a:solidFill>
                <a:latin typeface="Arial" pitchFamily="34" charset="0"/>
                <a:ea typeface="Arial" pitchFamily="34" charset="-122"/>
                <a:cs typeface="Arial" pitchFamily="34" charset="-120"/>
              </a:rPr>
              <a:t>Train a mesh model</a:t>
            </a:r>
            <a:endParaRPr lang="en-US" sz="1450" dirty="0"/>
          </a:p>
        </p:txBody>
      </p:sp>
      <p:sp>
        <p:nvSpPr>
          <p:cNvPr id="8" name="Text 6"/>
          <p:cNvSpPr txBox="1"/>
          <p:nvPr/>
        </p:nvSpPr>
        <p:spPr>
          <a:xfrm>
            <a:off x="1289304" y="2176272"/>
            <a:ext cx="4389120" cy="457200"/>
          </a:xfrm>
          <a:prstGeom prst="rect">
            <a:avLst/>
          </a:prstGeom>
          <a:noFill/>
          <a:ln/>
        </p:spPr>
        <p:txBody>
          <a:bodyPr wrap="square" lIns="0" tIns="0" rIns="0" bIns="0" rtlCol="0" anchor="t"/>
          <a:lstStyle/>
          <a:p>
            <a:pPr indent="0" marL="0">
              <a:lnSpc>
                <a:spcPct val="115000"/>
              </a:lnSpc>
              <a:buNone/>
            </a:pPr>
            <a:r>
              <a:rPr lang="en-US" sz="1150" dirty="0">
                <a:solidFill>
                  <a:srgbClr val="9BA1C1"/>
                </a:solidFill>
                <a:latin typeface="Arial" pitchFamily="34" charset="0"/>
                <a:ea typeface="Arial" pitchFamily="34" charset="-122"/>
                <a:cs typeface="Arial" pitchFamily="34" charset="-120"/>
              </a:rPr>
              <a:t>Pre-trained, inference only. Training one is a doctorate.</a:t>
            </a:r>
            <a:endParaRPr lang="en-US" sz="1150" dirty="0"/>
          </a:p>
        </p:txBody>
      </p:sp>
      <p:sp>
        <p:nvSpPr>
          <p:cNvPr id="9" name="Shape 7"/>
          <p:cNvSpPr/>
          <p:nvPr/>
        </p:nvSpPr>
        <p:spPr>
          <a:xfrm>
            <a:off x="6281928" y="1627632"/>
            <a:ext cx="5394960" cy="1133856"/>
          </a:xfrm>
          <a:prstGeom prst="roundRect">
            <a:avLst>
              <a:gd name="adj" fmla="val 4839"/>
            </a:avLst>
          </a:prstGeom>
          <a:solidFill>
            <a:srgbClr val="252943"/>
          </a:solidFill>
          <a:ln w="12700">
            <a:solidFill>
              <a:srgbClr val="252943"/>
            </a:solidFill>
            <a:prstDash val="solid"/>
          </a:ln>
        </p:spPr>
      </p:sp>
      <p:sp>
        <p:nvSpPr>
          <p:cNvPr id="10" name="Shape 8"/>
          <p:cNvSpPr/>
          <p:nvPr/>
        </p:nvSpPr>
        <p:spPr>
          <a:xfrm>
            <a:off x="6592824" y="1938528"/>
            <a:ext cx="310896" cy="310896"/>
          </a:xfrm>
          <a:prstGeom prst="ellipse">
            <a:avLst/>
          </a:prstGeom>
          <a:solidFill>
            <a:srgbClr val="3A2530"/>
          </a:solidFill>
          <a:ln w="15875">
            <a:solidFill>
              <a:srgbClr val="EC8079"/>
            </a:solidFill>
            <a:prstDash val="solid"/>
          </a:ln>
        </p:spPr>
      </p:sp>
      <p:sp>
        <p:nvSpPr>
          <p:cNvPr id="11" name="Text 9"/>
          <p:cNvSpPr txBox="1"/>
          <p:nvPr/>
        </p:nvSpPr>
        <p:spPr>
          <a:xfrm>
            <a:off x="6592824" y="1938528"/>
            <a:ext cx="310896" cy="310896"/>
          </a:xfrm>
          <a:prstGeom prst="rect">
            <a:avLst/>
          </a:prstGeom>
          <a:noFill/>
          <a:ln/>
        </p:spPr>
        <p:txBody>
          <a:bodyPr wrap="square" lIns="0" tIns="0" rIns="0" bIns="0" rtlCol="0" anchor="ctr"/>
          <a:lstStyle/>
          <a:p>
            <a:pPr algn="ctr" indent="0" marL="0">
              <a:buNone/>
            </a:pPr>
            <a:r>
              <a:rPr lang="en-US" sz="1100" b="1" dirty="0">
                <a:solidFill>
                  <a:srgbClr val="EC8079"/>
                </a:solidFill>
                <a:latin typeface="Arial" pitchFamily="34" charset="0"/>
                <a:ea typeface="Arial" pitchFamily="34" charset="-122"/>
                <a:cs typeface="Arial" pitchFamily="34" charset="-120"/>
              </a:rPr>
              <a:t>✕</a:t>
            </a:r>
            <a:endParaRPr lang="en-US" sz="1100" dirty="0"/>
          </a:p>
        </p:txBody>
      </p:sp>
      <p:sp>
        <p:nvSpPr>
          <p:cNvPr id="12" name="Text 10"/>
          <p:cNvSpPr txBox="1"/>
          <p:nvPr/>
        </p:nvSpPr>
        <p:spPr>
          <a:xfrm>
            <a:off x="7068312" y="1865376"/>
            <a:ext cx="4389120" cy="292608"/>
          </a:xfrm>
          <a:prstGeom prst="rect">
            <a:avLst/>
          </a:prstGeom>
          <a:noFill/>
          <a:ln/>
        </p:spPr>
        <p:txBody>
          <a:bodyPr wrap="square" lIns="0" tIns="0" rIns="0" bIns="0" rtlCol="0" anchor="ctr"/>
          <a:lstStyle/>
          <a:p>
            <a:pPr indent="0" marL="0">
              <a:buNone/>
            </a:pPr>
            <a:r>
              <a:rPr lang="en-US" sz="1450" b="1" dirty="0">
                <a:solidFill>
                  <a:srgbClr val="F2F3F8"/>
                </a:solidFill>
                <a:latin typeface="Arial" pitchFamily="34" charset="0"/>
                <a:ea typeface="Arial" pitchFamily="34" charset="-122"/>
                <a:cs typeface="Arial" pitchFamily="34" charset="-120"/>
              </a:rPr>
              <a:t>NeRF or Gaussian Splatting</a:t>
            </a:r>
            <a:endParaRPr lang="en-US" sz="1450" dirty="0"/>
          </a:p>
        </p:txBody>
      </p:sp>
      <p:sp>
        <p:nvSpPr>
          <p:cNvPr id="13" name="Text 11"/>
          <p:cNvSpPr txBox="1"/>
          <p:nvPr/>
        </p:nvSpPr>
        <p:spPr>
          <a:xfrm>
            <a:off x="7068312" y="2176272"/>
            <a:ext cx="4389120" cy="457200"/>
          </a:xfrm>
          <a:prstGeom prst="rect">
            <a:avLst/>
          </a:prstGeom>
          <a:noFill/>
          <a:ln/>
        </p:spPr>
        <p:txBody>
          <a:bodyPr wrap="square" lIns="0" tIns="0" rIns="0" bIns="0" rtlCol="0" anchor="t"/>
          <a:lstStyle/>
          <a:p>
            <a:pPr indent="0" marL="0">
              <a:lnSpc>
                <a:spcPct val="115000"/>
              </a:lnSpc>
              <a:buNone/>
            </a:pPr>
            <a:r>
              <a:rPr lang="en-US" sz="1150" dirty="0">
                <a:solidFill>
                  <a:srgbClr val="9BA1C1"/>
                </a:solidFill>
                <a:latin typeface="Arial" pitchFamily="34" charset="0"/>
                <a:ea typeface="Arial" pitchFamily="34" charset="-122"/>
                <a:cs typeface="Arial" pitchFamily="34" charset="-120"/>
              </a:rPr>
              <a:t>Needs coherent views of a still subject, and the output resists measurement.</a:t>
            </a:r>
            <a:endParaRPr lang="en-US" sz="1150" dirty="0"/>
          </a:p>
        </p:txBody>
      </p:sp>
      <p:sp>
        <p:nvSpPr>
          <p:cNvPr id="14" name="Shape 12"/>
          <p:cNvSpPr/>
          <p:nvPr/>
        </p:nvSpPr>
        <p:spPr>
          <a:xfrm>
            <a:off x="502920" y="2944368"/>
            <a:ext cx="5394960" cy="1133856"/>
          </a:xfrm>
          <a:prstGeom prst="roundRect">
            <a:avLst>
              <a:gd name="adj" fmla="val 4839"/>
            </a:avLst>
          </a:prstGeom>
          <a:solidFill>
            <a:srgbClr val="252943"/>
          </a:solidFill>
          <a:ln w="12700">
            <a:solidFill>
              <a:srgbClr val="252943"/>
            </a:solidFill>
            <a:prstDash val="solid"/>
          </a:ln>
        </p:spPr>
      </p:sp>
      <p:sp>
        <p:nvSpPr>
          <p:cNvPr id="15" name="Shape 13"/>
          <p:cNvSpPr/>
          <p:nvPr/>
        </p:nvSpPr>
        <p:spPr>
          <a:xfrm>
            <a:off x="813816" y="3255264"/>
            <a:ext cx="310896" cy="310896"/>
          </a:xfrm>
          <a:prstGeom prst="ellipse">
            <a:avLst/>
          </a:prstGeom>
          <a:solidFill>
            <a:srgbClr val="3A2530"/>
          </a:solidFill>
          <a:ln w="15875">
            <a:solidFill>
              <a:srgbClr val="EC8079"/>
            </a:solidFill>
            <a:prstDash val="solid"/>
          </a:ln>
        </p:spPr>
      </p:sp>
      <p:sp>
        <p:nvSpPr>
          <p:cNvPr id="16" name="Text 14"/>
          <p:cNvSpPr txBox="1"/>
          <p:nvPr/>
        </p:nvSpPr>
        <p:spPr>
          <a:xfrm>
            <a:off x="813816" y="3255264"/>
            <a:ext cx="310896" cy="310896"/>
          </a:xfrm>
          <a:prstGeom prst="rect">
            <a:avLst/>
          </a:prstGeom>
          <a:noFill/>
          <a:ln/>
        </p:spPr>
        <p:txBody>
          <a:bodyPr wrap="square" lIns="0" tIns="0" rIns="0" bIns="0" rtlCol="0" anchor="ctr"/>
          <a:lstStyle/>
          <a:p>
            <a:pPr algn="ctr" indent="0" marL="0">
              <a:buNone/>
            </a:pPr>
            <a:r>
              <a:rPr lang="en-US" sz="1100" b="1" dirty="0">
                <a:solidFill>
                  <a:srgbClr val="EC8079"/>
                </a:solidFill>
                <a:latin typeface="Arial" pitchFamily="34" charset="0"/>
                <a:ea typeface="Arial" pitchFamily="34" charset="-122"/>
                <a:cs typeface="Arial" pitchFamily="34" charset="-120"/>
              </a:rPr>
              <a:t>✕</a:t>
            </a:r>
            <a:endParaRPr lang="en-US" sz="1100" dirty="0"/>
          </a:p>
        </p:txBody>
      </p:sp>
      <p:sp>
        <p:nvSpPr>
          <p:cNvPr id="17" name="Text 15"/>
          <p:cNvSpPr txBox="1"/>
          <p:nvPr/>
        </p:nvSpPr>
        <p:spPr>
          <a:xfrm>
            <a:off x="1289304" y="3182112"/>
            <a:ext cx="4389120" cy="292608"/>
          </a:xfrm>
          <a:prstGeom prst="rect">
            <a:avLst/>
          </a:prstGeom>
          <a:noFill/>
          <a:ln/>
        </p:spPr>
        <p:txBody>
          <a:bodyPr wrap="square" lIns="0" tIns="0" rIns="0" bIns="0" rtlCol="0" anchor="ctr"/>
          <a:lstStyle/>
          <a:p>
            <a:pPr indent="0" marL="0">
              <a:buNone/>
            </a:pPr>
            <a:r>
              <a:rPr lang="en-US" sz="1450" b="1" dirty="0">
                <a:solidFill>
                  <a:srgbClr val="F2F3F8"/>
                </a:solidFill>
                <a:latin typeface="Arial" pitchFamily="34" charset="0"/>
                <a:ea typeface="Arial" pitchFamily="34" charset="-122"/>
                <a:cs typeface="Arial" pitchFamily="34" charset="-120"/>
              </a:rPr>
              <a:t>Cloth simulation</a:t>
            </a:r>
            <a:endParaRPr lang="en-US" sz="1450" dirty="0"/>
          </a:p>
        </p:txBody>
      </p:sp>
      <p:sp>
        <p:nvSpPr>
          <p:cNvPr id="18" name="Text 16"/>
          <p:cNvSpPr txBox="1"/>
          <p:nvPr/>
        </p:nvSpPr>
        <p:spPr>
          <a:xfrm>
            <a:off x="1289304" y="3493008"/>
            <a:ext cx="4389120" cy="457200"/>
          </a:xfrm>
          <a:prstGeom prst="rect">
            <a:avLst/>
          </a:prstGeom>
          <a:noFill/>
          <a:ln/>
        </p:spPr>
        <p:txBody>
          <a:bodyPr wrap="square" lIns="0" tIns="0" rIns="0" bIns="0" rtlCol="0" anchor="t"/>
          <a:lstStyle/>
          <a:p>
            <a:pPr indent="0" marL="0">
              <a:lnSpc>
                <a:spcPct val="115000"/>
              </a:lnSpc>
              <a:buNone/>
            </a:pPr>
            <a:r>
              <a:rPr lang="en-US" sz="1150" dirty="0">
                <a:solidFill>
                  <a:srgbClr val="9BA1C1"/>
                </a:solidFill>
                <a:latin typeface="Arial" pitchFamily="34" charset="0"/>
                <a:ea typeface="Arial" pitchFamily="34" charset="-122"/>
                <a:cs typeface="Arial" pitchFamily="34" charset="-120"/>
              </a:rPr>
              <a:t>The twin exists to measure, not to dress.</a:t>
            </a:r>
            <a:endParaRPr lang="en-US" sz="1150" dirty="0"/>
          </a:p>
        </p:txBody>
      </p:sp>
      <p:sp>
        <p:nvSpPr>
          <p:cNvPr id="19" name="Shape 17"/>
          <p:cNvSpPr/>
          <p:nvPr/>
        </p:nvSpPr>
        <p:spPr>
          <a:xfrm>
            <a:off x="6281928" y="2944368"/>
            <a:ext cx="5394960" cy="1133856"/>
          </a:xfrm>
          <a:prstGeom prst="roundRect">
            <a:avLst>
              <a:gd name="adj" fmla="val 4839"/>
            </a:avLst>
          </a:prstGeom>
          <a:solidFill>
            <a:srgbClr val="252943"/>
          </a:solidFill>
          <a:ln w="12700">
            <a:solidFill>
              <a:srgbClr val="252943"/>
            </a:solidFill>
            <a:prstDash val="solid"/>
          </a:ln>
        </p:spPr>
      </p:sp>
      <p:sp>
        <p:nvSpPr>
          <p:cNvPr id="20" name="Shape 18"/>
          <p:cNvSpPr/>
          <p:nvPr/>
        </p:nvSpPr>
        <p:spPr>
          <a:xfrm>
            <a:off x="6592824" y="3255264"/>
            <a:ext cx="310896" cy="310896"/>
          </a:xfrm>
          <a:prstGeom prst="ellipse">
            <a:avLst/>
          </a:prstGeom>
          <a:solidFill>
            <a:srgbClr val="3A2530"/>
          </a:solidFill>
          <a:ln w="15875">
            <a:solidFill>
              <a:srgbClr val="EC8079"/>
            </a:solidFill>
            <a:prstDash val="solid"/>
          </a:ln>
        </p:spPr>
      </p:sp>
      <p:sp>
        <p:nvSpPr>
          <p:cNvPr id="21" name="Text 19"/>
          <p:cNvSpPr txBox="1"/>
          <p:nvPr/>
        </p:nvSpPr>
        <p:spPr>
          <a:xfrm>
            <a:off x="6592824" y="3255264"/>
            <a:ext cx="310896" cy="310896"/>
          </a:xfrm>
          <a:prstGeom prst="rect">
            <a:avLst/>
          </a:prstGeom>
          <a:noFill/>
          <a:ln/>
        </p:spPr>
        <p:txBody>
          <a:bodyPr wrap="square" lIns="0" tIns="0" rIns="0" bIns="0" rtlCol="0" anchor="ctr"/>
          <a:lstStyle/>
          <a:p>
            <a:pPr algn="ctr" indent="0" marL="0">
              <a:buNone/>
            </a:pPr>
            <a:r>
              <a:rPr lang="en-US" sz="1100" b="1" dirty="0">
                <a:solidFill>
                  <a:srgbClr val="EC8079"/>
                </a:solidFill>
                <a:latin typeface="Arial" pitchFamily="34" charset="0"/>
                <a:ea typeface="Arial" pitchFamily="34" charset="-122"/>
                <a:cs typeface="Arial" pitchFamily="34" charset="-120"/>
              </a:rPr>
              <a:t>✕</a:t>
            </a:r>
            <a:endParaRPr lang="en-US" sz="1100" dirty="0"/>
          </a:p>
        </p:txBody>
      </p:sp>
      <p:sp>
        <p:nvSpPr>
          <p:cNvPr id="22" name="Text 20"/>
          <p:cNvSpPr txBox="1"/>
          <p:nvPr/>
        </p:nvSpPr>
        <p:spPr>
          <a:xfrm>
            <a:off x="7068312" y="3182112"/>
            <a:ext cx="4389120" cy="292608"/>
          </a:xfrm>
          <a:prstGeom prst="rect">
            <a:avLst/>
          </a:prstGeom>
          <a:noFill/>
          <a:ln/>
        </p:spPr>
        <p:txBody>
          <a:bodyPr wrap="square" lIns="0" tIns="0" rIns="0" bIns="0" rtlCol="0" anchor="ctr"/>
          <a:lstStyle/>
          <a:p>
            <a:pPr indent="0" marL="0">
              <a:buNone/>
            </a:pPr>
            <a:r>
              <a:rPr lang="en-US" sz="1450" b="1" dirty="0">
                <a:solidFill>
                  <a:srgbClr val="F2F3F8"/>
                </a:solidFill>
                <a:latin typeface="Arial" pitchFamily="34" charset="0"/>
                <a:ea typeface="Arial" pitchFamily="34" charset="-122"/>
                <a:cs typeface="Arial" pitchFamily="34" charset="-120"/>
              </a:rPr>
              <a:t>Retailer integration</a:t>
            </a:r>
            <a:endParaRPr lang="en-US" sz="1450" dirty="0"/>
          </a:p>
        </p:txBody>
      </p:sp>
      <p:sp>
        <p:nvSpPr>
          <p:cNvPr id="23" name="Text 21"/>
          <p:cNvSpPr txBox="1"/>
          <p:nvPr/>
        </p:nvSpPr>
        <p:spPr>
          <a:xfrm>
            <a:off x="7068312" y="3493008"/>
            <a:ext cx="4389120" cy="457200"/>
          </a:xfrm>
          <a:prstGeom prst="rect">
            <a:avLst/>
          </a:prstGeom>
          <a:noFill/>
          <a:ln/>
        </p:spPr>
        <p:txBody>
          <a:bodyPr wrap="square" lIns="0" tIns="0" rIns="0" bIns="0" rtlCol="0" anchor="t"/>
          <a:lstStyle/>
          <a:p>
            <a:pPr indent="0" marL="0">
              <a:lnSpc>
                <a:spcPct val="115000"/>
              </a:lnSpc>
              <a:buNone/>
            </a:pPr>
            <a:r>
              <a:rPr lang="en-US" sz="1150" dirty="0">
                <a:solidFill>
                  <a:srgbClr val="9BA1C1"/>
                </a:solidFill>
                <a:latin typeface="Arial" pitchFamily="34" charset="0"/>
                <a:ea typeface="Arial" pitchFamily="34" charset="-122"/>
                <a:cs typeface="Arial" pitchFamily="34" charset="-120"/>
              </a:rPr>
              <a:t>No webhooks or order APIs exist yet. Outcomes come from public data.</a:t>
            </a:r>
            <a:endParaRPr lang="en-US" sz="1150" dirty="0"/>
          </a:p>
        </p:txBody>
      </p:sp>
      <p:sp>
        <p:nvSpPr>
          <p:cNvPr id="24" name="Shape 22"/>
          <p:cNvSpPr/>
          <p:nvPr/>
        </p:nvSpPr>
        <p:spPr>
          <a:xfrm>
            <a:off x="502920" y="4261104"/>
            <a:ext cx="5394960" cy="1133856"/>
          </a:xfrm>
          <a:prstGeom prst="roundRect">
            <a:avLst>
              <a:gd name="adj" fmla="val 4839"/>
            </a:avLst>
          </a:prstGeom>
          <a:solidFill>
            <a:srgbClr val="252943"/>
          </a:solidFill>
          <a:ln w="12700">
            <a:solidFill>
              <a:srgbClr val="252943"/>
            </a:solidFill>
            <a:prstDash val="solid"/>
          </a:ln>
        </p:spPr>
      </p:sp>
      <p:sp>
        <p:nvSpPr>
          <p:cNvPr id="25" name="Shape 23"/>
          <p:cNvSpPr/>
          <p:nvPr/>
        </p:nvSpPr>
        <p:spPr>
          <a:xfrm>
            <a:off x="813816" y="4572000"/>
            <a:ext cx="310896" cy="310896"/>
          </a:xfrm>
          <a:prstGeom prst="ellipse">
            <a:avLst/>
          </a:prstGeom>
          <a:solidFill>
            <a:srgbClr val="3A2530"/>
          </a:solidFill>
          <a:ln w="15875">
            <a:solidFill>
              <a:srgbClr val="EC8079"/>
            </a:solidFill>
            <a:prstDash val="solid"/>
          </a:ln>
        </p:spPr>
      </p:sp>
      <p:sp>
        <p:nvSpPr>
          <p:cNvPr id="26" name="Text 24"/>
          <p:cNvSpPr txBox="1"/>
          <p:nvPr/>
        </p:nvSpPr>
        <p:spPr>
          <a:xfrm>
            <a:off x="813816" y="4572000"/>
            <a:ext cx="310896" cy="310896"/>
          </a:xfrm>
          <a:prstGeom prst="rect">
            <a:avLst/>
          </a:prstGeom>
          <a:noFill/>
          <a:ln/>
        </p:spPr>
        <p:txBody>
          <a:bodyPr wrap="square" lIns="0" tIns="0" rIns="0" bIns="0" rtlCol="0" anchor="ctr"/>
          <a:lstStyle/>
          <a:p>
            <a:pPr algn="ctr" indent="0" marL="0">
              <a:buNone/>
            </a:pPr>
            <a:r>
              <a:rPr lang="en-US" sz="1100" b="1" dirty="0">
                <a:solidFill>
                  <a:srgbClr val="EC8079"/>
                </a:solidFill>
                <a:latin typeface="Arial" pitchFamily="34" charset="0"/>
                <a:ea typeface="Arial" pitchFamily="34" charset="-122"/>
                <a:cs typeface="Arial" pitchFamily="34" charset="-120"/>
              </a:rPr>
              <a:t>✕</a:t>
            </a:r>
            <a:endParaRPr lang="en-US" sz="1100" dirty="0"/>
          </a:p>
        </p:txBody>
      </p:sp>
      <p:sp>
        <p:nvSpPr>
          <p:cNvPr id="27" name="Text 25"/>
          <p:cNvSpPr txBox="1"/>
          <p:nvPr/>
        </p:nvSpPr>
        <p:spPr>
          <a:xfrm>
            <a:off x="1289304" y="4498848"/>
            <a:ext cx="4389120" cy="292608"/>
          </a:xfrm>
          <a:prstGeom prst="rect">
            <a:avLst/>
          </a:prstGeom>
          <a:noFill/>
          <a:ln/>
        </p:spPr>
        <p:txBody>
          <a:bodyPr wrap="square" lIns="0" tIns="0" rIns="0" bIns="0" rtlCol="0" anchor="ctr"/>
          <a:lstStyle/>
          <a:p>
            <a:pPr indent="0" marL="0">
              <a:buNone/>
            </a:pPr>
            <a:r>
              <a:rPr lang="en-US" sz="1450" b="1" dirty="0">
                <a:solidFill>
                  <a:srgbClr val="F2F3F8"/>
                </a:solidFill>
                <a:latin typeface="Arial" pitchFamily="34" charset="0"/>
                <a:ea typeface="Arial" pitchFamily="34" charset="-122"/>
                <a:cs typeface="Arial" pitchFamily="34" charset="-120"/>
              </a:rPr>
              <a:t>A commerce layer</a:t>
            </a:r>
            <a:endParaRPr lang="en-US" sz="1450" dirty="0"/>
          </a:p>
        </p:txBody>
      </p:sp>
      <p:sp>
        <p:nvSpPr>
          <p:cNvPr id="28" name="Text 26"/>
          <p:cNvSpPr txBox="1"/>
          <p:nvPr/>
        </p:nvSpPr>
        <p:spPr>
          <a:xfrm>
            <a:off x="1289304" y="4809744"/>
            <a:ext cx="4389120" cy="457200"/>
          </a:xfrm>
          <a:prstGeom prst="rect">
            <a:avLst/>
          </a:prstGeom>
          <a:noFill/>
          <a:ln/>
        </p:spPr>
        <p:txBody>
          <a:bodyPr wrap="square" lIns="0" tIns="0" rIns="0" bIns="0" rtlCol="0" anchor="t"/>
          <a:lstStyle/>
          <a:p>
            <a:pPr indent="0" marL="0">
              <a:lnSpc>
                <a:spcPct val="115000"/>
              </a:lnSpc>
              <a:buNone/>
            </a:pPr>
            <a:r>
              <a:rPr lang="en-US" sz="1150" dirty="0">
                <a:solidFill>
                  <a:srgbClr val="9BA1C1"/>
                </a:solidFill>
                <a:latin typeface="Arial" pitchFamily="34" charset="0"/>
                <a:ea typeface="Arial" pitchFamily="34" charset="-122"/>
                <a:cs typeface="Arial" pitchFamily="34" charset="-120"/>
              </a:rPr>
              <a:t>Cart and checkout are mocked, visibly, on one slide.</a:t>
            </a:r>
            <a:endParaRPr lang="en-US" sz="1150" dirty="0"/>
          </a:p>
        </p:txBody>
      </p:sp>
      <p:sp>
        <p:nvSpPr>
          <p:cNvPr id="29" name="Shape 27"/>
          <p:cNvSpPr/>
          <p:nvPr/>
        </p:nvSpPr>
        <p:spPr>
          <a:xfrm>
            <a:off x="6281928" y="4261104"/>
            <a:ext cx="5394960" cy="1133856"/>
          </a:xfrm>
          <a:prstGeom prst="roundRect">
            <a:avLst>
              <a:gd name="adj" fmla="val 4839"/>
            </a:avLst>
          </a:prstGeom>
          <a:solidFill>
            <a:srgbClr val="252943"/>
          </a:solidFill>
          <a:ln w="12700">
            <a:solidFill>
              <a:srgbClr val="252943"/>
            </a:solidFill>
            <a:prstDash val="solid"/>
          </a:ln>
        </p:spPr>
      </p:sp>
      <p:sp>
        <p:nvSpPr>
          <p:cNvPr id="30" name="Shape 28"/>
          <p:cNvSpPr/>
          <p:nvPr/>
        </p:nvSpPr>
        <p:spPr>
          <a:xfrm>
            <a:off x="6592824" y="4572000"/>
            <a:ext cx="310896" cy="310896"/>
          </a:xfrm>
          <a:prstGeom prst="ellipse">
            <a:avLst/>
          </a:prstGeom>
          <a:solidFill>
            <a:srgbClr val="3A2530"/>
          </a:solidFill>
          <a:ln w="15875">
            <a:solidFill>
              <a:srgbClr val="EC8079"/>
            </a:solidFill>
            <a:prstDash val="solid"/>
          </a:ln>
        </p:spPr>
      </p:sp>
      <p:sp>
        <p:nvSpPr>
          <p:cNvPr id="31" name="Text 29"/>
          <p:cNvSpPr txBox="1"/>
          <p:nvPr/>
        </p:nvSpPr>
        <p:spPr>
          <a:xfrm>
            <a:off x="6592824" y="4572000"/>
            <a:ext cx="310896" cy="310896"/>
          </a:xfrm>
          <a:prstGeom prst="rect">
            <a:avLst/>
          </a:prstGeom>
          <a:noFill/>
          <a:ln/>
        </p:spPr>
        <p:txBody>
          <a:bodyPr wrap="square" lIns="0" tIns="0" rIns="0" bIns="0" rtlCol="0" anchor="ctr"/>
          <a:lstStyle/>
          <a:p>
            <a:pPr algn="ctr" indent="0" marL="0">
              <a:buNone/>
            </a:pPr>
            <a:r>
              <a:rPr lang="en-US" sz="1100" b="1" dirty="0">
                <a:solidFill>
                  <a:srgbClr val="EC8079"/>
                </a:solidFill>
                <a:latin typeface="Arial" pitchFamily="34" charset="0"/>
                <a:ea typeface="Arial" pitchFamily="34" charset="-122"/>
                <a:cs typeface="Arial" pitchFamily="34" charset="-120"/>
              </a:rPr>
              <a:t>✕</a:t>
            </a:r>
            <a:endParaRPr lang="en-US" sz="1100" dirty="0"/>
          </a:p>
        </p:txBody>
      </p:sp>
      <p:sp>
        <p:nvSpPr>
          <p:cNvPr id="32" name="Text 30"/>
          <p:cNvSpPr txBox="1"/>
          <p:nvPr/>
        </p:nvSpPr>
        <p:spPr>
          <a:xfrm>
            <a:off x="7068312" y="4498848"/>
            <a:ext cx="4389120" cy="292608"/>
          </a:xfrm>
          <a:prstGeom prst="rect">
            <a:avLst/>
          </a:prstGeom>
          <a:noFill/>
          <a:ln/>
        </p:spPr>
        <p:txBody>
          <a:bodyPr wrap="square" lIns="0" tIns="0" rIns="0" bIns="0" rtlCol="0" anchor="ctr"/>
          <a:lstStyle/>
          <a:p>
            <a:pPr indent="0" marL="0">
              <a:buNone/>
            </a:pPr>
            <a:r>
              <a:rPr lang="en-US" sz="1450" b="1" dirty="0">
                <a:solidFill>
                  <a:srgbClr val="F2F3F8"/>
                </a:solidFill>
                <a:latin typeface="Arial" pitchFamily="34" charset="0"/>
                <a:ea typeface="Arial" pitchFamily="34" charset="-122"/>
                <a:cs typeface="Arial" pitchFamily="34" charset="-120"/>
              </a:rPr>
              <a:t>Two genders of size chart</a:t>
            </a:r>
            <a:endParaRPr lang="en-US" sz="1450" dirty="0"/>
          </a:p>
        </p:txBody>
      </p:sp>
      <p:sp>
        <p:nvSpPr>
          <p:cNvPr id="33" name="Text 31"/>
          <p:cNvSpPr txBox="1"/>
          <p:nvPr/>
        </p:nvSpPr>
        <p:spPr>
          <a:xfrm>
            <a:off x="7068312" y="4809744"/>
            <a:ext cx="4389120" cy="457200"/>
          </a:xfrm>
          <a:prstGeom prst="rect">
            <a:avLst/>
          </a:prstGeom>
          <a:noFill/>
          <a:ln/>
        </p:spPr>
        <p:txBody>
          <a:bodyPr wrap="square" lIns="0" tIns="0" rIns="0" bIns="0" rtlCol="0" anchor="t"/>
          <a:lstStyle/>
          <a:p>
            <a:pPr indent="0" marL="0">
              <a:lnSpc>
                <a:spcPct val="115000"/>
              </a:lnSpc>
              <a:buNone/>
            </a:pPr>
            <a:r>
              <a:rPr lang="en-US" sz="1150" dirty="0">
                <a:solidFill>
                  <a:srgbClr val="9BA1C1"/>
                </a:solidFill>
                <a:latin typeface="Arial" pitchFamily="34" charset="0"/>
                <a:ea typeface="Arial" pitchFamily="34" charset="-122"/>
                <a:cs typeface="Arial" pitchFamily="34" charset="-120"/>
              </a:rPr>
              <a:t>Doubles the golden-set week and adds no new science.</a:t>
            </a:r>
            <a:endParaRPr lang="en-US" sz="1150" dirty="0"/>
          </a:p>
        </p:txBody>
      </p:sp>
      <p:sp>
        <p:nvSpPr>
          <p:cNvPr id="34" name="Shape 32"/>
          <p:cNvSpPr/>
          <p:nvPr/>
        </p:nvSpPr>
        <p:spPr>
          <a:xfrm>
            <a:off x="502920" y="5577840"/>
            <a:ext cx="11185855" cy="713232"/>
          </a:xfrm>
          <a:prstGeom prst="roundRect">
            <a:avLst>
              <a:gd name="adj" fmla="val 7692"/>
            </a:avLst>
          </a:prstGeom>
          <a:solidFill>
            <a:srgbClr val="2F3355"/>
          </a:solidFill>
          <a:ln w="19050">
            <a:solidFill>
              <a:srgbClr val="83B4DE"/>
            </a:solidFill>
            <a:prstDash val="solid"/>
          </a:ln>
        </p:spPr>
      </p:sp>
      <p:sp>
        <p:nvSpPr>
          <p:cNvPr id="35" name="Text 33"/>
          <p:cNvSpPr txBox="1"/>
          <p:nvPr/>
        </p:nvSpPr>
        <p:spPr>
          <a:xfrm>
            <a:off x="777240" y="5577840"/>
            <a:ext cx="10637215" cy="713232"/>
          </a:xfrm>
          <a:prstGeom prst="rect">
            <a:avLst/>
          </a:prstGeom>
          <a:noFill/>
          <a:ln/>
        </p:spPr>
        <p:txBody>
          <a:bodyPr wrap="square" lIns="0" tIns="0" rIns="0" bIns="0" rtlCol="0" anchor="ctr"/>
          <a:lstStyle/>
          <a:p>
            <a:pPr indent="0" marL="0">
              <a:buNone/>
            </a:pPr>
            <a:r>
              <a:rPr lang="en-US" sz="1250" dirty="0">
                <a:solidFill>
                  <a:srgbClr val="F2F3F8"/>
                </a:solidFill>
                <a:latin typeface="Arial" pitchFamily="34" charset="0"/>
                <a:ea typeface="Arial" pitchFamily="34" charset="-122"/>
                <a:cs typeface="Arial" pitchFamily="34" charset="-120"/>
              </a:rPr>
              <a:t>Privacy rests on retention, not framing: frames are never persisted; only height, nine leg measurements, β and confidence are kept.</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CLOSING</a:t>
            </a:r>
            <a:endParaRPr lang="en-US" sz="950" dirty="0"/>
          </a:p>
        </p:txBody>
      </p:sp>
      <p:sp>
        <p:nvSpPr>
          <p:cNvPr id="3" name="Text 1"/>
          <p:cNvSpPr txBox="1"/>
          <p:nvPr/>
        </p:nvSpPr>
        <p:spPr>
          <a:xfrm>
            <a:off x="502920" y="822960"/>
            <a:ext cx="11185855" cy="731520"/>
          </a:xfrm>
          <a:prstGeom prst="rect">
            <a:avLst/>
          </a:prstGeom>
          <a:noFill/>
          <a:ln/>
        </p:spPr>
        <p:txBody>
          <a:bodyPr wrap="square" lIns="0" tIns="0" rIns="0" bIns="0" rtlCol="0" anchor="ctr"/>
          <a:lstStyle/>
          <a:p>
            <a:pPr indent="0" marL="0">
              <a:buNone/>
            </a:pPr>
            <a:r>
              <a:rPr lang="en-US" sz="3800" b="1" dirty="0">
                <a:solidFill>
                  <a:srgbClr val="F2F3F8"/>
                </a:solidFill>
                <a:latin typeface="Arial" pitchFamily="34" charset="0"/>
                <a:ea typeface="Arial" pitchFamily="34" charset="-122"/>
                <a:cs typeface="Arial" pitchFamily="34" charset="-120"/>
              </a:rPr>
              <a:t>The three-minute story</a:t>
            </a:r>
            <a:endParaRPr lang="en-US" sz="3800" dirty="0"/>
          </a:p>
        </p:txBody>
      </p:sp>
      <p:sp>
        <p:nvSpPr>
          <p:cNvPr id="4" name="Shape 2"/>
          <p:cNvSpPr/>
          <p:nvPr/>
        </p:nvSpPr>
        <p:spPr>
          <a:xfrm>
            <a:off x="502920" y="1828800"/>
            <a:ext cx="7680960" cy="548640"/>
          </a:xfrm>
          <a:prstGeom prst="roundRect">
            <a:avLst>
              <a:gd name="adj" fmla="val 10000"/>
            </a:avLst>
          </a:prstGeom>
          <a:solidFill>
            <a:srgbClr val="252943"/>
          </a:solidFill>
          <a:ln w="12700">
            <a:solidFill>
              <a:srgbClr val="252943"/>
            </a:solidFill>
            <a:prstDash val="solid"/>
          </a:ln>
        </p:spPr>
      </p:sp>
      <p:sp>
        <p:nvSpPr>
          <p:cNvPr id="5" name="Shape 3"/>
          <p:cNvSpPr/>
          <p:nvPr/>
        </p:nvSpPr>
        <p:spPr>
          <a:xfrm>
            <a:off x="685800" y="1929384"/>
            <a:ext cx="347472" cy="347472"/>
          </a:xfrm>
          <a:prstGeom prst="ellipse">
            <a:avLst/>
          </a:prstGeom>
          <a:solidFill>
            <a:srgbClr val="83B4DE"/>
          </a:solidFill>
          <a:ln w="12700">
            <a:solidFill>
              <a:srgbClr val="83B4DE"/>
            </a:solidFill>
            <a:prstDash val="solid"/>
          </a:ln>
        </p:spPr>
      </p:sp>
      <p:sp>
        <p:nvSpPr>
          <p:cNvPr id="6" name="Text 4"/>
          <p:cNvSpPr txBox="1"/>
          <p:nvPr/>
        </p:nvSpPr>
        <p:spPr>
          <a:xfrm>
            <a:off x="685800" y="1929384"/>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1</a:t>
            </a:r>
            <a:endParaRPr lang="en-US" sz="1200" dirty="0"/>
          </a:p>
        </p:txBody>
      </p:sp>
      <p:sp>
        <p:nvSpPr>
          <p:cNvPr id="7" name="Text 5"/>
          <p:cNvSpPr txBox="1"/>
          <p:nvPr/>
        </p:nvSpPr>
        <p:spPr>
          <a:xfrm>
            <a:off x="1197864" y="1828800"/>
            <a:ext cx="6766560" cy="548640"/>
          </a:xfrm>
          <a:prstGeom prst="rect">
            <a:avLst/>
          </a:prstGeom>
          <a:noFill/>
          <a:ln/>
        </p:spPr>
        <p:txBody>
          <a:bodyPr wrap="square" lIns="0" tIns="0" rIns="0" bIns="0" rtlCol="0" anchor="ctr"/>
          <a:lstStyle/>
          <a:p>
            <a:pPr indent="0" marL="0">
              <a:buNone/>
            </a:pPr>
            <a:r>
              <a:rPr lang="en-US" sz="1350" dirty="0">
                <a:solidFill>
                  <a:srgbClr val="F2F3F8"/>
                </a:solidFill>
                <a:latin typeface="Arial" pitchFamily="34" charset="0"/>
                <a:ea typeface="Arial" pitchFamily="34" charset="-122"/>
                <a:cs typeface="Arial" pitchFamily="34" charset="-120"/>
              </a:rPr>
              <a:t>Enter height, record twelve seconds of video</a:t>
            </a:r>
            <a:endParaRPr lang="en-US" sz="1350" dirty="0"/>
          </a:p>
        </p:txBody>
      </p:sp>
      <p:sp>
        <p:nvSpPr>
          <p:cNvPr id="8" name="Shape 6"/>
          <p:cNvSpPr/>
          <p:nvPr/>
        </p:nvSpPr>
        <p:spPr>
          <a:xfrm>
            <a:off x="859536" y="2377440"/>
            <a:ext cx="0" cy="109728"/>
          </a:xfrm>
          <a:prstGeom prst="line">
            <a:avLst/>
          </a:prstGeom>
          <a:noFill/>
          <a:ln w="15875">
            <a:solidFill>
              <a:srgbClr val="6E7699"/>
            </a:solidFill>
            <a:prstDash val="solid"/>
            <a:tailEnd type="triangle"/>
          </a:ln>
        </p:spPr>
      </p:sp>
      <p:sp>
        <p:nvSpPr>
          <p:cNvPr id="9" name="Shape 7"/>
          <p:cNvSpPr/>
          <p:nvPr/>
        </p:nvSpPr>
        <p:spPr>
          <a:xfrm>
            <a:off x="502920" y="2487168"/>
            <a:ext cx="7680960" cy="548640"/>
          </a:xfrm>
          <a:prstGeom prst="roundRect">
            <a:avLst>
              <a:gd name="adj" fmla="val 10000"/>
            </a:avLst>
          </a:prstGeom>
          <a:solidFill>
            <a:srgbClr val="252943"/>
          </a:solidFill>
          <a:ln w="12700">
            <a:solidFill>
              <a:srgbClr val="252943"/>
            </a:solidFill>
            <a:prstDash val="solid"/>
          </a:ln>
        </p:spPr>
      </p:sp>
      <p:sp>
        <p:nvSpPr>
          <p:cNvPr id="10" name="Shape 8"/>
          <p:cNvSpPr/>
          <p:nvPr/>
        </p:nvSpPr>
        <p:spPr>
          <a:xfrm>
            <a:off x="685800" y="2587752"/>
            <a:ext cx="347472" cy="347472"/>
          </a:xfrm>
          <a:prstGeom prst="ellipse">
            <a:avLst/>
          </a:prstGeom>
          <a:solidFill>
            <a:srgbClr val="83B4DE"/>
          </a:solidFill>
          <a:ln w="12700">
            <a:solidFill>
              <a:srgbClr val="83B4DE"/>
            </a:solidFill>
            <a:prstDash val="solid"/>
          </a:ln>
        </p:spPr>
      </p:sp>
      <p:sp>
        <p:nvSpPr>
          <p:cNvPr id="11" name="Text 9"/>
          <p:cNvSpPr txBox="1"/>
          <p:nvPr/>
        </p:nvSpPr>
        <p:spPr>
          <a:xfrm>
            <a:off x="685800" y="2587752"/>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2</a:t>
            </a:r>
            <a:endParaRPr lang="en-US" sz="1200" dirty="0"/>
          </a:p>
        </p:txBody>
      </p:sp>
      <p:sp>
        <p:nvSpPr>
          <p:cNvPr id="12" name="Text 10"/>
          <p:cNvSpPr txBox="1"/>
          <p:nvPr/>
        </p:nvSpPr>
        <p:spPr>
          <a:xfrm>
            <a:off x="1197864" y="2487168"/>
            <a:ext cx="6766560" cy="548640"/>
          </a:xfrm>
          <a:prstGeom prst="rect">
            <a:avLst/>
          </a:prstGeom>
          <a:noFill/>
          <a:ln/>
        </p:spPr>
        <p:txBody>
          <a:bodyPr wrap="square" lIns="0" tIns="0" rIns="0" bIns="0" rtlCol="0" anchor="ctr"/>
          <a:lstStyle/>
          <a:p>
            <a:pPr indent="0" marL="0">
              <a:buNone/>
            </a:pPr>
            <a:r>
              <a:rPr lang="en-US" sz="1350" dirty="0">
                <a:solidFill>
                  <a:srgbClr val="F2F3F8"/>
                </a:solidFill>
                <a:latin typeface="Arial" pitchFamily="34" charset="0"/>
                <a:ea typeface="Arial" pitchFamily="34" charset="-122"/>
                <a:cs typeface="Arial" pitchFamily="34" charset="-120"/>
              </a:rPr>
              <a:t>The coach gates the clip and names any problem</a:t>
            </a:r>
            <a:endParaRPr lang="en-US" sz="1350" dirty="0"/>
          </a:p>
        </p:txBody>
      </p:sp>
      <p:sp>
        <p:nvSpPr>
          <p:cNvPr id="13" name="Shape 11"/>
          <p:cNvSpPr/>
          <p:nvPr/>
        </p:nvSpPr>
        <p:spPr>
          <a:xfrm>
            <a:off x="859536" y="3035808"/>
            <a:ext cx="0" cy="109728"/>
          </a:xfrm>
          <a:prstGeom prst="line">
            <a:avLst/>
          </a:prstGeom>
          <a:noFill/>
          <a:ln w="15875">
            <a:solidFill>
              <a:srgbClr val="6E7699"/>
            </a:solidFill>
            <a:prstDash val="solid"/>
            <a:tailEnd type="triangle"/>
          </a:ln>
        </p:spPr>
      </p:sp>
      <p:sp>
        <p:nvSpPr>
          <p:cNvPr id="14" name="Shape 12"/>
          <p:cNvSpPr/>
          <p:nvPr/>
        </p:nvSpPr>
        <p:spPr>
          <a:xfrm>
            <a:off x="502920" y="3145536"/>
            <a:ext cx="7680960" cy="548640"/>
          </a:xfrm>
          <a:prstGeom prst="roundRect">
            <a:avLst>
              <a:gd name="adj" fmla="val 10000"/>
            </a:avLst>
          </a:prstGeom>
          <a:solidFill>
            <a:srgbClr val="252943"/>
          </a:solidFill>
          <a:ln w="12700">
            <a:solidFill>
              <a:srgbClr val="252943"/>
            </a:solidFill>
            <a:prstDash val="solid"/>
          </a:ln>
        </p:spPr>
      </p:sp>
      <p:sp>
        <p:nvSpPr>
          <p:cNvPr id="15" name="Shape 13"/>
          <p:cNvSpPr/>
          <p:nvPr/>
        </p:nvSpPr>
        <p:spPr>
          <a:xfrm>
            <a:off x="685800" y="3246120"/>
            <a:ext cx="347472" cy="347472"/>
          </a:xfrm>
          <a:prstGeom prst="ellipse">
            <a:avLst/>
          </a:prstGeom>
          <a:solidFill>
            <a:srgbClr val="83B4DE"/>
          </a:solidFill>
          <a:ln w="12700">
            <a:solidFill>
              <a:srgbClr val="83B4DE"/>
            </a:solidFill>
            <a:prstDash val="solid"/>
          </a:ln>
        </p:spPr>
      </p:sp>
      <p:sp>
        <p:nvSpPr>
          <p:cNvPr id="16" name="Text 14"/>
          <p:cNvSpPr txBox="1"/>
          <p:nvPr/>
        </p:nvSpPr>
        <p:spPr>
          <a:xfrm>
            <a:off x="685800" y="3246120"/>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3</a:t>
            </a:r>
            <a:endParaRPr lang="en-US" sz="1200" dirty="0"/>
          </a:p>
        </p:txBody>
      </p:sp>
      <p:sp>
        <p:nvSpPr>
          <p:cNvPr id="17" name="Text 15"/>
          <p:cNvSpPr txBox="1"/>
          <p:nvPr/>
        </p:nvSpPr>
        <p:spPr>
          <a:xfrm>
            <a:off x="1197864" y="3145536"/>
            <a:ext cx="6766560" cy="548640"/>
          </a:xfrm>
          <a:prstGeom prst="rect">
            <a:avLst/>
          </a:prstGeom>
          <a:noFill/>
          <a:ln/>
        </p:spPr>
        <p:txBody>
          <a:bodyPr wrap="square" lIns="0" tIns="0" rIns="0" bIns="0" rtlCol="0" anchor="ctr"/>
          <a:lstStyle/>
          <a:p>
            <a:pPr indent="0" marL="0">
              <a:buNone/>
            </a:pPr>
            <a:r>
              <a:rPr lang="en-US" sz="1350" dirty="0">
                <a:solidFill>
                  <a:srgbClr val="F2F3F8"/>
                </a:solidFill>
                <a:latin typeface="Arial" pitchFamily="34" charset="0"/>
                <a:ea typeface="Arial" pitchFamily="34" charset="-122"/>
                <a:cs typeface="Arial" pitchFamily="34" charset="-120"/>
              </a:rPr>
              <a:t>Pick a brand never seen before — agent 3 ingests its chart live</a:t>
            </a:r>
            <a:endParaRPr lang="en-US" sz="1350" dirty="0"/>
          </a:p>
        </p:txBody>
      </p:sp>
      <p:sp>
        <p:nvSpPr>
          <p:cNvPr id="18" name="Shape 16"/>
          <p:cNvSpPr/>
          <p:nvPr/>
        </p:nvSpPr>
        <p:spPr>
          <a:xfrm>
            <a:off x="859536" y="3694176"/>
            <a:ext cx="0" cy="109728"/>
          </a:xfrm>
          <a:prstGeom prst="line">
            <a:avLst/>
          </a:prstGeom>
          <a:noFill/>
          <a:ln w="15875">
            <a:solidFill>
              <a:srgbClr val="6E7699"/>
            </a:solidFill>
            <a:prstDash val="solid"/>
            <a:tailEnd type="triangle"/>
          </a:ln>
        </p:spPr>
      </p:sp>
      <p:sp>
        <p:nvSpPr>
          <p:cNvPr id="19" name="Shape 17"/>
          <p:cNvSpPr/>
          <p:nvPr/>
        </p:nvSpPr>
        <p:spPr>
          <a:xfrm>
            <a:off x="502920" y="3803904"/>
            <a:ext cx="7680960" cy="548640"/>
          </a:xfrm>
          <a:prstGeom prst="roundRect">
            <a:avLst>
              <a:gd name="adj" fmla="val 10000"/>
            </a:avLst>
          </a:prstGeom>
          <a:solidFill>
            <a:srgbClr val="252943"/>
          </a:solidFill>
          <a:ln w="12700">
            <a:solidFill>
              <a:srgbClr val="252943"/>
            </a:solidFill>
            <a:prstDash val="solid"/>
          </a:ln>
        </p:spPr>
      </p:sp>
      <p:sp>
        <p:nvSpPr>
          <p:cNvPr id="20" name="Shape 18"/>
          <p:cNvSpPr/>
          <p:nvPr/>
        </p:nvSpPr>
        <p:spPr>
          <a:xfrm>
            <a:off x="685800" y="3904488"/>
            <a:ext cx="347472" cy="347472"/>
          </a:xfrm>
          <a:prstGeom prst="ellipse">
            <a:avLst/>
          </a:prstGeom>
          <a:solidFill>
            <a:srgbClr val="83B4DE"/>
          </a:solidFill>
          <a:ln w="12700">
            <a:solidFill>
              <a:srgbClr val="83B4DE"/>
            </a:solidFill>
            <a:prstDash val="solid"/>
          </a:ln>
        </p:spPr>
      </p:sp>
      <p:sp>
        <p:nvSpPr>
          <p:cNvPr id="21" name="Text 19"/>
          <p:cNvSpPr txBox="1"/>
          <p:nvPr/>
        </p:nvSpPr>
        <p:spPr>
          <a:xfrm>
            <a:off x="685800" y="3904488"/>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4</a:t>
            </a:r>
            <a:endParaRPr lang="en-US" sz="1200" dirty="0"/>
          </a:p>
        </p:txBody>
      </p:sp>
      <p:sp>
        <p:nvSpPr>
          <p:cNvPr id="22" name="Text 20"/>
          <p:cNvSpPr txBox="1"/>
          <p:nvPr/>
        </p:nvSpPr>
        <p:spPr>
          <a:xfrm>
            <a:off x="1197864" y="3803904"/>
            <a:ext cx="6766560" cy="548640"/>
          </a:xfrm>
          <a:prstGeom prst="rect">
            <a:avLst/>
          </a:prstGeom>
          <a:noFill/>
          <a:ln/>
        </p:spPr>
        <p:txBody>
          <a:bodyPr wrap="square" lIns="0" tIns="0" rIns="0" bIns="0" rtlCol="0" anchor="ctr"/>
          <a:lstStyle/>
          <a:p>
            <a:pPr indent="0" marL="0">
              <a:buNone/>
            </a:pPr>
            <a:r>
              <a:rPr lang="en-US" sz="1350" dirty="0">
                <a:solidFill>
                  <a:srgbClr val="F2F3F8"/>
                </a:solidFill>
                <a:latin typeface="Arial" pitchFamily="34" charset="0"/>
                <a:ea typeface="Arial" pitchFamily="34" charset="-122"/>
                <a:cs typeface="Arial" pitchFamily="34" charset="-120"/>
              </a:rPr>
              <a:t>Recommendation arrives with a landmark-level explanation</a:t>
            </a:r>
            <a:endParaRPr lang="en-US" sz="1350" dirty="0"/>
          </a:p>
        </p:txBody>
      </p:sp>
      <p:sp>
        <p:nvSpPr>
          <p:cNvPr id="23" name="Shape 21"/>
          <p:cNvSpPr/>
          <p:nvPr/>
        </p:nvSpPr>
        <p:spPr>
          <a:xfrm>
            <a:off x="859536" y="4352544"/>
            <a:ext cx="0" cy="109728"/>
          </a:xfrm>
          <a:prstGeom prst="line">
            <a:avLst/>
          </a:prstGeom>
          <a:noFill/>
          <a:ln w="15875">
            <a:solidFill>
              <a:srgbClr val="6E7699"/>
            </a:solidFill>
            <a:prstDash val="solid"/>
            <a:tailEnd type="triangle"/>
          </a:ln>
        </p:spPr>
      </p:sp>
      <p:sp>
        <p:nvSpPr>
          <p:cNvPr id="24" name="Shape 22"/>
          <p:cNvSpPr/>
          <p:nvPr/>
        </p:nvSpPr>
        <p:spPr>
          <a:xfrm>
            <a:off x="502920" y="4462272"/>
            <a:ext cx="7680960" cy="548640"/>
          </a:xfrm>
          <a:prstGeom prst="roundRect">
            <a:avLst>
              <a:gd name="adj" fmla="val 10000"/>
            </a:avLst>
          </a:prstGeom>
          <a:solidFill>
            <a:srgbClr val="252943"/>
          </a:solidFill>
          <a:ln w="12700">
            <a:solidFill>
              <a:srgbClr val="252943"/>
            </a:solidFill>
            <a:prstDash val="solid"/>
          </a:ln>
        </p:spPr>
      </p:sp>
      <p:sp>
        <p:nvSpPr>
          <p:cNvPr id="25" name="Shape 23"/>
          <p:cNvSpPr/>
          <p:nvPr/>
        </p:nvSpPr>
        <p:spPr>
          <a:xfrm>
            <a:off x="685800" y="4562856"/>
            <a:ext cx="347472" cy="347472"/>
          </a:xfrm>
          <a:prstGeom prst="ellipse">
            <a:avLst/>
          </a:prstGeom>
          <a:solidFill>
            <a:srgbClr val="83B4DE"/>
          </a:solidFill>
          <a:ln w="12700">
            <a:solidFill>
              <a:srgbClr val="83B4DE"/>
            </a:solidFill>
            <a:prstDash val="solid"/>
          </a:ln>
        </p:spPr>
      </p:sp>
      <p:sp>
        <p:nvSpPr>
          <p:cNvPr id="26" name="Text 24"/>
          <p:cNvSpPr txBox="1"/>
          <p:nvPr/>
        </p:nvSpPr>
        <p:spPr>
          <a:xfrm>
            <a:off x="685800" y="4562856"/>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5</a:t>
            </a:r>
            <a:endParaRPr lang="en-US" sz="1200" dirty="0"/>
          </a:p>
        </p:txBody>
      </p:sp>
      <p:sp>
        <p:nvSpPr>
          <p:cNvPr id="27" name="Text 25"/>
          <p:cNvSpPr txBox="1"/>
          <p:nvPr/>
        </p:nvSpPr>
        <p:spPr>
          <a:xfrm>
            <a:off x="1197864" y="4462272"/>
            <a:ext cx="6766560" cy="548640"/>
          </a:xfrm>
          <a:prstGeom prst="rect">
            <a:avLst/>
          </a:prstGeom>
          <a:noFill/>
          <a:ln/>
        </p:spPr>
        <p:txBody>
          <a:bodyPr wrap="square" lIns="0" tIns="0" rIns="0" bIns="0" rtlCol="0" anchor="ctr"/>
          <a:lstStyle/>
          <a:p>
            <a:pPr indent="0" marL="0">
              <a:buNone/>
            </a:pPr>
            <a:r>
              <a:rPr lang="en-US" sz="1350" dirty="0">
                <a:solidFill>
                  <a:srgbClr val="F2F3F8"/>
                </a:solidFill>
                <a:latin typeface="Arial" pitchFamily="34" charset="0"/>
                <a:ea typeface="Arial" pitchFamily="34" charset="-122"/>
                <a:cs typeface="Arial" pitchFamily="34" charset="-120"/>
              </a:rPr>
              <a:t>Type a return reason in plain Italian</a:t>
            </a:r>
            <a:endParaRPr lang="en-US" sz="1350" dirty="0"/>
          </a:p>
        </p:txBody>
      </p:sp>
      <p:sp>
        <p:nvSpPr>
          <p:cNvPr id="28" name="Shape 26"/>
          <p:cNvSpPr/>
          <p:nvPr/>
        </p:nvSpPr>
        <p:spPr>
          <a:xfrm>
            <a:off x="859536" y="5010912"/>
            <a:ext cx="0" cy="109728"/>
          </a:xfrm>
          <a:prstGeom prst="line">
            <a:avLst/>
          </a:prstGeom>
          <a:noFill/>
          <a:ln w="15875">
            <a:solidFill>
              <a:srgbClr val="6E7699"/>
            </a:solidFill>
            <a:prstDash val="solid"/>
            <a:tailEnd type="triangle"/>
          </a:ln>
        </p:spPr>
      </p:sp>
      <p:sp>
        <p:nvSpPr>
          <p:cNvPr id="29" name="Shape 27"/>
          <p:cNvSpPr/>
          <p:nvPr/>
        </p:nvSpPr>
        <p:spPr>
          <a:xfrm>
            <a:off x="502920" y="5120640"/>
            <a:ext cx="7680960" cy="548640"/>
          </a:xfrm>
          <a:prstGeom prst="roundRect">
            <a:avLst>
              <a:gd name="adj" fmla="val 10000"/>
            </a:avLst>
          </a:prstGeom>
          <a:solidFill>
            <a:srgbClr val="3A3A62"/>
          </a:solidFill>
          <a:ln w="12700">
            <a:solidFill>
              <a:srgbClr val="3A3A62"/>
            </a:solidFill>
            <a:prstDash val="solid"/>
          </a:ln>
        </p:spPr>
      </p:sp>
      <p:sp>
        <p:nvSpPr>
          <p:cNvPr id="30" name="Shape 28"/>
          <p:cNvSpPr/>
          <p:nvPr/>
        </p:nvSpPr>
        <p:spPr>
          <a:xfrm>
            <a:off x="685800" y="5221224"/>
            <a:ext cx="347472" cy="347472"/>
          </a:xfrm>
          <a:prstGeom prst="ellipse">
            <a:avLst/>
          </a:prstGeom>
          <a:solidFill>
            <a:srgbClr val="E0A458"/>
          </a:solidFill>
          <a:ln w="12700">
            <a:solidFill>
              <a:srgbClr val="E0A458"/>
            </a:solidFill>
            <a:prstDash val="solid"/>
          </a:ln>
        </p:spPr>
      </p:sp>
      <p:sp>
        <p:nvSpPr>
          <p:cNvPr id="31" name="Text 29"/>
          <p:cNvSpPr txBox="1"/>
          <p:nvPr/>
        </p:nvSpPr>
        <p:spPr>
          <a:xfrm>
            <a:off x="685800" y="5221224"/>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6</a:t>
            </a:r>
            <a:endParaRPr lang="en-US" sz="1200" dirty="0"/>
          </a:p>
        </p:txBody>
      </p:sp>
      <p:sp>
        <p:nvSpPr>
          <p:cNvPr id="32" name="Text 30"/>
          <p:cNvSpPr txBox="1"/>
          <p:nvPr/>
        </p:nvSpPr>
        <p:spPr>
          <a:xfrm>
            <a:off x="1197864" y="5120640"/>
            <a:ext cx="6766560" cy="548640"/>
          </a:xfrm>
          <a:prstGeom prst="rect">
            <a:avLst/>
          </a:prstGeom>
          <a:noFill/>
          <a:ln/>
        </p:spPr>
        <p:txBody>
          <a:bodyPr wrap="square" lIns="0" tIns="0" rIns="0" bIns="0" rtlCol="0" anchor="ctr"/>
          <a:lstStyle/>
          <a:p>
            <a:pPr indent="0" marL="0">
              <a:buNone/>
            </a:pPr>
            <a:r>
              <a:rPr lang="en-US" sz="1350" b="1" dirty="0">
                <a:solidFill>
                  <a:srgbClr val="F2F3F8"/>
                </a:solidFill>
                <a:latin typeface="Arial" pitchFamily="34" charset="0"/>
                <a:ea typeface="Arial" pitchFamily="34" charset="-122"/>
                <a:cs typeface="Arial" pitchFamily="34" charset="-120"/>
              </a:rPr>
              <a:t>Calibration shifts, and the recommendation changes</a:t>
            </a:r>
            <a:endParaRPr lang="en-US" sz="1350" dirty="0"/>
          </a:p>
        </p:txBody>
      </p:sp>
      <p:sp>
        <p:nvSpPr>
          <p:cNvPr id="33" name="Shape 31"/>
          <p:cNvSpPr/>
          <p:nvPr/>
        </p:nvSpPr>
        <p:spPr>
          <a:xfrm>
            <a:off x="8686800" y="1828800"/>
            <a:ext cx="2999232" cy="3950208"/>
          </a:xfrm>
          <a:prstGeom prst="roundRect">
            <a:avLst>
              <a:gd name="adj" fmla="val 1829"/>
            </a:avLst>
          </a:prstGeom>
          <a:solidFill>
            <a:srgbClr val="252943"/>
          </a:solidFill>
          <a:ln w="19050">
            <a:solidFill>
              <a:srgbClr val="E0A458"/>
            </a:solidFill>
            <a:prstDash val="solid"/>
          </a:ln>
        </p:spPr>
      </p:sp>
      <p:sp>
        <p:nvSpPr>
          <p:cNvPr id="34" name="Text 32"/>
          <p:cNvSpPr txBox="1"/>
          <p:nvPr/>
        </p:nvSpPr>
        <p:spPr>
          <a:xfrm>
            <a:off x="8942832" y="2194560"/>
            <a:ext cx="2487168" cy="822960"/>
          </a:xfrm>
          <a:prstGeom prst="rect">
            <a:avLst/>
          </a:prstGeom>
          <a:noFill/>
          <a:ln/>
        </p:spPr>
        <p:txBody>
          <a:bodyPr wrap="square" lIns="0" tIns="0" rIns="0" bIns="0" rtlCol="0" anchor="t"/>
          <a:lstStyle/>
          <a:p>
            <a:pPr indent="0" marL="0">
              <a:lnSpc>
                <a:spcPct val="110000"/>
              </a:lnSpc>
              <a:buNone/>
            </a:pPr>
            <a:r>
              <a:rPr lang="en-US" sz="1900" b="1" dirty="0">
                <a:solidFill>
                  <a:srgbClr val="E0A458"/>
                </a:solidFill>
                <a:latin typeface="Arial" pitchFamily="34" charset="0"/>
                <a:ea typeface="Arial" pitchFamily="34" charset="-122"/>
                <a:cs typeface="Arial" pitchFamily="34" charset="-120"/>
              </a:rPr>
              <a:t>The loop closes</a:t>
            </a:r>
            <a:endParaRPr lang="en-US" sz="1900" dirty="0"/>
          </a:p>
          <a:p>
            <a:pPr indent="0" marL="0">
              <a:lnSpc>
                <a:spcPct val="110000"/>
              </a:lnSpc>
              <a:buNone/>
            </a:pPr>
            <a:r>
              <a:rPr lang="en-US" sz="1900" b="1" dirty="0">
                <a:solidFill>
                  <a:srgbClr val="E0A458"/>
                </a:solidFill>
                <a:latin typeface="Arial" pitchFamily="34" charset="0"/>
                <a:ea typeface="Arial" pitchFamily="34" charset="-122"/>
                <a:cs typeface="Arial" pitchFamily="34" charset="-120"/>
              </a:rPr>
              <a:t>in front of the room</a:t>
            </a:r>
            <a:endParaRPr lang="en-US" sz="1900" dirty="0"/>
          </a:p>
        </p:txBody>
      </p:sp>
      <p:sp>
        <p:nvSpPr>
          <p:cNvPr id="35" name="Text 33"/>
          <p:cNvSpPr txBox="1"/>
          <p:nvPr/>
        </p:nvSpPr>
        <p:spPr>
          <a:xfrm>
            <a:off x="8942832" y="3200400"/>
            <a:ext cx="2487168" cy="2286000"/>
          </a:xfrm>
          <a:prstGeom prst="rect">
            <a:avLst/>
          </a:prstGeom>
          <a:noFill/>
          <a:ln/>
        </p:spPr>
        <p:txBody>
          <a:bodyPr wrap="square" lIns="0" tIns="0" rIns="0" bIns="0" rtlCol="0" anchor="t"/>
          <a:lstStyle/>
          <a:p>
            <a:pPr indent="0" marL="0">
              <a:lnSpc>
                <a:spcPct val="120000"/>
              </a:lnSpc>
              <a:buNone/>
            </a:pPr>
            <a:r>
              <a:rPr lang="en-US" sz="1250" dirty="0">
                <a:solidFill>
                  <a:srgbClr val="9BA1C1"/>
                </a:solidFill>
                <a:latin typeface="Arial" pitchFamily="34" charset="0"/>
                <a:ea typeface="Arial" pitchFamily="34" charset="-122"/>
                <a:cs typeface="Arial" pitchFamily="34" charset="-120"/>
              </a:rPr>
              <a:t>Six agents, a deterministic core, and a measurable claim:</a:t>
            </a:r>
            <a:endParaRPr lang="en-US" sz="1250" dirty="0"/>
          </a:p>
          <a:p>
            <a:pPr indent="0" marL="0">
              <a:lnSpc>
                <a:spcPct val="120000"/>
              </a:lnSpc>
              <a:buNone/>
            </a:pPr>
            <a:endParaRPr lang="en-US" sz="1250" dirty="0"/>
          </a:p>
          <a:p>
            <a:pPr indent="0" marL="0">
              <a:lnSpc>
                <a:spcPct val="120000"/>
              </a:lnSpc>
              <a:buNone/>
            </a:pPr>
            <a:r>
              <a:rPr lang="en-US" sz="1250" dirty="0">
                <a:solidFill>
                  <a:srgbClr val="9BA1C1"/>
                </a:solidFill>
                <a:latin typeface="Arial" pitchFamily="34" charset="0"/>
                <a:ea typeface="Arial" pitchFamily="34" charset="-122"/>
                <a:cs typeface="Arial" pitchFamily="34" charset="-120"/>
              </a:rPr>
              <a:t>agents at the edges, determinism at the centre — with the numbers to support it.</a:t>
            </a:r>
            <a:endParaRPr lang="en-US" sz="1250" dirty="0"/>
          </a:p>
        </p:txBody>
      </p:sp>
      <p:sp>
        <p:nvSpPr>
          <p:cNvPr id="36" name="Text 34"/>
          <p:cNvSpPr txBox="1"/>
          <p:nvPr/>
        </p:nvSpPr>
        <p:spPr>
          <a:xfrm>
            <a:off x="502920" y="6053328"/>
            <a:ext cx="11185855" cy="292608"/>
          </a:xfrm>
          <a:prstGeom prst="rect">
            <a:avLst/>
          </a:prstGeom>
          <a:noFill/>
          <a:ln/>
        </p:spPr>
        <p:txBody>
          <a:bodyPr wrap="square" lIns="0" tIns="0" rIns="0" bIns="0" rtlCol="0" anchor="ctr"/>
          <a:lstStyle/>
          <a:p>
            <a:pPr indent="0" marL="0">
              <a:buNone/>
            </a:pPr>
            <a:r>
              <a:rPr lang="en-US" sz="1100" dirty="0">
                <a:solidFill>
                  <a:srgbClr val="6E7699"/>
                </a:solidFill>
                <a:latin typeface="Arial" pitchFamily="34" charset="0"/>
                <a:ea typeface="Arial" pitchFamily="34" charset="-122"/>
                <a:cs typeface="Arial" pitchFamily="34" charset="-120"/>
              </a:rPr>
              <a:t>Companion documents: Architettura SartorIA  ·  SartorIA MVP Blueprint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SartorIA MVP Blueprint</dc:title>
  <dc:subject>PptxGenJS Presentation</dc:subject>
  <dc:creator>SartorIA</dc:creator>
  <cp:lastModifiedBy>SartorIA</cp:lastModifiedBy>
  <cp:revision>1</cp:revision>
  <dcterms:created xsi:type="dcterms:W3CDTF">2026-09-08T13:57:41Z</dcterms:created>
  <dcterms:modified xsi:type="dcterms:W3CDTF">2026-09-08T13:57:41Z</dcterms:modified>
</cp:coreProperties>
</file>