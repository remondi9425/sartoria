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40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Swimlane v2 — consolidated flow with outcome capture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7472" y="621792"/>
            <a:ext cx="292608" cy="164592"/>
          </a:xfrm>
          <a:prstGeom prst="roundRect">
            <a:avLst>
              <a:gd name="adj" fmla="val 16667"/>
            </a:avLst>
          </a:prstGeom>
          <a:solidFill>
            <a:srgbClr val="3A3D55"/>
          </a:solidFill>
          <a:ln w="22225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94944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27632" y="612648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627632" y="6126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56232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step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704088"/>
            <a:ext cx="320040" cy="0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80944" y="566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/ exception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0" y="566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v1 steps are compressed for readability — node numbering follows v1.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32688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93192" y="1005840"/>
            <a:ext cx="109728" cy="109728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5760" y="1115568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932688"/>
            <a:ext cx="10634472" cy="772668"/>
          </a:xfrm>
          <a:prstGeom prst="rect">
            <a:avLst/>
          </a:prstGeom>
          <a:solidFill>
            <a:srgbClr val="2E3154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20040" y="1741932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93192" y="1815084"/>
            <a:ext cx="109728" cy="109728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5760" y="1924812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SartorIA 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41932"/>
            <a:ext cx="10634472" cy="772668"/>
          </a:xfrm>
          <a:prstGeom prst="rect">
            <a:avLst/>
          </a:prstGeom>
          <a:solidFill>
            <a:srgbClr val="262848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20040" y="2551176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93192" y="2624328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2734056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 Analyzer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0160" y="2551176"/>
            <a:ext cx="10634472" cy="772668"/>
          </a:xfrm>
          <a:prstGeom prst="rect">
            <a:avLst/>
          </a:prstGeom>
          <a:solidFill>
            <a:srgbClr val="2E3154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20040" y="3360420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93192" y="3433572"/>
            <a:ext cx="109728" cy="109728"/>
          </a:xfrm>
          <a:prstGeom prst="ellipse">
            <a:avLst/>
          </a:prstGeom>
          <a:solidFill>
            <a:srgbClr val="138086"/>
          </a:solidFill>
          <a:ln w="12700">
            <a:solidFill>
              <a:srgbClr val="13808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65760" y="3543300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 Finder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3360420"/>
            <a:ext cx="10634472" cy="772668"/>
          </a:xfrm>
          <a:prstGeom prst="rect">
            <a:avLst/>
          </a:prstGeom>
          <a:solidFill>
            <a:srgbClr val="262848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320040" y="4169664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393192" y="4242816"/>
            <a:ext cx="109728" cy="10972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65760" y="4352544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Product DB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80160" y="4169664"/>
            <a:ext cx="10634472" cy="772668"/>
          </a:xfrm>
          <a:prstGeom prst="rect">
            <a:avLst/>
          </a:prstGeom>
          <a:solidFill>
            <a:srgbClr val="2E3154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320040" y="4978908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93192" y="5052060"/>
            <a:ext cx="109728" cy="109728"/>
          </a:xfrm>
          <a:prstGeom prst="ellipse">
            <a:avLst/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65760" y="5161788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Website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80160" y="4978908"/>
            <a:ext cx="10634472" cy="772668"/>
          </a:xfrm>
          <a:prstGeom prst="rect">
            <a:avLst/>
          </a:prstGeom>
          <a:solidFill>
            <a:srgbClr val="262848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320040" y="5788152"/>
            <a:ext cx="932688" cy="772668"/>
          </a:xfrm>
          <a:prstGeom prst="rect">
            <a:avLst/>
          </a:prstGeom>
          <a:solidFill>
            <a:srgbClr val="3A3D55"/>
          </a:solidFill>
          <a:ln w="9525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393192" y="5861304"/>
            <a:ext cx="109728" cy="109728"/>
          </a:xfrm>
          <a:prstGeom prst="ellipse">
            <a:avLst/>
          </a:prstGeom>
          <a:solidFill>
            <a:srgbClr val="C08A1E"/>
          </a:solidFill>
          <a:ln w="12700">
            <a:solidFill>
              <a:srgbClr val="C08A1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65760" y="5971032"/>
            <a:ext cx="8412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Data Mgmt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80160" y="5788152"/>
            <a:ext cx="10634472" cy="772668"/>
          </a:xfrm>
          <a:prstGeom prst="rect">
            <a:avLst/>
          </a:prstGeom>
          <a:solidFill>
            <a:srgbClr val="2E3154"/>
          </a:solidFill>
          <a:ln w="6350">
            <a:solidFill>
              <a:srgbClr val="4044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482700" y="1090422"/>
            <a:ext cx="786384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·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auth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1264158"/>
            <a:ext cx="109728" cy="109728"/>
          </a:xfrm>
          <a:prstGeom prst="ellipse">
            <a:avLst/>
          </a:prstGeom>
          <a:solidFill>
            <a:srgbClr val="E4F1EA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1354684" y="594588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GDPR consent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(profile + biometric)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54707" y="1053846"/>
            <a:ext cx="841248" cy="530352"/>
          </a:xfrm>
          <a:prstGeom prst="diamond">
            <a:avLst/>
          </a:prstGeom>
          <a:solidFill>
            <a:srgbClr val="E8EAF2"/>
          </a:solidFill>
          <a:ln w="12700">
            <a:solidFill>
              <a:srgbClr val="6A6F9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2344979" y="114528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method?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481578" y="1024128"/>
            <a:ext cx="914400" cy="301752"/>
          </a:xfrm>
          <a:prstGeom prst="roundRect">
            <a:avLst>
              <a:gd name="adj" fmla="val 15152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scan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/ video)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81578" y="1380744"/>
            <a:ext cx="914400" cy="301752"/>
          </a:xfrm>
          <a:prstGeom prst="roundRect">
            <a:avLst>
              <a:gd name="adj" fmla="val 15152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measurements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81578" y="594588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withdrawal: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profile ≤ 30 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048506" y="585901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545025" y="270891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body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(twin)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462729" y="262661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02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4462729" y="262661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608472" y="432739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user-owned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671920" y="1090422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preferences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search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71920" y="594588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brand data: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feed or scrape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589624" y="5863590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02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589624" y="58635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735367" y="432739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data tagged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V / Tier 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735367" y="3518154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12700">
            <a:solidFill>
              <a:srgbClr val="6A6F9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 fit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(learned prefs)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653071" y="3435858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02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653071" y="34358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8798814" y="189966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rec + fit 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tier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835390" y="1053846"/>
            <a:ext cx="841248" cy="530352"/>
          </a:xfrm>
          <a:prstGeom prst="diamond">
            <a:avLst/>
          </a:prstGeom>
          <a:solidFill>
            <a:srgbClr val="E8EAF2"/>
          </a:solidFill>
          <a:ln w="12700">
            <a:solidFill>
              <a:srgbClr val="6A6F9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8725662" y="114528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rec?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62261" y="5136642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· purchase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delivery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0962284" y="1053846"/>
            <a:ext cx="841248" cy="530352"/>
          </a:xfrm>
          <a:prstGeom prst="diamond">
            <a:avLst/>
          </a:prstGeom>
          <a:solidFill>
            <a:srgbClr val="FBEED9"/>
          </a:solidFill>
          <a:ln w="254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10852556" y="114528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return?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0925708" y="432739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TRUE outcome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(keep / return)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9862261" y="3518154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outcome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 ≠ keep)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898837" y="3435858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02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82"/>
          <p:cNvSpPr/>
          <p:nvPr/>
        </p:nvSpPr>
        <p:spPr>
          <a:xfrm>
            <a:off x="9898837" y="34358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10925708" y="594588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 w="25400">
            <a:solidFill>
              <a:srgbClr val="E0A458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attribution: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return-rate delta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1949836" y="6092190"/>
            <a:ext cx="164592" cy="164592"/>
          </a:xfrm>
          <a:prstGeom prst="ellipse">
            <a:avLst/>
          </a:prstGeom>
          <a:solidFill>
            <a:srgbClr val="D2694A"/>
          </a:solidFill>
          <a:ln w="25400">
            <a:solidFill>
              <a:srgbClr val="D269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Shape 87"/>
          <p:cNvSpPr/>
          <p:nvPr/>
        </p:nvSpPr>
        <p:spPr>
          <a:xfrm>
            <a:off x="1408176" y="1319022"/>
            <a:ext cx="74524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Shape 88"/>
          <p:cNvSpPr/>
          <p:nvPr/>
        </p:nvSpPr>
        <p:spPr>
          <a:xfrm>
            <a:off x="2269084" y="1319022"/>
            <a:ext cx="185623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1" name="Shape 89"/>
          <p:cNvSpPr/>
          <p:nvPr/>
        </p:nvSpPr>
        <p:spPr>
          <a:xfrm>
            <a:off x="1875892" y="1547622"/>
            <a:ext cx="0" cy="4398264"/>
          </a:xfrm>
          <a:prstGeom prst="line">
            <a:avLst/>
          </a:prstGeom>
          <a:noFill/>
          <a:ln w="19050">
            <a:solidFill>
              <a:srgbClr val="C08A1E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3" name="Shape 91"/>
          <p:cNvSpPr/>
          <p:nvPr/>
        </p:nvSpPr>
        <p:spPr>
          <a:xfrm>
            <a:off x="3295955" y="1175004"/>
            <a:ext cx="185623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4" name="Shape 92"/>
          <p:cNvSpPr/>
          <p:nvPr/>
        </p:nvSpPr>
        <p:spPr>
          <a:xfrm>
            <a:off x="3295955" y="1531620"/>
            <a:ext cx="185623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5" name="Shape 93"/>
          <p:cNvSpPr/>
          <p:nvPr/>
        </p:nvSpPr>
        <p:spPr>
          <a:xfrm>
            <a:off x="4395978" y="1175004"/>
            <a:ext cx="74524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Shape 94"/>
          <p:cNvSpPr/>
          <p:nvPr/>
        </p:nvSpPr>
        <p:spPr>
          <a:xfrm>
            <a:off x="4395978" y="1531620"/>
            <a:ext cx="74524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7" name="Shape 95"/>
          <p:cNvSpPr/>
          <p:nvPr/>
        </p:nvSpPr>
        <p:spPr>
          <a:xfrm>
            <a:off x="4470502" y="1175004"/>
            <a:ext cx="0" cy="1762506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Shape 96"/>
          <p:cNvSpPr/>
          <p:nvPr/>
        </p:nvSpPr>
        <p:spPr>
          <a:xfrm>
            <a:off x="4470502" y="2937510"/>
            <a:ext cx="74524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9" name="Shape 97"/>
          <p:cNvSpPr/>
          <p:nvPr/>
        </p:nvSpPr>
        <p:spPr>
          <a:xfrm>
            <a:off x="5002225" y="950976"/>
            <a:ext cx="0" cy="1757934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0" name="Shape 98"/>
          <p:cNvSpPr/>
          <p:nvPr/>
        </p:nvSpPr>
        <p:spPr>
          <a:xfrm>
            <a:off x="3938778" y="950976"/>
            <a:ext cx="1063447" cy="0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1" name="Shape 99"/>
          <p:cNvSpPr/>
          <p:nvPr/>
        </p:nvSpPr>
        <p:spPr>
          <a:xfrm>
            <a:off x="3938778" y="950976"/>
            <a:ext cx="0" cy="73152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2" name="Text 100"/>
          <p:cNvSpPr/>
          <p:nvPr/>
        </p:nvSpPr>
        <p:spPr>
          <a:xfrm>
            <a:off x="5066233" y="20345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fail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5459425" y="2937510"/>
            <a:ext cx="606247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4" name="Shape 102"/>
          <p:cNvSpPr/>
          <p:nvPr/>
        </p:nvSpPr>
        <p:spPr>
          <a:xfrm>
            <a:off x="6065672" y="2937510"/>
            <a:ext cx="0" cy="1389888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5" name="Shape 103"/>
          <p:cNvSpPr/>
          <p:nvPr/>
        </p:nvSpPr>
        <p:spPr>
          <a:xfrm>
            <a:off x="6522872" y="4555998"/>
            <a:ext cx="606247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6" name="Shape 104"/>
          <p:cNvSpPr/>
          <p:nvPr/>
        </p:nvSpPr>
        <p:spPr>
          <a:xfrm>
            <a:off x="7129120" y="1547622"/>
            <a:ext cx="0" cy="3008376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7" name="Shape 105"/>
          <p:cNvSpPr/>
          <p:nvPr/>
        </p:nvSpPr>
        <p:spPr>
          <a:xfrm>
            <a:off x="2269084" y="6174486"/>
            <a:ext cx="1212494" cy="0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8" name="Shape 106"/>
          <p:cNvSpPr/>
          <p:nvPr/>
        </p:nvSpPr>
        <p:spPr>
          <a:xfrm>
            <a:off x="7586320" y="1319022"/>
            <a:ext cx="606247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9" name="Shape 107"/>
          <p:cNvSpPr/>
          <p:nvPr/>
        </p:nvSpPr>
        <p:spPr>
          <a:xfrm>
            <a:off x="8192567" y="1319022"/>
            <a:ext cx="0" cy="2199132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0" name="Shape 108"/>
          <p:cNvSpPr/>
          <p:nvPr/>
        </p:nvSpPr>
        <p:spPr>
          <a:xfrm>
            <a:off x="7586320" y="6174486"/>
            <a:ext cx="606247" cy="0"/>
          </a:xfrm>
          <a:prstGeom prst="line">
            <a:avLst/>
          </a:prstGeom>
          <a:noFill/>
          <a:ln w="19050">
            <a:solidFill>
              <a:srgbClr val="C08A1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1" name="Shape 109"/>
          <p:cNvSpPr/>
          <p:nvPr/>
        </p:nvSpPr>
        <p:spPr>
          <a:xfrm>
            <a:off x="8192567" y="4784598"/>
            <a:ext cx="0" cy="1389888"/>
          </a:xfrm>
          <a:prstGeom prst="line">
            <a:avLst/>
          </a:prstGeom>
          <a:noFill/>
          <a:ln w="19050">
            <a:solidFill>
              <a:srgbClr val="C08A1E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2" name="Shape 110"/>
          <p:cNvSpPr/>
          <p:nvPr/>
        </p:nvSpPr>
        <p:spPr>
          <a:xfrm>
            <a:off x="8192567" y="3975354"/>
            <a:ext cx="0" cy="352044"/>
          </a:xfrm>
          <a:prstGeom prst="line">
            <a:avLst/>
          </a:prstGeom>
          <a:noFill/>
          <a:ln w="19050">
            <a:solidFill>
              <a:srgbClr val="C08A1E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3" name="Text 111"/>
          <p:cNvSpPr/>
          <p:nvPr/>
        </p:nvSpPr>
        <p:spPr>
          <a:xfrm>
            <a:off x="8238287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CA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flag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8649767" y="3746754"/>
            <a:ext cx="606247" cy="0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5" name="Shape 113"/>
          <p:cNvSpPr/>
          <p:nvPr/>
        </p:nvSpPr>
        <p:spPr>
          <a:xfrm>
            <a:off x="9256014" y="2356866"/>
            <a:ext cx="0" cy="1389888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6" name="Shape 114"/>
          <p:cNvSpPr/>
          <p:nvPr/>
        </p:nvSpPr>
        <p:spPr>
          <a:xfrm>
            <a:off x="9256014" y="1584198"/>
            <a:ext cx="0" cy="315468"/>
          </a:xfrm>
          <a:prstGeom prst="line">
            <a:avLst/>
          </a:prstGeom>
          <a:noFill/>
          <a:ln w="19050">
            <a:solidFill>
              <a:srgbClr val="8A8FB4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7" name="Shape 115"/>
          <p:cNvSpPr/>
          <p:nvPr/>
        </p:nvSpPr>
        <p:spPr>
          <a:xfrm>
            <a:off x="9256014" y="950976"/>
            <a:ext cx="0" cy="102870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18" name="Shape 116"/>
          <p:cNvSpPr/>
          <p:nvPr/>
        </p:nvSpPr>
        <p:spPr>
          <a:xfrm>
            <a:off x="7129120" y="950976"/>
            <a:ext cx="2126894" cy="0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19" name="Shape 117"/>
          <p:cNvSpPr/>
          <p:nvPr/>
        </p:nvSpPr>
        <p:spPr>
          <a:xfrm>
            <a:off x="7129120" y="950976"/>
            <a:ext cx="0" cy="139446"/>
          </a:xfrm>
          <a:prstGeom prst="line">
            <a:avLst/>
          </a:prstGeom>
          <a:noFill/>
          <a:ln w="19050">
            <a:solidFill>
              <a:srgbClr val="9AA0C0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0" name="Text 118"/>
          <p:cNvSpPr/>
          <p:nvPr/>
        </p:nvSpPr>
        <p:spPr>
          <a:xfrm>
            <a:off x="7735367" y="987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refine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9676638" y="1319022"/>
            <a:ext cx="111100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2" name="Text 120"/>
          <p:cNvSpPr/>
          <p:nvPr/>
        </p:nvSpPr>
        <p:spPr>
          <a:xfrm>
            <a:off x="9694926" y="108127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&amp; no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9787738" y="1319022"/>
            <a:ext cx="0" cy="404622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4" name="Shape 122"/>
          <p:cNvSpPr/>
          <p:nvPr/>
        </p:nvSpPr>
        <p:spPr>
          <a:xfrm>
            <a:off x="9787738" y="5365242"/>
            <a:ext cx="74524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5" name="Shape 123"/>
          <p:cNvSpPr/>
          <p:nvPr/>
        </p:nvSpPr>
        <p:spPr>
          <a:xfrm>
            <a:off x="10776661" y="5365242"/>
            <a:ext cx="74524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6" name="Shape 124"/>
          <p:cNvSpPr/>
          <p:nvPr/>
        </p:nvSpPr>
        <p:spPr>
          <a:xfrm>
            <a:off x="10851185" y="1319022"/>
            <a:ext cx="0" cy="404622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7" name="Shape 125"/>
          <p:cNvSpPr/>
          <p:nvPr/>
        </p:nvSpPr>
        <p:spPr>
          <a:xfrm>
            <a:off x="10851185" y="1319022"/>
            <a:ext cx="111100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8" name="Text 126"/>
          <p:cNvSpPr/>
          <p:nvPr/>
        </p:nvSpPr>
        <p:spPr>
          <a:xfrm>
            <a:off x="9829800" y="2770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D+10 prompt /</a:t>
            </a:r>
            <a:endParaRPr lang="en-US" sz="750" dirty="0"/>
          </a:p>
          <a:p>
            <a:pPr marL="0" indent="0" algn="r">
              <a:buNone/>
            </a:pPr>
            <a:r>
              <a:rPr lang="en-US" sz="7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webhook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1382908" y="1584198"/>
            <a:ext cx="0" cy="274320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0" name="Text 128"/>
          <p:cNvSpPr/>
          <p:nvPr/>
        </p:nvSpPr>
        <p:spPr>
          <a:xfrm>
            <a:off x="11448288" y="27706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return</a:t>
            </a:r>
            <a:endParaRPr lang="en-US" sz="700" dirty="0"/>
          </a:p>
          <a:p>
            <a:pPr marL="0" indent="0" algn="l">
              <a:buNone/>
            </a:pPr>
            <a:r>
              <a:rPr lang="en-US" sz="7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logged)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0319461" y="4555998"/>
            <a:ext cx="606247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2" name="Shape 130"/>
          <p:cNvSpPr/>
          <p:nvPr/>
        </p:nvSpPr>
        <p:spPr>
          <a:xfrm>
            <a:off x="10319461" y="3975354"/>
            <a:ext cx="0" cy="580644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3" name="Shape 131"/>
          <p:cNvSpPr/>
          <p:nvPr/>
        </p:nvSpPr>
        <p:spPr>
          <a:xfrm>
            <a:off x="11382908" y="4784598"/>
            <a:ext cx="0" cy="1161288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4" name="Shape 132"/>
          <p:cNvSpPr/>
          <p:nvPr/>
        </p:nvSpPr>
        <p:spPr>
          <a:xfrm>
            <a:off x="11840108" y="6174486"/>
            <a:ext cx="109728" cy="0"/>
          </a:xfrm>
          <a:prstGeom prst="line">
            <a:avLst/>
          </a:prstGeom>
          <a:noFill/>
          <a:ln w="19050">
            <a:solidFill>
              <a:srgbClr val="D2694A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</Words>
  <Application>Microsoft Macintosh PowerPoint</Application>
  <PresentationFormat>Widescreen</PresentationFormat>
  <Paragraphs>65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Remondi (andrea.remondi@bbscommunity.it)</cp:lastModifiedBy>
  <cp:revision>3</cp:revision>
  <dcterms:created xsi:type="dcterms:W3CDTF">2026-08-20T14:15:29Z</dcterms:created>
  <dcterms:modified xsi:type="dcterms:W3CDTF">2026-08-27T14:48:34Z</dcterms:modified>
</cp:coreProperties>
</file>